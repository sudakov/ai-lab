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7.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8.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notesSlides/notesSlide2.xml" ContentType="application/vnd.openxmlformats-officedocument.presentationml.notesSlide+xml"/>
  <Override PartName="/ppt/tags/tag95.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96.xml" ContentType="application/vnd.openxmlformats-officedocument.presentationml.tags+xml"/>
  <Override PartName="/ppt/tags/tag97.xml" ContentType="application/vnd.openxmlformats-officedocument.presentationml.tags+xml"/>
  <Override PartName="/ppt/notesSlides/notesSlide5.xml" ContentType="application/vnd.openxmlformats-officedocument.presentationml.notesSlide+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6.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96" r:id="rId2"/>
    <p:sldMasterId id="2147483708" r:id="rId3"/>
  </p:sldMasterIdLst>
  <p:notesMasterIdLst>
    <p:notesMasterId r:id="rId129"/>
  </p:notesMasterIdLst>
  <p:sldIdLst>
    <p:sldId id="256" r:id="rId4"/>
    <p:sldId id="257" r:id="rId5"/>
    <p:sldId id="258" r:id="rId6"/>
    <p:sldId id="502" r:id="rId7"/>
    <p:sldId id="457" r:id="rId8"/>
    <p:sldId id="288" r:id="rId9"/>
    <p:sldId id="367" r:id="rId10"/>
    <p:sldId id="566" r:id="rId11"/>
    <p:sldId id="529" r:id="rId12"/>
    <p:sldId id="574" r:id="rId13"/>
    <p:sldId id="530" r:id="rId14"/>
    <p:sldId id="658" r:id="rId15"/>
    <p:sldId id="552" r:id="rId16"/>
    <p:sldId id="269" r:id="rId17"/>
    <p:sldId id="551" r:id="rId18"/>
    <p:sldId id="581" r:id="rId19"/>
    <p:sldId id="578" r:id="rId20"/>
    <p:sldId id="579" r:id="rId21"/>
    <p:sldId id="580" r:id="rId22"/>
    <p:sldId id="582" r:id="rId23"/>
    <p:sldId id="583" r:id="rId24"/>
    <p:sldId id="585" r:id="rId25"/>
    <p:sldId id="584" r:id="rId26"/>
    <p:sldId id="586" r:id="rId27"/>
    <p:sldId id="587" r:id="rId28"/>
    <p:sldId id="588" r:id="rId29"/>
    <p:sldId id="590" r:id="rId30"/>
    <p:sldId id="589" r:id="rId31"/>
    <p:sldId id="591" r:id="rId32"/>
    <p:sldId id="592" r:id="rId33"/>
    <p:sldId id="593" r:id="rId34"/>
    <p:sldId id="594" r:id="rId35"/>
    <p:sldId id="595" r:id="rId36"/>
    <p:sldId id="596" r:id="rId37"/>
    <p:sldId id="597" r:id="rId38"/>
    <p:sldId id="598" r:id="rId39"/>
    <p:sldId id="599" r:id="rId40"/>
    <p:sldId id="600" r:id="rId41"/>
    <p:sldId id="601" r:id="rId42"/>
    <p:sldId id="357" r:id="rId43"/>
    <p:sldId id="602" r:id="rId44"/>
    <p:sldId id="603" r:id="rId45"/>
    <p:sldId id="604" r:id="rId46"/>
    <p:sldId id="605" r:id="rId47"/>
    <p:sldId id="606" r:id="rId48"/>
    <p:sldId id="610" r:id="rId49"/>
    <p:sldId id="611" r:id="rId50"/>
    <p:sldId id="612" r:id="rId51"/>
    <p:sldId id="613" r:id="rId52"/>
    <p:sldId id="614" r:id="rId53"/>
    <p:sldId id="615" r:id="rId54"/>
    <p:sldId id="616" r:id="rId55"/>
    <p:sldId id="617" r:id="rId56"/>
    <p:sldId id="618" r:id="rId57"/>
    <p:sldId id="301" r:id="rId58"/>
    <p:sldId id="302" r:id="rId59"/>
    <p:sldId id="303" r:id="rId60"/>
    <p:sldId id="305" r:id="rId61"/>
    <p:sldId id="304" r:id="rId62"/>
    <p:sldId id="620" r:id="rId63"/>
    <p:sldId id="621" r:id="rId64"/>
    <p:sldId id="619" r:id="rId65"/>
    <p:sldId id="659" r:id="rId66"/>
    <p:sldId id="307" r:id="rId67"/>
    <p:sldId id="308" r:id="rId68"/>
    <p:sldId id="622" r:id="rId69"/>
    <p:sldId id="607" r:id="rId70"/>
    <p:sldId id="608" r:id="rId71"/>
    <p:sldId id="312" r:id="rId72"/>
    <p:sldId id="313" r:id="rId73"/>
    <p:sldId id="314" r:id="rId74"/>
    <p:sldId id="316" r:id="rId75"/>
    <p:sldId id="315" r:id="rId76"/>
    <p:sldId id="609" r:id="rId77"/>
    <p:sldId id="318" r:id="rId78"/>
    <p:sldId id="319" r:id="rId79"/>
    <p:sldId id="623" r:id="rId80"/>
    <p:sldId id="640" r:id="rId81"/>
    <p:sldId id="641" r:id="rId82"/>
    <p:sldId id="642" r:id="rId83"/>
    <p:sldId id="643" r:id="rId84"/>
    <p:sldId id="645" r:id="rId85"/>
    <p:sldId id="647" r:id="rId86"/>
    <p:sldId id="646" r:id="rId87"/>
    <p:sldId id="265" r:id="rId88"/>
    <p:sldId id="271" r:id="rId89"/>
    <p:sldId id="272" r:id="rId90"/>
    <p:sldId id="273" r:id="rId91"/>
    <p:sldId id="274" r:id="rId92"/>
    <p:sldId id="277" r:id="rId93"/>
    <p:sldId id="276" r:id="rId94"/>
    <p:sldId id="278" r:id="rId95"/>
    <p:sldId id="279" r:id="rId96"/>
    <p:sldId id="282" r:id="rId97"/>
    <p:sldId id="283" r:id="rId98"/>
    <p:sldId id="290" r:id="rId99"/>
    <p:sldId id="625" r:id="rId100"/>
    <p:sldId id="296" r:id="rId101"/>
    <p:sldId id="300" r:id="rId102"/>
    <p:sldId id="626" r:id="rId103"/>
    <p:sldId id="627" r:id="rId104"/>
    <p:sldId id="628" r:id="rId105"/>
    <p:sldId id="639" r:id="rId106"/>
    <p:sldId id="320" r:id="rId107"/>
    <p:sldId id="322" r:id="rId108"/>
    <p:sldId id="323" r:id="rId109"/>
    <p:sldId id="327" r:id="rId110"/>
    <p:sldId id="328" r:id="rId111"/>
    <p:sldId id="329" r:id="rId112"/>
    <p:sldId id="330" r:id="rId113"/>
    <p:sldId id="331" r:id="rId114"/>
    <p:sldId id="332" r:id="rId115"/>
    <p:sldId id="334" r:id="rId116"/>
    <p:sldId id="648" r:id="rId117"/>
    <p:sldId id="649" r:id="rId118"/>
    <p:sldId id="650" r:id="rId119"/>
    <p:sldId id="651" r:id="rId120"/>
    <p:sldId id="652" r:id="rId121"/>
    <p:sldId id="653" r:id="rId122"/>
    <p:sldId id="654" r:id="rId123"/>
    <p:sldId id="655" r:id="rId124"/>
    <p:sldId id="656" r:id="rId125"/>
    <p:sldId id="657" r:id="rId126"/>
    <p:sldId id="577" r:id="rId127"/>
    <p:sldId id="497" r:id="rId128"/>
  </p:sldIdLst>
  <p:sldSz cx="9144000" cy="6858000" type="screen4x3"/>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2836" autoAdjust="0"/>
  </p:normalViewPr>
  <p:slideViewPr>
    <p:cSldViewPr snapToGrid="0" snapToObjects="1">
      <p:cViewPr varScale="1">
        <p:scale>
          <a:sx n="105" d="100"/>
          <a:sy n="105" d="100"/>
        </p:scale>
        <p:origin x="808" y="19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63" Type="http://schemas.openxmlformats.org/officeDocument/2006/relationships/slide" Target="slides/slide60.xml"/><Relationship Id="rId84" Type="http://schemas.openxmlformats.org/officeDocument/2006/relationships/slide" Target="slides/slide81.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slide" Target="slides/slide120.xml"/><Relationship Id="rId128" Type="http://schemas.openxmlformats.org/officeDocument/2006/relationships/slide" Target="slides/slide125.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slide" Target="slides/slide115.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124" Type="http://schemas.openxmlformats.org/officeDocument/2006/relationships/slide" Target="slides/slide121.xml"/><Relationship Id="rId129" Type="http://schemas.openxmlformats.org/officeDocument/2006/relationships/notesMaster" Target="notesMasters/notesMaster1.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slide" Target="slides/slide116.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130" Type="http://schemas.openxmlformats.org/officeDocument/2006/relationships/presProps" Target="presProps.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slide" Target="slides/slide117.xml"/><Relationship Id="rId125" Type="http://schemas.openxmlformats.org/officeDocument/2006/relationships/slide" Target="slides/slide122.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131" Type="http://schemas.openxmlformats.org/officeDocument/2006/relationships/viewProps" Target="viewProps.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26" Type="http://schemas.openxmlformats.org/officeDocument/2006/relationships/slide" Target="slides/slide123.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slide" Target="slides/slide118.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32" Type="http://schemas.openxmlformats.org/officeDocument/2006/relationships/theme" Target="theme/theme1.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27" Type="http://schemas.openxmlformats.org/officeDocument/2006/relationships/slide" Target="slides/slide124.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slide" Target="slides/slide119.xml"/><Relationship Id="rId4" Type="http://schemas.openxmlformats.org/officeDocument/2006/relationships/slide" Target="slides/slide1.xml"/><Relationship Id="rId9" Type="http://schemas.openxmlformats.org/officeDocument/2006/relationships/slide" Target="slides/slide6.xml"/><Relationship Id="rId26" Type="http://schemas.openxmlformats.org/officeDocument/2006/relationships/slide" Target="slides/slide23.xml"/><Relationship Id="rId47" Type="http://schemas.openxmlformats.org/officeDocument/2006/relationships/slide" Target="slides/slide44.xml"/><Relationship Id="rId68" Type="http://schemas.openxmlformats.org/officeDocument/2006/relationships/slide" Target="slides/slide65.xml"/><Relationship Id="rId89" Type="http://schemas.openxmlformats.org/officeDocument/2006/relationships/slide" Target="slides/slide86.xml"/><Relationship Id="rId112" Type="http://schemas.openxmlformats.org/officeDocument/2006/relationships/slide" Target="slides/slide109.xml"/><Relationship Id="rId133" Type="http://schemas.openxmlformats.org/officeDocument/2006/relationships/tableStyles" Target="tableStyles.xml"/></Relationships>
</file>

<file path=ppt/diagrams/_rels/data6.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70.png"/><Relationship Id="rId1" Type="http://schemas.openxmlformats.org/officeDocument/2006/relationships/image" Target="../media/image690.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C9A73E-7D5C-C74C-A5E3-B04E23BEA5D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ECE5AF8E-8FAD-6345-8710-700E0FF49923}">
      <dgm:prSet/>
      <dgm:spPr/>
      <dgm:t>
        <a:bodyPr/>
        <a:lstStyle/>
        <a:p>
          <a:r>
            <a:rPr lang="ru-RU"/>
            <a:t>Говорят, что </a:t>
          </a:r>
          <a:r>
            <a:rPr lang="ru-RU" i="1"/>
            <a:t>компьютерная программа обучается на опыте </a:t>
          </a:r>
          <a:r>
            <a:rPr lang="en-US" i="1"/>
            <a:t>E</a:t>
          </a:r>
          <a:r>
            <a:rPr lang="en-US"/>
            <a:t> </a:t>
          </a:r>
          <a:r>
            <a:rPr lang="ru-RU"/>
            <a:t>относительно некоторого класса задач </a:t>
          </a:r>
          <a:r>
            <a:rPr lang="en-US" i="1"/>
            <a:t>T</a:t>
          </a:r>
          <a:r>
            <a:rPr lang="en-US"/>
            <a:t> </a:t>
          </a:r>
          <a:r>
            <a:rPr lang="ru-RU"/>
            <a:t>и меры качества </a:t>
          </a:r>
          <a:r>
            <a:rPr lang="en-US" i="1"/>
            <a:t>P</a:t>
          </a:r>
          <a:r>
            <a:rPr lang="en-US"/>
            <a:t>, </a:t>
          </a:r>
          <a:r>
            <a:rPr lang="ru-RU"/>
            <a:t>если ее качество на задачах, принадлежащих </a:t>
          </a:r>
          <a:r>
            <a:rPr lang="en-US" i="1"/>
            <a:t>T</a:t>
          </a:r>
          <a:r>
            <a:rPr lang="en-US"/>
            <a:t>, </a:t>
          </a:r>
          <a:r>
            <a:rPr lang="ru-RU"/>
            <a:t>измеренное в соответствии с </a:t>
          </a:r>
          <a:r>
            <a:rPr lang="en-US" i="1"/>
            <a:t>P</a:t>
          </a:r>
          <a:r>
            <a:rPr lang="en-US"/>
            <a:t>, </a:t>
          </a:r>
          <a:r>
            <a:rPr lang="ru-RU"/>
            <a:t>улучшается с увеличением опыта </a:t>
          </a:r>
          <a:r>
            <a:rPr lang="en-US" i="1"/>
            <a:t>E</a:t>
          </a:r>
          <a:r>
            <a:rPr lang="ru-RU"/>
            <a:t>.</a:t>
          </a:r>
        </a:p>
      </dgm:t>
    </dgm:pt>
    <dgm:pt modelId="{A3D62560-7A66-6643-94F2-0B7D0AB500F5}" type="parTrans" cxnId="{2412F92D-B1D8-3A40-87CB-C0140130FE87}">
      <dgm:prSet/>
      <dgm:spPr/>
      <dgm:t>
        <a:bodyPr/>
        <a:lstStyle/>
        <a:p>
          <a:endParaRPr lang="ru-RU"/>
        </a:p>
      </dgm:t>
    </dgm:pt>
    <dgm:pt modelId="{C8516409-41E2-3C42-846F-8CADB98E3CFF}" type="sibTrans" cxnId="{2412F92D-B1D8-3A40-87CB-C0140130FE87}">
      <dgm:prSet/>
      <dgm:spPr/>
      <dgm:t>
        <a:bodyPr/>
        <a:lstStyle/>
        <a:p>
          <a:endParaRPr lang="ru-RU"/>
        </a:p>
      </dgm:t>
    </dgm:pt>
    <dgm:pt modelId="{06EB41BA-822A-6940-8E32-85456CBBE3A2}">
      <dgm:prSet/>
      <dgm:spPr/>
      <dgm:t>
        <a:bodyPr/>
        <a:lstStyle/>
        <a:p>
          <a:r>
            <a:rPr lang="ru-RU"/>
            <a:t>Алгоритмы машинного обучения создают модель на основе выборочных данных, известных как «обучающие данные», чтобы делать прогнозы или предлагать решения, не будучи явно запрограммированными на это.</a:t>
          </a:r>
        </a:p>
      </dgm:t>
    </dgm:pt>
    <dgm:pt modelId="{634E2BC2-889F-9447-BF8D-D89657FEBBFD}" type="parTrans" cxnId="{3C85D323-5DC8-B742-B290-E69C61CEDB4F}">
      <dgm:prSet/>
      <dgm:spPr/>
      <dgm:t>
        <a:bodyPr/>
        <a:lstStyle/>
        <a:p>
          <a:endParaRPr lang="ru-RU"/>
        </a:p>
      </dgm:t>
    </dgm:pt>
    <dgm:pt modelId="{E9E6D3A3-8DD6-B345-848C-03AA4FDE0770}" type="sibTrans" cxnId="{3C85D323-5DC8-B742-B290-E69C61CEDB4F}">
      <dgm:prSet/>
      <dgm:spPr/>
      <dgm:t>
        <a:bodyPr/>
        <a:lstStyle/>
        <a:p>
          <a:endParaRPr lang="ru-RU"/>
        </a:p>
      </dgm:t>
    </dgm:pt>
    <dgm:pt modelId="{AD9F1706-C9B5-B74D-8FFB-FF13C2A5C2CD}" type="pres">
      <dgm:prSet presAssocID="{3DC9A73E-7D5C-C74C-A5E3-B04E23BEA5D7}" presName="linear" presStyleCnt="0">
        <dgm:presLayoutVars>
          <dgm:animLvl val="lvl"/>
          <dgm:resizeHandles val="exact"/>
        </dgm:presLayoutVars>
      </dgm:prSet>
      <dgm:spPr/>
    </dgm:pt>
    <dgm:pt modelId="{70E4551D-A56F-7343-9221-15AF24E65234}" type="pres">
      <dgm:prSet presAssocID="{ECE5AF8E-8FAD-6345-8710-700E0FF49923}" presName="parentText" presStyleLbl="node1" presStyleIdx="0" presStyleCnt="2">
        <dgm:presLayoutVars>
          <dgm:chMax val="0"/>
          <dgm:bulletEnabled val="1"/>
        </dgm:presLayoutVars>
      </dgm:prSet>
      <dgm:spPr/>
    </dgm:pt>
    <dgm:pt modelId="{1FB1AF0D-FA56-5B4B-96A4-B704D8165E1E}" type="pres">
      <dgm:prSet presAssocID="{C8516409-41E2-3C42-846F-8CADB98E3CFF}" presName="spacer" presStyleCnt="0"/>
      <dgm:spPr/>
    </dgm:pt>
    <dgm:pt modelId="{62F92D7C-025A-8E4E-848B-4BC0B9482EB0}" type="pres">
      <dgm:prSet presAssocID="{06EB41BA-822A-6940-8E32-85456CBBE3A2}" presName="parentText" presStyleLbl="node1" presStyleIdx="1" presStyleCnt="2">
        <dgm:presLayoutVars>
          <dgm:chMax val="0"/>
          <dgm:bulletEnabled val="1"/>
        </dgm:presLayoutVars>
      </dgm:prSet>
      <dgm:spPr/>
    </dgm:pt>
  </dgm:ptLst>
  <dgm:cxnLst>
    <dgm:cxn modelId="{C2F86A19-CDD6-1841-AA95-184192618EFC}" type="presOf" srcId="{3DC9A73E-7D5C-C74C-A5E3-B04E23BEA5D7}" destId="{AD9F1706-C9B5-B74D-8FFB-FF13C2A5C2CD}" srcOrd="0" destOrd="0" presId="urn:microsoft.com/office/officeart/2005/8/layout/vList2"/>
    <dgm:cxn modelId="{3C85D323-5DC8-B742-B290-E69C61CEDB4F}" srcId="{3DC9A73E-7D5C-C74C-A5E3-B04E23BEA5D7}" destId="{06EB41BA-822A-6940-8E32-85456CBBE3A2}" srcOrd="1" destOrd="0" parTransId="{634E2BC2-889F-9447-BF8D-D89657FEBBFD}" sibTransId="{E9E6D3A3-8DD6-B345-848C-03AA4FDE0770}"/>
    <dgm:cxn modelId="{2412F92D-B1D8-3A40-87CB-C0140130FE87}" srcId="{3DC9A73E-7D5C-C74C-A5E3-B04E23BEA5D7}" destId="{ECE5AF8E-8FAD-6345-8710-700E0FF49923}" srcOrd="0" destOrd="0" parTransId="{A3D62560-7A66-6643-94F2-0B7D0AB500F5}" sibTransId="{C8516409-41E2-3C42-846F-8CADB98E3CFF}"/>
    <dgm:cxn modelId="{FF769E95-5D03-5244-8435-089A8BB7C460}" type="presOf" srcId="{ECE5AF8E-8FAD-6345-8710-700E0FF49923}" destId="{70E4551D-A56F-7343-9221-15AF24E65234}" srcOrd="0" destOrd="0" presId="urn:microsoft.com/office/officeart/2005/8/layout/vList2"/>
    <dgm:cxn modelId="{1229EBE9-ACE8-F04A-A020-CD751A5B5964}" type="presOf" srcId="{06EB41BA-822A-6940-8E32-85456CBBE3A2}" destId="{62F92D7C-025A-8E4E-848B-4BC0B9482EB0}" srcOrd="0" destOrd="0" presId="urn:microsoft.com/office/officeart/2005/8/layout/vList2"/>
    <dgm:cxn modelId="{FE7E4DD5-7F49-F443-886F-A6EE7E172AEC}" type="presParOf" srcId="{AD9F1706-C9B5-B74D-8FFB-FF13C2A5C2CD}" destId="{70E4551D-A56F-7343-9221-15AF24E65234}" srcOrd="0" destOrd="0" presId="urn:microsoft.com/office/officeart/2005/8/layout/vList2"/>
    <dgm:cxn modelId="{78168DD8-D63D-E947-969D-B29A9B711E39}" type="presParOf" srcId="{AD9F1706-C9B5-B74D-8FFB-FF13C2A5C2CD}" destId="{1FB1AF0D-FA56-5B4B-96A4-B704D8165E1E}" srcOrd="1" destOrd="0" presId="urn:microsoft.com/office/officeart/2005/8/layout/vList2"/>
    <dgm:cxn modelId="{1DCD98CA-24F6-2F43-B7ED-4A110768B76E}" type="presParOf" srcId="{AD9F1706-C9B5-B74D-8FFB-FF13C2A5C2CD}" destId="{62F92D7C-025A-8E4E-848B-4BC0B9482EB0}" srcOrd="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0AF7A45-4264-DE43-BEBA-75E0BC4D9ADA}" type="doc">
      <dgm:prSet loTypeId="urn:microsoft.com/office/officeart/2005/8/layout/orgChart1" loCatId="relationship" qsTypeId="urn:microsoft.com/office/officeart/2005/8/quickstyle/simple1" qsCatId="simple" csTypeId="urn:microsoft.com/office/officeart/2005/8/colors/accent1_2" csCatId="accent1" phldr="1"/>
      <dgm:spPr/>
      <dgm:t>
        <a:bodyPr/>
        <a:lstStyle/>
        <a:p>
          <a:endParaRPr lang="ru-RU"/>
        </a:p>
      </dgm:t>
    </dgm:pt>
    <dgm:pt modelId="{51A06B99-AA8A-A24B-9B07-0A4532ACDE17}">
      <dgm:prSet/>
      <dgm:spPr/>
      <dgm:t>
        <a:bodyPr/>
        <a:lstStyle/>
        <a:p>
          <a:r>
            <a:rPr lang="ru-RU" dirty="0"/>
            <a:t>Обучение с учителем</a:t>
          </a:r>
        </a:p>
        <a:p>
          <a:r>
            <a:rPr lang="ru-RU" dirty="0"/>
            <a:t>(</a:t>
          </a:r>
          <a:r>
            <a:rPr lang="en-US" dirty="0"/>
            <a:t>Supervised</a:t>
          </a:r>
          <a:r>
            <a:rPr lang="ru-RU" dirty="0"/>
            <a:t>)</a:t>
          </a:r>
        </a:p>
      </dgm:t>
    </dgm:pt>
    <dgm:pt modelId="{EC0FA608-AF87-484E-AA12-299FA2D9513E}" type="parTrans" cxnId="{E47B96FE-2B31-014C-98C1-27B60F19AC7A}">
      <dgm:prSet/>
      <dgm:spPr/>
      <dgm:t>
        <a:bodyPr/>
        <a:lstStyle/>
        <a:p>
          <a:endParaRPr lang="ru-RU"/>
        </a:p>
      </dgm:t>
    </dgm:pt>
    <dgm:pt modelId="{52378872-94EC-2743-8294-C22BBD7D2E0A}" type="sibTrans" cxnId="{E47B96FE-2B31-014C-98C1-27B60F19AC7A}">
      <dgm:prSet/>
      <dgm:spPr/>
      <dgm:t>
        <a:bodyPr/>
        <a:lstStyle/>
        <a:p>
          <a:endParaRPr lang="ru-RU"/>
        </a:p>
      </dgm:t>
    </dgm:pt>
    <dgm:pt modelId="{15E1D399-6C73-6342-AC72-D14ED521A6F9}">
      <dgm:prSet/>
      <dgm:spPr/>
      <dgm:t>
        <a:bodyPr/>
        <a:lstStyle/>
        <a:p>
          <a:r>
            <a:rPr lang="ru-RU" dirty="0"/>
            <a:t>Обучение без учителя</a:t>
          </a:r>
          <a:endParaRPr lang="en-US" dirty="0"/>
        </a:p>
        <a:p>
          <a:r>
            <a:rPr lang="ru-RU" dirty="0"/>
            <a:t>(</a:t>
          </a:r>
          <a:r>
            <a:rPr lang="en-US" dirty="0"/>
            <a:t>Unsupervised</a:t>
          </a:r>
          <a:r>
            <a:rPr lang="ru-RU" dirty="0"/>
            <a:t>)</a:t>
          </a:r>
        </a:p>
      </dgm:t>
    </dgm:pt>
    <dgm:pt modelId="{531C4935-A520-EA4F-AE98-3CD0069E6D96}" type="parTrans" cxnId="{F881E755-F132-244D-941B-D99D646F8FFE}">
      <dgm:prSet/>
      <dgm:spPr/>
      <dgm:t>
        <a:bodyPr/>
        <a:lstStyle/>
        <a:p>
          <a:endParaRPr lang="ru-RU"/>
        </a:p>
      </dgm:t>
    </dgm:pt>
    <dgm:pt modelId="{BD881E57-8807-6043-B859-F8F47A4F4657}" type="sibTrans" cxnId="{F881E755-F132-244D-941B-D99D646F8FFE}">
      <dgm:prSet/>
      <dgm:spPr/>
      <dgm:t>
        <a:bodyPr/>
        <a:lstStyle/>
        <a:p>
          <a:endParaRPr lang="ru-RU"/>
        </a:p>
      </dgm:t>
    </dgm:pt>
    <dgm:pt modelId="{3529F165-7EF8-0E4B-8145-13A11A8AEFAD}">
      <dgm:prSet/>
      <dgm:spPr/>
      <dgm:t>
        <a:bodyPr/>
        <a:lstStyle/>
        <a:p>
          <a:r>
            <a:rPr lang="ru-RU" dirty="0"/>
            <a:t>Обучение с подкреплением</a:t>
          </a:r>
          <a:endParaRPr lang="en-US" dirty="0"/>
        </a:p>
        <a:p>
          <a:r>
            <a:rPr lang="en-US" dirty="0"/>
            <a:t>(Reinforcement learning)</a:t>
          </a:r>
          <a:endParaRPr lang="ru-RU" dirty="0"/>
        </a:p>
      </dgm:t>
    </dgm:pt>
    <dgm:pt modelId="{1719C98D-CE35-D249-817C-FCF160BC7C95}" type="parTrans" cxnId="{EE5F1B26-5A99-9F45-9BA1-BD6FEFEBC97D}">
      <dgm:prSet/>
      <dgm:spPr/>
      <dgm:t>
        <a:bodyPr/>
        <a:lstStyle/>
        <a:p>
          <a:endParaRPr lang="ru-RU"/>
        </a:p>
      </dgm:t>
    </dgm:pt>
    <dgm:pt modelId="{205DC6D4-B544-C84C-BF1E-A2F9CC07270E}" type="sibTrans" cxnId="{EE5F1B26-5A99-9F45-9BA1-BD6FEFEBC97D}">
      <dgm:prSet/>
      <dgm:spPr/>
      <dgm:t>
        <a:bodyPr/>
        <a:lstStyle/>
        <a:p>
          <a:endParaRPr lang="ru-RU"/>
        </a:p>
      </dgm:t>
    </dgm:pt>
    <dgm:pt modelId="{E7BCD49E-6E10-5247-863D-ABE9A526ACF5}">
      <dgm:prSet/>
      <dgm:spPr/>
      <dgm:t>
        <a:bodyPr/>
        <a:lstStyle/>
        <a:p>
          <a:r>
            <a:rPr lang="ru-RU" dirty="0"/>
            <a:t>Машинное обучение</a:t>
          </a:r>
        </a:p>
      </dgm:t>
    </dgm:pt>
    <dgm:pt modelId="{C517CAD2-C0F1-0141-BEF1-E76895605979}" type="parTrans" cxnId="{EB1FC8E1-AFB1-0D4B-A38D-B48220E2FDEE}">
      <dgm:prSet/>
      <dgm:spPr/>
      <dgm:t>
        <a:bodyPr/>
        <a:lstStyle/>
        <a:p>
          <a:endParaRPr lang="ru-RU"/>
        </a:p>
      </dgm:t>
    </dgm:pt>
    <dgm:pt modelId="{D2EA2017-E0B7-FE42-933B-151A0D967AC4}" type="sibTrans" cxnId="{EB1FC8E1-AFB1-0D4B-A38D-B48220E2FDEE}">
      <dgm:prSet/>
      <dgm:spPr/>
      <dgm:t>
        <a:bodyPr/>
        <a:lstStyle/>
        <a:p>
          <a:endParaRPr lang="ru-RU"/>
        </a:p>
      </dgm:t>
    </dgm:pt>
    <dgm:pt modelId="{11DBFB48-D84E-3A49-965C-0C4D6CC36E4F}" type="pres">
      <dgm:prSet presAssocID="{20AF7A45-4264-DE43-BEBA-75E0BC4D9ADA}" presName="hierChild1" presStyleCnt="0">
        <dgm:presLayoutVars>
          <dgm:orgChart val="1"/>
          <dgm:chPref val="1"/>
          <dgm:dir/>
          <dgm:animOne val="branch"/>
          <dgm:animLvl val="lvl"/>
          <dgm:resizeHandles/>
        </dgm:presLayoutVars>
      </dgm:prSet>
      <dgm:spPr/>
    </dgm:pt>
    <dgm:pt modelId="{57ECF8D3-282A-9B4B-9EEE-33E2D5A34D2C}" type="pres">
      <dgm:prSet presAssocID="{E7BCD49E-6E10-5247-863D-ABE9A526ACF5}" presName="hierRoot1" presStyleCnt="0">
        <dgm:presLayoutVars>
          <dgm:hierBranch val="init"/>
        </dgm:presLayoutVars>
      </dgm:prSet>
      <dgm:spPr/>
    </dgm:pt>
    <dgm:pt modelId="{F8811C05-08C2-5841-8E6C-7AE1E13FBB23}" type="pres">
      <dgm:prSet presAssocID="{E7BCD49E-6E10-5247-863D-ABE9A526ACF5}" presName="rootComposite1" presStyleCnt="0"/>
      <dgm:spPr/>
    </dgm:pt>
    <dgm:pt modelId="{6908F0B9-8D06-4541-815C-7B1990E0F908}" type="pres">
      <dgm:prSet presAssocID="{E7BCD49E-6E10-5247-863D-ABE9A526ACF5}" presName="rootText1" presStyleLbl="node0" presStyleIdx="0" presStyleCnt="1">
        <dgm:presLayoutVars>
          <dgm:chPref val="3"/>
        </dgm:presLayoutVars>
      </dgm:prSet>
      <dgm:spPr/>
    </dgm:pt>
    <dgm:pt modelId="{D6566067-5C83-BA49-8A6A-484DB5A652E7}" type="pres">
      <dgm:prSet presAssocID="{E7BCD49E-6E10-5247-863D-ABE9A526ACF5}" presName="rootConnector1" presStyleLbl="node1" presStyleIdx="0" presStyleCnt="0"/>
      <dgm:spPr/>
    </dgm:pt>
    <dgm:pt modelId="{6569B52A-2798-0649-B129-09F7002D1109}" type="pres">
      <dgm:prSet presAssocID="{E7BCD49E-6E10-5247-863D-ABE9A526ACF5}" presName="hierChild2" presStyleCnt="0"/>
      <dgm:spPr/>
    </dgm:pt>
    <dgm:pt modelId="{043AE59E-97C2-464E-B037-FAEC4F81D1D1}" type="pres">
      <dgm:prSet presAssocID="{EC0FA608-AF87-484E-AA12-299FA2D9513E}" presName="Name37" presStyleLbl="parChTrans1D2" presStyleIdx="0" presStyleCnt="3"/>
      <dgm:spPr/>
    </dgm:pt>
    <dgm:pt modelId="{F7547E43-BB28-FF4E-90F9-A6D6E3319995}" type="pres">
      <dgm:prSet presAssocID="{51A06B99-AA8A-A24B-9B07-0A4532ACDE17}" presName="hierRoot2" presStyleCnt="0">
        <dgm:presLayoutVars>
          <dgm:hierBranch val="init"/>
        </dgm:presLayoutVars>
      </dgm:prSet>
      <dgm:spPr/>
    </dgm:pt>
    <dgm:pt modelId="{AF47D679-9697-9649-AF72-D4BA69DA3FAF}" type="pres">
      <dgm:prSet presAssocID="{51A06B99-AA8A-A24B-9B07-0A4532ACDE17}" presName="rootComposite" presStyleCnt="0"/>
      <dgm:spPr/>
    </dgm:pt>
    <dgm:pt modelId="{F97AE900-9DB1-4E42-9554-9580C6F9C767}" type="pres">
      <dgm:prSet presAssocID="{51A06B99-AA8A-A24B-9B07-0A4532ACDE17}" presName="rootText" presStyleLbl="node2" presStyleIdx="0" presStyleCnt="3">
        <dgm:presLayoutVars>
          <dgm:chPref val="3"/>
        </dgm:presLayoutVars>
      </dgm:prSet>
      <dgm:spPr/>
    </dgm:pt>
    <dgm:pt modelId="{02CCE573-E97D-7549-ABA2-51BE9C710CAB}" type="pres">
      <dgm:prSet presAssocID="{51A06B99-AA8A-A24B-9B07-0A4532ACDE17}" presName="rootConnector" presStyleLbl="node2" presStyleIdx="0" presStyleCnt="3"/>
      <dgm:spPr/>
    </dgm:pt>
    <dgm:pt modelId="{1F976D8E-74FC-E845-85BF-15A8262CA217}" type="pres">
      <dgm:prSet presAssocID="{51A06B99-AA8A-A24B-9B07-0A4532ACDE17}" presName="hierChild4" presStyleCnt="0"/>
      <dgm:spPr/>
    </dgm:pt>
    <dgm:pt modelId="{E1F442B5-EE17-C047-941C-48710819B269}" type="pres">
      <dgm:prSet presAssocID="{51A06B99-AA8A-A24B-9B07-0A4532ACDE17}" presName="hierChild5" presStyleCnt="0"/>
      <dgm:spPr/>
    </dgm:pt>
    <dgm:pt modelId="{F892CC60-F287-8D4B-9AB2-CECD026B3F59}" type="pres">
      <dgm:prSet presAssocID="{531C4935-A520-EA4F-AE98-3CD0069E6D96}" presName="Name37" presStyleLbl="parChTrans1D2" presStyleIdx="1" presStyleCnt="3"/>
      <dgm:spPr/>
    </dgm:pt>
    <dgm:pt modelId="{91968A88-940E-7948-BEE6-4D4DDDC0F451}" type="pres">
      <dgm:prSet presAssocID="{15E1D399-6C73-6342-AC72-D14ED521A6F9}" presName="hierRoot2" presStyleCnt="0">
        <dgm:presLayoutVars>
          <dgm:hierBranch val="init"/>
        </dgm:presLayoutVars>
      </dgm:prSet>
      <dgm:spPr/>
    </dgm:pt>
    <dgm:pt modelId="{4A496886-DDBA-0142-83AB-42242C2D58D8}" type="pres">
      <dgm:prSet presAssocID="{15E1D399-6C73-6342-AC72-D14ED521A6F9}" presName="rootComposite" presStyleCnt="0"/>
      <dgm:spPr/>
    </dgm:pt>
    <dgm:pt modelId="{EF33EFF4-6893-9A46-A244-D26FF86EEADF}" type="pres">
      <dgm:prSet presAssocID="{15E1D399-6C73-6342-AC72-D14ED521A6F9}" presName="rootText" presStyleLbl="node2" presStyleIdx="1" presStyleCnt="3">
        <dgm:presLayoutVars>
          <dgm:chPref val="3"/>
        </dgm:presLayoutVars>
      </dgm:prSet>
      <dgm:spPr/>
    </dgm:pt>
    <dgm:pt modelId="{C2122924-FC02-BC40-8433-5443D3A660E0}" type="pres">
      <dgm:prSet presAssocID="{15E1D399-6C73-6342-AC72-D14ED521A6F9}" presName="rootConnector" presStyleLbl="node2" presStyleIdx="1" presStyleCnt="3"/>
      <dgm:spPr/>
    </dgm:pt>
    <dgm:pt modelId="{98AEB150-8883-5442-9CCB-6061A59D9FCA}" type="pres">
      <dgm:prSet presAssocID="{15E1D399-6C73-6342-AC72-D14ED521A6F9}" presName="hierChild4" presStyleCnt="0"/>
      <dgm:spPr/>
    </dgm:pt>
    <dgm:pt modelId="{37BA6ABC-1D67-CE4C-94E2-97234939707F}" type="pres">
      <dgm:prSet presAssocID="{15E1D399-6C73-6342-AC72-D14ED521A6F9}" presName="hierChild5" presStyleCnt="0"/>
      <dgm:spPr/>
    </dgm:pt>
    <dgm:pt modelId="{6CA8A8C5-0D4A-0F48-8E4C-AD53371064C2}" type="pres">
      <dgm:prSet presAssocID="{1719C98D-CE35-D249-817C-FCF160BC7C95}" presName="Name37" presStyleLbl="parChTrans1D2" presStyleIdx="2" presStyleCnt="3"/>
      <dgm:spPr/>
    </dgm:pt>
    <dgm:pt modelId="{520F7C8A-4E61-C04D-8B6E-603524A8BDFE}" type="pres">
      <dgm:prSet presAssocID="{3529F165-7EF8-0E4B-8145-13A11A8AEFAD}" presName="hierRoot2" presStyleCnt="0">
        <dgm:presLayoutVars>
          <dgm:hierBranch val="init"/>
        </dgm:presLayoutVars>
      </dgm:prSet>
      <dgm:spPr/>
    </dgm:pt>
    <dgm:pt modelId="{23BC0F06-1BA2-C04D-80A2-91E3A5ED68B9}" type="pres">
      <dgm:prSet presAssocID="{3529F165-7EF8-0E4B-8145-13A11A8AEFAD}" presName="rootComposite" presStyleCnt="0"/>
      <dgm:spPr/>
    </dgm:pt>
    <dgm:pt modelId="{C7355EA6-372A-7C4B-A64A-BFA911CC8D09}" type="pres">
      <dgm:prSet presAssocID="{3529F165-7EF8-0E4B-8145-13A11A8AEFAD}" presName="rootText" presStyleLbl="node2" presStyleIdx="2" presStyleCnt="3">
        <dgm:presLayoutVars>
          <dgm:chPref val="3"/>
        </dgm:presLayoutVars>
      </dgm:prSet>
      <dgm:spPr/>
    </dgm:pt>
    <dgm:pt modelId="{58DE294D-2F8B-7047-87F0-63A96B4AD311}" type="pres">
      <dgm:prSet presAssocID="{3529F165-7EF8-0E4B-8145-13A11A8AEFAD}" presName="rootConnector" presStyleLbl="node2" presStyleIdx="2" presStyleCnt="3"/>
      <dgm:spPr/>
    </dgm:pt>
    <dgm:pt modelId="{5423C960-9739-5344-9703-F2CE4A3EF94C}" type="pres">
      <dgm:prSet presAssocID="{3529F165-7EF8-0E4B-8145-13A11A8AEFAD}" presName="hierChild4" presStyleCnt="0"/>
      <dgm:spPr/>
    </dgm:pt>
    <dgm:pt modelId="{EBFD4160-1A88-4B4E-BEAA-5530C9CEE154}" type="pres">
      <dgm:prSet presAssocID="{3529F165-7EF8-0E4B-8145-13A11A8AEFAD}" presName="hierChild5" presStyleCnt="0"/>
      <dgm:spPr/>
    </dgm:pt>
    <dgm:pt modelId="{30B69356-7BBB-5041-BEDB-95A4EB0999A4}" type="pres">
      <dgm:prSet presAssocID="{E7BCD49E-6E10-5247-863D-ABE9A526ACF5}" presName="hierChild3" presStyleCnt="0"/>
      <dgm:spPr/>
    </dgm:pt>
  </dgm:ptLst>
  <dgm:cxnLst>
    <dgm:cxn modelId="{EE5F1B26-5A99-9F45-9BA1-BD6FEFEBC97D}" srcId="{E7BCD49E-6E10-5247-863D-ABE9A526ACF5}" destId="{3529F165-7EF8-0E4B-8145-13A11A8AEFAD}" srcOrd="2" destOrd="0" parTransId="{1719C98D-CE35-D249-817C-FCF160BC7C95}" sibTransId="{205DC6D4-B544-C84C-BF1E-A2F9CC07270E}"/>
    <dgm:cxn modelId="{CBA59D3B-1C25-D446-9F2C-F8F01FDD7F8A}" type="presOf" srcId="{20AF7A45-4264-DE43-BEBA-75E0BC4D9ADA}" destId="{11DBFB48-D84E-3A49-965C-0C4D6CC36E4F}" srcOrd="0" destOrd="0" presId="urn:microsoft.com/office/officeart/2005/8/layout/orgChart1"/>
    <dgm:cxn modelId="{1DD55844-A561-AF42-BADC-EFE28A5E20F9}" type="presOf" srcId="{E7BCD49E-6E10-5247-863D-ABE9A526ACF5}" destId="{D6566067-5C83-BA49-8A6A-484DB5A652E7}" srcOrd="1" destOrd="0" presId="urn:microsoft.com/office/officeart/2005/8/layout/orgChart1"/>
    <dgm:cxn modelId="{EE78C54D-52E0-B34A-A68D-F76FA832E1C0}" type="presOf" srcId="{51A06B99-AA8A-A24B-9B07-0A4532ACDE17}" destId="{02CCE573-E97D-7549-ABA2-51BE9C710CAB}" srcOrd="1" destOrd="0" presId="urn:microsoft.com/office/officeart/2005/8/layout/orgChart1"/>
    <dgm:cxn modelId="{AFE3EA4D-DDB7-A544-8854-B3A84026490F}" type="presOf" srcId="{531C4935-A520-EA4F-AE98-3CD0069E6D96}" destId="{F892CC60-F287-8D4B-9AB2-CECD026B3F59}" srcOrd="0" destOrd="0" presId="urn:microsoft.com/office/officeart/2005/8/layout/orgChart1"/>
    <dgm:cxn modelId="{7EA81052-418E-6D42-98B8-97C69028E04F}" type="presOf" srcId="{E7BCD49E-6E10-5247-863D-ABE9A526ACF5}" destId="{6908F0B9-8D06-4541-815C-7B1990E0F908}" srcOrd="0" destOrd="0" presId="urn:microsoft.com/office/officeart/2005/8/layout/orgChart1"/>
    <dgm:cxn modelId="{F881E755-F132-244D-941B-D99D646F8FFE}" srcId="{E7BCD49E-6E10-5247-863D-ABE9A526ACF5}" destId="{15E1D399-6C73-6342-AC72-D14ED521A6F9}" srcOrd="1" destOrd="0" parTransId="{531C4935-A520-EA4F-AE98-3CD0069E6D96}" sibTransId="{BD881E57-8807-6043-B859-F8F47A4F4657}"/>
    <dgm:cxn modelId="{05AE9B5E-38FF-1343-A5C2-0923F77344AE}" type="presOf" srcId="{3529F165-7EF8-0E4B-8145-13A11A8AEFAD}" destId="{C7355EA6-372A-7C4B-A64A-BFA911CC8D09}" srcOrd="0" destOrd="0" presId="urn:microsoft.com/office/officeart/2005/8/layout/orgChart1"/>
    <dgm:cxn modelId="{E11E9C72-8766-064B-B9BE-E4FFC44215AE}" type="presOf" srcId="{1719C98D-CE35-D249-817C-FCF160BC7C95}" destId="{6CA8A8C5-0D4A-0F48-8E4C-AD53371064C2}" srcOrd="0" destOrd="0" presId="urn:microsoft.com/office/officeart/2005/8/layout/orgChart1"/>
    <dgm:cxn modelId="{64EC3BA5-0B84-6341-A3F6-101105390993}" type="presOf" srcId="{51A06B99-AA8A-A24B-9B07-0A4532ACDE17}" destId="{F97AE900-9DB1-4E42-9554-9580C6F9C767}" srcOrd="0" destOrd="0" presId="urn:microsoft.com/office/officeart/2005/8/layout/orgChart1"/>
    <dgm:cxn modelId="{A78745B2-02D8-9840-A510-FF823C26BFEC}" type="presOf" srcId="{EC0FA608-AF87-484E-AA12-299FA2D9513E}" destId="{043AE59E-97C2-464E-B037-FAEC4F81D1D1}" srcOrd="0" destOrd="0" presId="urn:microsoft.com/office/officeart/2005/8/layout/orgChart1"/>
    <dgm:cxn modelId="{30F6CADB-C9B2-FE4C-A3B1-76BBA5212C73}" type="presOf" srcId="{15E1D399-6C73-6342-AC72-D14ED521A6F9}" destId="{EF33EFF4-6893-9A46-A244-D26FF86EEADF}" srcOrd="0" destOrd="0" presId="urn:microsoft.com/office/officeart/2005/8/layout/orgChart1"/>
    <dgm:cxn modelId="{EB1FC8E1-AFB1-0D4B-A38D-B48220E2FDEE}" srcId="{20AF7A45-4264-DE43-BEBA-75E0BC4D9ADA}" destId="{E7BCD49E-6E10-5247-863D-ABE9A526ACF5}" srcOrd="0" destOrd="0" parTransId="{C517CAD2-C0F1-0141-BEF1-E76895605979}" sibTransId="{D2EA2017-E0B7-FE42-933B-151A0D967AC4}"/>
    <dgm:cxn modelId="{A69DFDED-7BE2-6343-BCEF-4A8B7CAFD2F5}" type="presOf" srcId="{3529F165-7EF8-0E4B-8145-13A11A8AEFAD}" destId="{58DE294D-2F8B-7047-87F0-63A96B4AD311}" srcOrd="1" destOrd="0" presId="urn:microsoft.com/office/officeart/2005/8/layout/orgChart1"/>
    <dgm:cxn modelId="{73DAFBF8-4198-7447-8E76-214AAF824286}" type="presOf" srcId="{15E1D399-6C73-6342-AC72-D14ED521A6F9}" destId="{C2122924-FC02-BC40-8433-5443D3A660E0}" srcOrd="1" destOrd="0" presId="urn:microsoft.com/office/officeart/2005/8/layout/orgChart1"/>
    <dgm:cxn modelId="{E47B96FE-2B31-014C-98C1-27B60F19AC7A}" srcId="{E7BCD49E-6E10-5247-863D-ABE9A526ACF5}" destId="{51A06B99-AA8A-A24B-9B07-0A4532ACDE17}" srcOrd="0" destOrd="0" parTransId="{EC0FA608-AF87-484E-AA12-299FA2D9513E}" sibTransId="{52378872-94EC-2743-8294-C22BBD7D2E0A}"/>
    <dgm:cxn modelId="{7AAEE661-B5D2-EC4B-80D6-3C0756DBB452}" type="presParOf" srcId="{11DBFB48-D84E-3A49-965C-0C4D6CC36E4F}" destId="{57ECF8D3-282A-9B4B-9EEE-33E2D5A34D2C}" srcOrd="0" destOrd="0" presId="urn:microsoft.com/office/officeart/2005/8/layout/orgChart1"/>
    <dgm:cxn modelId="{B166AED6-7CD5-8D4F-BB91-8766ADC12A64}" type="presParOf" srcId="{57ECF8D3-282A-9B4B-9EEE-33E2D5A34D2C}" destId="{F8811C05-08C2-5841-8E6C-7AE1E13FBB23}" srcOrd="0" destOrd="0" presId="urn:microsoft.com/office/officeart/2005/8/layout/orgChart1"/>
    <dgm:cxn modelId="{15720532-9519-054A-B536-26965CAC5641}" type="presParOf" srcId="{F8811C05-08C2-5841-8E6C-7AE1E13FBB23}" destId="{6908F0B9-8D06-4541-815C-7B1990E0F908}" srcOrd="0" destOrd="0" presId="urn:microsoft.com/office/officeart/2005/8/layout/orgChart1"/>
    <dgm:cxn modelId="{24E3A918-9765-904B-A28A-62D6C99EC38A}" type="presParOf" srcId="{F8811C05-08C2-5841-8E6C-7AE1E13FBB23}" destId="{D6566067-5C83-BA49-8A6A-484DB5A652E7}" srcOrd="1" destOrd="0" presId="urn:microsoft.com/office/officeart/2005/8/layout/orgChart1"/>
    <dgm:cxn modelId="{DD01D1D5-A297-474C-9769-7D09D4AB2E8A}" type="presParOf" srcId="{57ECF8D3-282A-9B4B-9EEE-33E2D5A34D2C}" destId="{6569B52A-2798-0649-B129-09F7002D1109}" srcOrd="1" destOrd="0" presId="urn:microsoft.com/office/officeart/2005/8/layout/orgChart1"/>
    <dgm:cxn modelId="{02E3A6C2-B9EE-DF4A-ADC6-A265DAE050F0}" type="presParOf" srcId="{6569B52A-2798-0649-B129-09F7002D1109}" destId="{043AE59E-97C2-464E-B037-FAEC4F81D1D1}" srcOrd="0" destOrd="0" presId="urn:microsoft.com/office/officeart/2005/8/layout/orgChart1"/>
    <dgm:cxn modelId="{A0F216AA-3513-5F4D-AD5E-B4756062AF9C}" type="presParOf" srcId="{6569B52A-2798-0649-B129-09F7002D1109}" destId="{F7547E43-BB28-FF4E-90F9-A6D6E3319995}" srcOrd="1" destOrd="0" presId="urn:microsoft.com/office/officeart/2005/8/layout/orgChart1"/>
    <dgm:cxn modelId="{6BFEA298-0B1E-6348-84EE-A9C5AAB56126}" type="presParOf" srcId="{F7547E43-BB28-FF4E-90F9-A6D6E3319995}" destId="{AF47D679-9697-9649-AF72-D4BA69DA3FAF}" srcOrd="0" destOrd="0" presId="urn:microsoft.com/office/officeart/2005/8/layout/orgChart1"/>
    <dgm:cxn modelId="{AD675297-ED2D-1941-8723-2A7A2B2FC8FC}" type="presParOf" srcId="{AF47D679-9697-9649-AF72-D4BA69DA3FAF}" destId="{F97AE900-9DB1-4E42-9554-9580C6F9C767}" srcOrd="0" destOrd="0" presId="urn:microsoft.com/office/officeart/2005/8/layout/orgChart1"/>
    <dgm:cxn modelId="{40957548-C7C1-F44F-BBC4-D14FD77F7E9A}" type="presParOf" srcId="{AF47D679-9697-9649-AF72-D4BA69DA3FAF}" destId="{02CCE573-E97D-7549-ABA2-51BE9C710CAB}" srcOrd="1" destOrd="0" presId="urn:microsoft.com/office/officeart/2005/8/layout/orgChart1"/>
    <dgm:cxn modelId="{907CB123-66B0-1944-818A-9C1818B95591}" type="presParOf" srcId="{F7547E43-BB28-FF4E-90F9-A6D6E3319995}" destId="{1F976D8E-74FC-E845-85BF-15A8262CA217}" srcOrd="1" destOrd="0" presId="urn:microsoft.com/office/officeart/2005/8/layout/orgChart1"/>
    <dgm:cxn modelId="{650E2FDB-E1DD-2244-8046-BC42834C703F}" type="presParOf" srcId="{F7547E43-BB28-FF4E-90F9-A6D6E3319995}" destId="{E1F442B5-EE17-C047-941C-48710819B269}" srcOrd="2" destOrd="0" presId="urn:microsoft.com/office/officeart/2005/8/layout/orgChart1"/>
    <dgm:cxn modelId="{5F43326E-B038-D24E-AB8F-6F5BC51CAB6F}" type="presParOf" srcId="{6569B52A-2798-0649-B129-09F7002D1109}" destId="{F892CC60-F287-8D4B-9AB2-CECD026B3F59}" srcOrd="2" destOrd="0" presId="urn:microsoft.com/office/officeart/2005/8/layout/orgChart1"/>
    <dgm:cxn modelId="{2F3E8157-0177-E44D-8649-DA08F1A14DA0}" type="presParOf" srcId="{6569B52A-2798-0649-B129-09F7002D1109}" destId="{91968A88-940E-7948-BEE6-4D4DDDC0F451}" srcOrd="3" destOrd="0" presId="urn:microsoft.com/office/officeart/2005/8/layout/orgChart1"/>
    <dgm:cxn modelId="{C034E5BB-40DC-F444-9FA2-8772A968A5AD}" type="presParOf" srcId="{91968A88-940E-7948-BEE6-4D4DDDC0F451}" destId="{4A496886-DDBA-0142-83AB-42242C2D58D8}" srcOrd="0" destOrd="0" presId="urn:microsoft.com/office/officeart/2005/8/layout/orgChart1"/>
    <dgm:cxn modelId="{694A72F0-6B51-B840-B5D9-F307682BEFC8}" type="presParOf" srcId="{4A496886-DDBA-0142-83AB-42242C2D58D8}" destId="{EF33EFF4-6893-9A46-A244-D26FF86EEADF}" srcOrd="0" destOrd="0" presId="urn:microsoft.com/office/officeart/2005/8/layout/orgChart1"/>
    <dgm:cxn modelId="{977B17A2-27EE-BA43-8440-65E3D2E10A80}" type="presParOf" srcId="{4A496886-DDBA-0142-83AB-42242C2D58D8}" destId="{C2122924-FC02-BC40-8433-5443D3A660E0}" srcOrd="1" destOrd="0" presId="urn:microsoft.com/office/officeart/2005/8/layout/orgChart1"/>
    <dgm:cxn modelId="{F9AA9EEE-872C-8848-A8F8-5B5817D9EB58}" type="presParOf" srcId="{91968A88-940E-7948-BEE6-4D4DDDC0F451}" destId="{98AEB150-8883-5442-9CCB-6061A59D9FCA}" srcOrd="1" destOrd="0" presId="urn:microsoft.com/office/officeart/2005/8/layout/orgChart1"/>
    <dgm:cxn modelId="{6264B7DC-4B75-7F41-8C47-539D0181D4C7}" type="presParOf" srcId="{91968A88-940E-7948-BEE6-4D4DDDC0F451}" destId="{37BA6ABC-1D67-CE4C-94E2-97234939707F}" srcOrd="2" destOrd="0" presId="urn:microsoft.com/office/officeart/2005/8/layout/orgChart1"/>
    <dgm:cxn modelId="{C964DE5E-AC0F-8548-8703-8978EBB38736}" type="presParOf" srcId="{6569B52A-2798-0649-B129-09F7002D1109}" destId="{6CA8A8C5-0D4A-0F48-8E4C-AD53371064C2}" srcOrd="4" destOrd="0" presId="urn:microsoft.com/office/officeart/2005/8/layout/orgChart1"/>
    <dgm:cxn modelId="{2D923E54-0884-374A-9D42-00EBD352AB88}" type="presParOf" srcId="{6569B52A-2798-0649-B129-09F7002D1109}" destId="{520F7C8A-4E61-C04D-8B6E-603524A8BDFE}" srcOrd="5" destOrd="0" presId="urn:microsoft.com/office/officeart/2005/8/layout/orgChart1"/>
    <dgm:cxn modelId="{8F07937D-DAA1-6B45-8D8D-1A9B1B28090D}" type="presParOf" srcId="{520F7C8A-4E61-C04D-8B6E-603524A8BDFE}" destId="{23BC0F06-1BA2-C04D-80A2-91E3A5ED68B9}" srcOrd="0" destOrd="0" presId="urn:microsoft.com/office/officeart/2005/8/layout/orgChart1"/>
    <dgm:cxn modelId="{F33E218C-2CAD-A949-9FBB-CC692104EE53}" type="presParOf" srcId="{23BC0F06-1BA2-C04D-80A2-91E3A5ED68B9}" destId="{C7355EA6-372A-7C4B-A64A-BFA911CC8D09}" srcOrd="0" destOrd="0" presId="urn:microsoft.com/office/officeart/2005/8/layout/orgChart1"/>
    <dgm:cxn modelId="{20DBA361-1480-554F-ACE7-A320EA9BD195}" type="presParOf" srcId="{23BC0F06-1BA2-C04D-80A2-91E3A5ED68B9}" destId="{58DE294D-2F8B-7047-87F0-63A96B4AD311}" srcOrd="1" destOrd="0" presId="urn:microsoft.com/office/officeart/2005/8/layout/orgChart1"/>
    <dgm:cxn modelId="{3F0A31FB-A27E-7B45-B10B-B8012D728DD3}" type="presParOf" srcId="{520F7C8A-4E61-C04D-8B6E-603524A8BDFE}" destId="{5423C960-9739-5344-9703-F2CE4A3EF94C}" srcOrd="1" destOrd="0" presId="urn:microsoft.com/office/officeart/2005/8/layout/orgChart1"/>
    <dgm:cxn modelId="{2ABAF33C-DF4B-3C41-A519-17CA50A62479}" type="presParOf" srcId="{520F7C8A-4E61-C04D-8B6E-603524A8BDFE}" destId="{EBFD4160-1A88-4B4E-BEAA-5530C9CEE154}" srcOrd="2" destOrd="0" presId="urn:microsoft.com/office/officeart/2005/8/layout/orgChart1"/>
    <dgm:cxn modelId="{09D78311-51C9-7A47-8F66-A791F8061CEA}" type="presParOf" srcId="{57ECF8D3-282A-9B4B-9EEE-33E2D5A34D2C}" destId="{30B69356-7BBB-5041-BEDB-95A4EB0999A4}"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3C409E4-09E9-5649-8568-02F7CECFCD4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D266F1EA-BB1B-9D49-87F5-6CF3E0E71D6F}">
      <dgm:prSet/>
      <dgm:spPr/>
      <dgm:t>
        <a:bodyPr/>
        <a:lstStyle/>
        <a:p>
          <a:r>
            <a:rPr lang="ru-RU"/>
            <a:t>Регрессия</a:t>
          </a:r>
        </a:p>
      </dgm:t>
    </dgm:pt>
    <dgm:pt modelId="{E00DD2E6-70D2-E64F-ADF7-E4CFBD3BE9A0}" type="parTrans" cxnId="{BDB7ACD4-0DA6-8A4C-9DB0-CA4248CBEA76}">
      <dgm:prSet/>
      <dgm:spPr/>
      <dgm:t>
        <a:bodyPr/>
        <a:lstStyle/>
        <a:p>
          <a:endParaRPr lang="ru-RU"/>
        </a:p>
      </dgm:t>
    </dgm:pt>
    <dgm:pt modelId="{0274A0A2-7DA8-4A48-AF11-3A3536583D66}" type="sibTrans" cxnId="{BDB7ACD4-0DA6-8A4C-9DB0-CA4248CBEA76}">
      <dgm:prSet/>
      <dgm:spPr/>
      <dgm:t>
        <a:bodyPr/>
        <a:lstStyle/>
        <a:p>
          <a:endParaRPr lang="ru-RU"/>
        </a:p>
      </dgm:t>
    </dgm:pt>
    <dgm:pt modelId="{FF0B6BB4-E70F-FF46-A8B6-B25C84EF609D}">
      <dgm:prSet/>
      <dgm:spPr/>
      <dgm:t>
        <a:bodyPr/>
        <a:lstStyle/>
        <a:p>
          <a:r>
            <a:rPr lang="ru-RU"/>
            <a:t>Классификация</a:t>
          </a:r>
        </a:p>
      </dgm:t>
    </dgm:pt>
    <dgm:pt modelId="{DD21EF93-4278-3645-9DE6-D8DDBB8DE110}" type="parTrans" cxnId="{9B8A9163-A6F6-5441-BCF8-AA0D9C330300}">
      <dgm:prSet/>
      <dgm:spPr/>
      <dgm:t>
        <a:bodyPr/>
        <a:lstStyle/>
        <a:p>
          <a:endParaRPr lang="ru-RU"/>
        </a:p>
      </dgm:t>
    </dgm:pt>
    <dgm:pt modelId="{0F270BF0-D720-2948-A3C9-5FE2326181BA}" type="sibTrans" cxnId="{9B8A9163-A6F6-5441-BCF8-AA0D9C330300}">
      <dgm:prSet/>
      <dgm:spPr/>
      <dgm:t>
        <a:bodyPr/>
        <a:lstStyle/>
        <a:p>
          <a:endParaRPr lang="ru-RU"/>
        </a:p>
      </dgm:t>
    </dgm:pt>
    <dgm:pt modelId="{8190DDA3-580C-594D-AE1E-5EB7DA4773AD}">
      <dgm:prSet/>
      <dgm:spPr/>
      <dgm:t>
        <a:bodyPr/>
        <a:lstStyle/>
        <a:p>
          <a:r>
            <a:rPr lang="ru-RU"/>
            <a:t>Ранжирование</a:t>
          </a:r>
        </a:p>
      </dgm:t>
    </dgm:pt>
    <dgm:pt modelId="{F1305C91-6C7E-B34D-9999-F725630832F2}" type="parTrans" cxnId="{DA1A4C94-43CD-D940-B08D-CCB4518ACAF6}">
      <dgm:prSet/>
      <dgm:spPr/>
      <dgm:t>
        <a:bodyPr/>
        <a:lstStyle/>
        <a:p>
          <a:endParaRPr lang="ru-RU"/>
        </a:p>
      </dgm:t>
    </dgm:pt>
    <dgm:pt modelId="{61C2DDA6-1249-A241-8503-B54EFA8B7B35}" type="sibTrans" cxnId="{DA1A4C94-43CD-D940-B08D-CCB4518ACAF6}">
      <dgm:prSet/>
      <dgm:spPr/>
      <dgm:t>
        <a:bodyPr/>
        <a:lstStyle/>
        <a:p>
          <a:endParaRPr lang="ru-RU"/>
        </a:p>
      </dgm:t>
    </dgm:pt>
    <dgm:pt modelId="{7C2AF3EC-7037-874C-B016-3126F8B48E98}">
      <dgm:prSet/>
      <dgm:spPr/>
      <dgm:t>
        <a:bodyPr/>
        <a:lstStyle/>
        <a:p>
          <a:r>
            <a:rPr lang="ru-RU"/>
            <a:t>Кластеризация</a:t>
          </a:r>
        </a:p>
      </dgm:t>
    </dgm:pt>
    <dgm:pt modelId="{84A27631-F180-9947-9848-6001E4071483}" type="parTrans" cxnId="{C5B9F255-5CAD-3746-A9DC-523DFB4792F8}">
      <dgm:prSet/>
      <dgm:spPr/>
      <dgm:t>
        <a:bodyPr/>
        <a:lstStyle/>
        <a:p>
          <a:endParaRPr lang="ru-RU"/>
        </a:p>
      </dgm:t>
    </dgm:pt>
    <dgm:pt modelId="{92DE4002-E062-CC4F-A7CE-316EE09E82EF}" type="sibTrans" cxnId="{C5B9F255-5CAD-3746-A9DC-523DFB4792F8}">
      <dgm:prSet/>
      <dgm:spPr/>
      <dgm:t>
        <a:bodyPr/>
        <a:lstStyle/>
        <a:p>
          <a:endParaRPr lang="ru-RU"/>
        </a:p>
      </dgm:t>
    </dgm:pt>
    <dgm:pt modelId="{5191D4B0-E951-D14A-9EBB-AB0026319EA2}">
      <dgm:prSet/>
      <dgm:spPr/>
      <dgm:t>
        <a:bodyPr/>
        <a:lstStyle/>
        <a:p>
          <a:r>
            <a:rPr lang="ru-RU"/>
            <a:t>Понижение размерности</a:t>
          </a:r>
        </a:p>
      </dgm:t>
    </dgm:pt>
    <dgm:pt modelId="{E0F9B852-827D-A74C-B7BE-F54C4EC5D331}" type="parTrans" cxnId="{A96DC317-6152-C642-892C-332E9E5D5A81}">
      <dgm:prSet/>
      <dgm:spPr/>
      <dgm:t>
        <a:bodyPr/>
        <a:lstStyle/>
        <a:p>
          <a:endParaRPr lang="ru-RU"/>
        </a:p>
      </dgm:t>
    </dgm:pt>
    <dgm:pt modelId="{DB807491-46C8-DA42-8914-BC3A6237DDA2}" type="sibTrans" cxnId="{A96DC317-6152-C642-892C-332E9E5D5A81}">
      <dgm:prSet/>
      <dgm:spPr/>
      <dgm:t>
        <a:bodyPr/>
        <a:lstStyle/>
        <a:p>
          <a:endParaRPr lang="ru-RU"/>
        </a:p>
      </dgm:t>
    </dgm:pt>
    <dgm:pt modelId="{8E6DB446-2DD9-9F47-AC15-EDD64D14C9DF}" type="pres">
      <dgm:prSet presAssocID="{B3C409E4-09E9-5649-8568-02F7CECFCD42}" presName="linear" presStyleCnt="0">
        <dgm:presLayoutVars>
          <dgm:animLvl val="lvl"/>
          <dgm:resizeHandles val="exact"/>
        </dgm:presLayoutVars>
      </dgm:prSet>
      <dgm:spPr/>
    </dgm:pt>
    <dgm:pt modelId="{3CC77194-F702-1645-82E0-DE5C4FCF1718}" type="pres">
      <dgm:prSet presAssocID="{D266F1EA-BB1B-9D49-87F5-6CF3E0E71D6F}" presName="parentText" presStyleLbl="node1" presStyleIdx="0" presStyleCnt="5">
        <dgm:presLayoutVars>
          <dgm:chMax val="0"/>
          <dgm:bulletEnabled val="1"/>
        </dgm:presLayoutVars>
      </dgm:prSet>
      <dgm:spPr/>
    </dgm:pt>
    <dgm:pt modelId="{BC0B5D92-9D62-494E-87A9-620A805706B2}" type="pres">
      <dgm:prSet presAssocID="{0274A0A2-7DA8-4A48-AF11-3A3536583D66}" presName="spacer" presStyleCnt="0"/>
      <dgm:spPr/>
    </dgm:pt>
    <dgm:pt modelId="{6B2DA9EE-7D78-894C-B48C-6D479108FC99}" type="pres">
      <dgm:prSet presAssocID="{FF0B6BB4-E70F-FF46-A8B6-B25C84EF609D}" presName="parentText" presStyleLbl="node1" presStyleIdx="1" presStyleCnt="5">
        <dgm:presLayoutVars>
          <dgm:chMax val="0"/>
          <dgm:bulletEnabled val="1"/>
        </dgm:presLayoutVars>
      </dgm:prSet>
      <dgm:spPr/>
    </dgm:pt>
    <dgm:pt modelId="{0B3D75F6-701C-9C49-AAEA-2EEA3EEF06FF}" type="pres">
      <dgm:prSet presAssocID="{0F270BF0-D720-2948-A3C9-5FE2326181BA}" presName="spacer" presStyleCnt="0"/>
      <dgm:spPr/>
    </dgm:pt>
    <dgm:pt modelId="{6BE0DB6D-A2BB-2848-B343-1B50777E7663}" type="pres">
      <dgm:prSet presAssocID="{8190DDA3-580C-594D-AE1E-5EB7DA4773AD}" presName="parentText" presStyleLbl="node1" presStyleIdx="2" presStyleCnt="5">
        <dgm:presLayoutVars>
          <dgm:chMax val="0"/>
          <dgm:bulletEnabled val="1"/>
        </dgm:presLayoutVars>
      </dgm:prSet>
      <dgm:spPr/>
    </dgm:pt>
    <dgm:pt modelId="{1FF059F6-DAB8-494C-909F-B53A36AFC776}" type="pres">
      <dgm:prSet presAssocID="{61C2DDA6-1249-A241-8503-B54EFA8B7B35}" presName="spacer" presStyleCnt="0"/>
      <dgm:spPr/>
    </dgm:pt>
    <dgm:pt modelId="{10E34177-5FC6-FF43-89BF-B8103C9F4E3F}" type="pres">
      <dgm:prSet presAssocID="{7C2AF3EC-7037-874C-B016-3126F8B48E98}" presName="parentText" presStyleLbl="node1" presStyleIdx="3" presStyleCnt="5">
        <dgm:presLayoutVars>
          <dgm:chMax val="0"/>
          <dgm:bulletEnabled val="1"/>
        </dgm:presLayoutVars>
      </dgm:prSet>
      <dgm:spPr/>
    </dgm:pt>
    <dgm:pt modelId="{12288E16-D113-2C43-B1F1-F323516EFC62}" type="pres">
      <dgm:prSet presAssocID="{92DE4002-E062-CC4F-A7CE-316EE09E82EF}" presName="spacer" presStyleCnt="0"/>
      <dgm:spPr/>
    </dgm:pt>
    <dgm:pt modelId="{0493AC9C-E17B-454D-8C9E-8101432FE889}" type="pres">
      <dgm:prSet presAssocID="{5191D4B0-E951-D14A-9EBB-AB0026319EA2}" presName="parentText" presStyleLbl="node1" presStyleIdx="4" presStyleCnt="5">
        <dgm:presLayoutVars>
          <dgm:chMax val="0"/>
          <dgm:bulletEnabled val="1"/>
        </dgm:presLayoutVars>
      </dgm:prSet>
      <dgm:spPr/>
    </dgm:pt>
  </dgm:ptLst>
  <dgm:cxnLst>
    <dgm:cxn modelId="{A96DC317-6152-C642-892C-332E9E5D5A81}" srcId="{B3C409E4-09E9-5649-8568-02F7CECFCD42}" destId="{5191D4B0-E951-D14A-9EBB-AB0026319EA2}" srcOrd="4" destOrd="0" parTransId="{E0F9B852-827D-A74C-B7BE-F54C4EC5D331}" sibTransId="{DB807491-46C8-DA42-8914-BC3A6237DDA2}"/>
    <dgm:cxn modelId="{B8FF582A-6A27-E247-88EB-470A4FC16299}" type="presOf" srcId="{B3C409E4-09E9-5649-8568-02F7CECFCD42}" destId="{8E6DB446-2DD9-9F47-AC15-EDD64D14C9DF}" srcOrd="0" destOrd="0" presId="urn:microsoft.com/office/officeart/2005/8/layout/vList2"/>
    <dgm:cxn modelId="{5274494B-13DD-BF45-AD79-091D564A6922}" type="presOf" srcId="{8190DDA3-580C-594D-AE1E-5EB7DA4773AD}" destId="{6BE0DB6D-A2BB-2848-B343-1B50777E7663}" srcOrd="0" destOrd="0" presId="urn:microsoft.com/office/officeart/2005/8/layout/vList2"/>
    <dgm:cxn modelId="{C5B9F255-5CAD-3746-A9DC-523DFB4792F8}" srcId="{B3C409E4-09E9-5649-8568-02F7CECFCD42}" destId="{7C2AF3EC-7037-874C-B016-3126F8B48E98}" srcOrd="3" destOrd="0" parTransId="{84A27631-F180-9947-9848-6001E4071483}" sibTransId="{92DE4002-E062-CC4F-A7CE-316EE09E82EF}"/>
    <dgm:cxn modelId="{A78EE75C-8F6B-334C-8C21-490296DD04D6}" type="presOf" srcId="{5191D4B0-E951-D14A-9EBB-AB0026319EA2}" destId="{0493AC9C-E17B-454D-8C9E-8101432FE889}" srcOrd="0" destOrd="0" presId="urn:microsoft.com/office/officeart/2005/8/layout/vList2"/>
    <dgm:cxn modelId="{9B8A9163-A6F6-5441-BCF8-AA0D9C330300}" srcId="{B3C409E4-09E9-5649-8568-02F7CECFCD42}" destId="{FF0B6BB4-E70F-FF46-A8B6-B25C84EF609D}" srcOrd="1" destOrd="0" parTransId="{DD21EF93-4278-3645-9DE6-D8DDBB8DE110}" sibTransId="{0F270BF0-D720-2948-A3C9-5FE2326181BA}"/>
    <dgm:cxn modelId="{C4519967-D9A8-BD48-A331-44EAB5E9C4B1}" type="presOf" srcId="{D266F1EA-BB1B-9D49-87F5-6CF3E0E71D6F}" destId="{3CC77194-F702-1645-82E0-DE5C4FCF1718}" srcOrd="0" destOrd="0" presId="urn:microsoft.com/office/officeart/2005/8/layout/vList2"/>
    <dgm:cxn modelId="{76585A6F-3429-6544-9B08-A53002E8833E}" type="presOf" srcId="{FF0B6BB4-E70F-FF46-A8B6-B25C84EF609D}" destId="{6B2DA9EE-7D78-894C-B48C-6D479108FC99}" srcOrd="0" destOrd="0" presId="urn:microsoft.com/office/officeart/2005/8/layout/vList2"/>
    <dgm:cxn modelId="{DA1A4C94-43CD-D940-B08D-CCB4518ACAF6}" srcId="{B3C409E4-09E9-5649-8568-02F7CECFCD42}" destId="{8190DDA3-580C-594D-AE1E-5EB7DA4773AD}" srcOrd="2" destOrd="0" parTransId="{F1305C91-6C7E-B34D-9999-F725630832F2}" sibTransId="{61C2DDA6-1249-A241-8503-B54EFA8B7B35}"/>
    <dgm:cxn modelId="{BDB7ACD4-0DA6-8A4C-9DB0-CA4248CBEA76}" srcId="{B3C409E4-09E9-5649-8568-02F7CECFCD42}" destId="{D266F1EA-BB1B-9D49-87F5-6CF3E0E71D6F}" srcOrd="0" destOrd="0" parTransId="{E00DD2E6-70D2-E64F-ADF7-E4CFBD3BE9A0}" sibTransId="{0274A0A2-7DA8-4A48-AF11-3A3536583D66}"/>
    <dgm:cxn modelId="{7D2DD7DF-3808-2C4F-A1AB-33F4D94705CE}" type="presOf" srcId="{7C2AF3EC-7037-874C-B016-3126F8B48E98}" destId="{10E34177-5FC6-FF43-89BF-B8103C9F4E3F}" srcOrd="0" destOrd="0" presId="urn:microsoft.com/office/officeart/2005/8/layout/vList2"/>
    <dgm:cxn modelId="{07A0B34A-24DF-5643-BB66-A8383892CC45}" type="presParOf" srcId="{8E6DB446-2DD9-9F47-AC15-EDD64D14C9DF}" destId="{3CC77194-F702-1645-82E0-DE5C4FCF1718}" srcOrd="0" destOrd="0" presId="urn:microsoft.com/office/officeart/2005/8/layout/vList2"/>
    <dgm:cxn modelId="{484DB3DE-D05A-6647-98A6-BAF6D242422D}" type="presParOf" srcId="{8E6DB446-2DD9-9F47-AC15-EDD64D14C9DF}" destId="{BC0B5D92-9D62-494E-87A9-620A805706B2}" srcOrd="1" destOrd="0" presId="urn:microsoft.com/office/officeart/2005/8/layout/vList2"/>
    <dgm:cxn modelId="{65DF61AA-EDB3-2F48-8657-D6D7D32AE8D8}" type="presParOf" srcId="{8E6DB446-2DD9-9F47-AC15-EDD64D14C9DF}" destId="{6B2DA9EE-7D78-894C-B48C-6D479108FC99}" srcOrd="2" destOrd="0" presId="urn:microsoft.com/office/officeart/2005/8/layout/vList2"/>
    <dgm:cxn modelId="{4DF132FC-5F8D-3C46-A8C3-AE197F56E814}" type="presParOf" srcId="{8E6DB446-2DD9-9F47-AC15-EDD64D14C9DF}" destId="{0B3D75F6-701C-9C49-AAEA-2EEA3EEF06FF}" srcOrd="3" destOrd="0" presId="urn:microsoft.com/office/officeart/2005/8/layout/vList2"/>
    <dgm:cxn modelId="{B110A863-1B81-FE46-8272-BFFE8AEBEA1E}" type="presParOf" srcId="{8E6DB446-2DD9-9F47-AC15-EDD64D14C9DF}" destId="{6BE0DB6D-A2BB-2848-B343-1B50777E7663}" srcOrd="4" destOrd="0" presId="urn:microsoft.com/office/officeart/2005/8/layout/vList2"/>
    <dgm:cxn modelId="{029AE474-14D5-394F-95F4-3DAC5DC07371}" type="presParOf" srcId="{8E6DB446-2DD9-9F47-AC15-EDD64D14C9DF}" destId="{1FF059F6-DAB8-494C-909F-B53A36AFC776}" srcOrd="5" destOrd="0" presId="urn:microsoft.com/office/officeart/2005/8/layout/vList2"/>
    <dgm:cxn modelId="{9E91266A-395A-7E49-8421-3F7C3CC2BB08}" type="presParOf" srcId="{8E6DB446-2DD9-9F47-AC15-EDD64D14C9DF}" destId="{10E34177-5FC6-FF43-89BF-B8103C9F4E3F}" srcOrd="6" destOrd="0" presId="urn:microsoft.com/office/officeart/2005/8/layout/vList2"/>
    <dgm:cxn modelId="{BE9DB6F4-7660-8641-A9BE-452FAE9026F9}" type="presParOf" srcId="{8E6DB446-2DD9-9F47-AC15-EDD64D14C9DF}" destId="{12288E16-D113-2C43-B1F1-F323516EFC62}" srcOrd="7" destOrd="0" presId="urn:microsoft.com/office/officeart/2005/8/layout/vList2"/>
    <dgm:cxn modelId="{8EDA5500-29B8-8947-943E-7A1D6567F433}" type="presParOf" srcId="{8E6DB446-2DD9-9F47-AC15-EDD64D14C9DF}" destId="{0493AC9C-E17B-454D-8C9E-8101432FE889}"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1A0AF4-46FE-2B45-AAEF-1A3AB6F77F6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ru-RU"/>
        </a:p>
      </dgm:t>
    </dgm:pt>
    <dgm:pt modelId="{7FEF4923-89AB-7D4A-9D8F-0DFB2F484468}">
      <dgm:prSet/>
      <dgm:spPr/>
      <dgm:t>
        <a:bodyPr/>
        <a:lstStyle/>
        <a:p>
          <a:r>
            <a:rPr lang="ru-RU"/>
            <a:t>В примере, посвященном аппроксимации полиномиальных кривых с использованием метода наименьших квадратов, существует оптималь­ный порядок полинома, который дает наилучшее обобщение. </a:t>
          </a:r>
        </a:p>
      </dgm:t>
    </dgm:pt>
    <dgm:pt modelId="{7874B184-B640-BF4F-8137-E9AF9519ED0B}" type="parTrans" cxnId="{E77D0378-4306-204A-A1A8-C929CC392859}">
      <dgm:prSet/>
      <dgm:spPr/>
      <dgm:t>
        <a:bodyPr/>
        <a:lstStyle/>
        <a:p>
          <a:endParaRPr lang="ru-RU"/>
        </a:p>
      </dgm:t>
    </dgm:pt>
    <dgm:pt modelId="{207D6FB1-3AA2-DC4E-9B15-DD09CB1BF3C3}" type="sibTrans" cxnId="{E77D0378-4306-204A-A1A8-C929CC392859}">
      <dgm:prSet/>
      <dgm:spPr/>
      <dgm:t>
        <a:bodyPr/>
        <a:lstStyle/>
        <a:p>
          <a:endParaRPr lang="ru-RU"/>
        </a:p>
      </dgm:t>
    </dgm:pt>
    <dgm:pt modelId="{2C848EF2-011A-3C40-94A6-0EBCA242B98A}">
      <dgm:prSet/>
      <dgm:spPr/>
      <dgm:t>
        <a:bodyPr/>
        <a:lstStyle/>
        <a:p>
          <a:r>
            <a:rPr lang="ru-RU"/>
            <a:t>Порядок полинома определяет количество свободных параметров в модели и тем самым определяет ее сложность. </a:t>
          </a:r>
        </a:p>
      </dgm:t>
    </dgm:pt>
    <dgm:pt modelId="{647CC9F1-1D90-954B-A2CC-825EEF27D0E5}" type="parTrans" cxnId="{E59A886E-2AB1-0C45-87A8-5B103C1C3305}">
      <dgm:prSet/>
      <dgm:spPr/>
      <dgm:t>
        <a:bodyPr/>
        <a:lstStyle/>
        <a:p>
          <a:endParaRPr lang="ru-RU"/>
        </a:p>
      </dgm:t>
    </dgm:pt>
    <dgm:pt modelId="{9D6850DA-3093-BC4D-ABAE-46DE8D5D8895}" type="sibTrans" cxnId="{E59A886E-2AB1-0C45-87A8-5B103C1C3305}">
      <dgm:prSet/>
      <dgm:spPr/>
      <dgm:t>
        <a:bodyPr/>
        <a:lstStyle/>
        <a:p>
          <a:endParaRPr lang="ru-RU"/>
        </a:p>
      </dgm:t>
    </dgm:pt>
    <dgm:pt modelId="{C82593DD-EEBD-5342-85A3-2B6BDDCDE90F}">
      <dgm:prSet/>
      <dgm:spPr/>
      <dgm:t>
        <a:bodyPr/>
        <a:lstStyle/>
        <a:p>
          <a:r>
            <a:rPr lang="ru-RU"/>
            <a:t>В регуляризованном методе наименьших квадратов на реальную сложность модели влияет коэффициент регуляризации в то время как для более сложных моделей, таких как смеси распределений или нейронные сети, может существовать множество параметров, определяющих их сложность. </a:t>
          </a:r>
        </a:p>
      </dgm:t>
    </dgm:pt>
    <dgm:pt modelId="{C4C7252E-4680-7C48-BA27-E99DC5C1F572}" type="parTrans" cxnId="{3BFE3D7C-BEF3-C44C-95A9-0D86A6AEE3DE}">
      <dgm:prSet/>
      <dgm:spPr/>
      <dgm:t>
        <a:bodyPr/>
        <a:lstStyle/>
        <a:p>
          <a:endParaRPr lang="ru-RU"/>
        </a:p>
      </dgm:t>
    </dgm:pt>
    <dgm:pt modelId="{82EC0FE2-49F3-C445-8C79-650564E633EE}" type="sibTrans" cxnId="{3BFE3D7C-BEF3-C44C-95A9-0D86A6AEE3DE}">
      <dgm:prSet/>
      <dgm:spPr/>
      <dgm:t>
        <a:bodyPr/>
        <a:lstStyle/>
        <a:p>
          <a:endParaRPr lang="ru-RU"/>
        </a:p>
      </dgm:t>
    </dgm:pt>
    <dgm:pt modelId="{B7909EF4-D81F-7F4D-9800-FD6461C3EA7A}">
      <dgm:prSet/>
      <dgm:spPr/>
      <dgm:t>
        <a:bodyPr/>
        <a:lstStyle/>
        <a:p>
          <a:r>
            <a:rPr lang="ru-RU"/>
            <a:t>Для практического применения нам необходимо определить значения таких пара­метров, и главная цель при этом - достижение наилучших прогностических ха­рактеристик параметров сложности в данной модели.</a:t>
          </a:r>
        </a:p>
      </dgm:t>
    </dgm:pt>
    <dgm:pt modelId="{539EA3E1-6C8C-7C43-A7E1-B7984F99AEF6}" type="parTrans" cxnId="{BE166781-BABB-7B40-8CFA-66C0EAEA789A}">
      <dgm:prSet/>
      <dgm:spPr/>
      <dgm:t>
        <a:bodyPr/>
        <a:lstStyle/>
        <a:p>
          <a:endParaRPr lang="ru-RU"/>
        </a:p>
      </dgm:t>
    </dgm:pt>
    <dgm:pt modelId="{32847C54-1C45-C64E-877B-B95BE8397194}" type="sibTrans" cxnId="{BE166781-BABB-7B40-8CFA-66C0EAEA789A}">
      <dgm:prSet/>
      <dgm:spPr/>
      <dgm:t>
        <a:bodyPr/>
        <a:lstStyle/>
        <a:p>
          <a:endParaRPr lang="ru-RU"/>
        </a:p>
      </dgm:t>
    </dgm:pt>
    <dgm:pt modelId="{3231FBF0-5764-F149-9E93-D28C3DFC8E1E}">
      <dgm:prSet/>
      <dgm:spPr/>
      <dgm:t>
        <a:bodyPr/>
        <a:lstStyle/>
        <a:p>
          <a:r>
            <a:rPr lang="ru-RU"/>
            <a:t>Следует рассмотреть ряд различных видов моделей, пытаясь найти лучшую для конкретного приложения.</a:t>
          </a:r>
        </a:p>
      </dgm:t>
    </dgm:pt>
    <dgm:pt modelId="{64DE8FCC-9C1E-824E-9C87-4F2758DB75C4}" type="parTrans" cxnId="{995EB698-2C77-5042-9B01-A34E41A4A9AF}">
      <dgm:prSet/>
      <dgm:spPr/>
      <dgm:t>
        <a:bodyPr/>
        <a:lstStyle/>
        <a:p>
          <a:endParaRPr lang="ru-RU"/>
        </a:p>
      </dgm:t>
    </dgm:pt>
    <dgm:pt modelId="{C9EB0F2B-5B9A-DC42-82D6-2B9A0FD1C705}" type="sibTrans" cxnId="{995EB698-2C77-5042-9B01-A34E41A4A9AF}">
      <dgm:prSet/>
      <dgm:spPr/>
      <dgm:t>
        <a:bodyPr/>
        <a:lstStyle/>
        <a:p>
          <a:endParaRPr lang="ru-RU"/>
        </a:p>
      </dgm:t>
    </dgm:pt>
    <dgm:pt modelId="{1C7203BC-90AD-124B-9988-2AC4AF9269E3}" type="pres">
      <dgm:prSet presAssocID="{D61A0AF4-46FE-2B45-AAEF-1A3AB6F77F6A}" presName="linear" presStyleCnt="0">
        <dgm:presLayoutVars>
          <dgm:animLvl val="lvl"/>
          <dgm:resizeHandles val="exact"/>
        </dgm:presLayoutVars>
      </dgm:prSet>
      <dgm:spPr/>
    </dgm:pt>
    <dgm:pt modelId="{31523D61-6ED8-2D46-AA95-3FF7781DED39}" type="pres">
      <dgm:prSet presAssocID="{7FEF4923-89AB-7D4A-9D8F-0DFB2F484468}" presName="parentText" presStyleLbl="node1" presStyleIdx="0" presStyleCnt="5">
        <dgm:presLayoutVars>
          <dgm:chMax val="0"/>
          <dgm:bulletEnabled val="1"/>
        </dgm:presLayoutVars>
      </dgm:prSet>
      <dgm:spPr/>
    </dgm:pt>
    <dgm:pt modelId="{6D230570-E7C1-1C46-875C-8AD0ED34004E}" type="pres">
      <dgm:prSet presAssocID="{207D6FB1-3AA2-DC4E-9B15-DD09CB1BF3C3}" presName="spacer" presStyleCnt="0"/>
      <dgm:spPr/>
    </dgm:pt>
    <dgm:pt modelId="{0DF312A6-B980-E44C-8346-4FBA657B3339}" type="pres">
      <dgm:prSet presAssocID="{2C848EF2-011A-3C40-94A6-0EBCA242B98A}" presName="parentText" presStyleLbl="node1" presStyleIdx="1" presStyleCnt="5">
        <dgm:presLayoutVars>
          <dgm:chMax val="0"/>
          <dgm:bulletEnabled val="1"/>
        </dgm:presLayoutVars>
      </dgm:prSet>
      <dgm:spPr/>
    </dgm:pt>
    <dgm:pt modelId="{E5828CA4-88C1-864C-A267-6A97CA8AD0AA}" type="pres">
      <dgm:prSet presAssocID="{9D6850DA-3093-BC4D-ABAE-46DE8D5D8895}" presName="spacer" presStyleCnt="0"/>
      <dgm:spPr/>
    </dgm:pt>
    <dgm:pt modelId="{4911C5EC-C059-D54C-A3C0-A58E1C5BF0E3}" type="pres">
      <dgm:prSet presAssocID="{C82593DD-EEBD-5342-85A3-2B6BDDCDE90F}" presName="parentText" presStyleLbl="node1" presStyleIdx="2" presStyleCnt="5">
        <dgm:presLayoutVars>
          <dgm:chMax val="0"/>
          <dgm:bulletEnabled val="1"/>
        </dgm:presLayoutVars>
      </dgm:prSet>
      <dgm:spPr/>
    </dgm:pt>
    <dgm:pt modelId="{A507EA3D-851A-1F49-B188-B6F417CAF72F}" type="pres">
      <dgm:prSet presAssocID="{82EC0FE2-49F3-C445-8C79-650564E633EE}" presName="spacer" presStyleCnt="0"/>
      <dgm:spPr/>
    </dgm:pt>
    <dgm:pt modelId="{B18C1D45-B8D0-F141-BAD0-765CD12D8466}" type="pres">
      <dgm:prSet presAssocID="{B7909EF4-D81F-7F4D-9800-FD6461C3EA7A}" presName="parentText" presStyleLbl="node1" presStyleIdx="3" presStyleCnt="5">
        <dgm:presLayoutVars>
          <dgm:chMax val="0"/>
          <dgm:bulletEnabled val="1"/>
        </dgm:presLayoutVars>
      </dgm:prSet>
      <dgm:spPr/>
    </dgm:pt>
    <dgm:pt modelId="{18050A0E-2EE3-8E48-9740-1FBAAC10B846}" type="pres">
      <dgm:prSet presAssocID="{32847C54-1C45-C64E-877B-B95BE8397194}" presName="spacer" presStyleCnt="0"/>
      <dgm:spPr/>
    </dgm:pt>
    <dgm:pt modelId="{33CE0521-CDA6-BC4C-949D-C5A997D1589B}" type="pres">
      <dgm:prSet presAssocID="{3231FBF0-5764-F149-9E93-D28C3DFC8E1E}" presName="parentText" presStyleLbl="node1" presStyleIdx="4" presStyleCnt="5">
        <dgm:presLayoutVars>
          <dgm:chMax val="0"/>
          <dgm:bulletEnabled val="1"/>
        </dgm:presLayoutVars>
      </dgm:prSet>
      <dgm:spPr/>
    </dgm:pt>
  </dgm:ptLst>
  <dgm:cxnLst>
    <dgm:cxn modelId="{AB5B9A15-1738-274F-90BF-D67748C7EBA7}" type="presOf" srcId="{3231FBF0-5764-F149-9E93-D28C3DFC8E1E}" destId="{33CE0521-CDA6-BC4C-949D-C5A997D1589B}" srcOrd="0" destOrd="0" presId="urn:microsoft.com/office/officeart/2005/8/layout/vList2"/>
    <dgm:cxn modelId="{C7DD0B5E-D673-4749-AAA4-CB6ED9DBBC15}" type="presOf" srcId="{D61A0AF4-46FE-2B45-AAEF-1A3AB6F77F6A}" destId="{1C7203BC-90AD-124B-9988-2AC4AF9269E3}" srcOrd="0" destOrd="0" presId="urn:microsoft.com/office/officeart/2005/8/layout/vList2"/>
    <dgm:cxn modelId="{E59A886E-2AB1-0C45-87A8-5B103C1C3305}" srcId="{D61A0AF4-46FE-2B45-AAEF-1A3AB6F77F6A}" destId="{2C848EF2-011A-3C40-94A6-0EBCA242B98A}" srcOrd="1" destOrd="0" parTransId="{647CC9F1-1D90-954B-A2CC-825EEF27D0E5}" sibTransId="{9D6850DA-3093-BC4D-ABAE-46DE8D5D8895}"/>
    <dgm:cxn modelId="{E77D0378-4306-204A-A1A8-C929CC392859}" srcId="{D61A0AF4-46FE-2B45-AAEF-1A3AB6F77F6A}" destId="{7FEF4923-89AB-7D4A-9D8F-0DFB2F484468}" srcOrd="0" destOrd="0" parTransId="{7874B184-B640-BF4F-8137-E9AF9519ED0B}" sibTransId="{207D6FB1-3AA2-DC4E-9B15-DD09CB1BF3C3}"/>
    <dgm:cxn modelId="{69F9D978-30D0-3948-BD22-E3D7922D15DA}" type="presOf" srcId="{2C848EF2-011A-3C40-94A6-0EBCA242B98A}" destId="{0DF312A6-B980-E44C-8346-4FBA657B3339}" srcOrd="0" destOrd="0" presId="urn:microsoft.com/office/officeart/2005/8/layout/vList2"/>
    <dgm:cxn modelId="{3BFE3D7C-BEF3-C44C-95A9-0D86A6AEE3DE}" srcId="{D61A0AF4-46FE-2B45-AAEF-1A3AB6F77F6A}" destId="{C82593DD-EEBD-5342-85A3-2B6BDDCDE90F}" srcOrd="2" destOrd="0" parTransId="{C4C7252E-4680-7C48-BA27-E99DC5C1F572}" sibTransId="{82EC0FE2-49F3-C445-8C79-650564E633EE}"/>
    <dgm:cxn modelId="{BE166781-BABB-7B40-8CFA-66C0EAEA789A}" srcId="{D61A0AF4-46FE-2B45-AAEF-1A3AB6F77F6A}" destId="{B7909EF4-D81F-7F4D-9800-FD6461C3EA7A}" srcOrd="3" destOrd="0" parTransId="{539EA3E1-6C8C-7C43-A7E1-B7984F99AEF6}" sibTransId="{32847C54-1C45-C64E-877B-B95BE8397194}"/>
    <dgm:cxn modelId="{8175E292-7C06-1E43-B4C7-6F47FC549FEC}" type="presOf" srcId="{B7909EF4-D81F-7F4D-9800-FD6461C3EA7A}" destId="{B18C1D45-B8D0-F141-BAD0-765CD12D8466}" srcOrd="0" destOrd="0" presId="urn:microsoft.com/office/officeart/2005/8/layout/vList2"/>
    <dgm:cxn modelId="{995EB698-2C77-5042-9B01-A34E41A4A9AF}" srcId="{D61A0AF4-46FE-2B45-AAEF-1A3AB6F77F6A}" destId="{3231FBF0-5764-F149-9E93-D28C3DFC8E1E}" srcOrd="4" destOrd="0" parTransId="{64DE8FCC-9C1E-824E-9C87-4F2758DB75C4}" sibTransId="{C9EB0F2B-5B9A-DC42-82D6-2B9A0FD1C705}"/>
    <dgm:cxn modelId="{40F82BA1-B65A-0744-8B92-856D86810235}" type="presOf" srcId="{7FEF4923-89AB-7D4A-9D8F-0DFB2F484468}" destId="{31523D61-6ED8-2D46-AA95-3FF7781DED39}" srcOrd="0" destOrd="0" presId="urn:microsoft.com/office/officeart/2005/8/layout/vList2"/>
    <dgm:cxn modelId="{D15CBFE0-48EB-924D-9AE7-E7B593B157AD}" type="presOf" srcId="{C82593DD-EEBD-5342-85A3-2B6BDDCDE90F}" destId="{4911C5EC-C059-D54C-A3C0-A58E1C5BF0E3}" srcOrd="0" destOrd="0" presId="urn:microsoft.com/office/officeart/2005/8/layout/vList2"/>
    <dgm:cxn modelId="{CD99D878-128B-FD47-958F-757A57AB8DE4}" type="presParOf" srcId="{1C7203BC-90AD-124B-9988-2AC4AF9269E3}" destId="{31523D61-6ED8-2D46-AA95-3FF7781DED39}" srcOrd="0" destOrd="0" presId="urn:microsoft.com/office/officeart/2005/8/layout/vList2"/>
    <dgm:cxn modelId="{38F0E2DB-E9D8-F54A-A7EC-0CE773FB84F8}" type="presParOf" srcId="{1C7203BC-90AD-124B-9988-2AC4AF9269E3}" destId="{6D230570-E7C1-1C46-875C-8AD0ED34004E}" srcOrd="1" destOrd="0" presId="urn:microsoft.com/office/officeart/2005/8/layout/vList2"/>
    <dgm:cxn modelId="{319E5F89-9FC8-4E49-83D5-2520E1893E60}" type="presParOf" srcId="{1C7203BC-90AD-124B-9988-2AC4AF9269E3}" destId="{0DF312A6-B980-E44C-8346-4FBA657B3339}" srcOrd="2" destOrd="0" presId="urn:microsoft.com/office/officeart/2005/8/layout/vList2"/>
    <dgm:cxn modelId="{E00B0341-CECC-1149-82E8-4D2FBCE407EF}" type="presParOf" srcId="{1C7203BC-90AD-124B-9988-2AC4AF9269E3}" destId="{E5828CA4-88C1-864C-A267-6A97CA8AD0AA}" srcOrd="3" destOrd="0" presId="urn:microsoft.com/office/officeart/2005/8/layout/vList2"/>
    <dgm:cxn modelId="{E45ACF96-2438-834B-8512-DF04536B725B}" type="presParOf" srcId="{1C7203BC-90AD-124B-9988-2AC4AF9269E3}" destId="{4911C5EC-C059-D54C-A3C0-A58E1C5BF0E3}" srcOrd="4" destOrd="0" presId="urn:microsoft.com/office/officeart/2005/8/layout/vList2"/>
    <dgm:cxn modelId="{9EF8C514-4E07-9E45-89E2-2BB3A5D2F981}" type="presParOf" srcId="{1C7203BC-90AD-124B-9988-2AC4AF9269E3}" destId="{A507EA3D-851A-1F49-B188-B6F417CAF72F}" srcOrd="5" destOrd="0" presId="urn:microsoft.com/office/officeart/2005/8/layout/vList2"/>
    <dgm:cxn modelId="{A32DF49E-3CA1-5946-B62D-2FAD610020E1}" type="presParOf" srcId="{1C7203BC-90AD-124B-9988-2AC4AF9269E3}" destId="{B18C1D45-B8D0-F141-BAD0-765CD12D8466}" srcOrd="6" destOrd="0" presId="urn:microsoft.com/office/officeart/2005/8/layout/vList2"/>
    <dgm:cxn modelId="{F744FEB9-0F7C-2D40-9232-FB5F29E50B88}" type="presParOf" srcId="{1C7203BC-90AD-124B-9988-2AC4AF9269E3}" destId="{18050A0E-2EE3-8E48-9740-1FBAAC10B846}" srcOrd="7" destOrd="0" presId="urn:microsoft.com/office/officeart/2005/8/layout/vList2"/>
    <dgm:cxn modelId="{4954275C-36B4-F24D-9D8E-9536E97C8043}" type="presParOf" srcId="{1C7203BC-90AD-124B-9988-2AC4AF9269E3}" destId="{33CE0521-CDA6-BC4C-949D-C5A997D1589B}"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736B778-0182-094D-9721-A07FEC68587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CBEBE145-D9A2-8C4D-9609-FDE44C1CFEAC}">
      <dgm:prSet/>
      <dgm:spPr/>
      <dgm:t>
        <a:bodyPr/>
        <a:lstStyle/>
        <a:p>
          <a:r>
            <a:rPr lang="ru-RU"/>
            <a:t>Генеративные (порождающие) модели</a:t>
          </a:r>
        </a:p>
      </dgm:t>
    </dgm:pt>
    <dgm:pt modelId="{F07E98EA-0239-4148-A6AA-F3A38A4705A8}" type="parTrans" cxnId="{A131346A-C843-5F45-AF27-3876D22FE15D}">
      <dgm:prSet/>
      <dgm:spPr/>
      <dgm:t>
        <a:bodyPr/>
        <a:lstStyle/>
        <a:p>
          <a:endParaRPr lang="ru-RU"/>
        </a:p>
      </dgm:t>
    </dgm:pt>
    <dgm:pt modelId="{2CA54524-00DF-474F-A823-866FBF094921}" type="sibTrans" cxnId="{A131346A-C843-5F45-AF27-3876D22FE15D}">
      <dgm:prSet/>
      <dgm:spPr/>
      <dgm:t>
        <a:bodyPr/>
        <a:lstStyle/>
        <a:p>
          <a:endParaRPr lang="ru-RU"/>
        </a:p>
      </dgm:t>
    </dgm:pt>
    <mc:AlternateContent xmlns:mc="http://schemas.openxmlformats.org/markup-compatibility/2006" xmlns:a14="http://schemas.microsoft.com/office/drawing/2010/main">
      <mc:Choice Requires="a14">
        <dgm:pt modelId="{99894E50-0B5C-7646-A70B-C5FEA2370111}">
          <dgm:prSet/>
          <dgm:spPr/>
          <dgm:t>
            <a:bodyPr/>
            <a:lstStyle/>
            <a:p>
              <a:r>
                <a:rPr lang="ru-RU"/>
                <a:t>Определение условных вероятностей классов </a:t>
              </a:r>
              <a14:m>
                <m:oMath xmlns:m="http://schemas.openxmlformats.org/officeDocument/2006/math">
                  <m:r>
                    <a:rPr lang="en-US" b="0" i="1">
                      <a:latin typeface="Cambria Math" panose="02040503050406030204" pitchFamily="18" charset="0"/>
                    </a:rPr>
                    <m:t>𝑝</m:t>
                  </m:r>
                  <m:r>
                    <a:rPr lang="en-US" b="0" i="1">
                      <a:latin typeface="Cambria Math" panose="02040503050406030204" pitchFamily="18" charset="0"/>
                    </a:rPr>
                    <m:t>(</m:t>
                  </m:r>
                  <m:r>
                    <a:rPr lang="en-US" b="0" i="1">
                      <a:latin typeface="Cambria Math" panose="02040503050406030204" pitchFamily="18" charset="0"/>
                    </a:rPr>
                    <m:t>𝑥</m:t>
                  </m:r>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𝐶</m:t>
                      </m:r>
                    </m:e>
                    <m:sub>
                      <m:r>
                        <a:rPr lang="en-US" b="0" i="1">
                          <a:latin typeface="Cambria Math" panose="02040503050406030204" pitchFamily="18" charset="0"/>
                        </a:rPr>
                        <m:t>𝑘</m:t>
                      </m:r>
                    </m:sub>
                  </m:sSub>
                  <m:r>
                    <a:rPr lang="en-US" b="0" i="1">
                      <a:latin typeface="Cambria Math" panose="02040503050406030204" pitchFamily="18" charset="0"/>
                    </a:rPr>
                    <m:t> )</m:t>
                  </m:r>
                </m:oMath>
              </a14:m>
              <a:endParaRPr lang="ru-RU"/>
            </a:p>
          </dgm:t>
        </dgm:pt>
      </mc:Choice>
      <mc:Fallback xmlns="">
        <dgm:pt modelId="{99894E50-0B5C-7646-A70B-C5FEA2370111}">
          <dgm:prSet/>
          <dgm:spPr/>
          <dgm:t>
            <a:bodyPr/>
            <a:lstStyle/>
            <a:p>
              <a:r>
                <a:rPr lang="ru-RU"/>
                <a:t>Определение условных вероятностей классов </a:t>
              </a:r>
              <a:r>
                <a:rPr lang="en-US" b="0" i="0"/>
                <a:t>𝑝(𝑥/𝐶_𝑘  )</a:t>
              </a:r>
              <a:endParaRPr lang="ru-RU"/>
            </a:p>
          </dgm:t>
        </dgm:pt>
      </mc:Fallback>
    </mc:AlternateContent>
    <dgm:pt modelId="{201E6A10-9354-8841-9D51-79E8B47F41BE}" type="parTrans" cxnId="{0475B58B-083D-2543-8A87-1F528EC46EC9}">
      <dgm:prSet/>
      <dgm:spPr/>
      <dgm:t>
        <a:bodyPr/>
        <a:lstStyle/>
        <a:p>
          <a:endParaRPr lang="ru-RU"/>
        </a:p>
      </dgm:t>
    </dgm:pt>
    <dgm:pt modelId="{1CF9BB0B-5660-B64D-8379-B5213513E76E}" type="sibTrans" cxnId="{0475B58B-083D-2543-8A87-1F528EC46EC9}">
      <dgm:prSet/>
      <dgm:spPr/>
      <dgm:t>
        <a:bodyPr/>
        <a:lstStyle/>
        <a:p>
          <a:endParaRPr lang="ru-RU"/>
        </a:p>
      </dgm:t>
    </dgm:pt>
    <mc:AlternateContent xmlns:mc="http://schemas.openxmlformats.org/markup-compatibility/2006" xmlns:a14="http://schemas.microsoft.com/office/drawing/2010/main">
      <mc:Choice Requires="a14">
        <dgm:pt modelId="{8BA78A9B-BC6A-6643-8ADE-12E99F3EE0C6}">
          <dgm:prSet/>
          <dgm:spPr/>
          <dgm:t>
            <a:bodyPr/>
            <a:lstStyle/>
            <a:p>
              <a:r>
                <a:rPr lang="ru-RU" dirty="0"/>
                <a:t>Вывод априорных вероятностей классов</a:t>
              </a:r>
              <a:r>
                <a:rPr lang="en-US" dirty="0"/>
                <a:t> </a:t>
              </a:r>
              <a14:m>
                <m:oMath xmlns:m="http://schemas.openxmlformats.org/officeDocument/2006/math">
                  <m:r>
                    <a:rPr lang="en-US" b="0" i="1">
                      <a:latin typeface="Cambria Math" panose="02040503050406030204" pitchFamily="18" charset="0"/>
                    </a:rPr>
                    <m:t>𝑝</m:t>
                  </m:r>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𝐶</m:t>
                      </m:r>
                    </m:e>
                    <m:sub>
                      <m:r>
                        <a:rPr lang="en-US" b="0" i="1">
                          <a:latin typeface="Cambria Math" panose="02040503050406030204" pitchFamily="18" charset="0"/>
                        </a:rPr>
                        <m:t>𝑘</m:t>
                      </m:r>
                    </m:sub>
                  </m:sSub>
                  <m:r>
                    <a:rPr lang="en-US" b="0" i="1">
                      <a:latin typeface="Cambria Math" panose="02040503050406030204" pitchFamily="18" charset="0"/>
                    </a:rPr>
                    <m:t> )</m:t>
                  </m:r>
                </m:oMath>
              </a14:m>
              <a:endParaRPr lang="ru-RU" dirty="0"/>
            </a:p>
          </dgm:t>
        </dgm:pt>
      </mc:Choice>
      <mc:Fallback xmlns="">
        <dgm:pt modelId="{8BA78A9B-BC6A-6643-8ADE-12E99F3EE0C6}">
          <dgm:prSet/>
          <dgm:spPr/>
          <dgm:t>
            <a:bodyPr/>
            <a:lstStyle/>
            <a:p>
              <a:r>
                <a:rPr lang="ru-RU" dirty="0"/>
                <a:t>Вывод априорных вероятностей классов</a:t>
              </a:r>
              <a:r>
                <a:rPr lang="en-US" dirty="0"/>
                <a:t> </a:t>
              </a:r>
              <a:r>
                <a:rPr lang="en-US" b="0" i="0"/>
                <a:t>𝑝(𝐶_𝑘  )</a:t>
              </a:r>
              <a:endParaRPr lang="ru-RU" dirty="0"/>
            </a:p>
          </dgm:t>
        </dgm:pt>
      </mc:Fallback>
    </mc:AlternateContent>
    <dgm:pt modelId="{DA2241D6-957D-0448-B1C0-2F08382CD09C}" type="parTrans" cxnId="{8BFFA4D5-0C21-1741-8C28-AD76BFBCF459}">
      <dgm:prSet/>
      <dgm:spPr/>
      <dgm:t>
        <a:bodyPr/>
        <a:lstStyle/>
        <a:p>
          <a:endParaRPr lang="ru-RU"/>
        </a:p>
      </dgm:t>
    </dgm:pt>
    <dgm:pt modelId="{632E0E4C-F0B0-0744-ABB6-F2DD7B4034E4}" type="sibTrans" cxnId="{8BFFA4D5-0C21-1741-8C28-AD76BFBCF459}">
      <dgm:prSet/>
      <dgm:spPr/>
      <dgm:t>
        <a:bodyPr/>
        <a:lstStyle/>
        <a:p>
          <a:endParaRPr lang="ru-RU"/>
        </a:p>
      </dgm:t>
    </dgm:pt>
    <mc:AlternateContent xmlns:mc="http://schemas.openxmlformats.org/markup-compatibility/2006" xmlns:a14="http://schemas.microsoft.com/office/drawing/2010/main">
      <mc:Choice Requires="a14">
        <dgm:pt modelId="{28C307FD-F18D-394A-B528-6677E53A04E1}">
          <dgm:prSet/>
          <dgm:spPr/>
          <dgm:t>
            <a:bodyPr/>
            <a:lstStyle/>
            <a:p>
              <a:r>
                <a:rPr lang="ru-RU" dirty="0"/>
                <a:t>Использование теоремы Байеса для нахождения апостериорных вероятностей классов</a:t>
              </a:r>
              <a:r>
                <a:rPr lang="en-US" dirty="0"/>
                <a:t> </a:t>
              </a:r>
              <a14:m>
                <m:oMath xmlns:m="http://schemas.openxmlformats.org/officeDocument/2006/math">
                  <m:r>
                    <a:rPr lang="en-US" b="0" i="1">
                      <a:latin typeface="Cambria Math" panose="02040503050406030204" pitchFamily="18" charset="0"/>
                    </a:rPr>
                    <m:t>𝑝</m:t>
                  </m:r>
                  <m:d>
                    <m:dPr>
                      <m:ctrlPr>
                        <a:rPr lang="en-US" b="0"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a:latin typeface="Cambria Math" panose="02040503050406030204" pitchFamily="18" charset="0"/>
                        </a:rPr>
                        <m:t>/</m:t>
                      </m:r>
                      <m:r>
                        <a:rPr lang="en-US" i="1">
                          <a:latin typeface="Cambria Math" panose="02040503050406030204" pitchFamily="18" charset="0"/>
                        </a:rPr>
                        <m:t>𝑥</m:t>
                      </m:r>
                    </m:e>
                  </m:d>
                  <m:r>
                    <a:rPr lang="en-US" b="0"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r>
                    <a:rPr lang="en-US" b="0"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b="0" i="1">
                      <a:latin typeface="Cambria Math" panose="02040503050406030204" pitchFamily="18" charset="0"/>
                    </a:rPr>
                    <m:t>𝑥</m:t>
                  </m:r>
                  <m:r>
                    <a:rPr lang="en-US" i="1">
                      <a:latin typeface="Cambria Math" panose="02040503050406030204" pitchFamily="18" charset="0"/>
                    </a:rPr>
                    <m:t>)</m:t>
                  </m:r>
                </m:oMath>
              </a14:m>
              <a:endParaRPr lang="ru-RU" dirty="0"/>
            </a:p>
          </dgm:t>
        </dgm:pt>
      </mc:Choice>
      <mc:Fallback xmlns="">
        <dgm:pt modelId="{28C307FD-F18D-394A-B528-6677E53A04E1}">
          <dgm:prSet/>
          <dgm:spPr/>
          <dgm:t>
            <a:bodyPr/>
            <a:lstStyle/>
            <a:p>
              <a:r>
                <a:rPr lang="ru-RU" dirty="0"/>
                <a:t>Использование теоремы Байеса для нахождения апостериорных вероятностей классов</a:t>
              </a:r>
              <a:r>
                <a:rPr lang="en-US" dirty="0"/>
                <a:t> </a:t>
              </a:r>
              <a:r>
                <a:rPr lang="en-US" b="0" i="0"/>
                <a:t>𝑝(</a:t>
              </a:r>
              <a:r>
                <a:rPr lang="en-US" i="0"/>
                <a:t>𝐶_𝑘</a:t>
              </a:r>
              <a:r>
                <a:rPr lang="en-US" b="0" i="0"/>
                <a:t>/</a:t>
              </a:r>
              <a:r>
                <a:rPr lang="en-US" i="0"/>
                <a:t>𝑥)</a:t>
              </a:r>
              <a:r>
                <a:rPr lang="en-US" b="0" i="0"/>
                <a:t>=</a:t>
              </a:r>
              <a:r>
                <a:rPr lang="en-US" i="0"/>
                <a:t>𝑝(𝑥/𝐶_𝑘)𝑝(𝐶_𝑘)</a:t>
              </a:r>
              <a:r>
                <a:rPr lang="en-US" b="0" i="0"/>
                <a:t>/</a:t>
              </a:r>
              <a:r>
                <a:rPr lang="en-US" i="0"/>
                <a:t>𝑝(</a:t>
              </a:r>
              <a:r>
                <a:rPr lang="en-US" b="0" i="0"/>
                <a:t>𝑥</a:t>
              </a:r>
              <a:r>
                <a:rPr lang="en-US" i="0"/>
                <a:t>)</a:t>
              </a:r>
              <a:endParaRPr lang="ru-RU" dirty="0"/>
            </a:p>
          </dgm:t>
        </dgm:pt>
      </mc:Fallback>
    </mc:AlternateContent>
    <dgm:pt modelId="{DD7D7264-8DB2-F545-AA0E-986204EBF283}" type="parTrans" cxnId="{E7EFBB17-04A7-9546-B9E8-BAB93F06053B}">
      <dgm:prSet/>
      <dgm:spPr/>
      <dgm:t>
        <a:bodyPr/>
        <a:lstStyle/>
        <a:p>
          <a:endParaRPr lang="ru-RU"/>
        </a:p>
      </dgm:t>
    </dgm:pt>
    <dgm:pt modelId="{68D2F6D6-6AD8-6D40-8113-47569351AD1C}" type="sibTrans" cxnId="{E7EFBB17-04A7-9546-B9E8-BAB93F06053B}">
      <dgm:prSet/>
      <dgm:spPr/>
      <dgm:t>
        <a:bodyPr/>
        <a:lstStyle/>
        <a:p>
          <a:endParaRPr lang="ru-RU"/>
        </a:p>
      </dgm:t>
    </dgm:pt>
    <dgm:pt modelId="{5CC9C063-6ACD-8244-A95E-E0ED23CD5E9A}">
      <dgm:prSet/>
      <dgm:spPr/>
      <dgm:t>
        <a:bodyPr/>
        <a:lstStyle/>
        <a:p>
          <a:r>
            <a:rPr lang="ru-RU" dirty="0"/>
            <a:t>Дискриминантные модели</a:t>
          </a:r>
        </a:p>
      </dgm:t>
    </dgm:pt>
    <dgm:pt modelId="{E8F52089-1F53-FE48-B62C-102FDACA3FFE}" type="parTrans" cxnId="{1CB85538-3A1A-9840-AA79-21E6B4818577}">
      <dgm:prSet/>
      <dgm:spPr/>
      <dgm:t>
        <a:bodyPr/>
        <a:lstStyle/>
        <a:p>
          <a:endParaRPr lang="ru-RU"/>
        </a:p>
      </dgm:t>
    </dgm:pt>
    <dgm:pt modelId="{BC3130C4-7455-584C-A619-1E654B78D89C}" type="sibTrans" cxnId="{1CB85538-3A1A-9840-AA79-21E6B4818577}">
      <dgm:prSet/>
      <dgm:spPr/>
      <dgm:t>
        <a:bodyPr/>
        <a:lstStyle/>
        <a:p>
          <a:endParaRPr lang="ru-RU"/>
        </a:p>
      </dgm:t>
    </dgm:pt>
    <mc:AlternateContent xmlns:mc="http://schemas.openxmlformats.org/markup-compatibility/2006" xmlns:a14="http://schemas.microsoft.com/office/drawing/2010/main">
      <mc:Choice Requires="a14">
        <dgm:pt modelId="{66F54479-260A-EE4F-9CB0-8D2952DE76BF}">
          <dgm:prSet/>
          <dgm:spPr/>
          <dgm:t>
            <a:bodyPr/>
            <a:lstStyle/>
            <a:p>
              <a:r>
                <a:rPr lang="ru-RU"/>
                <a:t>Определение апостериорных вероятностей классов </a:t>
              </a:r>
              <a14:m>
                <m:oMath xmlns:m="http://schemas.openxmlformats.org/officeDocument/2006/math">
                  <m:r>
                    <a:rPr lang="en-US" b="0" i="1">
                      <a:latin typeface="Cambria Math" panose="02040503050406030204" pitchFamily="18" charset="0"/>
                    </a:rPr>
                    <m:t>𝑝</m:t>
                  </m:r>
                  <m:d>
                    <m:dPr>
                      <m:ctrlPr>
                        <a:rPr lang="en-US" b="0"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a:latin typeface="Cambria Math" panose="02040503050406030204" pitchFamily="18" charset="0"/>
                        </a:rPr>
                        <m:t>/</m:t>
                      </m:r>
                      <m:r>
                        <a:rPr lang="en-US" i="1">
                          <a:latin typeface="Cambria Math" panose="02040503050406030204" pitchFamily="18" charset="0"/>
                        </a:rPr>
                        <m:t>𝑥</m:t>
                      </m:r>
                    </m:e>
                  </m:d>
                </m:oMath>
              </a14:m>
              <a:endParaRPr lang="ru-RU"/>
            </a:p>
          </dgm:t>
        </dgm:pt>
      </mc:Choice>
      <mc:Fallback xmlns="">
        <dgm:pt modelId="{66F54479-260A-EE4F-9CB0-8D2952DE76BF}">
          <dgm:prSet/>
          <dgm:spPr/>
          <dgm:t>
            <a:bodyPr/>
            <a:lstStyle/>
            <a:p>
              <a:r>
                <a:rPr lang="ru-RU"/>
                <a:t>Определение апостериорных вероятностей классов </a:t>
              </a:r>
              <a:r>
                <a:rPr lang="en-US" b="0" i="0"/>
                <a:t>𝑝(</a:t>
              </a:r>
              <a:r>
                <a:rPr lang="en-US" i="0"/>
                <a:t>𝐶_𝑘</a:t>
              </a:r>
              <a:r>
                <a:rPr lang="en-US" b="0" i="0"/>
                <a:t>/</a:t>
              </a:r>
              <a:r>
                <a:rPr lang="en-US" i="0"/>
                <a:t>𝑥)</a:t>
              </a:r>
              <a:endParaRPr lang="ru-RU"/>
            </a:p>
          </dgm:t>
        </dgm:pt>
      </mc:Fallback>
    </mc:AlternateContent>
    <dgm:pt modelId="{63D8195E-069B-B44A-A061-70CE3EC1C19C}" type="parTrans" cxnId="{A16756BE-9CB6-1746-AFC2-0ABDFBDAEF99}">
      <dgm:prSet/>
      <dgm:spPr/>
      <dgm:t>
        <a:bodyPr/>
        <a:lstStyle/>
        <a:p>
          <a:endParaRPr lang="ru-RU"/>
        </a:p>
      </dgm:t>
    </dgm:pt>
    <dgm:pt modelId="{6E913BFC-5463-CE42-B63B-E224762302F5}" type="sibTrans" cxnId="{A16756BE-9CB6-1746-AFC2-0ABDFBDAEF99}">
      <dgm:prSet/>
      <dgm:spPr/>
      <dgm:t>
        <a:bodyPr/>
        <a:lstStyle/>
        <a:p>
          <a:endParaRPr lang="ru-RU"/>
        </a:p>
      </dgm:t>
    </dgm:pt>
    <mc:AlternateContent xmlns:mc="http://schemas.openxmlformats.org/markup-compatibility/2006" xmlns:a14="http://schemas.microsoft.com/office/drawing/2010/main">
      <mc:Choice Requires="a14">
        <dgm:pt modelId="{FA50941C-7A8B-0B46-AB52-3D55BFD4F38D}">
          <dgm:prSet/>
          <dgm:spPr/>
          <dgm:t>
            <a:bodyPr/>
            <a:lstStyle/>
            <a:p>
              <a:r>
                <a:rPr lang="ru-RU" dirty="0"/>
                <a:t>Использование теории принятия решений для отнесения каждого нового </a:t>
              </a:r>
              <a14:m>
                <m:oMath xmlns:m="http://schemas.openxmlformats.org/officeDocument/2006/math">
                  <m:r>
                    <a:rPr lang="en-US" i="1">
                      <a:latin typeface="Cambria Math" panose="02040503050406030204" pitchFamily="18" charset="0"/>
                    </a:rPr>
                    <m:t>𝑥</m:t>
                  </m:r>
                </m:oMath>
              </a14:m>
              <a:r>
                <a:rPr lang="en-US" dirty="0"/>
                <a:t> </a:t>
              </a:r>
              <a:r>
                <a:rPr lang="ru-RU" dirty="0"/>
                <a:t>к одному из классов</a:t>
              </a:r>
            </a:p>
          </dgm:t>
        </dgm:pt>
      </mc:Choice>
      <mc:Fallback xmlns="">
        <dgm:pt modelId="{FA50941C-7A8B-0B46-AB52-3D55BFD4F38D}">
          <dgm:prSet/>
          <dgm:spPr/>
          <dgm:t>
            <a:bodyPr/>
            <a:lstStyle/>
            <a:p>
              <a:r>
                <a:rPr lang="ru-RU" dirty="0"/>
                <a:t>Использование теории принятия решений для отнесения каждого нового </a:t>
              </a:r>
              <a:r>
                <a:rPr lang="en-US" i="0">
                  <a:latin typeface="Cambria Math" panose="02040503050406030204" pitchFamily="18" charset="0"/>
                </a:rPr>
                <a:t>𝑥</a:t>
              </a:r>
              <a:r>
                <a:rPr lang="en-US" dirty="0"/>
                <a:t> </a:t>
              </a:r>
              <a:r>
                <a:rPr lang="ru-RU" dirty="0"/>
                <a:t>к одному из классов</a:t>
              </a:r>
            </a:p>
          </dgm:t>
        </dgm:pt>
      </mc:Fallback>
    </mc:AlternateContent>
    <dgm:pt modelId="{18ED7BDF-1EAA-4C40-99C2-2A89773E28A1}" type="parTrans" cxnId="{24700BC8-1F70-9049-9DDF-2BA1D11DF6D1}">
      <dgm:prSet/>
      <dgm:spPr/>
      <dgm:t>
        <a:bodyPr/>
        <a:lstStyle/>
        <a:p>
          <a:endParaRPr lang="ru-RU"/>
        </a:p>
      </dgm:t>
    </dgm:pt>
    <dgm:pt modelId="{3B020DBF-9665-6A4C-A412-D7AFADC94188}" type="sibTrans" cxnId="{24700BC8-1F70-9049-9DDF-2BA1D11DF6D1}">
      <dgm:prSet/>
      <dgm:spPr/>
      <dgm:t>
        <a:bodyPr/>
        <a:lstStyle/>
        <a:p>
          <a:endParaRPr lang="ru-RU"/>
        </a:p>
      </dgm:t>
    </dgm:pt>
    <dgm:pt modelId="{FCA3C364-D99C-E546-B70E-A4684CDCECA6}">
      <dgm:prSet/>
      <dgm:spPr/>
      <dgm:t>
        <a:bodyPr/>
        <a:lstStyle/>
        <a:p>
          <a:r>
            <a:rPr lang="ru-RU" dirty="0"/>
            <a:t>Нахождение дискриминантной функции</a:t>
          </a:r>
        </a:p>
      </dgm:t>
    </dgm:pt>
    <dgm:pt modelId="{83C51CAF-A1F5-3A47-A35F-D2B166BEBEA4}" type="parTrans" cxnId="{6E18E029-8C63-AD46-83A7-3C24C0EFE995}">
      <dgm:prSet/>
      <dgm:spPr/>
      <dgm:t>
        <a:bodyPr/>
        <a:lstStyle/>
        <a:p>
          <a:endParaRPr lang="ru-RU"/>
        </a:p>
      </dgm:t>
    </dgm:pt>
    <dgm:pt modelId="{CF7A044B-FFED-9149-AEF9-6609BE9F61CA}" type="sibTrans" cxnId="{6E18E029-8C63-AD46-83A7-3C24C0EFE995}">
      <dgm:prSet/>
      <dgm:spPr/>
      <dgm:t>
        <a:bodyPr/>
        <a:lstStyle/>
        <a:p>
          <a:endParaRPr lang="ru-RU"/>
        </a:p>
      </dgm:t>
    </dgm:pt>
    <mc:AlternateContent xmlns:mc="http://schemas.openxmlformats.org/markup-compatibility/2006" xmlns:a14="http://schemas.microsoft.com/office/drawing/2010/main">
      <mc:Choice Requires="a14">
        <dgm:pt modelId="{1E42ADB5-1314-7B46-8B65-C162E4C7F340}">
          <dgm:prSet/>
          <dgm:spPr/>
          <dgm:t>
            <a:bodyPr/>
            <a:lstStyle/>
            <a:p>
              <a:r>
                <a:rPr lang="ru-RU" dirty="0"/>
                <a:t>Или сразу определять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𝑥</m:t>
                  </m:r>
                  <m:r>
                    <a:rPr lang="ru-RU" b="0"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i="1">
                      <a:latin typeface="Cambria Math" panose="02040503050406030204" pitchFamily="18" charset="0"/>
                    </a:rPr>
                    <m:t>)</m:t>
                  </m:r>
                </m:oMath>
              </a14:m>
              <a:r>
                <a:rPr lang="ru-RU" dirty="0"/>
                <a:t> и далее определять условные вероятности через нормировку</a:t>
              </a:r>
            </a:p>
          </dgm:t>
        </dgm:pt>
      </mc:Choice>
      <mc:Fallback xmlns="">
        <dgm:pt modelId="{1E42ADB5-1314-7B46-8B65-C162E4C7F340}">
          <dgm:prSet/>
          <dgm:spPr/>
          <dgm:t>
            <a:bodyPr/>
            <a:lstStyle/>
            <a:p>
              <a:r>
                <a:rPr lang="ru-RU" dirty="0"/>
                <a:t>Или сразу определять </a:t>
              </a:r>
              <a:r>
                <a:rPr lang="en-US" i="0"/>
                <a:t>𝑝(𝑥</a:t>
              </a:r>
              <a:r>
                <a:rPr lang="ru-RU" b="0" i="0"/>
                <a:t>,</a:t>
              </a:r>
              <a:r>
                <a:rPr lang="en-US" i="0"/>
                <a:t>𝐶_𝑘)</a:t>
              </a:r>
              <a:r>
                <a:rPr lang="ru-RU" dirty="0"/>
                <a:t> и далее определять условные вероятности через нормировку</a:t>
              </a:r>
            </a:p>
          </dgm:t>
        </dgm:pt>
      </mc:Fallback>
    </mc:AlternateContent>
    <dgm:pt modelId="{414EAB4E-9C76-C543-98BC-A4FFEDC8DDC6}" type="parTrans" cxnId="{8FF08B3B-3E63-854A-8498-BEB9ED682F77}">
      <dgm:prSet/>
      <dgm:spPr/>
      <dgm:t>
        <a:bodyPr/>
        <a:lstStyle/>
        <a:p>
          <a:endParaRPr lang="ru-RU"/>
        </a:p>
      </dgm:t>
    </dgm:pt>
    <dgm:pt modelId="{05526684-A350-C74A-95ED-FD0F26FA8E36}" type="sibTrans" cxnId="{8FF08B3B-3E63-854A-8498-BEB9ED682F77}">
      <dgm:prSet/>
      <dgm:spPr/>
      <dgm:t>
        <a:bodyPr/>
        <a:lstStyle/>
        <a:p>
          <a:endParaRPr lang="ru-RU"/>
        </a:p>
      </dgm:t>
    </dgm:pt>
    <dgm:pt modelId="{4568B564-6495-EA4C-ADCF-654264390D2C}">
      <dgm:prSet/>
      <dgm:spPr/>
      <dgm:t>
        <a:bodyPr/>
        <a:lstStyle/>
        <a:p>
          <a:r>
            <a:rPr lang="ru-RU" dirty="0"/>
            <a:t>В этом случае вероятности не играют никакой роли. Единая задача обучения.</a:t>
          </a:r>
        </a:p>
      </dgm:t>
    </dgm:pt>
    <dgm:pt modelId="{202D5BFD-5F31-5746-9DB0-92C4D223FE2D}" type="parTrans" cxnId="{C0B87784-7A3B-EC42-9DBB-878AC171FC61}">
      <dgm:prSet/>
      <dgm:spPr/>
      <dgm:t>
        <a:bodyPr/>
        <a:lstStyle/>
        <a:p>
          <a:endParaRPr lang="ru-RU"/>
        </a:p>
      </dgm:t>
    </dgm:pt>
    <dgm:pt modelId="{C3D3DBFF-8F04-8E43-8C36-124EADE1CA82}" type="sibTrans" cxnId="{C0B87784-7A3B-EC42-9DBB-878AC171FC61}">
      <dgm:prSet/>
      <dgm:spPr/>
      <dgm:t>
        <a:bodyPr/>
        <a:lstStyle/>
        <a:p>
          <a:endParaRPr lang="ru-RU"/>
        </a:p>
      </dgm:t>
    </dgm:pt>
    <mc:AlternateContent xmlns:mc="http://schemas.openxmlformats.org/markup-compatibility/2006" xmlns:a14="http://schemas.microsoft.com/office/drawing/2010/main">
      <mc:Choice Requires="a14">
        <dgm:pt modelId="{807B5F4D-A7A1-CD45-BB91-259C2696BA48}">
          <dgm:prSet/>
          <dgm:spPr/>
          <dgm:t>
            <a:bodyPr/>
            <a:lstStyle/>
            <a:p>
              <a:r>
                <a:rPr lang="en-US" dirty="0"/>
                <a:t>f(x)</a:t>
              </a:r>
              <a:r>
                <a:rPr lang="ru-RU" dirty="0"/>
                <a:t> отображает </a:t>
              </a:r>
              <a14:m>
                <m:oMath xmlns:m="http://schemas.openxmlformats.org/officeDocument/2006/math">
                  <m:r>
                    <a:rPr lang="en-US" i="1">
                      <a:latin typeface="Cambria Math" panose="02040503050406030204" pitchFamily="18" charset="0"/>
                    </a:rPr>
                    <m:t>𝑥</m:t>
                  </m:r>
                  <m:r>
                    <a:rPr lang="en-US" i="1">
                      <a:latin typeface="Cambria Math" panose="02040503050406030204" pitchFamily="18" charset="0"/>
                    </a:rPr>
                    <m:t> </m:t>
                  </m:r>
                </m:oMath>
              </a14:m>
              <a:r>
                <a:rPr lang="ru-RU" dirty="0"/>
                <a:t>на метку класса</a:t>
              </a:r>
            </a:p>
          </dgm:t>
        </dgm:pt>
      </mc:Choice>
      <mc:Fallback xmlns="">
        <dgm:pt modelId="{807B5F4D-A7A1-CD45-BB91-259C2696BA48}">
          <dgm:prSet/>
          <dgm:spPr/>
          <dgm:t>
            <a:bodyPr/>
            <a:lstStyle/>
            <a:p>
              <a:r>
                <a:rPr lang="en-US" dirty="0"/>
                <a:t>f(x)</a:t>
              </a:r>
              <a:r>
                <a:rPr lang="ru-RU" dirty="0"/>
                <a:t> отображает </a:t>
              </a:r>
              <a:r>
                <a:rPr lang="en-US" i="0">
                  <a:latin typeface="Cambria Math" panose="02040503050406030204" pitchFamily="18" charset="0"/>
                </a:rPr>
                <a:t>𝑥 </a:t>
              </a:r>
              <a:r>
                <a:rPr lang="ru-RU" dirty="0"/>
                <a:t>на метку класса</a:t>
              </a:r>
            </a:p>
          </dgm:t>
        </dgm:pt>
      </mc:Fallback>
    </mc:AlternateContent>
    <dgm:pt modelId="{01EED10F-C797-7144-8B26-CC60650837F0}" type="parTrans" cxnId="{BED8A6AC-035D-514F-A9EF-3CAE8E7EEDC9}">
      <dgm:prSet/>
      <dgm:spPr/>
      <dgm:t>
        <a:bodyPr/>
        <a:lstStyle/>
        <a:p>
          <a:endParaRPr lang="ru-RU"/>
        </a:p>
      </dgm:t>
    </dgm:pt>
    <dgm:pt modelId="{1150E7A5-3507-284A-9D70-C739D03172ED}" type="sibTrans" cxnId="{BED8A6AC-035D-514F-A9EF-3CAE8E7EEDC9}">
      <dgm:prSet/>
      <dgm:spPr/>
      <dgm:t>
        <a:bodyPr/>
        <a:lstStyle/>
        <a:p>
          <a:endParaRPr lang="ru-RU"/>
        </a:p>
      </dgm:t>
    </dgm:pt>
    <mc:AlternateContent xmlns:mc="http://schemas.openxmlformats.org/markup-compatibility/2006" xmlns:a14="http://schemas.microsoft.com/office/drawing/2010/main">
      <mc:Choice Requires="a14">
        <dgm:pt modelId="{4D9C7605-FB00-294C-B431-6CB6BD5AFB72}">
          <dgm:prSet/>
          <dgm:spPr/>
          <dgm:t>
            <a:bodyPr/>
            <a:lstStyle/>
            <a:p>
              <a:r>
                <a:rPr lang="ru-RU" dirty="0"/>
                <a:t>Использование теории принятия решений для отнесения каждого нового </a:t>
              </a:r>
              <a14:m>
                <m:oMath xmlns:m="http://schemas.openxmlformats.org/officeDocument/2006/math">
                  <m:r>
                    <a:rPr lang="en-US" i="1">
                      <a:latin typeface="Cambria Math" panose="02040503050406030204" pitchFamily="18" charset="0"/>
                    </a:rPr>
                    <m:t>𝑥</m:t>
                  </m:r>
                </m:oMath>
              </a14:m>
              <a:r>
                <a:rPr lang="en-US" dirty="0"/>
                <a:t> </a:t>
              </a:r>
              <a:r>
                <a:rPr lang="ru-RU" dirty="0"/>
                <a:t>к одному из классов</a:t>
              </a:r>
            </a:p>
          </dgm:t>
        </dgm:pt>
      </mc:Choice>
      <mc:Fallback xmlns="">
        <dgm:pt modelId="{4D9C7605-FB00-294C-B431-6CB6BD5AFB72}">
          <dgm:prSet/>
          <dgm:spPr/>
          <dgm:t>
            <a:bodyPr/>
            <a:lstStyle/>
            <a:p>
              <a:r>
                <a:rPr lang="ru-RU" dirty="0"/>
                <a:t>Использование теории принятия решений для отнесения каждого нового </a:t>
              </a:r>
              <a:r>
                <a:rPr lang="en-US" i="0">
                  <a:latin typeface="Cambria Math" panose="02040503050406030204" pitchFamily="18" charset="0"/>
                </a:rPr>
                <a:t>𝑥</a:t>
              </a:r>
              <a:r>
                <a:rPr lang="en-US" dirty="0"/>
                <a:t> </a:t>
              </a:r>
              <a:r>
                <a:rPr lang="ru-RU" dirty="0"/>
                <a:t>к одному из классов</a:t>
              </a:r>
            </a:p>
          </dgm:t>
        </dgm:pt>
      </mc:Fallback>
    </mc:AlternateContent>
    <dgm:pt modelId="{4188E3AF-CCAA-0D44-82C1-81FA196E6E96}" type="parTrans" cxnId="{728958F4-8CF7-FE4E-95E6-11DC426F24DA}">
      <dgm:prSet/>
      <dgm:spPr/>
      <dgm:t>
        <a:bodyPr/>
        <a:lstStyle/>
        <a:p>
          <a:endParaRPr lang="ru-RU"/>
        </a:p>
      </dgm:t>
    </dgm:pt>
    <dgm:pt modelId="{147E489A-3062-3846-AD97-A28CA28A8766}" type="sibTrans" cxnId="{728958F4-8CF7-FE4E-95E6-11DC426F24DA}">
      <dgm:prSet/>
      <dgm:spPr/>
      <dgm:t>
        <a:bodyPr/>
        <a:lstStyle/>
        <a:p>
          <a:endParaRPr lang="ru-RU"/>
        </a:p>
      </dgm:t>
    </dgm:pt>
    <dgm:pt modelId="{6ACDE4F1-F0EC-8142-9644-D6338106A14A}" type="pres">
      <dgm:prSet presAssocID="{6736B778-0182-094D-9721-A07FEC685879}" presName="linear" presStyleCnt="0">
        <dgm:presLayoutVars>
          <dgm:animLvl val="lvl"/>
          <dgm:resizeHandles val="exact"/>
        </dgm:presLayoutVars>
      </dgm:prSet>
      <dgm:spPr/>
    </dgm:pt>
    <dgm:pt modelId="{73675455-87EB-0543-9B92-9BC79E187914}" type="pres">
      <dgm:prSet presAssocID="{CBEBE145-D9A2-8C4D-9609-FDE44C1CFEAC}" presName="parentText" presStyleLbl="node1" presStyleIdx="0" presStyleCnt="3">
        <dgm:presLayoutVars>
          <dgm:chMax val="0"/>
          <dgm:bulletEnabled val="1"/>
        </dgm:presLayoutVars>
      </dgm:prSet>
      <dgm:spPr/>
    </dgm:pt>
    <dgm:pt modelId="{1CE456E9-5583-7442-817E-C888690EE89D}" type="pres">
      <dgm:prSet presAssocID="{CBEBE145-D9A2-8C4D-9609-FDE44C1CFEAC}" presName="childText" presStyleLbl="revTx" presStyleIdx="0" presStyleCnt="3">
        <dgm:presLayoutVars>
          <dgm:bulletEnabled val="1"/>
        </dgm:presLayoutVars>
      </dgm:prSet>
      <dgm:spPr/>
    </dgm:pt>
    <dgm:pt modelId="{3C7D49AA-E209-F84D-BDE2-B705BE49EB52}" type="pres">
      <dgm:prSet presAssocID="{5CC9C063-6ACD-8244-A95E-E0ED23CD5E9A}" presName="parentText" presStyleLbl="node1" presStyleIdx="1" presStyleCnt="3">
        <dgm:presLayoutVars>
          <dgm:chMax val="0"/>
          <dgm:bulletEnabled val="1"/>
        </dgm:presLayoutVars>
      </dgm:prSet>
      <dgm:spPr/>
    </dgm:pt>
    <dgm:pt modelId="{2F1B8244-CF8C-5940-A224-8B8CABA591E4}" type="pres">
      <dgm:prSet presAssocID="{5CC9C063-6ACD-8244-A95E-E0ED23CD5E9A}" presName="childText" presStyleLbl="revTx" presStyleIdx="1" presStyleCnt="3">
        <dgm:presLayoutVars>
          <dgm:bulletEnabled val="1"/>
        </dgm:presLayoutVars>
      </dgm:prSet>
      <dgm:spPr/>
    </dgm:pt>
    <dgm:pt modelId="{92417E37-E489-024F-9744-FE57F78F32FB}" type="pres">
      <dgm:prSet presAssocID="{FCA3C364-D99C-E546-B70E-A4684CDCECA6}" presName="parentText" presStyleLbl="node1" presStyleIdx="2" presStyleCnt="3">
        <dgm:presLayoutVars>
          <dgm:chMax val="0"/>
          <dgm:bulletEnabled val="1"/>
        </dgm:presLayoutVars>
      </dgm:prSet>
      <dgm:spPr/>
    </dgm:pt>
    <dgm:pt modelId="{9599920C-0363-344A-855C-2FCF7AFC75E6}" type="pres">
      <dgm:prSet presAssocID="{FCA3C364-D99C-E546-B70E-A4684CDCECA6}" presName="childText" presStyleLbl="revTx" presStyleIdx="2" presStyleCnt="3">
        <dgm:presLayoutVars>
          <dgm:bulletEnabled val="1"/>
        </dgm:presLayoutVars>
      </dgm:prSet>
      <dgm:spPr/>
    </dgm:pt>
  </dgm:ptLst>
  <dgm:cxnLst>
    <dgm:cxn modelId="{C48D8707-1563-D943-8B59-3FE981D2FC0C}" type="presOf" srcId="{28C307FD-F18D-394A-B528-6677E53A04E1}" destId="{1CE456E9-5583-7442-817E-C888690EE89D}" srcOrd="0" destOrd="2" presId="urn:microsoft.com/office/officeart/2005/8/layout/vList2"/>
    <dgm:cxn modelId="{E7EFBB17-04A7-9546-B9E8-BAB93F06053B}" srcId="{CBEBE145-D9A2-8C4D-9609-FDE44C1CFEAC}" destId="{28C307FD-F18D-394A-B528-6677E53A04E1}" srcOrd="2" destOrd="0" parTransId="{DD7D7264-8DB2-F545-AA0E-986204EBF283}" sibTransId="{68D2F6D6-6AD8-6D40-8113-47569351AD1C}"/>
    <dgm:cxn modelId="{23A2011B-D7CA-AF44-9C1E-DEEC0F186FA1}" type="presOf" srcId="{4D9C7605-FB00-294C-B431-6CB6BD5AFB72}" destId="{1CE456E9-5583-7442-817E-C888690EE89D}" srcOrd="0" destOrd="4" presId="urn:microsoft.com/office/officeart/2005/8/layout/vList2"/>
    <dgm:cxn modelId="{6E18E029-8C63-AD46-83A7-3C24C0EFE995}" srcId="{6736B778-0182-094D-9721-A07FEC685879}" destId="{FCA3C364-D99C-E546-B70E-A4684CDCECA6}" srcOrd="2" destOrd="0" parTransId="{83C51CAF-A1F5-3A47-A35F-D2B166BEBEA4}" sibTransId="{CF7A044B-FFED-9149-AEF9-6609BE9F61CA}"/>
    <dgm:cxn modelId="{DF8F0438-A09F-1A44-BC55-15F8EDEEEAEA}" type="presOf" srcId="{5CC9C063-6ACD-8244-A95E-E0ED23CD5E9A}" destId="{3C7D49AA-E209-F84D-BDE2-B705BE49EB52}" srcOrd="0" destOrd="0" presId="urn:microsoft.com/office/officeart/2005/8/layout/vList2"/>
    <dgm:cxn modelId="{1CB85538-3A1A-9840-AA79-21E6B4818577}" srcId="{6736B778-0182-094D-9721-A07FEC685879}" destId="{5CC9C063-6ACD-8244-A95E-E0ED23CD5E9A}" srcOrd="1" destOrd="0" parTransId="{E8F52089-1F53-FE48-B62C-102FDACA3FFE}" sibTransId="{BC3130C4-7455-584C-A619-1E654B78D89C}"/>
    <dgm:cxn modelId="{8FF08B3B-3E63-854A-8498-BEB9ED682F77}" srcId="{CBEBE145-D9A2-8C4D-9609-FDE44C1CFEAC}" destId="{1E42ADB5-1314-7B46-8B65-C162E4C7F340}" srcOrd="3" destOrd="0" parTransId="{414EAB4E-9C76-C543-98BC-A4FFEDC8DDC6}" sibTransId="{05526684-A350-C74A-95ED-FD0F26FA8E36}"/>
    <dgm:cxn modelId="{DA8FD03E-8D09-7A4C-A75A-0611FFB99ED2}" type="presOf" srcId="{6736B778-0182-094D-9721-A07FEC685879}" destId="{6ACDE4F1-F0EC-8142-9644-D6338106A14A}" srcOrd="0" destOrd="0" presId="urn:microsoft.com/office/officeart/2005/8/layout/vList2"/>
    <dgm:cxn modelId="{A131346A-C843-5F45-AF27-3876D22FE15D}" srcId="{6736B778-0182-094D-9721-A07FEC685879}" destId="{CBEBE145-D9A2-8C4D-9609-FDE44C1CFEAC}" srcOrd="0" destOrd="0" parTransId="{F07E98EA-0239-4148-A6AA-F3A38A4705A8}" sibTransId="{2CA54524-00DF-474F-A823-866FBF094921}"/>
    <dgm:cxn modelId="{2205E06E-B840-C841-BE7E-7163A8180100}" type="presOf" srcId="{807B5F4D-A7A1-CD45-BB91-259C2696BA48}" destId="{9599920C-0363-344A-855C-2FCF7AFC75E6}" srcOrd="0" destOrd="0" presId="urn:microsoft.com/office/officeart/2005/8/layout/vList2"/>
    <dgm:cxn modelId="{D0AF996F-D8EF-2B4D-81AD-6DA34CC79C51}" type="presOf" srcId="{FA50941C-7A8B-0B46-AB52-3D55BFD4F38D}" destId="{2F1B8244-CF8C-5940-A224-8B8CABA591E4}" srcOrd="0" destOrd="1" presId="urn:microsoft.com/office/officeart/2005/8/layout/vList2"/>
    <dgm:cxn modelId="{DEE61283-48E7-AC4A-BC53-32191E2AAEE9}" type="presOf" srcId="{66F54479-260A-EE4F-9CB0-8D2952DE76BF}" destId="{2F1B8244-CF8C-5940-A224-8B8CABA591E4}" srcOrd="0" destOrd="0" presId="urn:microsoft.com/office/officeart/2005/8/layout/vList2"/>
    <dgm:cxn modelId="{C0B87784-7A3B-EC42-9DBB-878AC171FC61}" srcId="{FCA3C364-D99C-E546-B70E-A4684CDCECA6}" destId="{4568B564-6495-EA4C-ADCF-654264390D2C}" srcOrd="1" destOrd="0" parTransId="{202D5BFD-5F31-5746-9DB0-92C4D223FE2D}" sibTransId="{C3D3DBFF-8F04-8E43-8C36-124EADE1CA82}"/>
    <dgm:cxn modelId="{0475B58B-083D-2543-8A87-1F528EC46EC9}" srcId="{CBEBE145-D9A2-8C4D-9609-FDE44C1CFEAC}" destId="{99894E50-0B5C-7646-A70B-C5FEA2370111}" srcOrd="0" destOrd="0" parTransId="{201E6A10-9354-8841-9D51-79E8B47F41BE}" sibTransId="{1CF9BB0B-5660-B64D-8379-B5213513E76E}"/>
    <dgm:cxn modelId="{BED8A6AC-035D-514F-A9EF-3CAE8E7EEDC9}" srcId="{FCA3C364-D99C-E546-B70E-A4684CDCECA6}" destId="{807B5F4D-A7A1-CD45-BB91-259C2696BA48}" srcOrd="0" destOrd="0" parTransId="{01EED10F-C797-7144-8B26-CC60650837F0}" sibTransId="{1150E7A5-3507-284A-9D70-C739D03172ED}"/>
    <dgm:cxn modelId="{B740DEBD-ABD9-AB43-A55D-7B729ACFC1C8}" type="presOf" srcId="{8BA78A9B-BC6A-6643-8ADE-12E99F3EE0C6}" destId="{1CE456E9-5583-7442-817E-C888690EE89D}" srcOrd="0" destOrd="1" presId="urn:microsoft.com/office/officeart/2005/8/layout/vList2"/>
    <dgm:cxn modelId="{A16756BE-9CB6-1746-AFC2-0ABDFBDAEF99}" srcId="{5CC9C063-6ACD-8244-A95E-E0ED23CD5E9A}" destId="{66F54479-260A-EE4F-9CB0-8D2952DE76BF}" srcOrd="0" destOrd="0" parTransId="{63D8195E-069B-B44A-A061-70CE3EC1C19C}" sibTransId="{6E913BFC-5463-CE42-B63B-E224762302F5}"/>
    <dgm:cxn modelId="{296536C6-B2E3-2D42-A06D-96D82B704B14}" type="presOf" srcId="{99894E50-0B5C-7646-A70B-C5FEA2370111}" destId="{1CE456E9-5583-7442-817E-C888690EE89D}" srcOrd="0" destOrd="0" presId="urn:microsoft.com/office/officeart/2005/8/layout/vList2"/>
    <dgm:cxn modelId="{24700BC8-1F70-9049-9DDF-2BA1D11DF6D1}" srcId="{5CC9C063-6ACD-8244-A95E-E0ED23CD5E9A}" destId="{FA50941C-7A8B-0B46-AB52-3D55BFD4F38D}" srcOrd="1" destOrd="0" parTransId="{18ED7BDF-1EAA-4C40-99C2-2A89773E28A1}" sibTransId="{3B020DBF-9665-6A4C-A412-D7AFADC94188}"/>
    <dgm:cxn modelId="{EB9E7FD0-51FE-F641-A166-FFE716791DFE}" type="presOf" srcId="{1E42ADB5-1314-7B46-8B65-C162E4C7F340}" destId="{1CE456E9-5583-7442-817E-C888690EE89D}" srcOrd="0" destOrd="3" presId="urn:microsoft.com/office/officeart/2005/8/layout/vList2"/>
    <dgm:cxn modelId="{8BFFA4D5-0C21-1741-8C28-AD76BFBCF459}" srcId="{CBEBE145-D9A2-8C4D-9609-FDE44C1CFEAC}" destId="{8BA78A9B-BC6A-6643-8ADE-12E99F3EE0C6}" srcOrd="1" destOrd="0" parTransId="{DA2241D6-957D-0448-B1C0-2F08382CD09C}" sibTransId="{632E0E4C-F0B0-0744-ABB6-F2DD7B4034E4}"/>
    <dgm:cxn modelId="{B27330F0-5FA1-0148-9E3F-3757725BAF4C}" type="presOf" srcId="{4568B564-6495-EA4C-ADCF-654264390D2C}" destId="{9599920C-0363-344A-855C-2FCF7AFC75E6}" srcOrd="0" destOrd="1" presId="urn:microsoft.com/office/officeart/2005/8/layout/vList2"/>
    <dgm:cxn modelId="{728958F4-8CF7-FE4E-95E6-11DC426F24DA}" srcId="{CBEBE145-D9A2-8C4D-9609-FDE44C1CFEAC}" destId="{4D9C7605-FB00-294C-B431-6CB6BD5AFB72}" srcOrd="4" destOrd="0" parTransId="{4188E3AF-CCAA-0D44-82C1-81FA196E6E96}" sibTransId="{147E489A-3062-3846-AD97-A28CA28A8766}"/>
    <dgm:cxn modelId="{30F522F5-2CEC-CB41-8AB9-FE574E49BB0B}" type="presOf" srcId="{FCA3C364-D99C-E546-B70E-A4684CDCECA6}" destId="{92417E37-E489-024F-9744-FE57F78F32FB}" srcOrd="0" destOrd="0" presId="urn:microsoft.com/office/officeart/2005/8/layout/vList2"/>
    <dgm:cxn modelId="{75F41EFD-6C91-3046-9895-2CBBF94AF491}" type="presOf" srcId="{CBEBE145-D9A2-8C4D-9609-FDE44C1CFEAC}" destId="{73675455-87EB-0543-9B92-9BC79E187914}" srcOrd="0" destOrd="0" presId="urn:microsoft.com/office/officeart/2005/8/layout/vList2"/>
    <dgm:cxn modelId="{AFAF133D-0AA3-0D4C-94E0-0C5192561306}" type="presParOf" srcId="{6ACDE4F1-F0EC-8142-9644-D6338106A14A}" destId="{73675455-87EB-0543-9B92-9BC79E187914}" srcOrd="0" destOrd="0" presId="urn:microsoft.com/office/officeart/2005/8/layout/vList2"/>
    <dgm:cxn modelId="{DD8112BD-6FB3-424F-8C9D-A516650765C7}" type="presParOf" srcId="{6ACDE4F1-F0EC-8142-9644-D6338106A14A}" destId="{1CE456E9-5583-7442-817E-C888690EE89D}" srcOrd="1" destOrd="0" presId="urn:microsoft.com/office/officeart/2005/8/layout/vList2"/>
    <dgm:cxn modelId="{C8012534-A64A-504E-9ECC-34D52F5F030A}" type="presParOf" srcId="{6ACDE4F1-F0EC-8142-9644-D6338106A14A}" destId="{3C7D49AA-E209-F84D-BDE2-B705BE49EB52}" srcOrd="2" destOrd="0" presId="urn:microsoft.com/office/officeart/2005/8/layout/vList2"/>
    <dgm:cxn modelId="{50CB6DA8-9DFE-1143-AA87-DFD88E7C3D00}" type="presParOf" srcId="{6ACDE4F1-F0EC-8142-9644-D6338106A14A}" destId="{2F1B8244-CF8C-5940-A224-8B8CABA591E4}" srcOrd="3" destOrd="0" presId="urn:microsoft.com/office/officeart/2005/8/layout/vList2"/>
    <dgm:cxn modelId="{12DADB33-F950-EF4F-9F2A-3A3CA06A68C6}" type="presParOf" srcId="{6ACDE4F1-F0EC-8142-9644-D6338106A14A}" destId="{92417E37-E489-024F-9744-FE57F78F32FB}" srcOrd="4" destOrd="0" presId="urn:microsoft.com/office/officeart/2005/8/layout/vList2"/>
    <dgm:cxn modelId="{2FA0C1FF-3096-6545-815F-FE80280AB45E}" type="presParOf" srcId="{6ACDE4F1-F0EC-8142-9644-D6338106A14A}" destId="{9599920C-0363-344A-855C-2FCF7AFC75E6}"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736B778-0182-094D-9721-A07FEC685879}"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CBEBE145-D9A2-8C4D-9609-FDE44C1CFEAC}">
      <dgm:prSet/>
      <dgm:spPr/>
      <dgm:t>
        <a:bodyPr/>
        <a:lstStyle/>
        <a:p>
          <a:r>
            <a:rPr lang="ru-RU"/>
            <a:t>Генеративные (порождающие) модели</a:t>
          </a:r>
        </a:p>
      </dgm:t>
    </dgm:pt>
    <dgm:pt modelId="{F07E98EA-0239-4148-A6AA-F3A38A4705A8}" type="parTrans" cxnId="{A131346A-C843-5F45-AF27-3876D22FE15D}">
      <dgm:prSet/>
      <dgm:spPr/>
      <dgm:t>
        <a:bodyPr/>
        <a:lstStyle/>
        <a:p>
          <a:endParaRPr lang="ru-RU"/>
        </a:p>
      </dgm:t>
    </dgm:pt>
    <dgm:pt modelId="{2CA54524-00DF-474F-A823-866FBF094921}" type="sibTrans" cxnId="{A131346A-C843-5F45-AF27-3876D22FE15D}">
      <dgm:prSet/>
      <dgm:spPr/>
      <dgm:t>
        <a:bodyPr/>
        <a:lstStyle/>
        <a:p>
          <a:endParaRPr lang="ru-RU"/>
        </a:p>
      </dgm:t>
    </dgm:pt>
    <dgm:pt modelId="{99894E50-0B5C-7646-A70B-C5FEA2370111}">
      <dgm:prSet/>
      <dgm:spPr>
        <a:blipFill>
          <a:blip xmlns:r="http://schemas.openxmlformats.org/officeDocument/2006/relationships" r:embed="rId1"/>
          <a:stretch>
            <a:fillRect t="-3086" r="-309" b="-4321"/>
          </a:stretch>
        </a:blipFill>
      </dgm:spPr>
      <dgm:t>
        <a:bodyPr/>
        <a:lstStyle/>
        <a:p>
          <a:r>
            <a:rPr lang="ru-RU">
              <a:noFill/>
            </a:rPr>
            <a:t> </a:t>
          </a:r>
        </a:p>
      </dgm:t>
    </dgm:pt>
    <dgm:pt modelId="{201E6A10-9354-8841-9D51-79E8B47F41BE}" type="parTrans" cxnId="{0475B58B-083D-2543-8A87-1F528EC46EC9}">
      <dgm:prSet/>
      <dgm:spPr/>
      <dgm:t>
        <a:bodyPr/>
        <a:lstStyle/>
        <a:p>
          <a:endParaRPr lang="ru-RU"/>
        </a:p>
      </dgm:t>
    </dgm:pt>
    <dgm:pt modelId="{1CF9BB0B-5660-B64D-8379-B5213513E76E}" type="sibTrans" cxnId="{0475B58B-083D-2543-8A87-1F528EC46EC9}">
      <dgm:prSet/>
      <dgm:spPr/>
      <dgm:t>
        <a:bodyPr/>
        <a:lstStyle/>
        <a:p>
          <a:endParaRPr lang="ru-RU"/>
        </a:p>
      </dgm:t>
    </dgm:pt>
    <dgm:pt modelId="{8BA78A9B-BC6A-6643-8ADE-12E99F3EE0C6}">
      <dgm:prSet/>
      <dgm:spPr/>
      <dgm:t>
        <a:bodyPr/>
        <a:lstStyle/>
        <a:p>
          <a:r>
            <a:rPr lang="ru-RU">
              <a:noFill/>
            </a:rPr>
            <a:t> </a:t>
          </a:r>
        </a:p>
      </dgm:t>
    </dgm:pt>
    <dgm:pt modelId="{DA2241D6-957D-0448-B1C0-2F08382CD09C}" type="parTrans" cxnId="{8BFFA4D5-0C21-1741-8C28-AD76BFBCF459}">
      <dgm:prSet/>
      <dgm:spPr/>
      <dgm:t>
        <a:bodyPr/>
        <a:lstStyle/>
        <a:p>
          <a:endParaRPr lang="ru-RU"/>
        </a:p>
      </dgm:t>
    </dgm:pt>
    <dgm:pt modelId="{632E0E4C-F0B0-0744-ABB6-F2DD7B4034E4}" type="sibTrans" cxnId="{8BFFA4D5-0C21-1741-8C28-AD76BFBCF459}">
      <dgm:prSet/>
      <dgm:spPr/>
      <dgm:t>
        <a:bodyPr/>
        <a:lstStyle/>
        <a:p>
          <a:endParaRPr lang="ru-RU"/>
        </a:p>
      </dgm:t>
    </dgm:pt>
    <dgm:pt modelId="{28C307FD-F18D-394A-B528-6677E53A04E1}">
      <dgm:prSet/>
      <dgm:spPr/>
      <dgm:t>
        <a:bodyPr/>
        <a:lstStyle/>
        <a:p>
          <a:r>
            <a:rPr lang="ru-RU">
              <a:noFill/>
            </a:rPr>
            <a:t> </a:t>
          </a:r>
        </a:p>
      </dgm:t>
    </dgm:pt>
    <dgm:pt modelId="{DD7D7264-8DB2-F545-AA0E-986204EBF283}" type="parTrans" cxnId="{E7EFBB17-04A7-9546-B9E8-BAB93F06053B}">
      <dgm:prSet/>
      <dgm:spPr/>
      <dgm:t>
        <a:bodyPr/>
        <a:lstStyle/>
        <a:p>
          <a:endParaRPr lang="ru-RU"/>
        </a:p>
      </dgm:t>
    </dgm:pt>
    <dgm:pt modelId="{68D2F6D6-6AD8-6D40-8113-47569351AD1C}" type="sibTrans" cxnId="{E7EFBB17-04A7-9546-B9E8-BAB93F06053B}">
      <dgm:prSet/>
      <dgm:spPr/>
      <dgm:t>
        <a:bodyPr/>
        <a:lstStyle/>
        <a:p>
          <a:endParaRPr lang="ru-RU"/>
        </a:p>
      </dgm:t>
    </dgm:pt>
    <dgm:pt modelId="{5CC9C063-6ACD-8244-A95E-E0ED23CD5E9A}">
      <dgm:prSet/>
      <dgm:spPr/>
      <dgm:t>
        <a:bodyPr/>
        <a:lstStyle/>
        <a:p>
          <a:r>
            <a:rPr lang="ru-RU" dirty="0"/>
            <a:t>Дискриминантные модели</a:t>
          </a:r>
        </a:p>
      </dgm:t>
    </dgm:pt>
    <dgm:pt modelId="{E8F52089-1F53-FE48-B62C-102FDACA3FFE}" type="parTrans" cxnId="{1CB85538-3A1A-9840-AA79-21E6B4818577}">
      <dgm:prSet/>
      <dgm:spPr/>
      <dgm:t>
        <a:bodyPr/>
        <a:lstStyle/>
        <a:p>
          <a:endParaRPr lang="ru-RU"/>
        </a:p>
      </dgm:t>
    </dgm:pt>
    <dgm:pt modelId="{BC3130C4-7455-584C-A619-1E654B78D89C}" type="sibTrans" cxnId="{1CB85538-3A1A-9840-AA79-21E6B4818577}">
      <dgm:prSet/>
      <dgm:spPr/>
      <dgm:t>
        <a:bodyPr/>
        <a:lstStyle/>
        <a:p>
          <a:endParaRPr lang="ru-RU"/>
        </a:p>
      </dgm:t>
    </dgm:pt>
    <dgm:pt modelId="{66F54479-260A-EE4F-9CB0-8D2952DE76BF}">
      <dgm:prSet/>
      <dgm:spPr>
        <a:blipFill>
          <a:blip xmlns:r="http://schemas.openxmlformats.org/officeDocument/2006/relationships" r:embed="rId2"/>
          <a:stretch>
            <a:fillRect t="-7937" r="-309" b="-11111"/>
          </a:stretch>
        </a:blipFill>
      </dgm:spPr>
      <dgm:t>
        <a:bodyPr/>
        <a:lstStyle/>
        <a:p>
          <a:r>
            <a:rPr lang="ru-RU">
              <a:noFill/>
            </a:rPr>
            <a:t> </a:t>
          </a:r>
        </a:p>
      </dgm:t>
    </dgm:pt>
    <dgm:pt modelId="{63D8195E-069B-B44A-A061-70CE3EC1C19C}" type="parTrans" cxnId="{A16756BE-9CB6-1746-AFC2-0ABDFBDAEF99}">
      <dgm:prSet/>
      <dgm:spPr/>
      <dgm:t>
        <a:bodyPr/>
        <a:lstStyle/>
        <a:p>
          <a:endParaRPr lang="ru-RU"/>
        </a:p>
      </dgm:t>
    </dgm:pt>
    <dgm:pt modelId="{6E913BFC-5463-CE42-B63B-E224762302F5}" type="sibTrans" cxnId="{A16756BE-9CB6-1746-AFC2-0ABDFBDAEF99}">
      <dgm:prSet/>
      <dgm:spPr/>
      <dgm:t>
        <a:bodyPr/>
        <a:lstStyle/>
        <a:p>
          <a:endParaRPr lang="ru-RU"/>
        </a:p>
      </dgm:t>
    </dgm:pt>
    <dgm:pt modelId="{FA50941C-7A8B-0B46-AB52-3D55BFD4F38D}">
      <dgm:prSet/>
      <dgm:spPr/>
      <dgm:t>
        <a:bodyPr/>
        <a:lstStyle/>
        <a:p>
          <a:r>
            <a:rPr lang="ru-RU">
              <a:noFill/>
            </a:rPr>
            <a:t> </a:t>
          </a:r>
        </a:p>
      </dgm:t>
    </dgm:pt>
    <dgm:pt modelId="{18ED7BDF-1EAA-4C40-99C2-2A89773E28A1}" type="parTrans" cxnId="{24700BC8-1F70-9049-9DDF-2BA1D11DF6D1}">
      <dgm:prSet/>
      <dgm:spPr/>
      <dgm:t>
        <a:bodyPr/>
        <a:lstStyle/>
        <a:p>
          <a:endParaRPr lang="ru-RU"/>
        </a:p>
      </dgm:t>
    </dgm:pt>
    <dgm:pt modelId="{3B020DBF-9665-6A4C-A412-D7AFADC94188}" type="sibTrans" cxnId="{24700BC8-1F70-9049-9DDF-2BA1D11DF6D1}">
      <dgm:prSet/>
      <dgm:spPr/>
      <dgm:t>
        <a:bodyPr/>
        <a:lstStyle/>
        <a:p>
          <a:endParaRPr lang="ru-RU"/>
        </a:p>
      </dgm:t>
    </dgm:pt>
    <dgm:pt modelId="{FCA3C364-D99C-E546-B70E-A4684CDCECA6}">
      <dgm:prSet/>
      <dgm:spPr/>
      <dgm:t>
        <a:bodyPr/>
        <a:lstStyle/>
        <a:p>
          <a:r>
            <a:rPr lang="ru-RU" dirty="0"/>
            <a:t>Нахождение дискриминантной функции</a:t>
          </a:r>
        </a:p>
      </dgm:t>
    </dgm:pt>
    <dgm:pt modelId="{83C51CAF-A1F5-3A47-A35F-D2B166BEBEA4}" type="parTrans" cxnId="{6E18E029-8C63-AD46-83A7-3C24C0EFE995}">
      <dgm:prSet/>
      <dgm:spPr/>
      <dgm:t>
        <a:bodyPr/>
        <a:lstStyle/>
        <a:p>
          <a:endParaRPr lang="ru-RU"/>
        </a:p>
      </dgm:t>
    </dgm:pt>
    <dgm:pt modelId="{CF7A044B-FFED-9149-AEF9-6609BE9F61CA}" type="sibTrans" cxnId="{6E18E029-8C63-AD46-83A7-3C24C0EFE995}">
      <dgm:prSet/>
      <dgm:spPr/>
      <dgm:t>
        <a:bodyPr/>
        <a:lstStyle/>
        <a:p>
          <a:endParaRPr lang="ru-RU"/>
        </a:p>
      </dgm:t>
    </dgm:pt>
    <dgm:pt modelId="{1E42ADB5-1314-7B46-8B65-C162E4C7F340}">
      <dgm:prSet/>
      <dgm:spPr/>
      <dgm:t>
        <a:bodyPr/>
        <a:lstStyle/>
        <a:p>
          <a:r>
            <a:rPr lang="ru-RU">
              <a:noFill/>
            </a:rPr>
            <a:t> </a:t>
          </a:r>
        </a:p>
      </dgm:t>
    </dgm:pt>
    <dgm:pt modelId="{414EAB4E-9C76-C543-98BC-A4FFEDC8DDC6}" type="parTrans" cxnId="{8FF08B3B-3E63-854A-8498-BEB9ED682F77}">
      <dgm:prSet/>
      <dgm:spPr/>
      <dgm:t>
        <a:bodyPr/>
        <a:lstStyle/>
        <a:p>
          <a:endParaRPr lang="ru-RU"/>
        </a:p>
      </dgm:t>
    </dgm:pt>
    <dgm:pt modelId="{05526684-A350-C74A-95ED-FD0F26FA8E36}" type="sibTrans" cxnId="{8FF08B3B-3E63-854A-8498-BEB9ED682F77}">
      <dgm:prSet/>
      <dgm:spPr/>
      <dgm:t>
        <a:bodyPr/>
        <a:lstStyle/>
        <a:p>
          <a:endParaRPr lang="ru-RU"/>
        </a:p>
      </dgm:t>
    </dgm:pt>
    <dgm:pt modelId="{4568B564-6495-EA4C-ADCF-654264390D2C}">
      <dgm:prSet/>
      <dgm:spPr/>
      <dgm:t>
        <a:bodyPr/>
        <a:lstStyle/>
        <a:p>
          <a:r>
            <a:rPr lang="ru-RU">
              <a:noFill/>
            </a:rPr>
            <a:t> </a:t>
          </a:r>
        </a:p>
      </dgm:t>
    </dgm:pt>
    <dgm:pt modelId="{202D5BFD-5F31-5746-9DB0-92C4D223FE2D}" type="parTrans" cxnId="{C0B87784-7A3B-EC42-9DBB-878AC171FC61}">
      <dgm:prSet/>
      <dgm:spPr/>
      <dgm:t>
        <a:bodyPr/>
        <a:lstStyle/>
        <a:p>
          <a:endParaRPr lang="ru-RU"/>
        </a:p>
      </dgm:t>
    </dgm:pt>
    <dgm:pt modelId="{C3D3DBFF-8F04-8E43-8C36-124EADE1CA82}" type="sibTrans" cxnId="{C0B87784-7A3B-EC42-9DBB-878AC171FC61}">
      <dgm:prSet/>
      <dgm:spPr/>
      <dgm:t>
        <a:bodyPr/>
        <a:lstStyle/>
        <a:p>
          <a:endParaRPr lang="ru-RU"/>
        </a:p>
      </dgm:t>
    </dgm:pt>
    <dgm:pt modelId="{807B5F4D-A7A1-CD45-BB91-259C2696BA48}">
      <dgm:prSet/>
      <dgm:spPr>
        <a:blipFill>
          <a:blip xmlns:r="http://schemas.openxmlformats.org/officeDocument/2006/relationships" r:embed="rId3"/>
          <a:stretch>
            <a:fillRect t="-8889" b="-17778"/>
          </a:stretch>
        </a:blipFill>
      </dgm:spPr>
      <dgm:t>
        <a:bodyPr/>
        <a:lstStyle/>
        <a:p>
          <a:r>
            <a:rPr lang="ru-RU">
              <a:noFill/>
            </a:rPr>
            <a:t> </a:t>
          </a:r>
        </a:p>
      </dgm:t>
    </dgm:pt>
    <dgm:pt modelId="{01EED10F-C797-7144-8B26-CC60650837F0}" type="parTrans" cxnId="{BED8A6AC-035D-514F-A9EF-3CAE8E7EEDC9}">
      <dgm:prSet/>
      <dgm:spPr/>
      <dgm:t>
        <a:bodyPr/>
        <a:lstStyle/>
        <a:p>
          <a:endParaRPr lang="ru-RU"/>
        </a:p>
      </dgm:t>
    </dgm:pt>
    <dgm:pt modelId="{1150E7A5-3507-284A-9D70-C739D03172ED}" type="sibTrans" cxnId="{BED8A6AC-035D-514F-A9EF-3CAE8E7EEDC9}">
      <dgm:prSet/>
      <dgm:spPr/>
      <dgm:t>
        <a:bodyPr/>
        <a:lstStyle/>
        <a:p>
          <a:endParaRPr lang="ru-RU"/>
        </a:p>
      </dgm:t>
    </dgm:pt>
    <dgm:pt modelId="{4D9C7605-FB00-294C-B431-6CB6BD5AFB72}">
      <dgm:prSet/>
      <dgm:spPr/>
      <dgm:t>
        <a:bodyPr/>
        <a:lstStyle/>
        <a:p>
          <a:r>
            <a:rPr lang="ru-RU">
              <a:noFill/>
            </a:rPr>
            <a:t> </a:t>
          </a:r>
        </a:p>
      </dgm:t>
    </dgm:pt>
    <dgm:pt modelId="{4188E3AF-CCAA-0D44-82C1-81FA196E6E96}" type="parTrans" cxnId="{728958F4-8CF7-FE4E-95E6-11DC426F24DA}">
      <dgm:prSet/>
      <dgm:spPr/>
      <dgm:t>
        <a:bodyPr/>
        <a:lstStyle/>
        <a:p>
          <a:endParaRPr lang="ru-RU"/>
        </a:p>
      </dgm:t>
    </dgm:pt>
    <dgm:pt modelId="{147E489A-3062-3846-AD97-A28CA28A8766}" type="sibTrans" cxnId="{728958F4-8CF7-FE4E-95E6-11DC426F24DA}">
      <dgm:prSet/>
      <dgm:spPr/>
      <dgm:t>
        <a:bodyPr/>
        <a:lstStyle/>
        <a:p>
          <a:endParaRPr lang="ru-RU"/>
        </a:p>
      </dgm:t>
    </dgm:pt>
    <dgm:pt modelId="{6ACDE4F1-F0EC-8142-9644-D6338106A14A}" type="pres">
      <dgm:prSet presAssocID="{6736B778-0182-094D-9721-A07FEC685879}" presName="linear" presStyleCnt="0">
        <dgm:presLayoutVars>
          <dgm:animLvl val="lvl"/>
          <dgm:resizeHandles val="exact"/>
        </dgm:presLayoutVars>
      </dgm:prSet>
      <dgm:spPr/>
    </dgm:pt>
    <dgm:pt modelId="{73675455-87EB-0543-9B92-9BC79E187914}" type="pres">
      <dgm:prSet presAssocID="{CBEBE145-D9A2-8C4D-9609-FDE44C1CFEAC}" presName="parentText" presStyleLbl="node1" presStyleIdx="0" presStyleCnt="3">
        <dgm:presLayoutVars>
          <dgm:chMax val="0"/>
          <dgm:bulletEnabled val="1"/>
        </dgm:presLayoutVars>
      </dgm:prSet>
      <dgm:spPr/>
    </dgm:pt>
    <dgm:pt modelId="{1CE456E9-5583-7442-817E-C888690EE89D}" type="pres">
      <dgm:prSet presAssocID="{CBEBE145-D9A2-8C4D-9609-FDE44C1CFEAC}" presName="childText" presStyleLbl="revTx" presStyleIdx="0" presStyleCnt="3">
        <dgm:presLayoutVars>
          <dgm:bulletEnabled val="1"/>
        </dgm:presLayoutVars>
      </dgm:prSet>
      <dgm:spPr/>
    </dgm:pt>
    <dgm:pt modelId="{3C7D49AA-E209-F84D-BDE2-B705BE49EB52}" type="pres">
      <dgm:prSet presAssocID="{5CC9C063-6ACD-8244-A95E-E0ED23CD5E9A}" presName="parentText" presStyleLbl="node1" presStyleIdx="1" presStyleCnt="3">
        <dgm:presLayoutVars>
          <dgm:chMax val="0"/>
          <dgm:bulletEnabled val="1"/>
        </dgm:presLayoutVars>
      </dgm:prSet>
      <dgm:spPr/>
    </dgm:pt>
    <dgm:pt modelId="{2F1B8244-CF8C-5940-A224-8B8CABA591E4}" type="pres">
      <dgm:prSet presAssocID="{5CC9C063-6ACD-8244-A95E-E0ED23CD5E9A}" presName="childText" presStyleLbl="revTx" presStyleIdx="1" presStyleCnt="3">
        <dgm:presLayoutVars>
          <dgm:bulletEnabled val="1"/>
        </dgm:presLayoutVars>
      </dgm:prSet>
      <dgm:spPr/>
    </dgm:pt>
    <dgm:pt modelId="{92417E37-E489-024F-9744-FE57F78F32FB}" type="pres">
      <dgm:prSet presAssocID="{FCA3C364-D99C-E546-B70E-A4684CDCECA6}" presName="parentText" presStyleLbl="node1" presStyleIdx="2" presStyleCnt="3">
        <dgm:presLayoutVars>
          <dgm:chMax val="0"/>
          <dgm:bulletEnabled val="1"/>
        </dgm:presLayoutVars>
      </dgm:prSet>
      <dgm:spPr/>
    </dgm:pt>
    <dgm:pt modelId="{9599920C-0363-344A-855C-2FCF7AFC75E6}" type="pres">
      <dgm:prSet presAssocID="{FCA3C364-D99C-E546-B70E-A4684CDCECA6}" presName="childText" presStyleLbl="revTx" presStyleIdx="2" presStyleCnt="3">
        <dgm:presLayoutVars>
          <dgm:bulletEnabled val="1"/>
        </dgm:presLayoutVars>
      </dgm:prSet>
      <dgm:spPr/>
    </dgm:pt>
  </dgm:ptLst>
  <dgm:cxnLst>
    <dgm:cxn modelId="{C48D8707-1563-D943-8B59-3FE981D2FC0C}" type="presOf" srcId="{28C307FD-F18D-394A-B528-6677E53A04E1}" destId="{1CE456E9-5583-7442-817E-C888690EE89D}" srcOrd="0" destOrd="2" presId="urn:microsoft.com/office/officeart/2005/8/layout/vList2"/>
    <dgm:cxn modelId="{E7EFBB17-04A7-9546-B9E8-BAB93F06053B}" srcId="{CBEBE145-D9A2-8C4D-9609-FDE44C1CFEAC}" destId="{28C307FD-F18D-394A-B528-6677E53A04E1}" srcOrd="2" destOrd="0" parTransId="{DD7D7264-8DB2-F545-AA0E-986204EBF283}" sibTransId="{68D2F6D6-6AD8-6D40-8113-47569351AD1C}"/>
    <dgm:cxn modelId="{23A2011B-D7CA-AF44-9C1E-DEEC0F186FA1}" type="presOf" srcId="{4D9C7605-FB00-294C-B431-6CB6BD5AFB72}" destId="{1CE456E9-5583-7442-817E-C888690EE89D}" srcOrd="0" destOrd="4" presId="urn:microsoft.com/office/officeart/2005/8/layout/vList2"/>
    <dgm:cxn modelId="{6E18E029-8C63-AD46-83A7-3C24C0EFE995}" srcId="{6736B778-0182-094D-9721-A07FEC685879}" destId="{FCA3C364-D99C-E546-B70E-A4684CDCECA6}" srcOrd="2" destOrd="0" parTransId="{83C51CAF-A1F5-3A47-A35F-D2B166BEBEA4}" sibTransId="{CF7A044B-FFED-9149-AEF9-6609BE9F61CA}"/>
    <dgm:cxn modelId="{DF8F0438-A09F-1A44-BC55-15F8EDEEEAEA}" type="presOf" srcId="{5CC9C063-6ACD-8244-A95E-E0ED23CD5E9A}" destId="{3C7D49AA-E209-F84D-BDE2-B705BE49EB52}" srcOrd="0" destOrd="0" presId="urn:microsoft.com/office/officeart/2005/8/layout/vList2"/>
    <dgm:cxn modelId="{1CB85538-3A1A-9840-AA79-21E6B4818577}" srcId="{6736B778-0182-094D-9721-A07FEC685879}" destId="{5CC9C063-6ACD-8244-A95E-E0ED23CD5E9A}" srcOrd="1" destOrd="0" parTransId="{E8F52089-1F53-FE48-B62C-102FDACA3FFE}" sibTransId="{BC3130C4-7455-584C-A619-1E654B78D89C}"/>
    <dgm:cxn modelId="{8FF08B3B-3E63-854A-8498-BEB9ED682F77}" srcId="{CBEBE145-D9A2-8C4D-9609-FDE44C1CFEAC}" destId="{1E42ADB5-1314-7B46-8B65-C162E4C7F340}" srcOrd="3" destOrd="0" parTransId="{414EAB4E-9C76-C543-98BC-A4FFEDC8DDC6}" sibTransId="{05526684-A350-C74A-95ED-FD0F26FA8E36}"/>
    <dgm:cxn modelId="{DA8FD03E-8D09-7A4C-A75A-0611FFB99ED2}" type="presOf" srcId="{6736B778-0182-094D-9721-A07FEC685879}" destId="{6ACDE4F1-F0EC-8142-9644-D6338106A14A}" srcOrd="0" destOrd="0" presId="urn:microsoft.com/office/officeart/2005/8/layout/vList2"/>
    <dgm:cxn modelId="{A131346A-C843-5F45-AF27-3876D22FE15D}" srcId="{6736B778-0182-094D-9721-A07FEC685879}" destId="{CBEBE145-D9A2-8C4D-9609-FDE44C1CFEAC}" srcOrd="0" destOrd="0" parTransId="{F07E98EA-0239-4148-A6AA-F3A38A4705A8}" sibTransId="{2CA54524-00DF-474F-A823-866FBF094921}"/>
    <dgm:cxn modelId="{2205E06E-B840-C841-BE7E-7163A8180100}" type="presOf" srcId="{807B5F4D-A7A1-CD45-BB91-259C2696BA48}" destId="{9599920C-0363-344A-855C-2FCF7AFC75E6}" srcOrd="0" destOrd="0" presId="urn:microsoft.com/office/officeart/2005/8/layout/vList2"/>
    <dgm:cxn modelId="{D0AF996F-D8EF-2B4D-81AD-6DA34CC79C51}" type="presOf" srcId="{FA50941C-7A8B-0B46-AB52-3D55BFD4F38D}" destId="{2F1B8244-CF8C-5940-A224-8B8CABA591E4}" srcOrd="0" destOrd="1" presId="urn:microsoft.com/office/officeart/2005/8/layout/vList2"/>
    <dgm:cxn modelId="{DEE61283-48E7-AC4A-BC53-32191E2AAEE9}" type="presOf" srcId="{66F54479-260A-EE4F-9CB0-8D2952DE76BF}" destId="{2F1B8244-CF8C-5940-A224-8B8CABA591E4}" srcOrd="0" destOrd="0" presId="urn:microsoft.com/office/officeart/2005/8/layout/vList2"/>
    <dgm:cxn modelId="{C0B87784-7A3B-EC42-9DBB-878AC171FC61}" srcId="{FCA3C364-D99C-E546-B70E-A4684CDCECA6}" destId="{4568B564-6495-EA4C-ADCF-654264390D2C}" srcOrd="1" destOrd="0" parTransId="{202D5BFD-5F31-5746-9DB0-92C4D223FE2D}" sibTransId="{C3D3DBFF-8F04-8E43-8C36-124EADE1CA82}"/>
    <dgm:cxn modelId="{0475B58B-083D-2543-8A87-1F528EC46EC9}" srcId="{CBEBE145-D9A2-8C4D-9609-FDE44C1CFEAC}" destId="{99894E50-0B5C-7646-A70B-C5FEA2370111}" srcOrd="0" destOrd="0" parTransId="{201E6A10-9354-8841-9D51-79E8B47F41BE}" sibTransId="{1CF9BB0B-5660-B64D-8379-B5213513E76E}"/>
    <dgm:cxn modelId="{BED8A6AC-035D-514F-A9EF-3CAE8E7EEDC9}" srcId="{FCA3C364-D99C-E546-B70E-A4684CDCECA6}" destId="{807B5F4D-A7A1-CD45-BB91-259C2696BA48}" srcOrd="0" destOrd="0" parTransId="{01EED10F-C797-7144-8B26-CC60650837F0}" sibTransId="{1150E7A5-3507-284A-9D70-C739D03172ED}"/>
    <dgm:cxn modelId="{B740DEBD-ABD9-AB43-A55D-7B729ACFC1C8}" type="presOf" srcId="{8BA78A9B-BC6A-6643-8ADE-12E99F3EE0C6}" destId="{1CE456E9-5583-7442-817E-C888690EE89D}" srcOrd="0" destOrd="1" presId="urn:microsoft.com/office/officeart/2005/8/layout/vList2"/>
    <dgm:cxn modelId="{A16756BE-9CB6-1746-AFC2-0ABDFBDAEF99}" srcId="{5CC9C063-6ACD-8244-A95E-E0ED23CD5E9A}" destId="{66F54479-260A-EE4F-9CB0-8D2952DE76BF}" srcOrd="0" destOrd="0" parTransId="{63D8195E-069B-B44A-A061-70CE3EC1C19C}" sibTransId="{6E913BFC-5463-CE42-B63B-E224762302F5}"/>
    <dgm:cxn modelId="{296536C6-B2E3-2D42-A06D-96D82B704B14}" type="presOf" srcId="{99894E50-0B5C-7646-A70B-C5FEA2370111}" destId="{1CE456E9-5583-7442-817E-C888690EE89D}" srcOrd="0" destOrd="0" presId="urn:microsoft.com/office/officeart/2005/8/layout/vList2"/>
    <dgm:cxn modelId="{24700BC8-1F70-9049-9DDF-2BA1D11DF6D1}" srcId="{5CC9C063-6ACD-8244-A95E-E0ED23CD5E9A}" destId="{FA50941C-7A8B-0B46-AB52-3D55BFD4F38D}" srcOrd="1" destOrd="0" parTransId="{18ED7BDF-1EAA-4C40-99C2-2A89773E28A1}" sibTransId="{3B020DBF-9665-6A4C-A412-D7AFADC94188}"/>
    <dgm:cxn modelId="{EB9E7FD0-51FE-F641-A166-FFE716791DFE}" type="presOf" srcId="{1E42ADB5-1314-7B46-8B65-C162E4C7F340}" destId="{1CE456E9-5583-7442-817E-C888690EE89D}" srcOrd="0" destOrd="3" presId="urn:microsoft.com/office/officeart/2005/8/layout/vList2"/>
    <dgm:cxn modelId="{8BFFA4D5-0C21-1741-8C28-AD76BFBCF459}" srcId="{CBEBE145-D9A2-8C4D-9609-FDE44C1CFEAC}" destId="{8BA78A9B-BC6A-6643-8ADE-12E99F3EE0C6}" srcOrd="1" destOrd="0" parTransId="{DA2241D6-957D-0448-B1C0-2F08382CD09C}" sibTransId="{632E0E4C-F0B0-0744-ABB6-F2DD7B4034E4}"/>
    <dgm:cxn modelId="{B27330F0-5FA1-0148-9E3F-3757725BAF4C}" type="presOf" srcId="{4568B564-6495-EA4C-ADCF-654264390D2C}" destId="{9599920C-0363-344A-855C-2FCF7AFC75E6}" srcOrd="0" destOrd="1" presId="urn:microsoft.com/office/officeart/2005/8/layout/vList2"/>
    <dgm:cxn modelId="{728958F4-8CF7-FE4E-95E6-11DC426F24DA}" srcId="{CBEBE145-D9A2-8C4D-9609-FDE44C1CFEAC}" destId="{4D9C7605-FB00-294C-B431-6CB6BD5AFB72}" srcOrd="4" destOrd="0" parTransId="{4188E3AF-CCAA-0D44-82C1-81FA196E6E96}" sibTransId="{147E489A-3062-3846-AD97-A28CA28A8766}"/>
    <dgm:cxn modelId="{30F522F5-2CEC-CB41-8AB9-FE574E49BB0B}" type="presOf" srcId="{FCA3C364-D99C-E546-B70E-A4684CDCECA6}" destId="{92417E37-E489-024F-9744-FE57F78F32FB}" srcOrd="0" destOrd="0" presId="urn:microsoft.com/office/officeart/2005/8/layout/vList2"/>
    <dgm:cxn modelId="{75F41EFD-6C91-3046-9895-2CBBF94AF491}" type="presOf" srcId="{CBEBE145-D9A2-8C4D-9609-FDE44C1CFEAC}" destId="{73675455-87EB-0543-9B92-9BC79E187914}" srcOrd="0" destOrd="0" presId="urn:microsoft.com/office/officeart/2005/8/layout/vList2"/>
    <dgm:cxn modelId="{AFAF133D-0AA3-0D4C-94E0-0C5192561306}" type="presParOf" srcId="{6ACDE4F1-F0EC-8142-9644-D6338106A14A}" destId="{73675455-87EB-0543-9B92-9BC79E187914}" srcOrd="0" destOrd="0" presId="urn:microsoft.com/office/officeart/2005/8/layout/vList2"/>
    <dgm:cxn modelId="{DD8112BD-6FB3-424F-8C9D-A516650765C7}" type="presParOf" srcId="{6ACDE4F1-F0EC-8142-9644-D6338106A14A}" destId="{1CE456E9-5583-7442-817E-C888690EE89D}" srcOrd="1" destOrd="0" presId="urn:microsoft.com/office/officeart/2005/8/layout/vList2"/>
    <dgm:cxn modelId="{C8012534-A64A-504E-9ECC-34D52F5F030A}" type="presParOf" srcId="{6ACDE4F1-F0EC-8142-9644-D6338106A14A}" destId="{3C7D49AA-E209-F84D-BDE2-B705BE49EB52}" srcOrd="2" destOrd="0" presId="urn:microsoft.com/office/officeart/2005/8/layout/vList2"/>
    <dgm:cxn modelId="{50CB6DA8-9DFE-1143-AA87-DFD88E7C3D00}" type="presParOf" srcId="{6ACDE4F1-F0EC-8142-9644-D6338106A14A}" destId="{2F1B8244-CF8C-5940-A224-8B8CABA591E4}" srcOrd="3" destOrd="0" presId="urn:microsoft.com/office/officeart/2005/8/layout/vList2"/>
    <dgm:cxn modelId="{12DADB33-F950-EF4F-9F2A-3A3CA06A68C6}" type="presParOf" srcId="{6ACDE4F1-F0EC-8142-9644-D6338106A14A}" destId="{92417E37-E489-024F-9744-FE57F78F32FB}" srcOrd="4" destOrd="0" presId="urn:microsoft.com/office/officeart/2005/8/layout/vList2"/>
    <dgm:cxn modelId="{2FA0C1FF-3096-6545-815F-FE80280AB45E}" type="presParOf" srcId="{6ACDE4F1-F0EC-8142-9644-D6338106A14A}" destId="{9599920C-0363-344A-855C-2FCF7AFC75E6}"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FA3FA4-30FA-744E-8BCB-65633F453AC1}"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F4297C54-4CEF-9B43-8331-0388938EF3B9}">
      <dgm:prSet/>
      <dgm:spPr/>
      <dgm:t>
        <a:bodyPr/>
        <a:lstStyle/>
        <a:p>
          <a:r>
            <a:rPr lang="ru-RU" dirty="0"/>
            <a:t>Минимизация риска (матрица потерь может меняться со временем)</a:t>
          </a:r>
        </a:p>
      </dgm:t>
    </dgm:pt>
    <dgm:pt modelId="{E0FEBE41-1DB9-E84A-BE2C-38B2ABE5A932}" type="parTrans" cxnId="{6B422E90-C934-7448-ADB6-0061038FE2FC}">
      <dgm:prSet/>
      <dgm:spPr/>
      <dgm:t>
        <a:bodyPr/>
        <a:lstStyle/>
        <a:p>
          <a:endParaRPr lang="ru-RU"/>
        </a:p>
      </dgm:t>
    </dgm:pt>
    <dgm:pt modelId="{D94DCDE4-DD8C-D44D-B0D3-A01C439B2503}" type="sibTrans" cxnId="{6B422E90-C934-7448-ADB6-0061038FE2FC}">
      <dgm:prSet/>
      <dgm:spPr/>
      <dgm:t>
        <a:bodyPr/>
        <a:lstStyle/>
        <a:p>
          <a:endParaRPr lang="ru-RU"/>
        </a:p>
      </dgm:t>
    </dgm:pt>
    <dgm:pt modelId="{24EE6FC8-9EA7-9247-A778-A90AEA7AAA07}">
      <dgm:prSet/>
      <dgm:spPr/>
      <dgm:t>
        <a:bodyPr/>
        <a:lstStyle/>
        <a:p>
          <a:r>
            <a:rPr lang="ru-RU"/>
            <a:t>Опция «Не принимать решение»</a:t>
          </a:r>
        </a:p>
      </dgm:t>
    </dgm:pt>
    <dgm:pt modelId="{CBB013A2-0651-FA46-A064-1FD6A3973248}" type="parTrans" cxnId="{BD258BBB-AAC1-D349-9FB0-C2A2F4869487}">
      <dgm:prSet/>
      <dgm:spPr/>
      <dgm:t>
        <a:bodyPr/>
        <a:lstStyle/>
        <a:p>
          <a:endParaRPr lang="ru-RU"/>
        </a:p>
      </dgm:t>
    </dgm:pt>
    <dgm:pt modelId="{EE06525D-1DF8-DF4E-AB82-F08D09097E0B}" type="sibTrans" cxnId="{BD258BBB-AAC1-D349-9FB0-C2A2F4869487}">
      <dgm:prSet/>
      <dgm:spPr/>
      <dgm:t>
        <a:bodyPr/>
        <a:lstStyle/>
        <a:p>
          <a:endParaRPr lang="ru-RU"/>
        </a:p>
      </dgm:t>
    </dgm:pt>
    <dgm:pt modelId="{1A5ED113-1573-B44E-B60D-5306CDF9CBFF}">
      <dgm:prSet/>
      <dgm:spPr/>
      <dgm:t>
        <a:bodyPr/>
        <a:lstStyle/>
        <a:p>
          <a:r>
            <a:rPr lang="ru-RU"/>
            <a:t>Несбалансированные априорные классы. </a:t>
          </a:r>
        </a:p>
      </dgm:t>
    </dgm:pt>
    <dgm:pt modelId="{317EA748-ACDA-DA42-8C8A-1A20944C005D}" type="parTrans" cxnId="{0E538A31-386F-4646-B0EF-04CFB4BCA697}">
      <dgm:prSet/>
      <dgm:spPr/>
      <dgm:t>
        <a:bodyPr/>
        <a:lstStyle/>
        <a:p>
          <a:endParaRPr lang="ru-RU"/>
        </a:p>
      </dgm:t>
    </dgm:pt>
    <dgm:pt modelId="{2EBAAFFF-9FE8-E54C-9526-F9ACC0B39C85}" type="sibTrans" cxnId="{0E538A31-386F-4646-B0EF-04CFB4BCA697}">
      <dgm:prSet/>
      <dgm:spPr/>
      <dgm:t>
        <a:bodyPr/>
        <a:lstStyle/>
        <a:p>
          <a:endParaRPr lang="ru-RU"/>
        </a:p>
      </dgm:t>
    </dgm:pt>
    <dgm:pt modelId="{ACD987BB-4677-F44E-A8FB-28598FC20EFF}">
      <dgm:prSet/>
      <dgm:spPr/>
      <dgm:t>
        <a:bodyPr/>
        <a:lstStyle/>
        <a:p>
          <a:r>
            <a:rPr lang="ru-RU" dirty="0"/>
            <a:t>Рассмотрим нашу медицинскую рентгенологическую задачу еще раз и предположим, что мы собрали большое количество рентгеновских снимков населения в целом для использования в качестве обучающих данных с целью создания автоматизированной системы скрининга. </a:t>
          </a:r>
        </a:p>
      </dgm:t>
    </dgm:pt>
    <dgm:pt modelId="{B1A8F85C-4AF0-424B-9B9D-6C6FC3A1F231}" type="parTrans" cxnId="{4262355D-F49F-3C40-A89E-59150EB1E192}">
      <dgm:prSet/>
      <dgm:spPr/>
      <dgm:t>
        <a:bodyPr/>
        <a:lstStyle/>
        <a:p>
          <a:endParaRPr lang="ru-RU"/>
        </a:p>
      </dgm:t>
    </dgm:pt>
    <dgm:pt modelId="{33A64003-7E5E-2741-95D3-EFBAEA6AA776}" type="sibTrans" cxnId="{4262355D-F49F-3C40-A89E-59150EB1E192}">
      <dgm:prSet/>
      <dgm:spPr/>
      <dgm:t>
        <a:bodyPr/>
        <a:lstStyle/>
        <a:p>
          <a:endParaRPr lang="ru-RU"/>
        </a:p>
      </dgm:t>
    </dgm:pt>
    <dgm:pt modelId="{77488961-E934-7C46-B172-02A5243A1EAD}">
      <dgm:prSet/>
      <dgm:spPr/>
      <dgm:t>
        <a:bodyPr/>
        <a:lstStyle/>
        <a:p>
          <a:r>
            <a:rPr lang="ru-RU" dirty="0"/>
            <a:t>Поскольку рак встречается редко среди населения в целом, то если бы мы использовали такой набор данных для обучения адаптивной модели, мы могли бы столкнуться с серьезными трудностями из-за небольшой доли класса рака. Например, классификатор, который назначает каждую точку нормальному классу, уже достиг бы 99,9% точности, и было бы трудно избежать этого тривиального решения. Кроме того, даже большой набор данных будет содержать очень мало примеров рентгеновских снимков, соответствующих раку, и поэтому алгоритм обучения не будет подвергаться широкому диапазону примеров таких изображений и, следовательно, вряд ли будет хорошо обобщать. </a:t>
          </a:r>
        </a:p>
      </dgm:t>
    </dgm:pt>
    <dgm:pt modelId="{6E607ED6-DD15-5E44-BC16-6F681A387EE8}" type="parTrans" cxnId="{FC22D64F-E1D3-8E40-83B2-A554E403FF12}">
      <dgm:prSet/>
      <dgm:spPr/>
      <dgm:t>
        <a:bodyPr/>
        <a:lstStyle/>
        <a:p>
          <a:endParaRPr lang="ru-RU"/>
        </a:p>
      </dgm:t>
    </dgm:pt>
    <dgm:pt modelId="{FECB747F-42EA-6B4C-BE5C-5E1ECACE84A5}" type="sibTrans" cxnId="{FC22D64F-E1D3-8E40-83B2-A554E403FF12}">
      <dgm:prSet/>
      <dgm:spPr/>
      <dgm:t>
        <a:bodyPr/>
        <a:lstStyle/>
        <a:p>
          <a:endParaRPr lang="ru-RU"/>
        </a:p>
      </dgm:t>
    </dgm:pt>
    <dgm:pt modelId="{62790F0C-1B1A-E147-9119-303170D0FEBD}">
      <dgm:prSet/>
      <dgm:spPr/>
      <dgm:t>
        <a:bodyPr/>
        <a:lstStyle/>
        <a:p>
          <a:r>
            <a:rPr lang="ru-RU" dirty="0"/>
            <a:t>Сбалансированный набор данных, в котором мы выбрали равное количество примеров из каждого из классов, позволил бы нам найти более точную модель. Однако затем нам необходимо компенсировать эффекты наших модификаций обучающих данных. Из теоремы Байеса мы видим, что апостериорные вероятности пропорциональны априорным вероятностям, которые мы можем интерпретировать как доли точек в каждом классе. Поэтому мы можем просто взять апостериорные вероятности, полученные из нашего искусственно сбалансированного набора данных, и сначала разделить их на доли классов в этом наборе данных, а затем умножить на доли классов в генеральной совокупности, к которой мы хотим применить модель. Наконец, нам необходимо выполнить нормализацию, чтобы гарантировать, что сумма новых апостериорных вероятностей равна единице. Обратите внимание, что эту процедуру нельзя применить, если мы обучили дискриминантную функцию напрямую, а не определяли апостериорные вероятности.</a:t>
          </a:r>
        </a:p>
      </dgm:t>
    </dgm:pt>
    <dgm:pt modelId="{943AD22F-A3B7-EE45-B948-4DC5E7656520}" type="parTrans" cxnId="{73934B0D-B394-D040-A6C0-0EA2843A5E84}">
      <dgm:prSet/>
      <dgm:spPr/>
      <dgm:t>
        <a:bodyPr/>
        <a:lstStyle/>
        <a:p>
          <a:endParaRPr lang="ru-RU"/>
        </a:p>
      </dgm:t>
    </dgm:pt>
    <dgm:pt modelId="{B5CC74EC-4ACD-2B4F-AC28-3406040043E4}" type="sibTrans" cxnId="{73934B0D-B394-D040-A6C0-0EA2843A5E84}">
      <dgm:prSet/>
      <dgm:spPr/>
      <dgm:t>
        <a:bodyPr/>
        <a:lstStyle/>
        <a:p>
          <a:endParaRPr lang="ru-RU"/>
        </a:p>
      </dgm:t>
    </dgm:pt>
    <dgm:pt modelId="{AB8A86E8-FDCC-A443-8731-41F11164FFFC}" type="pres">
      <dgm:prSet presAssocID="{7BFA3FA4-30FA-744E-8BCB-65633F453AC1}" presName="linear" presStyleCnt="0">
        <dgm:presLayoutVars>
          <dgm:animLvl val="lvl"/>
          <dgm:resizeHandles val="exact"/>
        </dgm:presLayoutVars>
      </dgm:prSet>
      <dgm:spPr/>
    </dgm:pt>
    <dgm:pt modelId="{F6F56470-B2E3-5C4F-A36E-56EADF9FD42A}" type="pres">
      <dgm:prSet presAssocID="{F4297C54-4CEF-9B43-8331-0388938EF3B9}" presName="parentText" presStyleLbl="node1" presStyleIdx="0" presStyleCnt="3">
        <dgm:presLayoutVars>
          <dgm:chMax val="0"/>
          <dgm:bulletEnabled val="1"/>
        </dgm:presLayoutVars>
      </dgm:prSet>
      <dgm:spPr/>
    </dgm:pt>
    <dgm:pt modelId="{35265E8D-F171-B345-BFE6-81170C5897FC}" type="pres">
      <dgm:prSet presAssocID="{D94DCDE4-DD8C-D44D-B0D3-A01C439B2503}" presName="spacer" presStyleCnt="0"/>
      <dgm:spPr/>
    </dgm:pt>
    <dgm:pt modelId="{9680B60C-D4EE-A748-9C84-69AE2BBE4C8B}" type="pres">
      <dgm:prSet presAssocID="{24EE6FC8-9EA7-9247-A778-A90AEA7AAA07}" presName="parentText" presStyleLbl="node1" presStyleIdx="1" presStyleCnt="3">
        <dgm:presLayoutVars>
          <dgm:chMax val="0"/>
          <dgm:bulletEnabled val="1"/>
        </dgm:presLayoutVars>
      </dgm:prSet>
      <dgm:spPr/>
    </dgm:pt>
    <dgm:pt modelId="{A2F0AA2F-FE8C-CD4A-8A0C-258B09BCD171}" type="pres">
      <dgm:prSet presAssocID="{EE06525D-1DF8-DF4E-AB82-F08D09097E0B}" presName="spacer" presStyleCnt="0"/>
      <dgm:spPr/>
    </dgm:pt>
    <dgm:pt modelId="{FB4D16E8-D039-0240-81FB-460BD22723D3}" type="pres">
      <dgm:prSet presAssocID="{1A5ED113-1573-B44E-B60D-5306CDF9CBFF}" presName="parentText" presStyleLbl="node1" presStyleIdx="2" presStyleCnt="3">
        <dgm:presLayoutVars>
          <dgm:chMax val="0"/>
          <dgm:bulletEnabled val="1"/>
        </dgm:presLayoutVars>
      </dgm:prSet>
      <dgm:spPr/>
    </dgm:pt>
    <dgm:pt modelId="{3B4FBB4B-7100-BD4F-8947-46811003D0A1}" type="pres">
      <dgm:prSet presAssocID="{1A5ED113-1573-B44E-B60D-5306CDF9CBFF}" presName="childText" presStyleLbl="revTx" presStyleIdx="0" presStyleCnt="1">
        <dgm:presLayoutVars>
          <dgm:bulletEnabled val="1"/>
        </dgm:presLayoutVars>
      </dgm:prSet>
      <dgm:spPr/>
    </dgm:pt>
  </dgm:ptLst>
  <dgm:cxnLst>
    <dgm:cxn modelId="{73934B0D-B394-D040-A6C0-0EA2843A5E84}" srcId="{1A5ED113-1573-B44E-B60D-5306CDF9CBFF}" destId="{62790F0C-1B1A-E147-9119-303170D0FEBD}" srcOrd="2" destOrd="0" parTransId="{943AD22F-A3B7-EE45-B948-4DC5E7656520}" sibTransId="{B5CC74EC-4ACD-2B4F-AC28-3406040043E4}"/>
    <dgm:cxn modelId="{53B2422E-320B-5D4A-95DD-F0A52366DBAC}" type="presOf" srcId="{1A5ED113-1573-B44E-B60D-5306CDF9CBFF}" destId="{FB4D16E8-D039-0240-81FB-460BD22723D3}" srcOrd="0" destOrd="0" presId="urn:microsoft.com/office/officeart/2005/8/layout/vList2"/>
    <dgm:cxn modelId="{0E538A31-386F-4646-B0EF-04CFB4BCA697}" srcId="{7BFA3FA4-30FA-744E-8BCB-65633F453AC1}" destId="{1A5ED113-1573-B44E-B60D-5306CDF9CBFF}" srcOrd="2" destOrd="0" parTransId="{317EA748-ACDA-DA42-8C8A-1A20944C005D}" sibTransId="{2EBAAFFF-9FE8-E54C-9526-F9ACC0B39C85}"/>
    <dgm:cxn modelId="{FC22D64F-E1D3-8E40-83B2-A554E403FF12}" srcId="{1A5ED113-1573-B44E-B60D-5306CDF9CBFF}" destId="{77488961-E934-7C46-B172-02A5243A1EAD}" srcOrd="1" destOrd="0" parTransId="{6E607ED6-DD15-5E44-BC16-6F681A387EE8}" sibTransId="{FECB747F-42EA-6B4C-BE5C-5E1ECACE84A5}"/>
    <dgm:cxn modelId="{4262355D-F49F-3C40-A89E-59150EB1E192}" srcId="{1A5ED113-1573-B44E-B60D-5306CDF9CBFF}" destId="{ACD987BB-4677-F44E-A8FB-28598FC20EFF}" srcOrd="0" destOrd="0" parTransId="{B1A8F85C-4AF0-424B-9B9D-6C6FC3A1F231}" sibTransId="{33A64003-7E5E-2741-95D3-EFBAEA6AA776}"/>
    <dgm:cxn modelId="{9BA1AC6D-6C55-D243-AC88-68C07EAAA9EB}" type="presOf" srcId="{F4297C54-4CEF-9B43-8331-0388938EF3B9}" destId="{F6F56470-B2E3-5C4F-A36E-56EADF9FD42A}" srcOrd="0" destOrd="0" presId="urn:microsoft.com/office/officeart/2005/8/layout/vList2"/>
    <dgm:cxn modelId="{D92C9071-39FE-5F46-A11D-C04701ABE60A}" type="presOf" srcId="{77488961-E934-7C46-B172-02A5243A1EAD}" destId="{3B4FBB4B-7100-BD4F-8947-46811003D0A1}" srcOrd="0" destOrd="1" presId="urn:microsoft.com/office/officeart/2005/8/layout/vList2"/>
    <dgm:cxn modelId="{D84E8B87-BC51-2442-9E18-74903365C9DE}" type="presOf" srcId="{62790F0C-1B1A-E147-9119-303170D0FEBD}" destId="{3B4FBB4B-7100-BD4F-8947-46811003D0A1}" srcOrd="0" destOrd="2" presId="urn:microsoft.com/office/officeart/2005/8/layout/vList2"/>
    <dgm:cxn modelId="{6B422E90-C934-7448-ADB6-0061038FE2FC}" srcId="{7BFA3FA4-30FA-744E-8BCB-65633F453AC1}" destId="{F4297C54-4CEF-9B43-8331-0388938EF3B9}" srcOrd="0" destOrd="0" parTransId="{E0FEBE41-1DB9-E84A-BE2C-38B2ABE5A932}" sibTransId="{D94DCDE4-DD8C-D44D-B0D3-A01C439B2503}"/>
    <dgm:cxn modelId="{34355992-A0FD-174C-B27A-CBCE7D217E22}" type="presOf" srcId="{7BFA3FA4-30FA-744E-8BCB-65633F453AC1}" destId="{AB8A86E8-FDCC-A443-8731-41F11164FFFC}" srcOrd="0" destOrd="0" presId="urn:microsoft.com/office/officeart/2005/8/layout/vList2"/>
    <dgm:cxn modelId="{5C0407B5-E83B-D14C-9506-64824FC7945C}" type="presOf" srcId="{24EE6FC8-9EA7-9247-A778-A90AEA7AAA07}" destId="{9680B60C-D4EE-A748-9C84-69AE2BBE4C8B}" srcOrd="0" destOrd="0" presId="urn:microsoft.com/office/officeart/2005/8/layout/vList2"/>
    <dgm:cxn modelId="{BD258BBB-AAC1-D349-9FB0-C2A2F4869487}" srcId="{7BFA3FA4-30FA-744E-8BCB-65633F453AC1}" destId="{24EE6FC8-9EA7-9247-A778-A90AEA7AAA07}" srcOrd="1" destOrd="0" parTransId="{CBB013A2-0651-FA46-A064-1FD6A3973248}" sibTransId="{EE06525D-1DF8-DF4E-AB82-F08D09097E0B}"/>
    <dgm:cxn modelId="{5CDDC6F0-7ACC-D14E-8690-24CF609B0E98}" type="presOf" srcId="{ACD987BB-4677-F44E-A8FB-28598FC20EFF}" destId="{3B4FBB4B-7100-BD4F-8947-46811003D0A1}" srcOrd="0" destOrd="0" presId="urn:microsoft.com/office/officeart/2005/8/layout/vList2"/>
    <dgm:cxn modelId="{28E0929E-9133-9C44-9FC1-4970AA95B005}" type="presParOf" srcId="{AB8A86E8-FDCC-A443-8731-41F11164FFFC}" destId="{F6F56470-B2E3-5C4F-A36E-56EADF9FD42A}" srcOrd="0" destOrd="0" presId="urn:microsoft.com/office/officeart/2005/8/layout/vList2"/>
    <dgm:cxn modelId="{0EE0290B-EF8E-DA4E-ACFB-397FE8A40A33}" type="presParOf" srcId="{AB8A86E8-FDCC-A443-8731-41F11164FFFC}" destId="{35265E8D-F171-B345-BFE6-81170C5897FC}" srcOrd="1" destOrd="0" presId="urn:microsoft.com/office/officeart/2005/8/layout/vList2"/>
    <dgm:cxn modelId="{46924DF7-1F16-264E-80C5-3676F4539C15}" type="presParOf" srcId="{AB8A86E8-FDCC-A443-8731-41F11164FFFC}" destId="{9680B60C-D4EE-A748-9C84-69AE2BBE4C8B}" srcOrd="2" destOrd="0" presId="urn:microsoft.com/office/officeart/2005/8/layout/vList2"/>
    <dgm:cxn modelId="{F98D342D-D539-714B-9190-FE08FBAB50CB}" type="presParOf" srcId="{AB8A86E8-FDCC-A443-8731-41F11164FFFC}" destId="{A2F0AA2F-FE8C-CD4A-8A0C-258B09BCD171}" srcOrd="3" destOrd="0" presId="urn:microsoft.com/office/officeart/2005/8/layout/vList2"/>
    <dgm:cxn modelId="{9A79DD54-89EC-7046-A4F7-271A10CB731A}" type="presParOf" srcId="{AB8A86E8-FDCC-A443-8731-41F11164FFFC}" destId="{FB4D16E8-D039-0240-81FB-460BD22723D3}" srcOrd="4" destOrd="0" presId="urn:microsoft.com/office/officeart/2005/8/layout/vList2"/>
    <dgm:cxn modelId="{B490FC73-EE05-7647-A277-9BE4FAD207EC}" type="presParOf" srcId="{AB8A86E8-FDCC-A443-8731-41F11164FFFC}" destId="{3B4FBB4B-7100-BD4F-8947-46811003D0A1}"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BFA3FA4-30FA-744E-8BCB-65633F453AC1}"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ru-RU"/>
        </a:p>
      </dgm:t>
    </dgm:pt>
    <dgm:pt modelId="{D2CF86B7-069C-4444-B51C-7FDACE391587}">
      <dgm:prSet/>
      <dgm:spPr/>
      <dgm:t>
        <a:bodyPr/>
        <a:lstStyle/>
        <a:p>
          <a:r>
            <a:rPr lang="ru-RU" dirty="0"/>
            <a:t>Объединение моделей </a:t>
          </a:r>
        </a:p>
      </dgm:t>
    </dgm:pt>
    <dgm:pt modelId="{214663D9-E1C9-7A47-A455-00BFB8A780E0}" type="parTrans" cxnId="{C71BFA1F-0518-F24A-9CFB-32CC230E442F}">
      <dgm:prSet/>
      <dgm:spPr/>
      <dgm:t>
        <a:bodyPr/>
        <a:lstStyle/>
        <a:p>
          <a:endParaRPr lang="ru-RU"/>
        </a:p>
      </dgm:t>
    </dgm:pt>
    <dgm:pt modelId="{A6D473CE-59ED-E149-AAF2-B404271A6C37}" type="sibTrans" cxnId="{C71BFA1F-0518-F24A-9CFB-32CC230E442F}">
      <dgm:prSet/>
      <dgm:spPr/>
      <dgm:t>
        <a:bodyPr/>
        <a:lstStyle/>
        <a:p>
          <a:endParaRPr lang="ru-RU"/>
        </a:p>
      </dgm:t>
    </dgm:pt>
    <dgm:pt modelId="{38675B32-2477-F34B-9A3B-01F303F94327}">
      <dgm:prSet/>
      <dgm:spPr/>
      <dgm:t>
        <a:bodyPr/>
        <a:lstStyle/>
        <a:p>
          <a:r>
            <a:rPr lang="ru-RU" dirty="0"/>
            <a:t>Для сложных приложений мы, возможно, захотим разбить задачу на ряд меньших подзадач, каждая из которых может решаться отдельным модулем.</a:t>
          </a:r>
        </a:p>
      </dgm:t>
    </dgm:pt>
    <dgm:pt modelId="{40BEFD25-CC5D-E443-B213-B0FD42FF4F97}" type="parTrans" cxnId="{58AEB22B-ADAF-264F-88CD-ADAE04D58952}">
      <dgm:prSet/>
      <dgm:spPr/>
      <dgm:t>
        <a:bodyPr/>
        <a:lstStyle/>
        <a:p>
          <a:endParaRPr lang="ru-RU"/>
        </a:p>
      </dgm:t>
    </dgm:pt>
    <dgm:pt modelId="{578A76DC-FAA7-C747-9635-80A404C7F317}" type="sibTrans" cxnId="{58AEB22B-ADAF-264F-88CD-ADAE04D58952}">
      <dgm:prSet/>
      <dgm:spPr/>
      <dgm:t>
        <a:bodyPr/>
        <a:lstStyle/>
        <a:p>
          <a:endParaRPr lang="ru-RU"/>
        </a:p>
      </dgm:t>
    </dgm:pt>
    <dgm:pt modelId="{E57DB877-3542-5945-8E86-386DDD279206}">
      <dgm:prSet/>
      <dgm:spPr/>
      <dgm:t>
        <a:bodyPr/>
        <a:lstStyle/>
        <a:p>
          <a:r>
            <a:rPr lang="ru-RU" dirty="0"/>
            <a:t>Например, в гипотетической проблеме медицинского диагноза у нас может быть информация, полученная из анализов крови, а также по рентгеновским снимкам.</a:t>
          </a:r>
        </a:p>
      </dgm:t>
    </dgm:pt>
    <dgm:pt modelId="{098D7C0B-C722-4E42-AFAC-CC46ABF89D18}" type="parTrans" cxnId="{353D4539-0E65-9B40-98DE-DA2BE2FE7663}">
      <dgm:prSet/>
      <dgm:spPr/>
      <dgm:t>
        <a:bodyPr/>
        <a:lstStyle/>
        <a:p>
          <a:endParaRPr lang="ru-RU"/>
        </a:p>
      </dgm:t>
    </dgm:pt>
    <dgm:pt modelId="{0FD1A993-B226-1946-9FB8-1AF38DE50C44}" type="sibTrans" cxnId="{353D4539-0E65-9B40-98DE-DA2BE2FE7663}">
      <dgm:prSet/>
      <dgm:spPr/>
      <dgm:t>
        <a:bodyPr/>
        <a:lstStyle/>
        <a:p>
          <a:endParaRPr lang="ru-RU"/>
        </a:p>
      </dgm:t>
    </dgm:pt>
    <dgm:pt modelId="{6A628C89-12EF-6B4F-9C51-CA4F177E43BB}">
      <dgm:prSet/>
      <dgm:spPr/>
      <dgm:t>
        <a:bodyPr/>
        <a:lstStyle/>
        <a:p>
          <a:r>
            <a:rPr lang="ru-RU" dirty="0"/>
            <a:t>Вместо того чтобы объединять всю эту не­ однородную информацию в одном огромном пространстве входных данных, может быть более эффективным создание одной системы для интерпретации рентгеновских изображений и другой для интерпретации показателей крови. </a:t>
          </a:r>
        </a:p>
      </dgm:t>
    </dgm:pt>
    <dgm:pt modelId="{DF5E7762-6945-E64E-B044-93D4F04E9E38}" type="parTrans" cxnId="{1977A382-3AC7-B740-8345-CF80799F1BAE}">
      <dgm:prSet/>
      <dgm:spPr/>
      <dgm:t>
        <a:bodyPr/>
        <a:lstStyle/>
        <a:p>
          <a:endParaRPr lang="ru-RU"/>
        </a:p>
      </dgm:t>
    </dgm:pt>
    <dgm:pt modelId="{77737C6E-5E3B-6C49-83E2-34AF36775803}" type="sibTrans" cxnId="{1977A382-3AC7-B740-8345-CF80799F1BAE}">
      <dgm:prSet/>
      <dgm:spPr/>
      <dgm:t>
        <a:bodyPr/>
        <a:lstStyle/>
        <a:p>
          <a:endParaRPr lang="ru-RU"/>
        </a:p>
      </dgm:t>
    </dgm:pt>
    <dgm:pt modelId="{60B85C52-0635-274E-B760-5E2DCEE17CE4}">
      <dgm:prSet/>
      <dgm:spPr/>
      <dgm:t>
        <a:bodyPr/>
        <a:lstStyle/>
        <a:p>
          <a:r>
            <a:rPr lang="ru-RU" dirty="0"/>
            <a:t>Поскольку каждая из двух моделей дает апостериорные вероятности для классов, мы можем систематически комбинировать выходы с использованием правил теории вероятностей. </a:t>
          </a:r>
        </a:p>
      </dgm:t>
    </dgm:pt>
    <dgm:pt modelId="{21F6F76B-B524-9A41-9AC5-94AB6620AD70}" type="parTrans" cxnId="{4ECE211B-DD2F-A446-B11D-AAA4BF8A565C}">
      <dgm:prSet/>
      <dgm:spPr/>
      <dgm:t>
        <a:bodyPr/>
        <a:lstStyle/>
        <a:p>
          <a:endParaRPr lang="ru-RU"/>
        </a:p>
      </dgm:t>
    </dgm:pt>
    <dgm:pt modelId="{35FB26CA-2007-8A48-94E1-818B46C031F6}" type="sibTrans" cxnId="{4ECE211B-DD2F-A446-B11D-AAA4BF8A565C}">
      <dgm:prSet/>
      <dgm:spPr/>
      <dgm:t>
        <a:bodyPr/>
        <a:lstStyle/>
        <a:p>
          <a:endParaRPr lang="ru-RU"/>
        </a:p>
      </dgm:t>
    </dgm:pt>
    <dgm:pt modelId="{AB8A86E8-FDCC-A443-8731-41F11164FFFC}" type="pres">
      <dgm:prSet presAssocID="{7BFA3FA4-30FA-744E-8BCB-65633F453AC1}" presName="linear" presStyleCnt="0">
        <dgm:presLayoutVars>
          <dgm:animLvl val="lvl"/>
          <dgm:resizeHandles val="exact"/>
        </dgm:presLayoutVars>
      </dgm:prSet>
      <dgm:spPr/>
    </dgm:pt>
    <dgm:pt modelId="{A11BF13B-E684-2A46-864B-2579A8741F02}" type="pres">
      <dgm:prSet presAssocID="{D2CF86B7-069C-4444-B51C-7FDACE391587}" presName="parentText" presStyleLbl="node1" presStyleIdx="0" presStyleCnt="1">
        <dgm:presLayoutVars>
          <dgm:chMax val="0"/>
          <dgm:bulletEnabled val="1"/>
        </dgm:presLayoutVars>
      </dgm:prSet>
      <dgm:spPr/>
    </dgm:pt>
    <dgm:pt modelId="{D1A460FA-6603-214C-B32F-5B7CD954A2C1}" type="pres">
      <dgm:prSet presAssocID="{D2CF86B7-069C-4444-B51C-7FDACE391587}" presName="childText" presStyleLbl="revTx" presStyleIdx="0" presStyleCnt="1">
        <dgm:presLayoutVars>
          <dgm:bulletEnabled val="1"/>
        </dgm:presLayoutVars>
      </dgm:prSet>
      <dgm:spPr/>
    </dgm:pt>
  </dgm:ptLst>
  <dgm:cxnLst>
    <dgm:cxn modelId="{D2A8A714-AECC-B84A-9E90-42F2BAB761A9}" type="presOf" srcId="{6A628C89-12EF-6B4F-9C51-CA4F177E43BB}" destId="{D1A460FA-6603-214C-B32F-5B7CD954A2C1}" srcOrd="0" destOrd="2" presId="urn:microsoft.com/office/officeart/2005/8/layout/vList2"/>
    <dgm:cxn modelId="{4ECE211B-DD2F-A446-B11D-AAA4BF8A565C}" srcId="{D2CF86B7-069C-4444-B51C-7FDACE391587}" destId="{60B85C52-0635-274E-B760-5E2DCEE17CE4}" srcOrd="3" destOrd="0" parTransId="{21F6F76B-B524-9A41-9AC5-94AB6620AD70}" sibTransId="{35FB26CA-2007-8A48-94E1-818B46C031F6}"/>
    <dgm:cxn modelId="{C71BFA1F-0518-F24A-9CFB-32CC230E442F}" srcId="{7BFA3FA4-30FA-744E-8BCB-65633F453AC1}" destId="{D2CF86B7-069C-4444-B51C-7FDACE391587}" srcOrd="0" destOrd="0" parTransId="{214663D9-E1C9-7A47-A455-00BFB8A780E0}" sibTransId="{A6D473CE-59ED-E149-AAF2-B404271A6C37}"/>
    <dgm:cxn modelId="{BFED7B28-4925-6442-B7D6-5FDB2387A299}" type="presOf" srcId="{38675B32-2477-F34B-9A3B-01F303F94327}" destId="{D1A460FA-6603-214C-B32F-5B7CD954A2C1}" srcOrd="0" destOrd="0" presId="urn:microsoft.com/office/officeart/2005/8/layout/vList2"/>
    <dgm:cxn modelId="{58AEB22B-ADAF-264F-88CD-ADAE04D58952}" srcId="{D2CF86B7-069C-4444-B51C-7FDACE391587}" destId="{38675B32-2477-F34B-9A3B-01F303F94327}" srcOrd="0" destOrd="0" parTransId="{40BEFD25-CC5D-E443-B213-B0FD42FF4F97}" sibTransId="{578A76DC-FAA7-C747-9635-80A404C7F317}"/>
    <dgm:cxn modelId="{353D4539-0E65-9B40-98DE-DA2BE2FE7663}" srcId="{D2CF86B7-069C-4444-B51C-7FDACE391587}" destId="{E57DB877-3542-5945-8E86-386DDD279206}" srcOrd="1" destOrd="0" parTransId="{098D7C0B-C722-4E42-AFAC-CC46ABF89D18}" sibTransId="{0FD1A993-B226-1946-9FB8-1AF38DE50C44}"/>
    <dgm:cxn modelId="{C8745A40-92E5-FD4E-B99B-FBE6E55B50BB}" type="presOf" srcId="{D2CF86B7-069C-4444-B51C-7FDACE391587}" destId="{A11BF13B-E684-2A46-864B-2579A8741F02}" srcOrd="0" destOrd="0" presId="urn:microsoft.com/office/officeart/2005/8/layout/vList2"/>
    <dgm:cxn modelId="{352D4565-DB17-CA46-BCA7-4A2BBAA30E1A}" type="presOf" srcId="{60B85C52-0635-274E-B760-5E2DCEE17CE4}" destId="{D1A460FA-6603-214C-B32F-5B7CD954A2C1}" srcOrd="0" destOrd="3" presId="urn:microsoft.com/office/officeart/2005/8/layout/vList2"/>
    <dgm:cxn modelId="{5E56986F-40D7-374B-8431-C6536D5218B3}" type="presOf" srcId="{E57DB877-3542-5945-8E86-386DDD279206}" destId="{D1A460FA-6603-214C-B32F-5B7CD954A2C1}" srcOrd="0" destOrd="1" presId="urn:microsoft.com/office/officeart/2005/8/layout/vList2"/>
    <dgm:cxn modelId="{1977A382-3AC7-B740-8345-CF80799F1BAE}" srcId="{D2CF86B7-069C-4444-B51C-7FDACE391587}" destId="{6A628C89-12EF-6B4F-9C51-CA4F177E43BB}" srcOrd="2" destOrd="0" parTransId="{DF5E7762-6945-E64E-B044-93D4F04E9E38}" sibTransId="{77737C6E-5E3B-6C49-83E2-34AF36775803}"/>
    <dgm:cxn modelId="{34355992-A0FD-174C-B27A-CBCE7D217E22}" type="presOf" srcId="{7BFA3FA4-30FA-744E-8BCB-65633F453AC1}" destId="{AB8A86E8-FDCC-A443-8731-41F11164FFFC}" srcOrd="0" destOrd="0" presId="urn:microsoft.com/office/officeart/2005/8/layout/vList2"/>
    <dgm:cxn modelId="{BEECA3F3-324E-F24F-B287-1955657925F9}" type="presParOf" srcId="{AB8A86E8-FDCC-A443-8731-41F11164FFFC}" destId="{A11BF13B-E684-2A46-864B-2579A8741F02}" srcOrd="0" destOrd="0" presId="urn:microsoft.com/office/officeart/2005/8/layout/vList2"/>
    <dgm:cxn modelId="{E4DED9E5-83A4-9746-AA57-46FFEF5BA376}" type="presParOf" srcId="{AB8A86E8-FDCC-A443-8731-41F11164FFFC}" destId="{D1A460FA-6603-214C-B32F-5B7CD954A2C1}" srcOrd="1"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E4551D-A56F-7343-9221-15AF24E65234}">
      <dsp:nvSpPr>
        <dsp:cNvPr id="0" name=""/>
        <dsp:cNvSpPr/>
      </dsp:nvSpPr>
      <dsp:spPr>
        <a:xfrm>
          <a:off x="0" y="63189"/>
          <a:ext cx="7886700" cy="207791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ru-RU" sz="2400" kern="1200"/>
            <a:t>Говорят, что </a:t>
          </a:r>
          <a:r>
            <a:rPr lang="ru-RU" sz="2400" i="1" kern="1200"/>
            <a:t>компьютерная программа обучается на опыте </a:t>
          </a:r>
          <a:r>
            <a:rPr lang="en-US" sz="2400" i="1" kern="1200"/>
            <a:t>E</a:t>
          </a:r>
          <a:r>
            <a:rPr lang="en-US" sz="2400" kern="1200"/>
            <a:t> </a:t>
          </a:r>
          <a:r>
            <a:rPr lang="ru-RU" sz="2400" kern="1200"/>
            <a:t>относительно некоторого класса задач </a:t>
          </a:r>
          <a:r>
            <a:rPr lang="en-US" sz="2400" i="1" kern="1200"/>
            <a:t>T</a:t>
          </a:r>
          <a:r>
            <a:rPr lang="en-US" sz="2400" kern="1200"/>
            <a:t> </a:t>
          </a:r>
          <a:r>
            <a:rPr lang="ru-RU" sz="2400" kern="1200"/>
            <a:t>и меры качества </a:t>
          </a:r>
          <a:r>
            <a:rPr lang="en-US" sz="2400" i="1" kern="1200"/>
            <a:t>P</a:t>
          </a:r>
          <a:r>
            <a:rPr lang="en-US" sz="2400" kern="1200"/>
            <a:t>, </a:t>
          </a:r>
          <a:r>
            <a:rPr lang="ru-RU" sz="2400" kern="1200"/>
            <a:t>если ее качество на задачах, принадлежащих </a:t>
          </a:r>
          <a:r>
            <a:rPr lang="en-US" sz="2400" i="1" kern="1200"/>
            <a:t>T</a:t>
          </a:r>
          <a:r>
            <a:rPr lang="en-US" sz="2400" kern="1200"/>
            <a:t>, </a:t>
          </a:r>
          <a:r>
            <a:rPr lang="ru-RU" sz="2400" kern="1200"/>
            <a:t>измеренное в соответствии с </a:t>
          </a:r>
          <a:r>
            <a:rPr lang="en-US" sz="2400" i="1" kern="1200"/>
            <a:t>P</a:t>
          </a:r>
          <a:r>
            <a:rPr lang="en-US" sz="2400" kern="1200"/>
            <a:t>, </a:t>
          </a:r>
          <a:r>
            <a:rPr lang="ru-RU" sz="2400" kern="1200"/>
            <a:t>улучшается с увеличением опыта </a:t>
          </a:r>
          <a:r>
            <a:rPr lang="en-US" sz="2400" i="1" kern="1200"/>
            <a:t>E</a:t>
          </a:r>
          <a:r>
            <a:rPr lang="ru-RU" sz="2400" kern="1200"/>
            <a:t>.</a:t>
          </a:r>
        </a:p>
      </dsp:txBody>
      <dsp:txXfrm>
        <a:off x="101436" y="164625"/>
        <a:ext cx="7683828" cy="1875047"/>
      </dsp:txXfrm>
    </dsp:sp>
    <dsp:sp modelId="{62F92D7C-025A-8E4E-848B-4BC0B9482EB0}">
      <dsp:nvSpPr>
        <dsp:cNvPr id="0" name=""/>
        <dsp:cNvSpPr/>
      </dsp:nvSpPr>
      <dsp:spPr>
        <a:xfrm>
          <a:off x="0" y="2210229"/>
          <a:ext cx="7886700" cy="207791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ru-RU" sz="2400" kern="1200"/>
            <a:t>Алгоритмы машинного обучения создают модель на основе выборочных данных, известных как «обучающие данные», чтобы делать прогнозы или предлагать решения, не будучи явно запрограммированными на это.</a:t>
          </a:r>
        </a:p>
      </dsp:txBody>
      <dsp:txXfrm>
        <a:off x="101436" y="2311665"/>
        <a:ext cx="7683828" cy="187504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A8A8C5-0D4A-0F48-8E4C-AD53371064C2}">
      <dsp:nvSpPr>
        <dsp:cNvPr id="0" name=""/>
        <dsp:cNvSpPr/>
      </dsp:nvSpPr>
      <dsp:spPr>
        <a:xfrm>
          <a:off x="4194894" y="2338767"/>
          <a:ext cx="2967918" cy="515093"/>
        </a:xfrm>
        <a:custGeom>
          <a:avLst/>
          <a:gdLst/>
          <a:ahLst/>
          <a:cxnLst/>
          <a:rect l="0" t="0" r="0" b="0"/>
          <a:pathLst>
            <a:path>
              <a:moveTo>
                <a:pt x="0" y="0"/>
              </a:moveTo>
              <a:lnTo>
                <a:pt x="0" y="257546"/>
              </a:lnTo>
              <a:lnTo>
                <a:pt x="2967918" y="257546"/>
              </a:lnTo>
              <a:lnTo>
                <a:pt x="2967918"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892CC60-F287-8D4B-9AB2-CECD026B3F59}">
      <dsp:nvSpPr>
        <dsp:cNvPr id="0" name=""/>
        <dsp:cNvSpPr/>
      </dsp:nvSpPr>
      <dsp:spPr>
        <a:xfrm>
          <a:off x="4149174" y="2338767"/>
          <a:ext cx="91440" cy="515093"/>
        </a:xfrm>
        <a:custGeom>
          <a:avLst/>
          <a:gdLst/>
          <a:ahLst/>
          <a:cxnLst/>
          <a:rect l="0" t="0" r="0" b="0"/>
          <a:pathLst>
            <a:path>
              <a:moveTo>
                <a:pt x="45720" y="0"/>
              </a:moveTo>
              <a:lnTo>
                <a:pt x="45720"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43AE59E-97C2-464E-B037-FAEC4F81D1D1}">
      <dsp:nvSpPr>
        <dsp:cNvPr id="0" name=""/>
        <dsp:cNvSpPr/>
      </dsp:nvSpPr>
      <dsp:spPr>
        <a:xfrm>
          <a:off x="1226975" y="2338767"/>
          <a:ext cx="2967918" cy="515093"/>
        </a:xfrm>
        <a:custGeom>
          <a:avLst/>
          <a:gdLst/>
          <a:ahLst/>
          <a:cxnLst/>
          <a:rect l="0" t="0" r="0" b="0"/>
          <a:pathLst>
            <a:path>
              <a:moveTo>
                <a:pt x="2967918" y="0"/>
              </a:moveTo>
              <a:lnTo>
                <a:pt x="2967918" y="257546"/>
              </a:lnTo>
              <a:lnTo>
                <a:pt x="0" y="257546"/>
              </a:lnTo>
              <a:lnTo>
                <a:pt x="0" y="51509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08F0B9-8D06-4541-815C-7B1990E0F908}">
      <dsp:nvSpPr>
        <dsp:cNvPr id="0" name=""/>
        <dsp:cNvSpPr/>
      </dsp:nvSpPr>
      <dsp:spPr>
        <a:xfrm>
          <a:off x="2968481" y="1112355"/>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Машинное обучение</a:t>
          </a:r>
        </a:p>
      </dsp:txBody>
      <dsp:txXfrm>
        <a:off x="2968481" y="1112355"/>
        <a:ext cx="2452824" cy="1226412"/>
      </dsp:txXfrm>
    </dsp:sp>
    <dsp:sp modelId="{F97AE900-9DB1-4E42-9554-9580C6F9C767}">
      <dsp:nvSpPr>
        <dsp:cNvPr id="0" name=""/>
        <dsp:cNvSpPr/>
      </dsp:nvSpPr>
      <dsp:spPr>
        <a:xfrm>
          <a:off x="563"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с учителем</a:t>
          </a:r>
        </a:p>
        <a:p>
          <a:pPr marL="0" lvl="0" indent="0" algn="ctr" defTabSz="844550">
            <a:lnSpc>
              <a:spcPct val="90000"/>
            </a:lnSpc>
            <a:spcBef>
              <a:spcPct val="0"/>
            </a:spcBef>
            <a:spcAft>
              <a:spcPct val="35000"/>
            </a:spcAft>
            <a:buNone/>
          </a:pPr>
          <a:r>
            <a:rPr lang="ru-RU" sz="1900" kern="1200" dirty="0"/>
            <a:t>(</a:t>
          </a:r>
          <a:r>
            <a:rPr lang="en-US" sz="1900" kern="1200" dirty="0"/>
            <a:t>Supervised</a:t>
          </a:r>
          <a:r>
            <a:rPr lang="ru-RU" sz="1900" kern="1200" dirty="0"/>
            <a:t>)</a:t>
          </a:r>
        </a:p>
      </dsp:txBody>
      <dsp:txXfrm>
        <a:off x="563" y="2853861"/>
        <a:ext cx="2452824" cy="1226412"/>
      </dsp:txXfrm>
    </dsp:sp>
    <dsp:sp modelId="{EF33EFF4-6893-9A46-A244-D26FF86EEADF}">
      <dsp:nvSpPr>
        <dsp:cNvPr id="0" name=""/>
        <dsp:cNvSpPr/>
      </dsp:nvSpPr>
      <dsp:spPr>
        <a:xfrm>
          <a:off x="2968481"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без учителя</a:t>
          </a:r>
          <a:endParaRPr lang="en-US" sz="1900" kern="1200" dirty="0"/>
        </a:p>
        <a:p>
          <a:pPr marL="0" lvl="0" indent="0" algn="ctr" defTabSz="844550">
            <a:lnSpc>
              <a:spcPct val="90000"/>
            </a:lnSpc>
            <a:spcBef>
              <a:spcPct val="0"/>
            </a:spcBef>
            <a:spcAft>
              <a:spcPct val="35000"/>
            </a:spcAft>
            <a:buNone/>
          </a:pPr>
          <a:r>
            <a:rPr lang="ru-RU" sz="1900" kern="1200" dirty="0"/>
            <a:t>(</a:t>
          </a:r>
          <a:r>
            <a:rPr lang="en-US" sz="1900" kern="1200" dirty="0"/>
            <a:t>Unsupervised</a:t>
          </a:r>
          <a:r>
            <a:rPr lang="ru-RU" sz="1900" kern="1200" dirty="0"/>
            <a:t>)</a:t>
          </a:r>
        </a:p>
      </dsp:txBody>
      <dsp:txXfrm>
        <a:off x="2968481" y="2853861"/>
        <a:ext cx="2452824" cy="1226412"/>
      </dsp:txXfrm>
    </dsp:sp>
    <dsp:sp modelId="{C7355EA6-372A-7C4B-A64A-BFA911CC8D09}">
      <dsp:nvSpPr>
        <dsp:cNvPr id="0" name=""/>
        <dsp:cNvSpPr/>
      </dsp:nvSpPr>
      <dsp:spPr>
        <a:xfrm>
          <a:off x="5936399" y="2853861"/>
          <a:ext cx="2452824" cy="122641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ru-RU" sz="1900" kern="1200" dirty="0"/>
            <a:t>Обучение с подкреплением</a:t>
          </a:r>
          <a:endParaRPr lang="en-US" sz="1900" kern="1200" dirty="0"/>
        </a:p>
        <a:p>
          <a:pPr marL="0" lvl="0" indent="0" algn="ctr" defTabSz="844550">
            <a:lnSpc>
              <a:spcPct val="90000"/>
            </a:lnSpc>
            <a:spcBef>
              <a:spcPct val="0"/>
            </a:spcBef>
            <a:spcAft>
              <a:spcPct val="35000"/>
            </a:spcAft>
            <a:buNone/>
          </a:pPr>
          <a:r>
            <a:rPr lang="en-US" sz="1900" kern="1200" dirty="0"/>
            <a:t>(Reinforcement learning)</a:t>
          </a:r>
          <a:endParaRPr lang="ru-RU" sz="1900" kern="1200" dirty="0"/>
        </a:p>
      </dsp:txBody>
      <dsp:txXfrm>
        <a:off x="5936399" y="2853861"/>
        <a:ext cx="2452824" cy="12264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C77194-F702-1645-82E0-DE5C4FCF1718}">
      <dsp:nvSpPr>
        <dsp:cNvPr id="0" name=""/>
        <dsp:cNvSpPr/>
      </dsp:nvSpPr>
      <dsp:spPr>
        <a:xfrm>
          <a:off x="0" y="6346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Регрессия</a:t>
          </a:r>
        </a:p>
      </dsp:txBody>
      <dsp:txXfrm>
        <a:off x="42151" y="105619"/>
        <a:ext cx="7802398" cy="779158"/>
      </dsp:txXfrm>
    </dsp:sp>
    <dsp:sp modelId="{6B2DA9EE-7D78-894C-B48C-6D479108FC99}">
      <dsp:nvSpPr>
        <dsp:cNvPr id="0" name=""/>
        <dsp:cNvSpPr/>
      </dsp:nvSpPr>
      <dsp:spPr>
        <a:xfrm>
          <a:off x="0" y="103060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Классификация</a:t>
          </a:r>
        </a:p>
      </dsp:txBody>
      <dsp:txXfrm>
        <a:off x="42151" y="1072759"/>
        <a:ext cx="7802398" cy="779158"/>
      </dsp:txXfrm>
    </dsp:sp>
    <dsp:sp modelId="{6BE0DB6D-A2BB-2848-B343-1B50777E7663}">
      <dsp:nvSpPr>
        <dsp:cNvPr id="0" name=""/>
        <dsp:cNvSpPr/>
      </dsp:nvSpPr>
      <dsp:spPr>
        <a:xfrm>
          <a:off x="0" y="199774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Ранжирование</a:t>
          </a:r>
        </a:p>
      </dsp:txBody>
      <dsp:txXfrm>
        <a:off x="42151" y="2039899"/>
        <a:ext cx="7802398" cy="779158"/>
      </dsp:txXfrm>
    </dsp:sp>
    <dsp:sp modelId="{10E34177-5FC6-FF43-89BF-B8103C9F4E3F}">
      <dsp:nvSpPr>
        <dsp:cNvPr id="0" name=""/>
        <dsp:cNvSpPr/>
      </dsp:nvSpPr>
      <dsp:spPr>
        <a:xfrm>
          <a:off x="0" y="296488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Кластеризация</a:t>
          </a:r>
        </a:p>
      </dsp:txBody>
      <dsp:txXfrm>
        <a:off x="42151" y="3007039"/>
        <a:ext cx="7802398" cy="779158"/>
      </dsp:txXfrm>
    </dsp:sp>
    <dsp:sp modelId="{0493AC9C-E17B-454D-8C9E-8101432FE889}">
      <dsp:nvSpPr>
        <dsp:cNvPr id="0" name=""/>
        <dsp:cNvSpPr/>
      </dsp:nvSpPr>
      <dsp:spPr>
        <a:xfrm>
          <a:off x="0" y="3932028"/>
          <a:ext cx="7886700" cy="8634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l" defTabSz="1600200">
            <a:lnSpc>
              <a:spcPct val="90000"/>
            </a:lnSpc>
            <a:spcBef>
              <a:spcPct val="0"/>
            </a:spcBef>
            <a:spcAft>
              <a:spcPct val="35000"/>
            </a:spcAft>
            <a:buNone/>
          </a:pPr>
          <a:r>
            <a:rPr lang="ru-RU" sz="3600" kern="1200"/>
            <a:t>Понижение размерности</a:t>
          </a:r>
        </a:p>
      </dsp:txBody>
      <dsp:txXfrm>
        <a:off x="42151" y="3974179"/>
        <a:ext cx="7802398" cy="77915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523D61-6ED8-2D46-AA95-3FF7781DED39}">
      <dsp:nvSpPr>
        <dsp:cNvPr id="0" name=""/>
        <dsp:cNvSpPr/>
      </dsp:nvSpPr>
      <dsp:spPr>
        <a:xfrm>
          <a:off x="0" y="63602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В примере, посвященном аппроксимации полиномиальных кривых с использованием метода наименьших квадратов, существует оптималь­ный порядок полинома, который дает наилучшее обобщение. </a:t>
          </a:r>
        </a:p>
      </dsp:txBody>
      <dsp:txXfrm>
        <a:off x="37581" y="673610"/>
        <a:ext cx="8154438" cy="694697"/>
      </dsp:txXfrm>
    </dsp:sp>
    <dsp:sp modelId="{0DF312A6-B980-E44C-8346-4FBA657B3339}">
      <dsp:nvSpPr>
        <dsp:cNvPr id="0" name=""/>
        <dsp:cNvSpPr/>
      </dsp:nvSpPr>
      <dsp:spPr>
        <a:xfrm>
          <a:off x="0" y="144620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Порядок полинома определяет количество свободных параметров в модели и тем самым определяет ее сложность. </a:t>
          </a:r>
        </a:p>
      </dsp:txBody>
      <dsp:txXfrm>
        <a:off x="37581" y="1483790"/>
        <a:ext cx="8154438" cy="694697"/>
      </dsp:txXfrm>
    </dsp:sp>
    <dsp:sp modelId="{4911C5EC-C059-D54C-A3C0-A58E1C5BF0E3}">
      <dsp:nvSpPr>
        <dsp:cNvPr id="0" name=""/>
        <dsp:cNvSpPr/>
      </dsp:nvSpPr>
      <dsp:spPr>
        <a:xfrm>
          <a:off x="0" y="225638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В регуляризованном методе наименьших квадратов на реальную сложность модели влияет коэффициент регуляризации в то время как для более сложных моделей, таких как смеси распределений или нейронные сети, может существовать множество параметров, определяющих их сложность. </a:t>
          </a:r>
        </a:p>
      </dsp:txBody>
      <dsp:txXfrm>
        <a:off x="37581" y="2293970"/>
        <a:ext cx="8154438" cy="694697"/>
      </dsp:txXfrm>
    </dsp:sp>
    <dsp:sp modelId="{B18C1D45-B8D0-F141-BAD0-765CD12D8466}">
      <dsp:nvSpPr>
        <dsp:cNvPr id="0" name=""/>
        <dsp:cNvSpPr/>
      </dsp:nvSpPr>
      <dsp:spPr>
        <a:xfrm>
          <a:off x="0" y="306656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Для практического применения нам необходимо определить значения таких пара­метров, и главная цель при этом - достижение наилучших прогностических ха­рактеристик параметров сложности в данной модели.</a:t>
          </a:r>
        </a:p>
      </dsp:txBody>
      <dsp:txXfrm>
        <a:off x="37581" y="3104150"/>
        <a:ext cx="8154438" cy="694697"/>
      </dsp:txXfrm>
    </dsp:sp>
    <dsp:sp modelId="{33CE0521-CDA6-BC4C-949D-C5A997D1589B}">
      <dsp:nvSpPr>
        <dsp:cNvPr id="0" name=""/>
        <dsp:cNvSpPr/>
      </dsp:nvSpPr>
      <dsp:spPr>
        <a:xfrm>
          <a:off x="0" y="3876749"/>
          <a:ext cx="8229600" cy="769859"/>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u-RU" sz="1400" kern="1200"/>
            <a:t>Следует рассмотреть ряд различных видов моделей, пытаясь найти лучшую для конкретного приложения.</a:t>
          </a:r>
        </a:p>
      </dsp:txBody>
      <dsp:txXfrm>
        <a:off x="37581" y="3914330"/>
        <a:ext cx="8154438" cy="69469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675455-87EB-0543-9B92-9BC79E187914}">
      <dsp:nvSpPr>
        <dsp:cNvPr id="0" name=""/>
        <dsp:cNvSpPr/>
      </dsp:nvSpPr>
      <dsp:spPr>
        <a:xfrm>
          <a:off x="0" y="46157"/>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a:t>Генеративные (порождающие) модели</a:t>
          </a:r>
        </a:p>
      </dsp:txBody>
      <dsp:txXfrm>
        <a:off x="24588" y="70745"/>
        <a:ext cx="8180424" cy="454509"/>
      </dsp:txXfrm>
    </dsp:sp>
    <dsp:sp modelId="{1CE456E9-5583-7442-817E-C888690EE89D}">
      <dsp:nvSpPr>
        <dsp:cNvPr id="0" name=""/>
        <dsp:cNvSpPr/>
      </dsp:nvSpPr>
      <dsp:spPr>
        <a:xfrm>
          <a:off x="0" y="549842"/>
          <a:ext cx="8229600" cy="20430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ru-RU" sz="1600" kern="1200"/>
            <a:t>Определение условных вероятностей классов </a:t>
          </a:r>
          <a14:m xmlns:a14="http://schemas.microsoft.com/office/drawing/2010/main">
            <m:oMath xmlns:m="http://schemas.openxmlformats.org/officeDocument/2006/math">
              <m:r>
                <a:rPr lang="en-US" sz="1600" b="0" i="1" kern="1200">
                  <a:latin typeface="Cambria Math" panose="02040503050406030204" pitchFamily="18" charset="0"/>
                </a:rPr>
                <m:t>𝑝</m:t>
              </m:r>
              <m:r>
                <a:rPr lang="en-US" sz="1600" b="0" i="1" kern="1200">
                  <a:latin typeface="Cambria Math" panose="02040503050406030204" pitchFamily="18" charset="0"/>
                </a:rPr>
                <m:t>(</m:t>
              </m:r>
              <m:r>
                <a:rPr lang="en-US" sz="1600" b="0" i="1" kern="1200">
                  <a:latin typeface="Cambria Math" panose="02040503050406030204" pitchFamily="18" charset="0"/>
                </a:rPr>
                <m:t>𝑥</m:t>
              </m:r>
              <m:r>
                <a:rPr lang="en-US" sz="1600" b="0" i="1" kern="1200">
                  <a:latin typeface="Cambria Math" panose="02040503050406030204" pitchFamily="18" charset="0"/>
                </a:rPr>
                <m:t>/</m:t>
              </m:r>
              <m:sSub>
                <m:sSubPr>
                  <m:ctrlPr>
                    <a:rPr lang="en-US" sz="1600" b="0" i="1" kern="1200">
                      <a:latin typeface="Cambria Math" panose="02040503050406030204" pitchFamily="18" charset="0"/>
                    </a:rPr>
                  </m:ctrlPr>
                </m:sSubPr>
                <m:e>
                  <m:r>
                    <a:rPr lang="en-US" sz="1600" b="0" i="1" kern="1200">
                      <a:latin typeface="Cambria Math" panose="02040503050406030204" pitchFamily="18" charset="0"/>
                    </a:rPr>
                    <m:t>𝐶</m:t>
                  </m:r>
                </m:e>
                <m:sub>
                  <m:r>
                    <a:rPr lang="en-US" sz="1600" b="0" i="1" kern="1200">
                      <a:latin typeface="Cambria Math" panose="02040503050406030204" pitchFamily="18" charset="0"/>
                    </a:rPr>
                    <m:t>𝑘</m:t>
                  </m:r>
                </m:sub>
              </m:sSub>
              <m:r>
                <a:rPr lang="en-US" sz="1600" b="0" i="1" kern="1200">
                  <a:latin typeface="Cambria Math" panose="02040503050406030204" pitchFamily="18" charset="0"/>
                </a:rPr>
                <m:t> )</m:t>
              </m:r>
            </m:oMath>
          </a14:m>
          <a:endParaRPr lang="ru-RU" sz="1600" kern="1200"/>
        </a:p>
        <a:p>
          <a:pPr marL="171450" lvl="1" indent="-171450" algn="l" defTabSz="711200">
            <a:lnSpc>
              <a:spcPct val="90000"/>
            </a:lnSpc>
            <a:spcBef>
              <a:spcPct val="0"/>
            </a:spcBef>
            <a:spcAft>
              <a:spcPct val="20000"/>
            </a:spcAft>
            <a:buChar char="•"/>
          </a:pPr>
          <a:r>
            <a:rPr lang="ru-RU" sz="1600" kern="1200" dirty="0"/>
            <a:t>Вывод априорных вероятностей классов</a:t>
          </a:r>
          <a:r>
            <a:rPr lang="en-US" sz="1600" kern="1200" dirty="0"/>
            <a:t> </a:t>
          </a:r>
          <a14:m xmlns:a14="http://schemas.microsoft.com/office/drawing/2010/main">
            <m:oMath xmlns:m="http://schemas.openxmlformats.org/officeDocument/2006/math">
              <m:r>
                <a:rPr lang="en-US" sz="1600" b="0" i="1" kern="1200">
                  <a:latin typeface="Cambria Math" panose="02040503050406030204" pitchFamily="18" charset="0"/>
                </a:rPr>
                <m:t>𝑝</m:t>
              </m:r>
              <m:r>
                <a:rPr lang="en-US" sz="1600" b="0" i="1" kern="1200">
                  <a:latin typeface="Cambria Math" panose="02040503050406030204" pitchFamily="18" charset="0"/>
                </a:rPr>
                <m:t>(</m:t>
              </m:r>
              <m:sSub>
                <m:sSubPr>
                  <m:ctrlPr>
                    <a:rPr lang="en-US" sz="1600" b="0" i="1" kern="1200">
                      <a:latin typeface="Cambria Math" panose="02040503050406030204" pitchFamily="18" charset="0"/>
                    </a:rPr>
                  </m:ctrlPr>
                </m:sSubPr>
                <m:e>
                  <m:r>
                    <a:rPr lang="en-US" sz="1600" b="0" i="1" kern="1200">
                      <a:latin typeface="Cambria Math" panose="02040503050406030204" pitchFamily="18" charset="0"/>
                    </a:rPr>
                    <m:t>𝐶</m:t>
                  </m:r>
                </m:e>
                <m:sub>
                  <m:r>
                    <a:rPr lang="en-US" sz="1600" b="0" i="1" kern="1200">
                      <a:latin typeface="Cambria Math" panose="02040503050406030204" pitchFamily="18" charset="0"/>
                    </a:rPr>
                    <m:t>𝑘</m:t>
                  </m:r>
                </m:sub>
              </m:sSub>
              <m:r>
                <a:rPr lang="en-US" sz="1600" b="0" i="1" kern="1200">
                  <a:latin typeface="Cambria Math" panose="02040503050406030204" pitchFamily="18" charset="0"/>
                </a:rPr>
                <m:t> )</m:t>
              </m:r>
            </m:oMath>
          </a14:m>
          <a:endParaRPr lang="ru-RU" sz="1600" kern="1200" dirty="0"/>
        </a:p>
        <a:p>
          <a:pPr marL="171450" lvl="1" indent="-171450" algn="l" defTabSz="711200">
            <a:lnSpc>
              <a:spcPct val="90000"/>
            </a:lnSpc>
            <a:spcBef>
              <a:spcPct val="0"/>
            </a:spcBef>
            <a:spcAft>
              <a:spcPct val="20000"/>
            </a:spcAft>
            <a:buChar char="•"/>
          </a:pPr>
          <a:r>
            <a:rPr lang="ru-RU" sz="1600" kern="1200" dirty="0"/>
            <a:t>Использование теоремы Байеса для нахождения апостериорных вероятностей классов</a:t>
          </a:r>
          <a:r>
            <a:rPr lang="en-US" sz="1600" kern="1200" dirty="0"/>
            <a:t> </a:t>
          </a:r>
          <a14:m xmlns:a14="http://schemas.microsoft.com/office/drawing/2010/main">
            <m:oMath xmlns:m="http://schemas.openxmlformats.org/officeDocument/2006/math">
              <m:r>
                <a:rPr lang="en-US" sz="1600" b="0" i="1" kern="1200">
                  <a:latin typeface="Cambria Math" panose="02040503050406030204" pitchFamily="18" charset="0"/>
                </a:rPr>
                <m:t>𝑝</m:t>
              </m:r>
              <m:d>
                <m:dPr>
                  <m:ctrlPr>
                    <a:rPr lang="en-US" sz="1600" b="0" i="1" kern="1200">
                      <a:latin typeface="Cambria Math" panose="02040503050406030204" pitchFamily="18" charset="0"/>
                    </a:rPr>
                  </m:ctrlPr>
                </m:dPr>
                <m:e>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b="0" i="1" kern="1200">
                      <a:latin typeface="Cambria Math" panose="02040503050406030204" pitchFamily="18" charset="0"/>
                    </a:rPr>
                    <m:t>/</m:t>
                  </m:r>
                  <m:r>
                    <a:rPr lang="en-US" sz="1600" i="1" kern="1200">
                      <a:latin typeface="Cambria Math" panose="02040503050406030204" pitchFamily="18" charset="0"/>
                    </a:rPr>
                    <m:t>𝑥</m:t>
                  </m:r>
                </m:e>
              </m:d>
              <m:r>
                <a:rPr lang="en-US" sz="1600" b="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i="1" kern="1200">
                  <a:latin typeface="Cambria Math" panose="02040503050406030204" pitchFamily="18" charset="0"/>
                </a:rPr>
                <m:t>𝑥</m:t>
              </m:r>
              <m:r>
                <a:rPr lang="en-US" sz="160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r>
                <a:rPr lang="en-US" sz="1600" b="0" i="1" kern="1200">
                  <a:latin typeface="Cambria Math" panose="02040503050406030204" pitchFamily="18" charset="0"/>
                </a:rPr>
                <m:t>/</m:t>
              </m:r>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b="0" i="1" kern="1200">
                  <a:latin typeface="Cambria Math" panose="02040503050406030204" pitchFamily="18" charset="0"/>
                </a:rPr>
                <m:t>𝑥</m:t>
              </m:r>
              <m:r>
                <a:rPr lang="en-US" sz="1600" i="1" kern="1200">
                  <a:latin typeface="Cambria Math" panose="02040503050406030204" pitchFamily="18" charset="0"/>
                </a:rPr>
                <m:t>)</m:t>
              </m:r>
            </m:oMath>
          </a14:m>
          <a:endParaRPr lang="ru-RU" sz="1600" kern="1200" dirty="0"/>
        </a:p>
        <a:p>
          <a:pPr marL="171450" lvl="1" indent="-171450" algn="l" defTabSz="711200">
            <a:lnSpc>
              <a:spcPct val="90000"/>
            </a:lnSpc>
            <a:spcBef>
              <a:spcPct val="0"/>
            </a:spcBef>
            <a:spcAft>
              <a:spcPct val="20000"/>
            </a:spcAft>
            <a:buChar char="•"/>
          </a:pPr>
          <a:r>
            <a:rPr lang="ru-RU" sz="1600" kern="1200" dirty="0"/>
            <a:t>Или сразу определять </a:t>
          </a:r>
          <a14:m xmlns:a14="http://schemas.microsoft.com/office/drawing/2010/main">
            <m:oMath xmlns:m="http://schemas.openxmlformats.org/officeDocument/2006/math">
              <m:r>
                <a:rPr lang="en-US" sz="1600" i="1" kern="1200">
                  <a:latin typeface="Cambria Math" panose="02040503050406030204" pitchFamily="18" charset="0"/>
                </a:rPr>
                <m:t>𝑝</m:t>
              </m:r>
              <m:r>
                <a:rPr lang="en-US" sz="1600" i="1" kern="1200">
                  <a:latin typeface="Cambria Math" panose="02040503050406030204" pitchFamily="18" charset="0"/>
                </a:rPr>
                <m:t>(</m:t>
              </m:r>
              <m:r>
                <a:rPr lang="en-US" sz="1600" i="1" kern="1200">
                  <a:latin typeface="Cambria Math" panose="02040503050406030204" pitchFamily="18" charset="0"/>
                </a:rPr>
                <m:t>𝑥</m:t>
              </m:r>
              <m:r>
                <a:rPr lang="ru-RU" sz="1600" b="0" i="1" kern="1200">
                  <a:latin typeface="Cambria Math" panose="02040503050406030204" pitchFamily="18" charset="0"/>
                </a:rPr>
                <m:t>,</m:t>
              </m:r>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i="1" kern="1200">
                  <a:latin typeface="Cambria Math" panose="02040503050406030204" pitchFamily="18" charset="0"/>
                </a:rPr>
                <m:t>)</m:t>
              </m:r>
            </m:oMath>
          </a14:m>
          <a:r>
            <a:rPr lang="ru-RU" sz="1600" kern="1200" dirty="0"/>
            <a:t> и далее определять условные вероятности через нормировку</a:t>
          </a:r>
        </a:p>
        <a:p>
          <a:pPr marL="171450" lvl="1" indent="-171450" algn="l" defTabSz="711200">
            <a:lnSpc>
              <a:spcPct val="90000"/>
            </a:lnSpc>
            <a:spcBef>
              <a:spcPct val="0"/>
            </a:spcBef>
            <a:spcAft>
              <a:spcPct val="20000"/>
            </a:spcAft>
            <a:buChar char="•"/>
          </a:pPr>
          <a:r>
            <a:rPr lang="ru-RU" sz="1600" kern="1200" dirty="0"/>
            <a:t>Использование теории принятия решений для отнесения каждого нового </a:t>
          </a:r>
          <a14:m xmlns:a14="http://schemas.microsoft.com/office/drawing/2010/main">
            <m:oMath xmlns:m="http://schemas.openxmlformats.org/officeDocument/2006/math">
              <m:r>
                <a:rPr lang="en-US" sz="1600" i="1" kern="1200">
                  <a:latin typeface="Cambria Math" panose="02040503050406030204" pitchFamily="18" charset="0"/>
                </a:rPr>
                <m:t>𝑥</m:t>
              </m:r>
            </m:oMath>
          </a14:m>
          <a:r>
            <a:rPr lang="en-US" sz="1600" kern="1200" dirty="0"/>
            <a:t> </a:t>
          </a:r>
          <a:r>
            <a:rPr lang="ru-RU" sz="1600" kern="1200" dirty="0"/>
            <a:t>к одному из классов</a:t>
          </a:r>
        </a:p>
      </dsp:txBody>
      <dsp:txXfrm>
        <a:off x="0" y="549842"/>
        <a:ext cx="8229600" cy="2043090"/>
      </dsp:txXfrm>
    </dsp:sp>
    <dsp:sp modelId="{3C7D49AA-E209-F84D-BDE2-B705BE49EB52}">
      <dsp:nvSpPr>
        <dsp:cNvPr id="0" name=""/>
        <dsp:cNvSpPr/>
      </dsp:nvSpPr>
      <dsp:spPr>
        <a:xfrm>
          <a:off x="0" y="2592932"/>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dirty="0"/>
            <a:t>Дискриминантные модели</a:t>
          </a:r>
        </a:p>
      </dsp:txBody>
      <dsp:txXfrm>
        <a:off x="24588" y="2617520"/>
        <a:ext cx="8180424" cy="454509"/>
      </dsp:txXfrm>
    </dsp:sp>
    <dsp:sp modelId="{2F1B8244-CF8C-5940-A224-8B8CABA591E4}">
      <dsp:nvSpPr>
        <dsp:cNvPr id="0" name=""/>
        <dsp:cNvSpPr/>
      </dsp:nvSpPr>
      <dsp:spPr>
        <a:xfrm>
          <a:off x="0" y="3096617"/>
          <a:ext cx="8229600" cy="7824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ru-RU" sz="1600" kern="1200"/>
            <a:t>Определение апостериорных вероятностей классов </a:t>
          </a:r>
          <a14:m xmlns:a14="http://schemas.microsoft.com/office/drawing/2010/main">
            <m:oMath xmlns:m="http://schemas.openxmlformats.org/officeDocument/2006/math">
              <m:r>
                <a:rPr lang="en-US" sz="1600" b="0" i="1" kern="1200">
                  <a:latin typeface="Cambria Math" panose="02040503050406030204" pitchFamily="18" charset="0"/>
                </a:rPr>
                <m:t>𝑝</m:t>
              </m:r>
              <m:d>
                <m:dPr>
                  <m:ctrlPr>
                    <a:rPr lang="en-US" sz="1600" b="0" i="1" kern="1200">
                      <a:latin typeface="Cambria Math" panose="02040503050406030204" pitchFamily="18" charset="0"/>
                    </a:rPr>
                  </m:ctrlPr>
                </m:dPr>
                <m:e>
                  <m:sSub>
                    <m:sSubPr>
                      <m:ctrlPr>
                        <a:rPr lang="en-US" sz="1600" i="1" kern="1200">
                          <a:latin typeface="Cambria Math" panose="02040503050406030204" pitchFamily="18" charset="0"/>
                        </a:rPr>
                      </m:ctrlPr>
                    </m:sSubPr>
                    <m:e>
                      <m:r>
                        <a:rPr lang="en-US" sz="1600" i="1" kern="1200">
                          <a:latin typeface="Cambria Math" panose="02040503050406030204" pitchFamily="18" charset="0"/>
                        </a:rPr>
                        <m:t>𝐶</m:t>
                      </m:r>
                    </m:e>
                    <m:sub>
                      <m:r>
                        <a:rPr lang="en-US" sz="1600" i="1" kern="1200">
                          <a:latin typeface="Cambria Math" panose="02040503050406030204" pitchFamily="18" charset="0"/>
                        </a:rPr>
                        <m:t>𝑘</m:t>
                      </m:r>
                    </m:sub>
                  </m:sSub>
                  <m:r>
                    <a:rPr lang="en-US" sz="1600" b="0" i="1" kern="1200">
                      <a:latin typeface="Cambria Math" panose="02040503050406030204" pitchFamily="18" charset="0"/>
                    </a:rPr>
                    <m:t>/</m:t>
                  </m:r>
                  <m:r>
                    <a:rPr lang="en-US" sz="1600" i="1" kern="1200">
                      <a:latin typeface="Cambria Math" panose="02040503050406030204" pitchFamily="18" charset="0"/>
                    </a:rPr>
                    <m:t>𝑥</m:t>
                  </m:r>
                </m:e>
              </m:d>
            </m:oMath>
          </a14:m>
          <a:endParaRPr lang="ru-RU" sz="1600" kern="1200"/>
        </a:p>
        <a:p>
          <a:pPr marL="171450" lvl="1" indent="-171450" algn="l" defTabSz="711200">
            <a:lnSpc>
              <a:spcPct val="90000"/>
            </a:lnSpc>
            <a:spcBef>
              <a:spcPct val="0"/>
            </a:spcBef>
            <a:spcAft>
              <a:spcPct val="20000"/>
            </a:spcAft>
            <a:buChar char="•"/>
          </a:pPr>
          <a:r>
            <a:rPr lang="ru-RU" sz="1600" kern="1200" dirty="0"/>
            <a:t>Использование теории принятия решений для отнесения каждого нового </a:t>
          </a:r>
          <a14:m xmlns:a14="http://schemas.microsoft.com/office/drawing/2010/main">
            <m:oMath xmlns:m="http://schemas.openxmlformats.org/officeDocument/2006/math">
              <m:r>
                <a:rPr lang="en-US" sz="1600" i="1" kern="1200">
                  <a:latin typeface="Cambria Math" panose="02040503050406030204" pitchFamily="18" charset="0"/>
                </a:rPr>
                <m:t>𝑥</m:t>
              </m:r>
            </m:oMath>
          </a14:m>
          <a:r>
            <a:rPr lang="en-US" sz="1600" kern="1200" dirty="0"/>
            <a:t> </a:t>
          </a:r>
          <a:r>
            <a:rPr lang="ru-RU" sz="1600" kern="1200" dirty="0"/>
            <a:t>к одному из классов</a:t>
          </a:r>
        </a:p>
      </dsp:txBody>
      <dsp:txXfrm>
        <a:off x="0" y="3096617"/>
        <a:ext cx="8229600" cy="782460"/>
      </dsp:txXfrm>
    </dsp:sp>
    <dsp:sp modelId="{92417E37-E489-024F-9744-FE57F78F32FB}">
      <dsp:nvSpPr>
        <dsp:cNvPr id="0" name=""/>
        <dsp:cNvSpPr/>
      </dsp:nvSpPr>
      <dsp:spPr>
        <a:xfrm>
          <a:off x="0" y="3879077"/>
          <a:ext cx="8229600" cy="503685"/>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ru-RU" sz="2100" kern="1200" dirty="0"/>
            <a:t>Нахождение дискриминантной функции</a:t>
          </a:r>
        </a:p>
      </dsp:txBody>
      <dsp:txXfrm>
        <a:off x="24588" y="3903665"/>
        <a:ext cx="8180424" cy="454509"/>
      </dsp:txXfrm>
    </dsp:sp>
    <dsp:sp modelId="{9599920C-0363-344A-855C-2FCF7AFC75E6}">
      <dsp:nvSpPr>
        <dsp:cNvPr id="0" name=""/>
        <dsp:cNvSpPr/>
      </dsp:nvSpPr>
      <dsp:spPr>
        <a:xfrm>
          <a:off x="0" y="4382762"/>
          <a:ext cx="8229600" cy="5542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6670" rIns="149352" bIns="26670" numCol="1" spcCol="1270" anchor="t" anchorCtr="0">
          <a:noAutofit/>
        </a:bodyPr>
        <a:lstStyle/>
        <a:p>
          <a:pPr marL="171450" lvl="1" indent="-171450" algn="l" defTabSz="711200">
            <a:lnSpc>
              <a:spcPct val="90000"/>
            </a:lnSpc>
            <a:spcBef>
              <a:spcPct val="0"/>
            </a:spcBef>
            <a:spcAft>
              <a:spcPct val="20000"/>
            </a:spcAft>
            <a:buChar char="•"/>
          </a:pPr>
          <a:r>
            <a:rPr lang="en-US" sz="1600" kern="1200" dirty="0"/>
            <a:t>f(x)</a:t>
          </a:r>
          <a:r>
            <a:rPr lang="ru-RU" sz="1600" kern="1200" dirty="0"/>
            <a:t> отображает </a:t>
          </a:r>
          <a14:m xmlns:a14="http://schemas.microsoft.com/office/drawing/2010/main">
            <m:oMath xmlns:m="http://schemas.openxmlformats.org/officeDocument/2006/math">
              <m:r>
                <a:rPr lang="en-US" sz="1600" i="1" kern="1200">
                  <a:latin typeface="Cambria Math" panose="02040503050406030204" pitchFamily="18" charset="0"/>
                </a:rPr>
                <m:t>𝑥</m:t>
              </m:r>
              <m:r>
                <a:rPr lang="en-US" sz="1600" i="1" kern="1200">
                  <a:latin typeface="Cambria Math" panose="02040503050406030204" pitchFamily="18" charset="0"/>
                </a:rPr>
                <m:t> </m:t>
              </m:r>
            </m:oMath>
          </a14:m>
          <a:r>
            <a:rPr lang="ru-RU" sz="1600" kern="1200" dirty="0"/>
            <a:t>на метку класса</a:t>
          </a:r>
        </a:p>
        <a:p>
          <a:pPr marL="171450" lvl="1" indent="-171450" algn="l" defTabSz="711200">
            <a:lnSpc>
              <a:spcPct val="90000"/>
            </a:lnSpc>
            <a:spcBef>
              <a:spcPct val="0"/>
            </a:spcBef>
            <a:spcAft>
              <a:spcPct val="20000"/>
            </a:spcAft>
            <a:buChar char="•"/>
          </a:pPr>
          <a:r>
            <a:rPr lang="ru-RU" sz="1600" kern="1200" dirty="0"/>
            <a:t>В этом случае вероятности не играют никакой роли. Единая задача обучения.</a:t>
          </a:r>
        </a:p>
      </dsp:txBody>
      <dsp:txXfrm>
        <a:off x="0" y="4382762"/>
        <a:ext cx="8229600" cy="5542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6F56470-B2E3-5C4F-A36E-56EADF9FD42A}">
      <dsp:nvSpPr>
        <dsp:cNvPr id="0" name=""/>
        <dsp:cNvSpPr/>
      </dsp:nvSpPr>
      <dsp:spPr>
        <a:xfrm>
          <a:off x="0" y="68364"/>
          <a:ext cx="8229600" cy="43173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ru-RU" sz="1800" kern="1200" dirty="0"/>
            <a:t>Минимизация риска (матрица потерь может меняться со временем)</a:t>
          </a:r>
        </a:p>
      </dsp:txBody>
      <dsp:txXfrm>
        <a:off x="21075" y="89439"/>
        <a:ext cx="8187450" cy="389580"/>
      </dsp:txXfrm>
    </dsp:sp>
    <dsp:sp modelId="{9680B60C-D4EE-A748-9C84-69AE2BBE4C8B}">
      <dsp:nvSpPr>
        <dsp:cNvPr id="0" name=""/>
        <dsp:cNvSpPr/>
      </dsp:nvSpPr>
      <dsp:spPr>
        <a:xfrm>
          <a:off x="0" y="551934"/>
          <a:ext cx="8229600" cy="43173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ru-RU" sz="1800" kern="1200"/>
            <a:t>Опция «Не принимать решение»</a:t>
          </a:r>
        </a:p>
      </dsp:txBody>
      <dsp:txXfrm>
        <a:off x="21075" y="573009"/>
        <a:ext cx="8187450" cy="389580"/>
      </dsp:txXfrm>
    </dsp:sp>
    <dsp:sp modelId="{FB4D16E8-D039-0240-81FB-460BD22723D3}">
      <dsp:nvSpPr>
        <dsp:cNvPr id="0" name=""/>
        <dsp:cNvSpPr/>
      </dsp:nvSpPr>
      <dsp:spPr>
        <a:xfrm>
          <a:off x="0" y="1035504"/>
          <a:ext cx="8229600" cy="43173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ru-RU" sz="1800" kern="1200"/>
            <a:t>Несбалансированные априорные классы. </a:t>
          </a:r>
        </a:p>
      </dsp:txBody>
      <dsp:txXfrm>
        <a:off x="21075" y="1056579"/>
        <a:ext cx="8187450" cy="389580"/>
      </dsp:txXfrm>
    </dsp:sp>
    <dsp:sp modelId="{3B4FBB4B-7100-BD4F-8947-46811003D0A1}">
      <dsp:nvSpPr>
        <dsp:cNvPr id="0" name=""/>
        <dsp:cNvSpPr/>
      </dsp:nvSpPr>
      <dsp:spPr>
        <a:xfrm>
          <a:off x="0" y="1467234"/>
          <a:ext cx="8229600" cy="44712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2860" rIns="128016" bIns="22860" numCol="1" spcCol="1270" anchor="t" anchorCtr="0">
          <a:noAutofit/>
        </a:bodyPr>
        <a:lstStyle/>
        <a:p>
          <a:pPr marL="114300" lvl="1" indent="-114300" algn="l" defTabSz="622300">
            <a:lnSpc>
              <a:spcPct val="90000"/>
            </a:lnSpc>
            <a:spcBef>
              <a:spcPct val="0"/>
            </a:spcBef>
            <a:spcAft>
              <a:spcPct val="20000"/>
            </a:spcAft>
            <a:buChar char="•"/>
          </a:pPr>
          <a:r>
            <a:rPr lang="ru-RU" sz="1400" kern="1200" dirty="0"/>
            <a:t>Рассмотрим нашу медицинскую рентгенологическую задачу еще раз и предположим, что мы собрали большое количество рентгеновских снимков населения в целом для использования в качестве обучающих данных с целью создания автоматизированной системы скрининга. </a:t>
          </a:r>
        </a:p>
        <a:p>
          <a:pPr marL="114300" lvl="1" indent="-114300" algn="l" defTabSz="622300">
            <a:lnSpc>
              <a:spcPct val="90000"/>
            </a:lnSpc>
            <a:spcBef>
              <a:spcPct val="0"/>
            </a:spcBef>
            <a:spcAft>
              <a:spcPct val="20000"/>
            </a:spcAft>
            <a:buChar char="•"/>
          </a:pPr>
          <a:r>
            <a:rPr lang="ru-RU" sz="1400" kern="1200" dirty="0"/>
            <a:t>Поскольку рак встречается редко среди населения в целом, то если бы мы использовали такой набор данных для обучения адаптивной модели, мы могли бы столкнуться с серьезными трудностями из-за небольшой доли класса рака. Например, классификатор, который назначает каждую точку нормальному классу, уже достиг бы 99,9% точности, и было бы трудно избежать этого тривиального решения. Кроме того, даже большой набор данных будет содержать очень мало примеров рентгеновских снимков, соответствующих раку, и поэтому алгоритм обучения не будет подвергаться широкому диапазону примеров таких изображений и, следовательно, вряд ли будет хорошо обобщать. </a:t>
          </a:r>
        </a:p>
        <a:p>
          <a:pPr marL="114300" lvl="1" indent="-114300" algn="l" defTabSz="622300">
            <a:lnSpc>
              <a:spcPct val="90000"/>
            </a:lnSpc>
            <a:spcBef>
              <a:spcPct val="0"/>
            </a:spcBef>
            <a:spcAft>
              <a:spcPct val="20000"/>
            </a:spcAft>
            <a:buChar char="•"/>
          </a:pPr>
          <a:r>
            <a:rPr lang="ru-RU" sz="1400" kern="1200" dirty="0"/>
            <a:t>Сбалансированный набор данных, в котором мы выбрали равное количество примеров из каждого из классов, позволил бы нам найти более точную модель. Однако затем нам необходимо компенсировать эффекты наших модификаций обучающих данных. Из теоремы Байеса мы видим, что апостериорные вероятности пропорциональны априорным вероятностям, которые мы можем интерпретировать как доли точек в каждом классе. Поэтому мы можем просто взять апостериорные вероятности, полученные из нашего искусственно сбалансированного набора данных, и сначала разделить их на доли классов в этом наборе данных, а затем умножить на доли классов в генеральной совокупности, к которой мы хотим применить модель. Наконец, нам необходимо выполнить нормализацию, чтобы гарантировать, что сумма новых апостериорных вероятностей равна единице. Обратите внимание, что эту процедуру нельзя применить, если мы обучили дискриминантную функцию напрямую, а не определяли апостериорные вероятности.</a:t>
          </a:r>
        </a:p>
      </dsp:txBody>
      <dsp:txXfrm>
        <a:off x="0" y="1467234"/>
        <a:ext cx="8229600" cy="44712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1BF13B-E684-2A46-864B-2579A8741F02}">
      <dsp:nvSpPr>
        <dsp:cNvPr id="0" name=""/>
        <dsp:cNvSpPr/>
      </dsp:nvSpPr>
      <dsp:spPr>
        <a:xfrm>
          <a:off x="0" y="49593"/>
          <a:ext cx="8229600" cy="52767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ru-RU" sz="2200" kern="1200" dirty="0"/>
            <a:t>Объединение моделей </a:t>
          </a:r>
        </a:p>
      </dsp:txBody>
      <dsp:txXfrm>
        <a:off x="25759" y="75352"/>
        <a:ext cx="8178082" cy="476152"/>
      </dsp:txXfrm>
    </dsp:sp>
    <dsp:sp modelId="{D1A460FA-6603-214C-B32F-5B7CD954A2C1}">
      <dsp:nvSpPr>
        <dsp:cNvPr id="0" name=""/>
        <dsp:cNvSpPr/>
      </dsp:nvSpPr>
      <dsp:spPr>
        <a:xfrm>
          <a:off x="0" y="577263"/>
          <a:ext cx="8229600" cy="282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290"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ru-RU" sz="1700" kern="1200" dirty="0"/>
            <a:t>Для сложных приложений мы, возможно, захотим разбить задачу на ряд меньших подзадач, каждая из которых может решаться отдельным модулем.</a:t>
          </a:r>
        </a:p>
        <a:p>
          <a:pPr marL="171450" lvl="1" indent="-171450" algn="l" defTabSz="755650">
            <a:lnSpc>
              <a:spcPct val="90000"/>
            </a:lnSpc>
            <a:spcBef>
              <a:spcPct val="0"/>
            </a:spcBef>
            <a:spcAft>
              <a:spcPct val="20000"/>
            </a:spcAft>
            <a:buChar char="•"/>
          </a:pPr>
          <a:r>
            <a:rPr lang="ru-RU" sz="1700" kern="1200" dirty="0"/>
            <a:t>Например, в гипотетической проблеме медицинского диагноза у нас может быть информация, полученная из анализов крови, а также по рентгеновским снимкам.</a:t>
          </a:r>
        </a:p>
        <a:p>
          <a:pPr marL="171450" lvl="1" indent="-171450" algn="l" defTabSz="755650">
            <a:lnSpc>
              <a:spcPct val="90000"/>
            </a:lnSpc>
            <a:spcBef>
              <a:spcPct val="0"/>
            </a:spcBef>
            <a:spcAft>
              <a:spcPct val="20000"/>
            </a:spcAft>
            <a:buChar char="•"/>
          </a:pPr>
          <a:r>
            <a:rPr lang="ru-RU" sz="1700" kern="1200" dirty="0"/>
            <a:t>Вместо того чтобы объединять всю эту не­ однородную информацию в одном огромном пространстве входных данных, может быть более эффективным создание одной системы для интерпретации рентгеновских изображений и другой для интерпретации показателей крови. </a:t>
          </a:r>
        </a:p>
        <a:p>
          <a:pPr marL="171450" lvl="1" indent="-171450" algn="l" defTabSz="755650">
            <a:lnSpc>
              <a:spcPct val="90000"/>
            </a:lnSpc>
            <a:spcBef>
              <a:spcPct val="0"/>
            </a:spcBef>
            <a:spcAft>
              <a:spcPct val="20000"/>
            </a:spcAft>
            <a:buChar char="•"/>
          </a:pPr>
          <a:r>
            <a:rPr lang="ru-RU" sz="1700" kern="1200" dirty="0"/>
            <a:t>Поскольку каждая из двух моделей дает апостериорные вероятности для классов, мы можем систематически комбинировать выходы с использованием правил теории вероятностей. </a:t>
          </a:r>
        </a:p>
      </dsp:txBody>
      <dsp:txXfrm>
        <a:off x="0" y="577263"/>
        <a:ext cx="8229600" cy="282348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970ED3-B709-994B-94E1-7B83166DD971}" type="datetimeFigureOut">
              <a:rPr lang="ru-RU" smtClean="0"/>
              <a:t>27.09.2026</a:t>
            </a:fld>
            <a:endParaRPr lang="ru-RU"/>
          </a:p>
        </p:txBody>
      </p:sp>
      <p:sp>
        <p:nvSpPr>
          <p:cNvPr id="4" name="Образ слайда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DF42F8-D251-6842-955F-B0C08B97A6EA}" type="slidenum">
              <a:rPr lang="ru-RU" smtClean="0"/>
              <a:t>‹#›</a:t>
            </a:fld>
            <a:endParaRPr lang="ru-RU"/>
          </a:p>
        </p:txBody>
      </p:sp>
    </p:spTree>
    <p:extLst>
      <p:ext uri="{BB962C8B-B14F-4D97-AF65-F5344CB8AC3E}">
        <p14:creationId xmlns:p14="http://schemas.microsoft.com/office/powerpoint/2010/main" val="2001229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9DF42F8-D251-6842-955F-B0C08B97A6EA}" type="slidenum">
              <a:rPr lang="ru-RU" smtClean="0"/>
              <a:t>33</a:t>
            </a:fld>
            <a:endParaRPr lang="ru-RU"/>
          </a:p>
        </p:txBody>
      </p:sp>
    </p:spTree>
    <p:extLst>
      <p:ext uri="{BB962C8B-B14F-4D97-AF65-F5344CB8AC3E}">
        <p14:creationId xmlns:p14="http://schemas.microsoft.com/office/powerpoint/2010/main" val="116036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99</a:t>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100</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101</a:t>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287FC852-F124-48A4-8C7E-96992E409D3A}" type="slidenum">
              <a:rPr lang="en-GB" smtClean="0"/>
              <a:pPr/>
              <a:t>102</a:t>
            </a:fld>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ru-RU"/>
              <a:t>Образец заголовка</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E60ED32F-CB3D-974A-8608-40A19AEF1C60}" type="datetime1">
              <a:rPr lang="ru-RU" smtClean="0"/>
              <a:t>27.09.2026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350052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B6B11DF5-5774-3643-ABCB-F1AD4950AC2B}" type="datetime1">
              <a:rPr lang="ru-RU" smtClean="0"/>
              <a:t>27.09.2026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521595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ru-RU"/>
              <a:t>Образец заголовка</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6DDE7C3A-6233-504C-BC2B-3314E3C7B879}" type="datetime1">
              <a:rPr lang="ru-RU" smtClean="0"/>
              <a:t>27.09.2026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9470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99FC1AEB-CD4C-C540-BF54-F6C35034E331}" type="datetime1">
              <a:rPr lang="ru-RU" smtClean="0"/>
              <a:t>27.09.2026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172695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ru-RU"/>
              <a:t>Образец заголовка</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629842" y="2505075"/>
            <a:ext cx="3868340"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4629150" y="2505075"/>
            <a:ext cx="3887391"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95D44D3F-EDEE-384C-A8D8-9B7454D6500E}" type="datetime1">
              <a:rPr lang="ru-RU" smtClean="0"/>
              <a:t>27.09.2026</a:t>
            </a:fld>
            <a:endParaRPr lang="ru-RU"/>
          </a:p>
        </p:txBody>
      </p:sp>
      <p:sp>
        <p:nvSpPr>
          <p:cNvPr id="8" name="Footer Placeholder 7"/>
          <p:cNvSpPr>
            <a:spLocks noGrp="1"/>
          </p:cNvSpPr>
          <p:nvPr>
            <p:ph type="ftr" sz="quarter" idx="11"/>
          </p:nvPr>
        </p:nvSpPr>
        <p:spPr/>
        <p:txBody>
          <a:bodyPr/>
          <a:lstStyle/>
          <a:p>
            <a:endParaRPr lang="ru-RU"/>
          </a:p>
        </p:txBody>
      </p:sp>
      <p:sp>
        <p:nvSpPr>
          <p:cNvPr id="9" name="Slide Number Placeholder 8"/>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336465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6E52C51F-1DC8-584F-80ED-774793BB03DA}" type="datetime1">
              <a:rPr lang="ru-RU" smtClean="0"/>
              <a:t>27.09.2026</a:t>
            </a:fld>
            <a:endParaRPr lang="ru-RU"/>
          </a:p>
        </p:txBody>
      </p:sp>
      <p:sp>
        <p:nvSpPr>
          <p:cNvPr id="4" name="Footer Placeholder 3"/>
          <p:cNvSpPr>
            <a:spLocks noGrp="1"/>
          </p:cNvSpPr>
          <p:nvPr>
            <p:ph type="ftr" sz="quarter" idx="11"/>
          </p:nvPr>
        </p:nvSpPr>
        <p:spPr/>
        <p:txBody>
          <a:bodyPr/>
          <a:lstStyle/>
          <a:p>
            <a:endParaRPr lang="ru-RU"/>
          </a:p>
        </p:txBody>
      </p:sp>
      <p:sp>
        <p:nvSpPr>
          <p:cNvPr id="5" name="Slide Number Placeholder 4"/>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86102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D2F3358-B552-4641-9535-8CF6CA74379D}" type="datetime1">
              <a:rPr lang="ru-RU" smtClean="0"/>
              <a:t>27.09.2026</a:t>
            </a:fld>
            <a:endParaRPr lang="ru-RU"/>
          </a:p>
        </p:txBody>
      </p:sp>
      <p:sp>
        <p:nvSpPr>
          <p:cNvPr id="3" name="Footer Placeholder 2"/>
          <p:cNvSpPr>
            <a:spLocks noGrp="1"/>
          </p:cNvSpPr>
          <p:nvPr>
            <p:ph type="ftr" sz="quarter" idx="11"/>
          </p:nvPr>
        </p:nvSpPr>
        <p:spPr/>
        <p:txBody>
          <a:bodyPr/>
          <a:lstStyle/>
          <a:p>
            <a:endParaRPr lang="ru-RU"/>
          </a:p>
        </p:txBody>
      </p:sp>
      <p:sp>
        <p:nvSpPr>
          <p:cNvPr id="4" name="Slide Number Placeholder 3"/>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78722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ru-RU"/>
              <a:t>Образец заголовка</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588653C1-DE5D-EC40-BC9A-40007899CF53}" type="datetime1">
              <a:rPr lang="ru-RU" smtClean="0"/>
              <a:t>27.09.2026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33665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ru-RU"/>
              <a:t>Образец заголовка</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Чтобы добавить рисунок, перетащите его на заполнитель или щелкните значок</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E47F4579-07D1-6440-BA33-BA0FCDBE8DA7}" type="datetime1">
              <a:rPr lang="ru-RU" smtClean="0"/>
              <a:t>27.09.2026</a:t>
            </a:fld>
            <a:endParaRPr lang="ru-RU"/>
          </a:p>
        </p:txBody>
      </p:sp>
      <p:sp>
        <p:nvSpPr>
          <p:cNvPr id="6" name="Footer Placeholder 5"/>
          <p:cNvSpPr>
            <a:spLocks noGrp="1"/>
          </p:cNvSpPr>
          <p:nvPr>
            <p:ph type="ftr" sz="quarter" idx="11"/>
          </p:nvPr>
        </p:nvSpPr>
        <p:spPr/>
        <p:txBody>
          <a:bodyPr/>
          <a:lstStyle/>
          <a:p>
            <a:endParaRPr lang="ru-RU"/>
          </a:p>
        </p:txBody>
      </p:sp>
      <p:sp>
        <p:nvSpPr>
          <p:cNvPr id="7" name="Slide Number Placeholder 6"/>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21451740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8EFEF661-0C02-9E40-BFA7-96435E799DC5}" type="datetime1">
              <a:rPr lang="ru-RU" smtClean="0"/>
              <a:t>27.09.2026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4687031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 загол.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ru-RU"/>
              <a:t>Образец заголовка</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F29FAE7D-5608-384B-989D-D0CDE0C20EB3}" type="datetime1">
              <a:rPr lang="ru-RU" smtClean="0"/>
              <a:t>27.09.2026</a:t>
            </a:fld>
            <a:endParaRPr lang="ru-RU"/>
          </a:p>
        </p:txBody>
      </p:sp>
      <p:sp>
        <p:nvSpPr>
          <p:cNvPr id="5" name="Footer Placeholder 4"/>
          <p:cNvSpPr>
            <a:spLocks noGrp="1"/>
          </p:cNvSpPr>
          <p:nvPr>
            <p:ph type="ftr" sz="quarter" idx="11"/>
          </p:nvPr>
        </p:nvSpPr>
        <p:spPr/>
        <p:txBody>
          <a:bodyPr/>
          <a:lstStyle/>
          <a:p>
            <a:endParaRPr lang="ru-RU"/>
          </a:p>
        </p:txBody>
      </p:sp>
      <p:sp>
        <p:nvSpPr>
          <p:cNvPr id="6" name="Slide Number Placeholder 5"/>
          <p:cNvSpPr>
            <a:spLocks noGrp="1"/>
          </p:cNvSpPr>
          <p:nvPr>
            <p:ph type="sldNum" sz="quarter" idx="12"/>
          </p:nvPr>
        </p:nvSpPr>
        <p:spPr/>
        <p:txBody>
          <a:bodyPr/>
          <a:lstStyle/>
          <a:p>
            <a:fld id="{213A858D-DC13-7F48-8EE5-FA8D0F7167EE}" type="slidenum">
              <a:rPr lang="ru-RU" smtClean="0"/>
              <a:t>‹#›</a:t>
            </a:fld>
            <a:endParaRPr lang="ru-RU"/>
          </a:p>
        </p:txBody>
      </p:sp>
    </p:spTree>
    <p:extLst>
      <p:ext uri="{BB962C8B-B14F-4D97-AF65-F5344CB8AC3E}">
        <p14:creationId xmlns:p14="http://schemas.microsoft.com/office/powerpoint/2010/main" val="11015139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Название 1"/>
          <p:cNvSpPr>
            <a:spLocks noGrp="1"/>
          </p:cNvSpPr>
          <p:nvPr>
            <p:ph type="ctrTitle"/>
          </p:nvPr>
        </p:nvSpPr>
        <p:spPr>
          <a:xfrm>
            <a:off x="685800" y="2130425"/>
            <a:ext cx="7772400" cy="1470025"/>
          </a:xfrm>
        </p:spPr>
        <p:txBody>
          <a:bodyPr/>
          <a:lstStyle/>
          <a:p>
            <a:r>
              <a:rPr lang="ru-RU"/>
              <a:t>Образец заголовка</a:t>
            </a:r>
          </a:p>
        </p:txBody>
      </p:sp>
      <p:sp>
        <p:nvSpPr>
          <p:cNvPr id="3" name="Подзаголовок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a:t>Образец подзаголовка</a:t>
            </a:r>
          </a:p>
        </p:txBody>
      </p:sp>
      <p:sp>
        <p:nvSpPr>
          <p:cNvPr id="4" name="Дата 3"/>
          <p:cNvSpPr>
            <a:spLocks noGrp="1"/>
          </p:cNvSpPr>
          <p:nvPr>
            <p:ph type="dt" sz="half" idx="10"/>
          </p:nvPr>
        </p:nvSpPr>
        <p:spPr>
          <a:xfrm>
            <a:off x="457200" y="6356350"/>
            <a:ext cx="2133600" cy="365125"/>
          </a:xfrm>
          <a:prstGeom prst="rect">
            <a:avLst/>
          </a:prstGeom>
        </p:spPr>
        <p:txBody>
          <a:bodyPr/>
          <a:lstStyle/>
          <a:p>
            <a:fld id="{C9B1F60E-D252-E843-B4C4-1677FA109560}" type="datetime1">
              <a:rPr lang="ru-RU" smtClean="0">
                <a:solidFill>
                  <a:prstClr val="black"/>
                </a:solidFill>
              </a:rPr>
              <a:t>27.09.2026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9536917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Содержимое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DAA5B84B-49F5-BE46-A0BF-E184D1166CC6}" type="datetime1">
              <a:rPr lang="ru-RU" smtClean="0">
                <a:solidFill>
                  <a:prstClr val="black"/>
                </a:solidFill>
              </a:rPr>
              <a:t>27.09.2026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4024929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Название 1"/>
          <p:cNvSpPr>
            <a:spLocks noGrp="1"/>
          </p:cNvSpPr>
          <p:nvPr>
            <p:ph type="title"/>
          </p:nvPr>
        </p:nvSpPr>
        <p:spPr>
          <a:xfrm>
            <a:off x="722313" y="4406900"/>
            <a:ext cx="7772400" cy="1362075"/>
          </a:xfrm>
        </p:spPr>
        <p:txBody>
          <a:bodyPr anchor="t"/>
          <a:lstStyle>
            <a:lvl1pPr algn="l">
              <a:defRPr sz="4000" b="1" cap="all"/>
            </a:lvl1pPr>
          </a:lstStyle>
          <a:p>
            <a:r>
              <a:rPr lang="ru-RU"/>
              <a:t>Образец заголовка</a:t>
            </a:r>
          </a:p>
        </p:txBody>
      </p:sp>
      <p:sp>
        <p:nvSpPr>
          <p:cNvPr id="3" name="Текст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457200" y="6356350"/>
            <a:ext cx="2133600" cy="365125"/>
          </a:xfrm>
          <a:prstGeom prst="rect">
            <a:avLst/>
          </a:prstGeom>
        </p:spPr>
        <p:txBody>
          <a:bodyPr/>
          <a:lstStyle/>
          <a:p>
            <a:fld id="{8EFF1553-ACCF-8741-85E1-1F684E99FD42}" type="datetime1">
              <a:rPr lang="ru-RU" smtClean="0">
                <a:solidFill>
                  <a:prstClr val="black"/>
                </a:solidFill>
              </a:rPr>
              <a:t>27.09.2026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dirty="0">
              <a:solidFill>
                <a:prstClr val="black"/>
              </a:solidFill>
            </a:endParaRPr>
          </a:p>
        </p:txBody>
      </p:sp>
      <p:sp>
        <p:nvSpPr>
          <p:cNvPr id="6" name="Номер слайда 5"/>
          <p:cNvSpPr>
            <a:spLocks noGrp="1"/>
          </p:cNvSpPr>
          <p:nvPr>
            <p:ph type="sldNum" sz="quarter" idx="12"/>
          </p:nvPr>
        </p:nvSpPr>
        <p:spPr/>
        <p:txBody>
          <a:bodyPr/>
          <a:lstStyle/>
          <a:p>
            <a:fld id="{B1523C92-45F4-4C30-810D-4886C1BA6969}" type="slidenum">
              <a:rPr lang="en-US" smtClean="0"/>
              <a:pPr/>
              <a:t>‹#›</a:t>
            </a:fld>
            <a:endParaRPr lang="en-US"/>
          </a:p>
        </p:txBody>
      </p:sp>
    </p:spTree>
    <p:extLst>
      <p:ext uri="{BB962C8B-B14F-4D97-AF65-F5344CB8AC3E}">
        <p14:creationId xmlns:p14="http://schemas.microsoft.com/office/powerpoint/2010/main" val="7501677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Содержимое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Содержимое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457200" y="6356350"/>
            <a:ext cx="2133600" cy="365125"/>
          </a:xfrm>
          <a:prstGeom prst="rect">
            <a:avLst/>
          </a:prstGeom>
        </p:spPr>
        <p:txBody>
          <a:bodyPr/>
          <a:lstStyle/>
          <a:p>
            <a:fld id="{F2B68FD7-8EB7-4344-88C8-8CAD98973B60}" type="datetime1">
              <a:rPr lang="ru-RU" smtClean="0">
                <a:solidFill>
                  <a:prstClr val="black"/>
                </a:solidFill>
              </a:rPr>
              <a:t>27.09.2026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915711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lvl1pPr>
              <a:defRPr/>
            </a:lvl1pPr>
          </a:lstStyle>
          <a:p>
            <a:r>
              <a:rPr lang="ru-RU"/>
              <a:t>Образец заголовка</a:t>
            </a:r>
          </a:p>
        </p:txBody>
      </p:sp>
      <p:sp>
        <p:nvSpPr>
          <p:cNvPr id="3" name="Текст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Содержимое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Содержимое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457200" y="6356350"/>
            <a:ext cx="2133600" cy="365125"/>
          </a:xfrm>
          <a:prstGeom prst="rect">
            <a:avLst/>
          </a:prstGeom>
        </p:spPr>
        <p:txBody>
          <a:bodyPr/>
          <a:lstStyle/>
          <a:p>
            <a:fld id="{41D674BF-9C82-3C47-9DE3-711A696FD300}" type="datetime1">
              <a:rPr lang="ru-RU" smtClean="0">
                <a:solidFill>
                  <a:prstClr val="black"/>
                </a:solidFill>
              </a:rPr>
              <a:t>27.09.2026</a:t>
            </a:fld>
            <a:endParaRPr lang="en-US">
              <a:solidFill>
                <a:prstClr val="black"/>
              </a:solidFill>
            </a:endParaRPr>
          </a:p>
        </p:txBody>
      </p:sp>
      <p:sp>
        <p:nvSpPr>
          <p:cNvPr id="8" name="Нижний колонтитул 7"/>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9" name="Номер слайда 8"/>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083754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a:xfrm>
            <a:off x="457200" y="6356350"/>
            <a:ext cx="2133600" cy="365125"/>
          </a:xfrm>
          <a:prstGeom prst="rect">
            <a:avLst/>
          </a:prstGeom>
        </p:spPr>
        <p:txBody>
          <a:bodyPr/>
          <a:lstStyle/>
          <a:p>
            <a:fld id="{D5263E7F-F983-C046-B3EA-E0B7E0D8B4A3}" type="datetime1">
              <a:rPr lang="ru-RU" smtClean="0">
                <a:solidFill>
                  <a:prstClr val="black"/>
                </a:solidFill>
              </a:rPr>
              <a:t>27.09.2026</a:t>
            </a:fld>
            <a:endParaRPr lang="en-US">
              <a:solidFill>
                <a:prstClr val="black"/>
              </a:solidFill>
            </a:endParaRPr>
          </a:p>
        </p:txBody>
      </p:sp>
      <p:sp>
        <p:nvSpPr>
          <p:cNvPr id="4" name="Нижний колонтитул 3"/>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5" name="Номер слайда 4"/>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7380762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Пустой">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457200" y="6356350"/>
            <a:ext cx="2133600" cy="365125"/>
          </a:xfrm>
          <a:prstGeom prst="rect">
            <a:avLst/>
          </a:prstGeom>
        </p:spPr>
        <p:txBody>
          <a:bodyPr/>
          <a:lstStyle/>
          <a:p>
            <a:fld id="{076FD8F8-0119-384F-B19A-0B5B9D4E4D5A}" type="datetime1">
              <a:rPr lang="ru-RU" smtClean="0">
                <a:solidFill>
                  <a:prstClr val="black"/>
                </a:solidFill>
              </a:rPr>
              <a:t>27.09.2026</a:t>
            </a:fld>
            <a:endParaRPr lang="en-US">
              <a:solidFill>
                <a:prstClr val="black"/>
              </a:solidFill>
            </a:endParaRPr>
          </a:p>
        </p:txBody>
      </p:sp>
      <p:sp>
        <p:nvSpPr>
          <p:cNvPr id="3" name="Нижний колонтитул 2"/>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4" name="Номер слайда 3"/>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21188011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Название 1"/>
          <p:cNvSpPr>
            <a:spLocks noGrp="1"/>
          </p:cNvSpPr>
          <p:nvPr>
            <p:ph type="title"/>
          </p:nvPr>
        </p:nvSpPr>
        <p:spPr>
          <a:xfrm>
            <a:off x="457200" y="273050"/>
            <a:ext cx="3008313" cy="1162050"/>
          </a:xfrm>
        </p:spPr>
        <p:txBody>
          <a:bodyPr anchor="b"/>
          <a:lstStyle>
            <a:lvl1pPr algn="l">
              <a:defRPr sz="2000" b="1"/>
            </a:lvl1pPr>
          </a:lstStyle>
          <a:p>
            <a:r>
              <a:rPr lang="ru-RU"/>
              <a:t>Образец заголовка</a:t>
            </a:r>
          </a:p>
        </p:txBody>
      </p:sp>
      <p:sp>
        <p:nvSpPr>
          <p:cNvPr id="3" name="Содержимое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a:xfrm>
            <a:off x="457200" y="6356350"/>
            <a:ext cx="2133600" cy="365125"/>
          </a:xfrm>
          <a:prstGeom prst="rect">
            <a:avLst/>
          </a:prstGeom>
        </p:spPr>
        <p:txBody>
          <a:bodyPr/>
          <a:lstStyle/>
          <a:p>
            <a:fld id="{1549202A-E6AE-B94F-9B9F-F4A1CC5FEA96}" type="datetime1">
              <a:rPr lang="ru-RU" smtClean="0">
                <a:solidFill>
                  <a:prstClr val="black"/>
                </a:solidFill>
              </a:rPr>
              <a:t>27.09.2026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dirty="0">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61048650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Название 1"/>
          <p:cNvSpPr>
            <a:spLocks noGrp="1"/>
          </p:cNvSpPr>
          <p:nvPr>
            <p:ph type="title"/>
          </p:nvPr>
        </p:nvSpPr>
        <p:spPr>
          <a:xfrm>
            <a:off x="1792288" y="4800600"/>
            <a:ext cx="5486400" cy="566738"/>
          </a:xfrm>
        </p:spPr>
        <p:txBody>
          <a:bodyPr anchor="b"/>
          <a:lstStyle>
            <a:lvl1pPr algn="l">
              <a:defRPr sz="2000" b="1"/>
            </a:lvl1pPr>
          </a:lstStyle>
          <a:p>
            <a:r>
              <a:rPr lang="ru-RU"/>
              <a:t>Образец заголовка</a:t>
            </a:r>
          </a:p>
        </p:txBody>
      </p:sp>
      <p:sp>
        <p:nvSpPr>
          <p:cNvPr id="3" name="Рисунок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a:xfrm>
            <a:off x="457200" y="6356350"/>
            <a:ext cx="2133600" cy="365125"/>
          </a:xfrm>
          <a:prstGeom prst="rect">
            <a:avLst/>
          </a:prstGeom>
        </p:spPr>
        <p:txBody>
          <a:bodyPr/>
          <a:lstStyle/>
          <a:p>
            <a:fld id="{CFDBAB89-26C5-3D49-87ED-7A2B73ECC394}" type="datetime1">
              <a:rPr lang="ru-RU" smtClean="0">
                <a:solidFill>
                  <a:prstClr val="black"/>
                </a:solidFill>
              </a:rPr>
              <a:t>27.09.2026</a:t>
            </a:fld>
            <a:endParaRPr lang="en-US">
              <a:solidFill>
                <a:prstClr val="black"/>
              </a:solidFill>
            </a:endParaRPr>
          </a:p>
        </p:txBody>
      </p:sp>
      <p:sp>
        <p:nvSpPr>
          <p:cNvPr id="6" name="Нижний колонтитул 5"/>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7" name="Номер слайда 6"/>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7714763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 текст">
    <p:spTree>
      <p:nvGrpSpPr>
        <p:cNvPr id="1" name=""/>
        <p:cNvGrpSpPr/>
        <p:nvPr/>
      </p:nvGrpSpPr>
      <p:grpSpPr>
        <a:xfrm>
          <a:off x="0" y="0"/>
          <a:ext cx="0" cy="0"/>
          <a:chOff x="0" y="0"/>
          <a:chExt cx="0" cy="0"/>
        </a:xfrm>
      </p:grpSpPr>
      <p:sp>
        <p:nvSpPr>
          <p:cNvPr id="2" name="Название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5356616A-164E-9B48-BDD3-EB3910D4614A}" type="datetime1">
              <a:rPr lang="ru-RU" smtClean="0">
                <a:solidFill>
                  <a:prstClr val="black"/>
                </a:solidFill>
              </a:rPr>
              <a:t>27.09.2026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8334882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Вертик. загол.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6629400" y="274638"/>
            <a:ext cx="2057400" cy="5851525"/>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457200" y="274638"/>
            <a:ext cx="6019800" cy="5851525"/>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457200" y="6356350"/>
            <a:ext cx="2133600" cy="365125"/>
          </a:xfrm>
          <a:prstGeom prst="rect">
            <a:avLst/>
          </a:prstGeom>
        </p:spPr>
        <p:txBody>
          <a:bodyPr/>
          <a:lstStyle/>
          <a:p>
            <a:fld id="{6CFFBDF0-63BD-F642-8F96-82A22A52050B}" type="datetime1">
              <a:rPr lang="ru-RU" smtClean="0">
                <a:solidFill>
                  <a:prstClr val="black"/>
                </a:solidFill>
              </a:rPr>
              <a:t>27.09.2026</a:t>
            </a:fld>
            <a:endParaRPr lang="en-US">
              <a:solidFill>
                <a:prstClr val="black"/>
              </a:solidFill>
            </a:endParaRPr>
          </a:p>
        </p:txBody>
      </p:sp>
      <p:sp>
        <p:nvSpPr>
          <p:cNvPr id="5" name="Нижний колонтитул 4"/>
          <p:cNvSpPr>
            <a:spLocks noGrp="1"/>
          </p:cNvSpPr>
          <p:nvPr>
            <p:ph type="ftr" sz="quarter" idx="11"/>
          </p:nvPr>
        </p:nvSpPr>
        <p:spPr>
          <a:xfrm>
            <a:off x="3124200" y="6356350"/>
            <a:ext cx="2895600" cy="365125"/>
          </a:xfrm>
          <a:prstGeom prst="rect">
            <a:avLst/>
          </a:prstGeom>
        </p:spPr>
        <p:txBody>
          <a:bodyPr/>
          <a:lstStyle/>
          <a:p>
            <a:endParaRPr lang="en-US">
              <a:solidFill>
                <a:prstClr val="black"/>
              </a:solidFill>
            </a:endParaRPr>
          </a:p>
        </p:txBody>
      </p:sp>
      <p:sp>
        <p:nvSpPr>
          <p:cNvPr id="6" name="Номер слайда 5"/>
          <p:cNvSpPr>
            <a:spLocks noGrp="1"/>
          </p:cNvSpPr>
          <p:nvPr>
            <p:ph type="sldNum" sz="quarter" idx="12"/>
          </p:nvPr>
        </p:nvSpPr>
        <p:spPr/>
        <p:txBody>
          <a:bodyPr/>
          <a:lstStyle/>
          <a:p>
            <a:fld id="{38237106-F2ED-405E-BC33-CC3CF426205F}" type="slidenum">
              <a:rPr lang="en-US" smtClean="0"/>
              <a:pPr/>
              <a:t>‹#›</a:t>
            </a:fld>
            <a:endParaRPr lang="en-US"/>
          </a:p>
        </p:txBody>
      </p:sp>
    </p:spTree>
    <p:extLst>
      <p:ext uri="{BB962C8B-B14F-4D97-AF65-F5344CB8AC3E}">
        <p14:creationId xmlns:p14="http://schemas.microsoft.com/office/powerpoint/2010/main" val="16883231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CB4E2D75-176A-4731-8E9E-D5878C72AE7C}" type="datetimeFigureOut">
              <a:rPr lang="en-US" smtClean="0"/>
              <a:pPr/>
              <a:t>9/27/26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949316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0"/>
            </a:lvl1pPr>
          </a:lstStyle>
          <a:p>
            <a:r>
              <a:rPr lang="en-US"/>
              <a:t>Click to edit Master title style</a:t>
            </a:r>
            <a:endParaRPr lang="en-GB" dirty="0"/>
          </a:p>
        </p:txBody>
      </p:sp>
      <p:sp>
        <p:nvSpPr>
          <p:cNvPr id="3" name="Content Placeholder 2"/>
          <p:cNvSpPr>
            <a:spLocks noGrp="1"/>
          </p:cNvSpPr>
          <p:nvPr>
            <p:ph idx="1"/>
          </p:nvPr>
        </p:nvSpPr>
        <p:spPr>
          <a:xfrm>
            <a:off x="609600" y="1600200"/>
            <a:ext cx="7924800" cy="4525963"/>
          </a:xfrm>
        </p:spPr>
        <p:txBody>
          <a:bodyPr/>
          <a:lstStyle>
            <a:lvl1pPr>
              <a:buNone/>
              <a:defRPr b="0"/>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9/27/26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457200" y="1219200"/>
            <a:ext cx="8229600" cy="1588"/>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9" name="Straight Connector 8"/>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45821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dirty="0"/>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B4E2D75-176A-4731-8E9E-D5878C72AE7C}" type="datetimeFigureOut">
              <a:rPr lang="en-US" smtClean="0"/>
              <a:pPr/>
              <a:t>9/27/26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a:off x="722376" y="4419600"/>
            <a:ext cx="7772400" cy="1588"/>
          </a:xfrm>
          <a:prstGeom prst="line">
            <a:avLst/>
          </a:prstGeom>
          <a:ln w="25400">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8453755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0"/>
            </a:lvl1pPr>
          </a:lstStyle>
          <a:p>
            <a:r>
              <a:rPr lang="en-US"/>
              <a:t>Click to edit Master title style</a:t>
            </a:r>
            <a:endParaRPr lang="en-GB" dirty="0"/>
          </a:p>
        </p:txBody>
      </p:sp>
      <p:sp>
        <p:nvSpPr>
          <p:cNvPr id="3" name="Content Placeholder 2"/>
          <p:cNvSpPr>
            <a:spLocks noGrp="1"/>
          </p:cNvSpPr>
          <p:nvPr>
            <p:ph sz="half" idx="1"/>
          </p:nvPr>
        </p:nvSpPr>
        <p:spPr>
          <a:xfrm>
            <a:off x="457200" y="1600200"/>
            <a:ext cx="4038600" cy="4525963"/>
          </a:xfrm>
        </p:spPr>
        <p:txBody>
          <a:bodyPr/>
          <a:lstStyle>
            <a:lvl1pPr>
              <a:buNone/>
              <a:defRPr sz="2400" b="0"/>
            </a:lvl1pPr>
            <a:lvl2pPr>
              <a:buNone/>
              <a:defRPr sz="2400"/>
            </a:lvl2pPr>
            <a:lvl3pPr>
              <a:buNone/>
              <a:defRPr sz="2000"/>
            </a:lvl3pPr>
            <a:lvl4pPr>
              <a:buNone/>
              <a:defRPr sz="1800"/>
            </a:lvl4pPr>
            <a:lvl5pPr>
              <a:buNone/>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4648200" y="1600200"/>
            <a:ext cx="4038600" cy="4525963"/>
          </a:xfrm>
        </p:spPr>
        <p:txBody>
          <a:bodyPr/>
          <a:lstStyle>
            <a:lvl1pPr>
              <a:buNone/>
              <a:defRPr sz="2400" b="0"/>
            </a:lvl1pPr>
            <a:lvl2pPr>
              <a:buNone/>
              <a:defRPr sz="2400"/>
            </a:lvl2pPr>
            <a:lvl3pPr>
              <a:buNone/>
              <a:defRPr sz="2000"/>
            </a:lvl3pPr>
            <a:lvl4pPr>
              <a:buNone/>
              <a:defRPr sz="1800"/>
            </a:lvl4pPr>
            <a:lvl5pPr>
              <a:buNone/>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Date Placeholder 4"/>
          <p:cNvSpPr>
            <a:spLocks noGrp="1"/>
          </p:cNvSpPr>
          <p:nvPr>
            <p:ph type="dt" sz="half" idx="10"/>
          </p:nvPr>
        </p:nvSpPr>
        <p:spPr/>
        <p:txBody>
          <a:bodyPr/>
          <a:lstStyle/>
          <a:p>
            <a:fld id="{CB4E2D75-176A-4731-8E9E-D5878C72AE7C}" type="datetimeFigureOut">
              <a:rPr lang="en-US" smtClean="0"/>
              <a:pPr/>
              <a:t>9/27/26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cxnSp>
        <p:nvCxnSpPr>
          <p:cNvPr id="8" name="Straight Connector 7"/>
          <p:cNvCxnSpPr/>
          <p:nvPr userDrawn="1"/>
        </p:nvCxnSpPr>
        <p:spPr>
          <a:xfrm>
            <a:off x="457200" y="1143000"/>
            <a:ext cx="8229600" cy="1588"/>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9" name="Straight Connector 8"/>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268532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Date Placeholder 6"/>
          <p:cNvSpPr>
            <a:spLocks noGrp="1"/>
          </p:cNvSpPr>
          <p:nvPr>
            <p:ph type="dt" sz="half" idx="10"/>
          </p:nvPr>
        </p:nvSpPr>
        <p:spPr/>
        <p:txBody>
          <a:bodyPr/>
          <a:lstStyle/>
          <a:p>
            <a:fld id="{CB4E2D75-176A-4731-8E9E-D5878C72AE7C}" type="datetimeFigureOut">
              <a:rPr lang="en-US" smtClean="0"/>
              <a:pPr/>
              <a:t>9/27/26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ECA1D74-A88E-44E7-9F6E-F7237237E53C}" type="slidenum">
              <a:rPr lang="en-GB" smtClean="0"/>
              <a:pPr/>
              <a:t>‹#›</a:t>
            </a:fld>
            <a:endParaRPr lang="en-GB"/>
          </a:p>
        </p:txBody>
      </p:sp>
      <p:cxnSp>
        <p:nvCxnSpPr>
          <p:cNvPr id="10" name="Straight Connector 9"/>
          <p:cNvCxnSpPr/>
          <p:nvPr userDrawn="1"/>
        </p:nvCxnSpPr>
        <p:spPr>
          <a:xfrm flipV="1">
            <a:off x="457200" y="1143000"/>
            <a:ext cx="8229600" cy="76200"/>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1383678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CB4E2D75-176A-4731-8E9E-D5878C72AE7C}" type="datetimeFigureOut">
              <a:rPr lang="en-US" smtClean="0"/>
              <a:pPr/>
              <a:t>9/27/26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ECA1D74-A88E-44E7-9F6E-F7237237E53C}" type="slidenum">
              <a:rPr lang="en-GB" smtClean="0"/>
              <a:pPr/>
              <a:t>‹#›</a:t>
            </a:fld>
            <a:endParaRPr lang="en-GB"/>
          </a:p>
        </p:txBody>
      </p:sp>
      <p:cxnSp>
        <p:nvCxnSpPr>
          <p:cNvPr id="7" name="Straight Connector 6"/>
          <p:cNvCxnSpPr/>
          <p:nvPr userDrawn="1"/>
        </p:nvCxnSpPr>
        <p:spPr>
          <a:xfrm rot="5400000" flipH="1" flipV="1">
            <a:off x="0" y="1143000"/>
            <a:ext cx="1588" cy="1588"/>
          </a:xfrm>
          <a:prstGeom prst="line">
            <a:avLst/>
          </a:prstGeom>
        </p:spPr>
        <p:style>
          <a:lnRef idx="1">
            <a:schemeClr val="accent1"/>
          </a:lnRef>
          <a:fillRef idx="0">
            <a:schemeClr val="accent1"/>
          </a:fillRef>
          <a:effectRef idx="0">
            <a:schemeClr val="accent1"/>
          </a:effectRef>
          <a:fontRef idx="minor">
            <a:schemeClr val="tx1"/>
          </a:fontRef>
        </p:style>
      </p:cxnSp>
      <p:sp>
        <p:nvSpPr>
          <p:cNvPr id="8"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cxnSp>
        <p:nvCxnSpPr>
          <p:cNvPr id="10" name="Straight Connector 9"/>
          <p:cNvCxnSpPr/>
          <p:nvPr userDrawn="1"/>
        </p:nvCxnSpPr>
        <p:spPr>
          <a:xfrm flipV="1">
            <a:off x="457200" y="1143000"/>
            <a:ext cx="8229600" cy="76200"/>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11" name="Straight Connector 10"/>
          <p:cNvCxnSpPr/>
          <p:nvPr userDrawn="1"/>
        </p:nvCxnSpPr>
        <p:spPr>
          <a:xfrm>
            <a:off x="457200" y="6248400"/>
            <a:ext cx="8229600" cy="1588"/>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21252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4E2D75-176A-4731-8E9E-D5878C72AE7C}" type="datetimeFigureOut">
              <a:rPr lang="en-US" smtClean="0"/>
              <a:pPr/>
              <a:t>9/27/26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9307217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B4E2D75-176A-4731-8E9E-D5878C72AE7C}" type="datetimeFigureOut">
              <a:rPr lang="en-US" smtClean="0"/>
              <a:pPr/>
              <a:t>9/27/26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12551880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B4E2D75-176A-4731-8E9E-D5878C72AE7C}" type="datetimeFigureOut">
              <a:rPr lang="en-US" smtClean="0"/>
              <a:pPr/>
              <a:t>9/27/26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39119823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9/27/26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9404917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10"/>
          </p:nvPr>
        </p:nvSpPr>
        <p:spPr/>
        <p:txBody>
          <a:bodyPr/>
          <a:lstStyle/>
          <a:p>
            <a:fld id="{CB4E2D75-176A-4731-8E9E-D5878C72AE7C}" type="datetimeFigureOut">
              <a:rPr lang="en-US" smtClean="0"/>
              <a:pPr/>
              <a:t>9/27/26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ECA1D74-A88E-44E7-9F6E-F7237237E53C}" type="slidenum">
              <a:rPr lang="en-GB" smtClean="0"/>
              <a:pPr/>
              <a:t>‹#›</a:t>
            </a:fld>
            <a:endParaRPr lang="en-GB"/>
          </a:p>
        </p:txBody>
      </p:sp>
    </p:spTree>
    <p:extLst>
      <p:ext uri="{BB962C8B-B14F-4D97-AF65-F5344CB8AC3E}">
        <p14:creationId xmlns:p14="http://schemas.microsoft.com/office/powerpoint/2010/main" val="14423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ru-RU"/>
              <a:t>Образец заголовка</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4B4092-4EF2-B242-80BF-C5131C9C3B96}" type="datetime1">
              <a:rPr lang="ru-RU" smtClean="0"/>
              <a:t>27.09.2026</a:t>
            </a:fld>
            <a:endParaRPr lang="ru-RU"/>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13A858D-DC13-7F48-8EE5-FA8D0F7167EE}" type="slidenum">
              <a:rPr lang="ru-RU" smtClean="0"/>
              <a:t>‹#›</a:t>
            </a:fld>
            <a:endParaRPr lang="ru-RU"/>
          </a:p>
        </p:txBody>
      </p:sp>
    </p:spTree>
    <p:extLst>
      <p:ext uri="{BB962C8B-B14F-4D97-AF65-F5344CB8AC3E}">
        <p14:creationId xmlns:p14="http://schemas.microsoft.com/office/powerpoint/2010/main" val="13034557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омер слайда 5"/>
          <p:cNvSpPr>
            <a:spLocks noGrp="1"/>
          </p:cNvSpPr>
          <p:nvPr>
            <p:ph type="sldNum" sz="quarter" idx="4"/>
          </p:nvPr>
        </p:nvSpPr>
        <p:spPr>
          <a:xfrm>
            <a:off x="7010400" y="6492875"/>
            <a:ext cx="2133600" cy="365125"/>
          </a:xfrm>
          <a:prstGeom prst="rect">
            <a:avLst/>
          </a:prstGeom>
        </p:spPr>
        <p:txBody>
          <a:bodyPr vert="horz" lIns="91440" tIns="45720" rIns="91440" bIns="45720" rtlCol="0" anchor="ctr"/>
          <a:lstStyle>
            <a:lvl1pPr algn="r">
              <a:defRPr sz="1200">
                <a:solidFill>
                  <a:srgbClr val="000000"/>
                </a:solidFill>
              </a:defRPr>
            </a:lvl1pPr>
          </a:lstStyle>
          <a:p>
            <a:fld id="{38237106-F2ED-405E-BC33-CC3CF426205F}" type="slidenum">
              <a:rPr lang="en-US" smtClean="0"/>
              <a:pPr/>
              <a:t>‹#›</a:t>
            </a:fld>
            <a:endParaRPr lang="en-US" dirty="0"/>
          </a:p>
        </p:txBody>
      </p:sp>
    </p:spTree>
    <p:extLst>
      <p:ext uri="{BB962C8B-B14F-4D97-AF65-F5344CB8AC3E}">
        <p14:creationId xmlns:p14="http://schemas.microsoft.com/office/powerpoint/2010/main" val="411522957"/>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ru-RU"/>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GB"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4E2D75-176A-4731-8E9E-D5878C72AE7C}" type="datetimeFigureOut">
              <a:rPr lang="en-US" smtClean="0"/>
              <a:pPr/>
              <a:t>9/27/26</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CA1D74-A88E-44E7-9F6E-F7237237E53C}" type="slidenum">
              <a:rPr lang="en-GB" smtClean="0"/>
              <a:pPr/>
              <a:t>‹#›</a:t>
            </a:fld>
            <a:endParaRPr lang="en-GB"/>
          </a:p>
        </p:txBody>
      </p:sp>
    </p:spTree>
    <p:extLst>
      <p:ext uri="{BB962C8B-B14F-4D97-AF65-F5344CB8AC3E}">
        <p14:creationId xmlns:p14="http://schemas.microsoft.com/office/powerpoint/2010/main" val="169949883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spcBef>
          <a:spcPct val="0"/>
        </a:spcBef>
        <a:buNone/>
        <a:defRPr sz="4400" b="1"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None/>
        <a:defRPr sz="3200" b="1"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None/>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None/>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None/>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sudakov@ws-dss.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udakov/math-for-ds/tree/main/Bayes" TargetMode="External"/><Relationship Id="rId2" Type="http://schemas.openxmlformats.org/officeDocument/2006/relationships/hyperlink" Target="https://github.com/sudakov/ai-lab"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13.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1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9.emf"/></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3.xml"/><Relationship Id="rId4" Type="http://schemas.openxmlformats.org/officeDocument/2006/relationships/image" Target="../media/image36.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3.xml"/><Relationship Id="rId5" Type="http://schemas.openxmlformats.org/officeDocument/2006/relationships/image" Target="../media/image38.png"/><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tags" Target="../tags/tag4.xml"/><Relationship Id="rId7" Type="http://schemas.openxmlformats.org/officeDocument/2006/relationships/image" Target="../media/image41.png"/><Relationship Id="rId12" Type="http://schemas.openxmlformats.org/officeDocument/2006/relationships/image" Target="../media/image49.jpe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Layout" Target="../slideLayouts/slideLayout13.xml"/><Relationship Id="rId11" Type="http://schemas.openxmlformats.org/officeDocument/2006/relationships/image" Target="../media/image48.png"/><Relationship Id="rId5" Type="http://schemas.openxmlformats.org/officeDocument/2006/relationships/tags" Target="../tags/tag6.xml"/><Relationship Id="rId10" Type="http://schemas.openxmlformats.org/officeDocument/2006/relationships/image" Target="../media/image47.png"/><Relationship Id="rId4" Type="http://schemas.openxmlformats.org/officeDocument/2006/relationships/tags" Target="../tags/tag5.xml"/><Relationship Id="rId9" Type="http://schemas.openxmlformats.org/officeDocument/2006/relationships/image" Target="../media/image46.pn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60.png"/><Relationship Id="rId1" Type="http://schemas.openxmlformats.org/officeDocument/2006/relationships/slideLayout" Target="../slideLayouts/slideLayout13.xml"/><Relationship Id="rId4" Type="http://schemas.openxmlformats.org/officeDocument/2006/relationships/image" Target="../media/image51.emf"/></Relationships>
</file>

<file path=ppt/slides/_rels/slide42.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3.png"/><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3.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53.emf"/><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image" Target="../media/image58.emf"/><Relationship Id="rId1" Type="http://schemas.openxmlformats.org/officeDocument/2006/relationships/slideLayout" Target="../slideLayouts/slideLayout13.xml"/><Relationship Id="rId5" Type="http://schemas.openxmlformats.org/officeDocument/2006/relationships/image" Target="../media/image61.emf"/><Relationship Id="rId4" Type="http://schemas.openxmlformats.org/officeDocument/2006/relationships/image" Target="../media/image60.emf"/></Relationships>
</file>

<file path=ppt/slides/_rels/slide55.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8.xml"/><Relationship Id="rId1" Type="http://schemas.openxmlformats.org/officeDocument/2006/relationships/tags" Target="../tags/tag7.xml"/><Relationship Id="rId5" Type="http://schemas.openxmlformats.org/officeDocument/2006/relationships/image" Target="../media/image63.png"/><Relationship Id="rId4" Type="http://schemas.openxmlformats.org/officeDocument/2006/relationships/image" Target="../media/image62.png"/></Relationships>
</file>

<file path=ppt/slides/_rels/slide56.xml.rels><?xml version="1.0" encoding="UTF-8" standalone="yes"?>
<Relationships xmlns="http://schemas.openxmlformats.org/package/2006/relationships"><Relationship Id="rId3" Type="http://schemas.openxmlformats.org/officeDocument/2006/relationships/image" Target="../media/image64.jpeg"/><Relationship Id="rId2" Type="http://schemas.openxmlformats.org/officeDocument/2006/relationships/slideLayout" Target="../slideLayouts/slideLayout13.xml"/><Relationship Id="rId1" Type="http://schemas.openxmlformats.org/officeDocument/2006/relationships/tags" Target="../tags/tag9.xml"/><Relationship Id="rId4" Type="http://schemas.openxmlformats.org/officeDocument/2006/relationships/image" Target="../media/image65.png"/></Relationships>
</file>

<file path=ppt/slides/_rels/slide5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slideLayout" Target="../slideLayouts/slideLayout13.xml"/><Relationship Id="rId1" Type="http://schemas.openxmlformats.org/officeDocument/2006/relationships/tags" Target="../tags/tag10.xml"/></Relationships>
</file>

<file path=ppt/slides/_rels/slide58.xml.rels><?xml version="1.0" encoding="UTF-8" standalone="yes"?>
<Relationships xmlns="http://schemas.openxmlformats.org/package/2006/relationships"><Relationship Id="rId3" Type="http://schemas.openxmlformats.org/officeDocument/2006/relationships/tags" Target="../tags/tag13.xml"/><Relationship Id="rId7" Type="http://schemas.openxmlformats.org/officeDocument/2006/relationships/image" Target="../media/image69.png"/><Relationship Id="rId2" Type="http://schemas.openxmlformats.org/officeDocument/2006/relationships/tags" Target="../tags/tag12.xml"/><Relationship Id="rId1" Type="http://schemas.openxmlformats.org/officeDocument/2006/relationships/tags" Target="../tags/tag11.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5.xml"/><Relationship Id="rId7" Type="http://schemas.openxmlformats.org/officeDocument/2006/relationships/diagramData" Target="../diagrams/data6.xml"/><Relationship Id="rId2" Type="http://schemas.openxmlformats.org/officeDocument/2006/relationships/diagramData" Target="../diagrams/data5.xml"/><Relationship Id="rId1" Type="http://schemas.openxmlformats.org/officeDocument/2006/relationships/slideLayout" Target="../slideLayouts/slideLayout13.xml"/><Relationship Id="rId6" Type="http://schemas.microsoft.com/office/2007/relationships/diagramDrawing" Target="../diagrams/drawing5.xml"/><Relationship Id="rId5" Type="http://schemas.openxmlformats.org/officeDocument/2006/relationships/diagramColors" Target="../diagrams/colors5.xml"/><Relationship Id="rId10" Type="http://schemas.openxmlformats.org/officeDocument/2006/relationships/diagramColors" Target="../diagrams/colors5.xml"/><Relationship Id="rId4" Type="http://schemas.openxmlformats.org/officeDocument/2006/relationships/diagramQuickStyle" Target="../diagrams/quickStyle5.xml"/><Relationship Id="rId9" Type="http://schemas.openxmlformats.org/officeDocument/2006/relationships/diagramQuickStyle" Target="../diagrams/quickStyle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7.xml"/><Relationship Id="rId1" Type="http://schemas.openxmlformats.org/officeDocument/2006/relationships/slideLayout" Target="../slideLayouts/slideLayout1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71.emf"/><Relationship Id="rId2" Type="http://schemas.openxmlformats.org/officeDocument/2006/relationships/diagramData" Target="../diagrams/data8.xml"/><Relationship Id="rId1" Type="http://schemas.openxmlformats.org/officeDocument/2006/relationships/slideLayout" Target="../slideLayouts/slideLayout1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64.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5.xml"/><Relationship Id="rId1" Type="http://schemas.openxmlformats.org/officeDocument/2006/relationships/tags" Target="../tags/tag14.xml"/><Relationship Id="rId6" Type="http://schemas.openxmlformats.org/officeDocument/2006/relationships/image" Target="../media/image73.emf"/><Relationship Id="rId5" Type="http://schemas.openxmlformats.org/officeDocument/2006/relationships/image" Target="../media/image72.png"/><Relationship Id="rId4" Type="http://schemas.openxmlformats.org/officeDocument/2006/relationships/image" Target="../media/image62.png"/></Relationships>
</file>

<file path=ppt/slides/_rels/slide65.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tags" Target="../tags/tag18.xml"/><Relationship Id="rId7" Type="http://schemas.openxmlformats.org/officeDocument/2006/relationships/image" Target="../media/image75.pn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image" Target="../media/image74.png"/><Relationship Id="rId5" Type="http://schemas.openxmlformats.org/officeDocument/2006/relationships/slideLayout" Target="../slideLayouts/slideLayout13.xml"/><Relationship Id="rId4" Type="http://schemas.openxmlformats.org/officeDocument/2006/relationships/tags" Target="../tags/tag19.xml"/><Relationship Id="rId9" Type="http://schemas.openxmlformats.org/officeDocument/2006/relationships/image" Target="../media/image77.png"/></Relationships>
</file>

<file path=ppt/slides/_rels/slide66.xml.rels><?xml version="1.0" encoding="UTF-8" standalone="yes"?>
<Relationships xmlns="http://schemas.openxmlformats.org/package/2006/relationships"><Relationship Id="rId3" Type="http://schemas.openxmlformats.org/officeDocument/2006/relationships/image" Target="../media/image78.emf"/><Relationship Id="rId2" Type="http://schemas.openxmlformats.org/officeDocument/2006/relationships/image" Target="../media/image80.png"/><Relationship Id="rId1" Type="http://schemas.openxmlformats.org/officeDocument/2006/relationships/slideLayout" Target="../slideLayouts/slideLayout13.xml"/><Relationship Id="rId6" Type="http://schemas.openxmlformats.org/officeDocument/2006/relationships/image" Target="../media/image81.emf"/><Relationship Id="rId5" Type="http://schemas.openxmlformats.org/officeDocument/2006/relationships/image" Target="../media/image80.emf"/><Relationship Id="rId4" Type="http://schemas.openxmlformats.org/officeDocument/2006/relationships/image" Target="../media/image79.emf"/></Relationships>
</file>

<file path=ppt/slides/_rels/slide6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50.png"/><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3.xml"/><Relationship Id="rId4" Type="http://schemas.openxmlformats.org/officeDocument/2006/relationships/image" Target="../media/image85.png"/></Relationships>
</file>

<file path=ppt/slides/_rels/slide6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slideLayout" Target="../slideLayouts/slideLayout13.xml"/><Relationship Id="rId1" Type="http://schemas.openxmlformats.org/officeDocument/2006/relationships/tags" Target="../tags/tag20.xml"/></Relationships>
</file>

<file path=ppt/slides/_rels/slide70.xml.rels><?xml version="1.0" encoding="UTF-8" standalone="yes"?>
<Relationships xmlns="http://schemas.openxmlformats.org/package/2006/relationships"><Relationship Id="rId3" Type="http://schemas.openxmlformats.org/officeDocument/2006/relationships/tags" Target="../tags/tag23.xml"/><Relationship Id="rId7" Type="http://schemas.openxmlformats.org/officeDocument/2006/relationships/image" Target="../media/image89.png"/><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tags" Target="../tags/tag26.xml"/><Relationship Id="rId7" Type="http://schemas.openxmlformats.org/officeDocument/2006/relationships/image" Target="../media/image92.png"/><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slideLayout" Target="../slideLayouts/slideLayout13.xml"/><Relationship Id="rId9" Type="http://schemas.openxmlformats.org/officeDocument/2006/relationships/image" Target="../media/image94.jpeg"/></Relationships>
</file>

<file path=ppt/slides/_rels/slide72.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image" Target="../media/image95.jpeg"/><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8" Type="http://schemas.openxmlformats.org/officeDocument/2006/relationships/image" Target="../media/image98.png"/><Relationship Id="rId3" Type="http://schemas.openxmlformats.org/officeDocument/2006/relationships/tags" Target="../tags/tag29.xml"/><Relationship Id="rId7" Type="http://schemas.openxmlformats.org/officeDocument/2006/relationships/image" Target="../media/image97.png"/><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image" Target="../media/image95.png"/><Relationship Id="rId5" Type="http://schemas.openxmlformats.org/officeDocument/2006/relationships/slideLayout" Target="../slideLayouts/slideLayout13.xml"/><Relationship Id="rId10" Type="http://schemas.openxmlformats.org/officeDocument/2006/relationships/image" Target="../media/image100.png"/><Relationship Id="rId4" Type="http://schemas.openxmlformats.org/officeDocument/2006/relationships/tags" Target="../tags/tag30.xml"/><Relationship Id="rId9" Type="http://schemas.openxmlformats.org/officeDocument/2006/relationships/image" Target="../media/image99.png"/></Relationships>
</file>

<file path=ppt/slides/_rels/slide74.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3.xml"/></Relationships>
</file>

<file path=ppt/slides/_rels/slide7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tags" Target="../tags/tag33.xml"/><Relationship Id="rId7" Type="http://schemas.openxmlformats.org/officeDocument/2006/relationships/image" Target="../media/image103.png"/><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image" Target="../media/image101.png"/><Relationship Id="rId5" Type="http://schemas.openxmlformats.org/officeDocument/2006/relationships/slideLayout" Target="../slideLayouts/slideLayout13.xml"/><Relationship Id="rId4" Type="http://schemas.openxmlformats.org/officeDocument/2006/relationships/tags" Target="../tags/tag34.xml"/><Relationship Id="rId9" Type="http://schemas.openxmlformats.org/officeDocument/2006/relationships/image" Target="../media/image105.png"/></Relationships>
</file>

<file path=ppt/slides/_rels/slide76.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36.xml"/><Relationship Id="rId1" Type="http://schemas.openxmlformats.org/officeDocument/2006/relationships/tags" Target="../tags/tag35.xml"/><Relationship Id="rId5" Type="http://schemas.openxmlformats.org/officeDocument/2006/relationships/image" Target="../media/image107.png"/><Relationship Id="rId4" Type="http://schemas.openxmlformats.org/officeDocument/2006/relationships/image" Target="../media/image106.png"/></Relationships>
</file>

<file path=ppt/slides/_rels/slide77.xml.rels><?xml version="1.0" encoding="UTF-8" standalone="yes"?>
<Relationships xmlns="http://schemas.openxmlformats.org/package/2006/relationships"><Relationship Id="rId8" Type="http://schemas.openxmlformats.org/officeDocument/2006/relationships/image" Target="../media/image108.jpeg"/><Relationship Id="rId13" Type="http://schemas.openxmlformats.org/officeDocument/2006/relationships/image" Target="../media/image113.png"/><Relationship Id="rId3" Type="http://schemas.openxmlformats.org/officeDocument/2006/relationships/tags" Target="../tags/tag39.xml"/><Relationship Id="rId7" Type="http://schemas.openxmlformats.org/officeDocument/2006/relationships/slideLayout" Target="../slideLayouts/slideLayout13.xml"/><Relationship Id="rId12" Type="http://schemas.openxmlformats.org/officeDocument/2006/relationships/image" Target="../media/image112.png"/><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image" Target="../media/image111.png"/><Relationship Id="rId5" Type="http://schemas.openxmlformats.org/officeDocument/2006/relationships/tags" Target="../tags/tag41.xml"/><Relationship Id="rId10" Type="http://schemas.openxmlformats.org/officeDocument/2006/relationships/image" Target="../media/image110.png"/><Relationship Id="rId4" Type="http://schemas.openxmlformats.org/officeDocument/2006/relationships/tags" Target="../tags/tag40.xml"/><Relationship Id="rId9" Type="http://schemas.openxmlformats.org/officeDocument/2006/relationships/image" Target="../media/image109.png"/><Relationship Id="rId14" Type="http://schemas.openxmlformats.org/officeDocument/2006/relationships/image" Target="../media/image114.png"/></Relationships>
</file>

<file path=ppt/slides/_rels/slide78.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44.xml"/><Relationship Id="rId1" Type="http://schemas.openxmlformats.org/officeDocument/2006/relationships/tags" Target="../tags/tag43.xml"/><Relationship Id="rId5" Type="http://schemas.openxmlformats.org/officeDocument/2006/relationships/image" Target="../media/image116.png"/><Relationship Id="rId4" Type="http://schemas.openxmlformats.org/officeDocument/2006/relationships/image" Target="../media/image115.png"/></Relationships>
</file>

<file path=ppt/slides/_rels/slide79.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tags" Target="../tags/tag47.xml"/><Relationship Id="rId7" Type="http://schemas.openxmlformats.org/officeDocument/2006/relationships/image" Target="../media/image118.png"/><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117.png"/><Relationship Id="rId5" Type="http://schemas.openxmlformats.org/officeDocument/2006/relationships/slideLayout" Target="../slideLayouts/slideLayout13.xml"/><Relationship Id="rId4" Type="http://schemas.openxmlformats.org/officeDocument/2006/relationships/tags" Target="../tags/tag48.xml"/><Relationship Id="rId9" Type="http://schemas.openxmlformats.org/officeDocument/2006/relationships/image" Target="../media/image120.png"/></Relationships>
</file>

<file path=ppt/slides/_rels/slide80.xml.rels><?xml version="1.0" encoding="UTF-8" standalone="yes"?>
<Relationships xmlns="http://schemas.openxmlformats.org/package/2006/relationships"><Relationship Id="rId3" Type="http://schemas.openxmlformats.org/officeDocument/2006/relationships/image" Target="../media/image121.jpeg"/><Relationship Id="rId2" Type="http://schemas.openxmlformats.org/officeDocument/2006/relationships/slideLayout" Target="../slideLayouts/slideLayout13.xml"/><Relationship Id="rId1" Type="http://schemas.openxmlformats.org/officeDocument/2006/relationships/tags" Target="../tags/tag49.xml"/><Relationship Id="rId4" Type="http://schemas.openxmlformats.org/officeDocument/2006/relationships/image" Target="../media/image122.png"/></Relationships>
</file>

<file path=ppt/slides/_rels/slide81.xml.rels><?xml version="1.0" encoding="UTF-8" standalone="yes"?>
<Relationships xmlns="http://schemas.openxmlformats.org/package/2006/relationships"><Relationship Id="rId8" Type="http://schemas.openxmlformats.org/officeDocument/2006/relationships/image" Target="../media/image125.png"/><Relationship Id="rId3" Type="http://schemas.openxmlformats.org/officeDocument/2006/relationships/tags" Target="../tags/tag52.xml"/><Relationship Id="rId7" Type="http://schemas.openxmlformats.org/officeDocument/2006/relationships/image" Target="../media/image124.png"/><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image" Target="../media/image123.png"/><Relationship Id="rId5" Type="http://schemas.openxmlformats.org/officeDocument/2006/relationships/slideLayout" Target="../slideLayouts/slideLayout13.xml"/><Relationship Id="rId4" Type="http://schemas.openxmlformats.org/officeDocument/2006/relationships/tags" Target="../tags/tag53.xml"/><Relationship Id="rId9" Type="http://schemas.openxmlformats.org/officeDocument/2006/relationships/image" Target="../media/image126.png"/></Relationships>
</file>

<file path=ppt/slides/_rels/slide8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55.xml"/><Relationship Id="rId1" Type="http://schemas.openxmlformats.org/officeDocument/2006/relationships/tags" Target="../tags/tag54.xml"/><Relationship Id="rId5" Type="http://schemas.openxmlformats.org/officeDocument/2006/relationships/image" Target="../media/image128.png"/><Relationship Id="rId4" Type="http://schemas.openxmlformats.org/officeDocument/2006/relationships/image" Target="../media/image12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4.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57.xml"/><Relationship Id="rId1" Type="http://schemas.openxmlformats.org/officeDocument/2006/relationships/tags" Target="../tags/tag56.xml"/><Relationship Id="rId5" Type="http://schemas.openxmlformats.org/officeDocument/2006/relationships/image" Target="../media/image130.png"/><Relationship Id="rId4" Type="http://schemas.openxmlformats.org/officeDocument/2006/relationships/image" Target="../media/image129.png"/></Relationships>
</file>

<file path=ppt/slides/_rels/slide85.xml.rels><?xml version="1.0" encoding="UTF-8" standalone="yes"?>
<Relationships xmlns="http://schemas.openxmlformats.org/package/2006/relationships"><Relationship Id="rId3" Type="http://schemas.openxmlformats.org/officeDocument/2006/relationships/image" Target="../media/image132.jpeg"/><Relationship Id="rId2" Type="http://schemas.openxmlformats.org/officeDocument/2006/relationships/image" Target="../media/image131.jpeg"/><Relationship Id="rId1" Type="http://schemas.openxmlformats.org/officeDocument/2006/relationships/slideLayout" Target="../slideLayouts/slideLayout13.xml"/><Relationship Id="rId5" Type="http://schemas.openxmlformats.org/officeDocument/2006/relationships/image" Target="../media/image134.jpeg"/><Relationship Id="rId4" Type="http://schemas.openxmlformats.org/officeDocument/2006/relationships/image" Target="../media/image133.jpeg"/></Relationships>
</file>

<file path=ppt/slides/_rels/slide86.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tags" Target="../tags/tag60.xml"/><Relationship Id="rId7" Type="http://schemas.openxmlformats.org/officeDocument/2006/relationships/image" Target="../media/image135.png"/><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slideLayout" Target="../slideLayouts/slideLayout13.xml"/><Relationship Id="rId11" Type="http://schemas.openxmlformats.org/officeDocument/2006/relationships/image" Target="../media/image139.png"/><Relationship Id="rId5" Type="http://schemas.openxmlformats.org/officeDocument/2006/relationships/tags" Target="../tags/tag62.xml"/><Relationship Id="rId10" Type="http://schemas.openxmlformats.org/officeDocument/2006/relationships/image" Target="../media/image138.png"/><Relationship Id="rId4" Type="http://schemas.openxmlformats.org/officeDocument/2006/relationships/tags" Target="../tags/tag61.xml"/><Relationship Id="rId9" Type="http://schemas.openxmlformats.org/officeDocument/2006/relationships/image" Target="../media/image137.png"/></Relationships>
</file>

<file path=ppt/slides/_rels/slide87.xml.rels><?xml version="1.0" encoding="UTF-8" standalone="yes"?>
<Relationships xmlns="http://schemas.openxmlformats.org/package/2006/relationships"><Relationship Id="rId8" Type="http://schemas.openxmlformats.org/officeDocument/2006/relationships/image" Target="../media/image141.png"/><Relationship Id="rId3" Type="http://schemas.openxmlformats.org/officeDocument/2006/relationships/tags" Target="../tags/tag65.xml"/><Relationship Id="rId7" Type="http://schemas.openxmlformats.org/officeDocument/2006/relationships/image" Target="../media/image140.png"/><Relationship Id="rId2" Type="http://schemas.openxmlformats.org/officeDocument/2006/relationships/tags" Target="../tags/tag64.xml"/><Relationship Id="rId1" Type="http://schemas.openxmlformats.org/officeDocument/2006/relationships/tags" Target="../tags/tag63.xml"/><Relationship Id="rId6" Type="http://schemas.openxmlformats.org/officeDocument/2006/relationships/slideLayout" Target="../slideLayouts/slideLayout13.xml"/><Relationship Id="rId11" Type="http://schemas.openxmlformats.org/officeDocument/2006/relationships/image" Target="../media/image144.png"/><Relationship Id="rId5" Type="http://schemas.openxmlformats.org/officeDocument/2006/relationships/tags" Target="../tags/tag67.xml"/><Relationship Id="rId10" Type="http://schemas.openxmlformats.org/officeDocument/2006/relationships/image" Target="../media/image143.png"/><Relationship Id="rId4" Type="http://schemas.openxmlformats.org/officeDocument/2006/relationships/tags" Target="../tags/tag66.xml"/><Relationship Id="rId9" Type="http://schemas.openxmlformats.org/officeDocument/2006/relationships/image" Target="../media/image142.png"/></Relationships>
</file>

<file path=ppt/slides/_rels/slide8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slideLayout" Target="../slideLayouts/slideLayout13.xml"/><Relationship Id="rId1" Type="http://schemas.openxmlformats.org/officeDocument/2006/relationships/tags" Target="../tags/tag68.xml"/></Relationships>
</file>

<file path=ppt/slides/_rels/slide89.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70.xml"/><Relationship Id="rId1" Type="http://schemas.openxmlformats.org/officeDocument/2006/relationships/tags" Target="../tags/tag69.xml"/><Relationship Id="rId6" Type="http://schemas.openxmlformats.org/officeDocument/2006/relationships/image" Target="../media/image148.jpeg"/><Relationship Id="rId5" Type="http://schemas.openxmlformats.org/officeDocument/2006/relationships/image" Target="../media/image147.png"/><Relationship Id="rId4" Type="http://schemas.openxmlformats.org/officeDocument/2006/relationships/image" Target="../media/image146.png"/></Relationships>
</file>

<file path=ppt/slides/_rels/slide90.xml.rels><?xml version="1.0" encoding="UTF-8" standalone="yes"?>
<Relationships xmlns="http://schemas.openxmlformats.org/package/2006/relationships"><Relationship Id="rId8" Type="http://schemas.openxmlformats.org/officeDocument/2006/relationships/image" Target="../media/image152.png"/><Relationship Id="rId3" Type="http://schemas.openxmlformats.org/officeDocument/2006/relationships/tags" Target="../tags/tag73.xml"/><Relationship Id="rId7" Type="http://schemas.openxmlformats.org/officeDocument/2006/relationships/image" Target="../media/image151.jpeg"/><Relationship Id="rId2" Type="http://schemas.openxmlformats.org/officeDocument/2006/relationships/tags" Target="../tags/tag72.xml"/><Relationship Id="rId1" Type="http://schemas.openxmlformats.org/officeDocument/2006/relationships/tags" Target="../tags/tag71.xml"/><Relationship Id="rId6" Type="http://schemas.openxmlformats.org/officeDocument/2006/relationships/image" Target="../media/image150.jpeg"/><Relationship Id="rId5" Type="http://schemas.openxmlformats.org/officeDocument/2006/relationships/image" Target="../media/image149.jpeg"/><Relationship Id="rId10" Type="http://schemas.openxmlformats.org/officeDocument/2006/relationships/image" Target="../media/image154.png"/><Relationship Id="rId4" Type="http://schemas.openxmlformats.org/officeDocument/2006/relationships/slideLayout" Target="../slideLayouts/slideLayout13.xml"/><Relationship Id="rId9" Type="http://schemas.openxmlformats.org/officeDocument/2006/relationships/image" Target="../media/image153.png"/></Relationships>
</file>

<file path=ppt/slides/_rels/slide91.xml.rels><?xml version="1.0" encoding="UTF-8" standalone="yes"?>
<Relationships xmlns="http://schemas.openxmlformats.org/package/2006/relationships"><Relationship Id="rId3" Type="http://schemas.openxmlformats.org/officeDocument/2006/relationships/slideLayout" Target="../slideLayouts/slideLayout13.xml"/><Relationship Id="rId7" Type="http://schemas.openxmlformats.org/officeDocument/2006/relationships/image" Target="../media/image158.jpeg"/><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jpeg"/></Relationships>
</file>

<file path=ppt/slides/_rels/slide92.xml.rels><?xml version="1.0" encoding="UTF-8" standalone="yes"?>
<Relationships xmlns="http://schemas.openxmlformats.org/package/2006/relationships"><Relationship Id="rId3" Type="http://schemas.openxmlformats.org/officeDocument/2006/relationships/image" Target="../media/image160.jpeg"/><Relationship Id="rId2" Type="http://schemas.openxmlformats.org/officeDocument/2006/relationships/image" Target="../media/image159.jpeg"/><Relationship Id="rId1" Type="http://schemas.openxmlformats.org/officeDocument/2006/relationships/slideLayout" Target="../slideLayouts/slideLayout13.xml"/><Relationship Id="rId4" Type="http://schemas.openxmlformats.org/officeDocument/2006/relationships/image" Target="../media/image161.jpeg"/></Relationships>
</file>

<file path=ppt/slides/_rels/slide93.xml.rels><?xml version="1.0" encoding="UTF-8" standalone="yes"?>
<Relationships xmlns="http://schemas.openxmlformats.org/package/2006/relationships"><Relationship Id="rId8" Type="http://schemas.openxmlformats.org/officeDocument/2006/relationships/image" Target="../media/image164.png"/><Relationship Id="rId3" Type="http://schemas.openxmlformats.org/officeDocument/2006/relationships/tags" Target="../tags/tag78.xml"/><Relationship Id="rId7" Type="http://schemas.openxmlformats.org/officeDocument/2006/relationships/image" Target="../media/image163.png"/><Relationship Id="rId2" Type="http://schemas.openxmlformats.org/officeDocument/2006/relationships/tags" Target="../tags/tag77.xml"/><Relationship Id="rId1" Type="http://schemas.openxmlformats.org/officeDocument/2006/relationships/tags" Target="../tags/tag76.xml"/><Relationship Id="rId6" Type="http://schemas.openxmlformats.org/officeDocument/2006/relationships/image" Target="../media/image162.png"/><Relationship Id="rId5" Type="http://schemas.openxmlformats.org/officeDocument/2006/relationships/slideLayout" Target="../slideLayouts/slideLayout13.xml"/><Relationship Id="rId10" Type="http://schemas.openxmlformats.org/officeDocument/2006/relationships/image" Target="../media/image166.jpeg"/><Relationship Id="rId4" Type="http://schemas.openxmlformats.org/officeDocument/2006/relationships/tags" Target="../tags/tag79.xml"/><Relationship Id="rId9" Type="http://schemas.openxmlformats.org/officeDocument/2006/relationships/image" Target="../media/image165.png"/></Relationships>
</file>

<file path=ppt/slides/_rels/slide94.xml.rels><?xml version="1.0" encoding="UTF-8" standalone="yes"?>
<Relationships xmlns="http://schemas.openxmlformats.org/package/2006/relationships"><Relationship Id="rId8" Type="http://schemas.openxmlformats.org/officeDocument/2006/relationships/image" Target="../media/image170.jpeg"/><Relationship Id="rId3" Type="http://schemas.openxmlformats.org/officeDocument/2006/relationships/slideLayout" Target="../slideLayouts/slideLayout13.xml"/><Relationship Id="rId7" Type="http://schemas.openxmlformats.org/officeDocument/2006/relationships/image" Target="../media/image169.jpeg"/><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image" Target="../media/image158.jpeg"/><Relationship Id="rId5" Type="http://schemas.openxmlformats.org/officeDocument/2006/relationships/image" Target="../media/image168.png"/><Relationship Id="rId4" Type="http://schemas.openxmlformats.org/officeDocument/2006/relationships/image" Target="../media/image167.png"/></Relationships>
</file>

<file path=ppt/slides/_rels/slide95.xml.rels><?xml version="1.0" encoding="UTF-8" standalone="yes"?>
<Relationships xmlns="http://schemas.openxmlformats.org/package/2006/relationships"><Relationship Id="rId8" Type="http://schemas.openxmlformats.org/officeDocument/2006/relationships/image" Target="../media/image171.png"/><Relationship Id="rId13" Type="http://schemas.openxmlformats.org/officeDocument/2006/relationships/image" Target="../media/image177.png"/><Relationship Id="rId3" Type="http://schemas.openxmlformats.org/officeDocument/2006/relationships/tags" Target="../tags/tag84.xml"/><Relationship Id="rId7" Type="http://schemas.openxmlformats.org/officeDocument/2006/relationships/slideLayout" Target="../slideLayouts/slideLayout13.xml"/><Relationship Id="rId12" Type="http://schemas.openxmlformats.org/officeDocument/2006/relationships/image" Target="../media/image175.png"/><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tags" Target="../tags/tag87.xml"/><Relationship Id="rId11" Type="http://schemas.openxmlformats.org/officeDocument/2006/relationships/image" Target="../media/image174.png"/><Relationship Id="rId5" Type="http://schemas.openxmlformats.org/officeDocument/2006/relationships/tags" Target="../tags/tag86.xml"/><Relationship Id="rId10" Type="http://schemas.openxmlformats.org/officeDocument/2006/relationships/image" Target="../media/image173.png"/><Relationship Id="rId4" Type="http://schemas.openxmlformats.org/officeDocument/2006/relationships/tags" Target="../tags/tag85.xml"/><Relationship Id="rId9" Type="http://schemas.openxmlformats.org/officeDocument/2006/relationships/image" Target="../media/image172.png"/></Relationships>
</file>

<file path=ppt/slides/_rels/slide96.xml.rels><?xml version="1.0" encoding="UTF-8" standalone="yes"?>
<Relationships xmlns="http://schemas.openxmlformats.org/package/2006/relationships"><Relationship Id="rId3" Type="http://schemas.openxmlformats.org/officeDocument/2006/relationships/tags" Target="../tags/tag90.xml"/><Relationship Id="rId7" Type="http://schemas.openxmlformats.org/officeDocument/2006/relationships/image" Target="../media/image180.png"/><Relationship Id="rId2" Type="http://schemas.openxmlformats.org/officeDocument/2006/relationships/tags" Target="../tags/tag89.xml"/><Relationship Id="rId1" Type="http://schemas.openxmlformats.org/officeDocument/2006/relationships/tags" Target="../tags/tag88.xml"/><Relationship Id="rId6" Type="http://schemas.openxmlformats.org/officeDocument/2006/relationships/image" Target="../media/image179.png"/><Relationship Id="rId5" Type="http://schemas.openxmlformats.org/officeDocument/2006/relationships/image" Target="../media/image178.png"/><Relationship Id="rId4" Type="http://schemas.openxmlformats.org/officeDocument/2006/relationships/slideLayout" Target="../slideLayouts/slideLayout13.xml"/></Relationships>
</file>

<file path=ppt/slides/_rels/slide97.xml.rels><?xml version="1.0" encoding="UTF-8" standalone="yes"?>
<Relationships xmlns="http://schemas.openxmlformats.org/package/2006/relationships"><Relationship Id="rId3" Type="http://schemas.openxmlformats.org/officeDocument/2006/relationships/image" Target="../media/image182.jpeg"/><Relationship Id="rId2" Type="http://schemas.openxmlformats.org/officeDocument/2006/relationships/image" Target="../media/image181.jpe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3" Type="http://schemas.openxmlformats.org/officeDocument/2006/relationships/tags" Target="../tags/tag93.xml"/><Relationship Id="rId7" Type="http://schemas.openxmlformats.org/officeDocument/2006/relationships/image" Target="../media/image185.png"/><Relationship Id="rId2" Type="http://schemas.openxmlformats.org/officeDocument/2006/relationships/tags" Target="../tags/tag92.xml"/><Relationship Id="rId1" Type="http://schemas.openxmlformats.org/officeDocument/2006/relationships/tags" Target="../tags/tag91.xml"/><Relationship Id="rId6" Type="http://schemas.openxmlformats.org/officeDocument/2006/relationships/image" Target="../media/image184.png"/><Relationship Id="rId5" Type="http://schemas.openxmlformats.org/officeDocument/2006/relationships/image" Target="../media/image183.png"/><Relationship Id="rId4" Type="http://schemas.openxmlformats.org/officeDocument/2006/relationships/slideLayout" Target="../slideLayouts/slideLayout13.xml"/></Relationships>
</file>

<file path=ppt/slides/_rels/slide99.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94.xml"/><Relationship Id="rId4" Type="http://schemas.openxmlformats.org/officeDocument/2006/relationships/image" Target="../media/image186.png"/></Relationships>
</file>

<file path=ppt/slides/_rels/slide10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95.xml"/><Relationship Id="rId5" Type="http://schemas.openxmlformats.org/officeDocument/2006/relationships/image" Target="../media/image187.png"/><Relationship Id="rId4" Type="http://schemas.openxmlformats.org/officeDocument/2006/relationships/image" Target="../media/image1820.png"/></Relationships>
</file>

<file path=ppt/slides/_rels/slide101.xml.rels><?xml version="1.0" encoding="UTF-8" standalone="yes"?>
<Relationships xmlns="http://schemas.openxmlformats.org/package/2006/relationships"><Relationship Id="rId3" Type="http://schemas.openxmlformats.org/officeDocument/2006/relationships/image" Target="../media/image1840.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188.jpeg"/></Relationships>
</file>

<file path=ppt/slides/_rels/slide102.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97.xml"/><Relationship Id="rId1" Type="http://schemas.openxmlformats.org/officeDocument/2006/relationships/tags" Target="../tags/tag96.xml"/><Relationship Id="rId6" Type="http://schemas.openxmlformats.org/officeDocument/2006/relationships/image" Target="../media/image190.png"/><Relationship Id="rId5" Type="http://schemas.openxmlformats.org/officeDocument/2006/relationships/image" Target="../media/image189.png"/><Relationship Id="rId4" Type="http://schemas.openxmlformats.org/officeDocument/2006/relationships/notesSlide" Target="../notesSlides/notesSlide5.xml"/></Relationships>
</file>

<file path=ppt/slides/_rels/slide103.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99.xml"/><Relationship Id="rId1" Type="http://schemas.openxmlformats.org/officeDocument/2006/relationships/tags" Target="../tags/tag98.xml"/><Relationship Id="rId5" Type="http://schemas.openxmlformats.org/officeDocument/2006/relationships/image" Target="../media/image192.png"/><Relationship Id="rId4" Type="http://schemas.openxmlformats.org/officeDocument/2006/relationships/image" Target="../media/image191.png"/></Relationships>
</file>

<file path=ppt/slides/_rels/slide104.xml.rels><?xml version="1.0" encoding="UTF-8" standalone="yes"?>
<Relationships xmlns="http://schemas.openxmlformats.org/package/2006/relationships"><Relationship Id="rId3" Type="http://schemas.openxmlformats.org/officeDocument/2006/relationships/image" Target="../media/image193.jpeg"/><Relationship Id="rId2" Type="http://schemas.openxmlformats.org/officeDocument/2006/relationships/slideLayout" Target="../slideLayouts/slideLayout13.xml"/><Relationship Id="rId1" Type="http://schemas.openxmlformats.org/officeDocument/2006/relationships/tags" Target="../tags/tag100.xml"/><Relationship Id="rId4" Type="http://schemas.openxmlformats.org/officeDocument/2006/relationships/image" Target="../media/image194.png"/></Relationships>
</file>

<file path=ppt/slides/_rels/slide105.xml.rels><?xml version="1.0" encoding="UTF-8" standalone="yes"?>
<Relationships xmlns="http://schemas.openxmlformats.org/package/2006/relationships"><Relationship Id="rId3" Type="http://schemas.openxmlformats.org/officeDocument/2006/relationships/image" Target="../media/image196.jpeg"/><Relationship Id="rId2" Type="http://schemas.openxmlformats.org/officeDocument/2006/relationships/image" Target="../media/image195.jpeg"/><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97.png"/><Relationship Id="rId2" Type="http://schemas.openxmlformats.org/officeDocument/2006/relationships/slideLayout" Target="../slideLayouts/slideLayout13.xml"/><Relationship Id="rId1" Type="http://schemas.openxmlformats.org/officeDocument/2006/relationships/tags" Target="../tags/tag101.xml"/></Relationships>
</file>

<file path=ppt/slides/_rels/slide107.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03.xml"/><Relationship Id="rId1" Type="http://schemas.openxmlformats.org/officeDocument/2006/relationships/tags" Target="../tags/tag102.xml"/><Relationship Id="rId5" Type="http://schemas.openxmlformats.org/officeDocument/2006/relationships/image" Target="../media/image199.png"/><Relationship Id="rId4" Type="http://schemas.openxmlformats.org/officeDocument/2006/relationships/image" Target="../media/image198.png"/></Relationships>
</file>

<file path=ppt/slides/_rels/slide108.xml.rels><?xml version="1.0" encoding="UTF-8" standalone="yes"?>
<Relationships xmlns="http://schemas.openxmlformats.org/package/2006/relationships"><Relationship Id="rId3" Type="http://schemas.openxmlformats.org/officeDocument/2006/relationships/image" Target="../media/image201.jpeg"/><Relationship Id="rId2" Type="http://schemas.openxmlformats.org/officeDocument/2006/relationships/image" Target="../media/image200.jpeg"/><Relationship Id="rId1" Type="http://schemas.openxmlformats.org/officeDocument/2006/relationships/slideLayout" Target="../slideLayouts/slideLayout15.xml"/></Relationships>
</file>

<file path=ppt/slides/_rels/slide10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tags" Target="../tags/tag106.xml"/><Relationship Id="rId7" Type="http://schemas.openxmlformats.org/officeDocument/2006/relationships/image" Target="../media/image202.png"/><Relationship Id="rId2" Type="http://schemas.openxmlformats.org/officeDocument/2006/relationships/tags" Target="../tags/tag105.xml"/><Relationship Id="rId1" Type="http://schemas.openxmlformats.org/officeDocument/2006/relationships/tags" Target="../tags/tag104.xml"/><Relationship Id="rId6" Type="http://schemas.openxmlformats.org/officeDocument/2006/relationships/image" Target="../media/image1990.png"/><Relationship Id="rId5" Type="http://schemas.openxmlformats.org/officeDocument/2006/relationships/slideLayout" Target="../slideLayouts/slideLayout13.xml"/><Relationship Id="rId10" Type="http://schemas.openxmlformats.org/officeDocument/2006/relationships/image" Target="../media/image205.png"/><Relationship Id="rId4" Type="http://schemas.openxmlformats.org/officeDocument/2006/relationships/tags" Target="../tags/tag107.xml"/><Relationship Id="rId9" Type="http://schemas.openxmlformats.org/officeDocument/2006/relationships/image" Target="../media/image204.png"/></Relationships>
</file>

<file path=ppt/slides/_rels/slide110.xml.rels><?xml version="1.0" encoding="UTF-8" standalone="yes"?>
<Relationships xmlns="http://schemas.openxmlformats.org/package/2006/relationships"><Relationship Id="rId3" Type="http://schemas.openxmlformats.org/officeDocument/2006/relationships/image" Target="../media/image207.jpeg"/><Relationship Id="rId2" Type="http://schemas.openxmlformats.org/officeDocument/2006/relationships/image" Target="../media/image206.jpeg"/><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tags" Target="../tags/tag109.xml"/><Relationship Id="rId1" Type="http://schemas.openxmlformats.org/officeDocument/2006/relationships/tags" Target="../tags/tag108.xml"/><Relationship Id="rId6" Type="http://schemas.openxmlformats.org/officeDocument/2006/relationships/image" Target="../media/image210.png"/><Relationship Id="rId5" Type="http://schemas.openxmlformats.org/officeDocument/2006/relationships/image" Target="../media/image209.jpeg"/><Relationship Id="rId4" Type="http://schemas.openxmlformats.org/officeDocument/2006/relationships/image" Target="../media/image208.png"/></Relationships>
</file>

<file path=ppt/slides/_rels/slide112.xml.rels><?xml version="1.0" encoding="UTF-8" standalone="yes"?>
<Relationships xmlns="http://schemas.openxmlformats.org/package/2006/relationships"><Relationship Id="rId3" Type="http://schemas.openxmlformats.org/officeDocument/2006/relationships/image" Target="../media/image212.jpeg"/><Relationship Id="rId2" Type="http://schemas.openxmlformats.org/officeDocument/2006/relationships/image" Target="../media/image211.jpeg"/><Relationship Id="rId1" Type="http://schemas.openxmlformats.org/officeDocument/2006/relationships/slideLayout" Target="../slideLayouts/slideLayout15.xml"/><Relationship Id="rId4" Type="http://schemas.openxmlformats.org/officeDocument/2006/relationships/image" Target="../media/image213.jpeg"/></Relationships>
</file>

<file path=ppt/slides/_rels/slide113.xml.rels><?xml version="1.0" encoding="UTF-8" standalone="yes"?>
<Relationships xmlns="http://schemas.openxmlformats.org/package/2006/relationships"><Relationship Id="rId3" Type="http://schemas.openxmlformats.org/officeDocument/2006/relationships/slideLayout" Target="../slideLayouts/slideLayout13.xml"/><Relationship Id="rId2" Type="http://schemas.openxmlformats.org/officeDocument/2006/relationships/tags" Target="../tags/tag111.xml"/><Relationship Id="rId1" Type="http://schemas.openxmlformats.org/officeDocument/2006/relationships/tags" Target="../tags/tag110.xml"/><Relationship Id="rId6" Type="http://schemas.openxmlformats.org/officeDocument/2006/relationships/image" Target="../media/image215.png"/><Relationship Id="rId5" Type="http://schemas.openxmlformats.org/officeDocument/2006/relationships/image" Target="../media/image214.png"/><Relationship Id="rId4" Type="http://schemas.openxmlformats.org/officeDocument/2006/relationships/image" Target="../media/image212.png"/></Relationships>
</file>

<file path=ppt/slides/_rels/slide114.xml.rels><?xml version="1.0" encoding="UTF-8" standalone="yes"?>
<Relationships xmlns="http://schemas.openxmlformats.org/package/2006/relationships"><Relationship Id="rId3" Type="http://schemas.openxmlformats.org/officeDocument/2006/relationships/image" Target="../media/image2150.png"/><Relationship Id="rId2" Type="http://schemas.openxmlformats.org/officeDocument/2006/relationships/slideLayout" Target="../slideLayouts/slideLayout26.xml"/><Relationship Id="rId1" Type="http://schemas.openxmlformats.org/officeDocument/2006/relationships/tags" Target="../tags/tag112.xml"/><Relationship Id="rId5" Type="http://schemas.openxmlformats.org/officeDocument/2006/relationships/image" Target="../media/image217.jpeg"/><Relationship Id="rId4" Type="http://schemas.openxmlformats.org/officeDocument/2006/relationships/image" Target="../media/image216.png"/></Relationships>
</file>

<file path=ppt/slides/_rels/slide115.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tags" Target="../tags/tag115.xml"/><Relationship Id="rId7" Type="http://schemas.openxmlformats.org/officeDocument/2006/relationships/image" Target="../media/image219.png"/><Relationship Id="rId2" Type="http://schemas.openxmlformats.org/officeDocument/2006/relationships/tags" Target="../tags/tag114.xml"/><Relationship Id="rId1" Type="http://schemas.openxmlformats.org/officeDocument/2006/relationships/tags" Target="../tags/tag113.xml"/><Relationship Id="rId6" Type="http://schemas.openxmlformats.org/officeDocument/2006/relationships/image" Target="../media/image218.png"/><Relationship Id="rId5" Type="http://schemas.openxmlformats.org/officeDocument/2006/relationships/slideLayout" Target="../slideLayouts/slideLayout26.xml"/><Relationship Id="rId4" Type="http://schemas.openxmlformats.org/officeDocument/2006/relationships/tags" Target="../tags/tag116.xml"/><Relationship Id="rId9" Type="http://schemas.openxmlformats.org/officeDocument/2006/relationships/image" Target="../media/image221.png"/></Relationships>
</file>

<file path=ppt/slides/_rels/slide116.xml.rels><?xml version="1.0" encoding="UTF-8" standalone="yes"?>
<Relationships xmlns="http://schemas.openxmlformats.org/package/2006/relationships"><Relationship Id="rId3" Type="http://schemas.openxmlformats.org/officeDocument/2006/relationships/tags" Target="../tags/tag119.xml"/><Relationship Id="rId7" Type="http://schemas.openxmlformats.org/officeDocument/2006/relationships/image" Target="../media/image224.png"/><Relationship Id="rId2" Type="http://schemas.openxmlformats.org/officeDocument/2006/relationships/tags" Target="../tags/tag118.xml"/><Relationship Id="rId1" Type="http://schemas.openxmlformats.org/officeDocument/2006/relationships/tags" Target="../tags/tag117.xml"/><Relationship Id="rId6" Type="http://schemas.openxmlformats.org/officeDocument/2006/relationships/image" Target="../media/image223.png"/><Relationship Id="rId5" Type="http://schemas.openxmlformats.org/officeDocument/2006/relationships/image" Target="../media/image222.png"/><Relationship Id="rId4"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slideLayout" Target="../slideLayouts/slideLayout26.xml"/><Relationship Id="rId2" Type="http://schemas.openxmlformats.org/officeDocument/2006/relationships/tags" Target="../tags/tag121.xml"/><Relationship Id="rId1" Type="http://schemas.openxmlformats.org/officeDocument/2006/relationships/tags" Target="../tags/tag120.xml"/><Relationship Id="rId6" Type="http://schemas.openxmlformats.org/officeDocument/2006/relationships/image" Target="../media/image227.jpeg"/><Relationship Id="rId5" Type="http://schemas.openxmlformats.org/officeDocument/2006/relationships/image" Target="../media/image226.png"/><Relationship Id="rId4" Type="http://schemas.openxmlformats.org/officeDocument/2006/relationships/image" Target="../media/image225.png"/></Relationships>
</file>

<file path=ppt/slides/_rels/slide118.xml.rels><?xml version="1.0" encoding="UTF-8" standalone="yes"?>
<Relationships xmlns="http://schemas.openxmlformats.org/package/2006/relationships"><Relationship Id="rId3" Type="http://schemas.openxmlformats.org/officeDocument/2006/relationships/image" Target="../media/image228.jpeg"/><Relationship Id="rId2" Type="http://schemas.openxmlformats.org/officeDocument/2006/relationships/slideLayout" Target="../slideLayouts/slideLayout26.xml"/><Relationship Id="rId1" Type="http://schemas.openxmlformats.org/officeDocument/2006/relationships/tags" Target="../tags/tag122.xml"/><Relationship Id="rId4" Type="http://schemas.openxmlformats.org/officeDocument/2006/relationships/image" Target="../media/image229.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120.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tags" Target="../tags/tag125.xml"/><Relationship Id="rId7" Type="http://schemas.openxmlformats.org/officeDocument/2006/relationships/image" Target="../media/image230.png"/><Relationship Id="rId2" Type="http://schemas.openxmlformats.org/officeDocument/2006/relationships/tags" Target="../tags/tag124.xml"/><Relationship Id="rId1" Type="http://schemas.openxmlformats.org/officeDocument/2006/relationships/tags" Target="../tags/tag123.xml"/><Relationship Id="rId6" Type="http://schemas.openxmlformats.org/officeDocument/2006/relationships/slideLayout" Target="../slideLayouts/slideLayout24.xml"/><Relationship Id="rId11" Type="http://schemas.openxmlformats.org/officeDocument/2006/relationships/image" Target="../media/image234.png"/><Relationship Id="rId5" Type="http://schemas.openxmlformats.org/officeDocument/2006/relationships/tags" Target="../tags/tag127.xml"/><Relationship Id="rId10" Type="http://schemas.openxmlformats.org/officeDocument/2006/relationships/image" Target="../media/image233.png"/><Relationship Id="rId4" Type="http://schemas.openxmlformats.org/officeDocument/2006/relationships/tags" Target="../tags/tag126.xml"/><Relationship Id="rId9" Type="http://schemas.openxmlformats.org/officeDocument/2006/relationships/image" Target="../media/image232.png"/></Relationships>
</file>

<file path=ppt/slides/_rels/slide121.xml.rels><?xml version="1.0" encoding="UTF-8" standalone="yes"?>
<Relationships xmlns="http://schemas.openxmlformats.org/package/2006/relationships"><Relationship Id="rId3" Type="http://schemas.openxmlformats.org/officeDocument/2006/relationships/image" Target="../media/image236.jpeg"/><Relationship Id="rId2" Type="http://schemas.openxmlformats.org/officeDocument/2006/relationships/image" Target="../media/image235.jpeg"/><Relationship Id="rId1" Type="http://schemas.openxmlformats.org/officeDocument/2006/relationships/slideLayout" Target="../slideLayouts/slideLayout24.xml"/></Relationships>
</file>

<file path=ppt/slides/_rels/slide122.xml.rels><?xml version="1.0" encoding="UTF-8" standalone="yes"?>
<Relationships xmlns="http://schemas.openxmlformats.org/package/2006/relationships"><Relationship Id="rId3" Type="http://schemas.openxmlformats.org/officeDocument/2006/relationships/image" Target="../media/image237.jpeg"/><Relationship Id="rId2" Type="http://schemas.openxmlformats.org/officeDocument/2006/relationships/slideLayout" Target="../slideLayouts/slideLayout24.xml"/><Relationship Id="rId1" Type="http://schemas.openxmlformats.org/officeDocument/2006/relationships/tags" Target="../tags/tag128.xml"/><Relationship Id="rId6" Type="http://schemas.openxmlformats.org/officeDocument/2006/relationships/image" Target="../media/image240.png"/><Relationship Id="rId5" Type="http://schemas.openxmlformats.org/officeDocument/2006/relationships/image" Target="../media/image239.jpeg"/><Relationship Id="rId4" Type="http://schemas.openxmlformats.org/officeDocument/2006/relationships/image" Target="../media/image238.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0" y="1435260"/>
            <a:ext cx="9144000" cy="1230022"/>
          </a:xfrm>
        </p:spPr>
        <p:txBody>
          <a:bodyPr>
            <a:noAutofit/>
          </a:bodyPr>
          <a:lstStyle/>
          <a:p>
            <a:r>
              <a:rPr lang="ru-RU" sz="4000" dirty="0"/>
              <a:t>Машинное обучение</a:t>
            </a:r>
            <a:br>
              <a:rPr lang="ru-RU" sz="4000" dirty="0"/>
            </a:br>
            <a:r>
              <a:rPr lang="ru-RU" sz="4000" dirty="0"/>
              <a:t>(краткий курс)</a:t>
            </a:r>
          </a:p>
        </p:txBody>
      </p:sp>
      <p:sp>
        <p:nvSpPr>
          <p:cNvPr id="3" name="Подзаголовок 2"/>
          <p:cNvSpPr>
            <a:spLocks noGrp="1"/>
          </p:cNvSpPr>
          <p:nvPr>
            <p:ph type="subTitle" idx="1"/>
          </p:nvPr>
        </p:nvSpPr>
        <p:spPr>
          <a:xfrm>
            <a:off x="1847088" y="5293253"/>
            <a:ext cx="5449824" cy="1420368"/>
          </a:xfrm>
        </p:spPr>
        <p:txBody>
          <a:bodyPr>
            <a:normAutofit fontScale="85000" lnSpcReduction="20000"/>
          </a:bodyPr>
          <a:lstStyle/>
          <a:p>
            <a:r>
              <a:rPr lang="ru-RU" dirty="0"/>
              <a:t>Судаков Владимир Анатольевич</a:t>
            </a:r>
            <a:r>
              <a:rPr lang="en-US" dirty="0"/>
              <a:t>,</a:t>
            </a:r>
            <a:endParaRPr lang="ru-RU" dirty="0"/>
          </a:p>
          <a:p>
            <a:r>
              <a:rPr lang="ru-RU" dirty="0"/>
              <a:t>Профессор кафедры 806</a:t>
            </a:r>
          </a:p>
          <a:p>
            <a:r>
              <a:rPr lang="en-US" dirty="0">
                <a:hlinkClick r:id="rId2"/>
              </a:rPr>
              <a:t>sudakov@ws-dss.com</a:t>
            </a:r>
            <a:endParaRPr lang="ru-RU" dirty="0"/>
          </a:p>
          <a:p>
            <a:r>
              <a:rPr lang="ru-RU" dirty="0"/>
              <a:t>2026</a:t>
            </a:r>
          </a:p>
        </p:txBody>
      </p:sp>
    </p:spTree>
    <p:extLst>
      <p:ext uri="{BB962C8B-B14F-4D97-AF65-F5344CB8AC3E}">
        <p14:creationId xmlns:p14="http://schemas.microsoft.com/office/powerpoint/2010/main" val="16816927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628650" y="0"/>
            <a:ext cx="7886700" cy="1325563"/>
          </a:xfrm>
        </p:spPr>
        <p:txBody>
          <a:bodyPr/>
          <a:lstStyle/>
          <a:p>
            <a:r>
              <a:rPr lang="ru-RU" dirty="0"/>
              <a:t>Содержание</a:t>
            </a:r>
          </a:p>
        </p:txBody>
      </p:sp>
      <p:sp>
        <p:nvSpPr>
          <p:cNvPr id="3" name="Объект 2"/>
          <p:cNvSpPr>
            <a:spLocks noGrp="1"/>
          </p:cNvSpPr>
          <p:nvPr>
            <p:ph idx="1"/>
          </p:nvPr>
        </p:nvSpPr>
        <p:spPr>
          <a:xfrm>
            <a:off x="628650" y="1000898"/>
            <a:ext cx="7886700" cy="5622324"/>
          </a:xfrm>
        </p:spPr>
        <p:txBody>
          <a:bodyPr>
            <a:normAutofit/>
          </a:bodyPr>
          <a:lstStyle/>
          <a:p>
            <a:r>
              <a:rPr lang="ru-RU" dirty="0"/>
              <a:t>Определение, классификация</a:t>
            </a:r>
          </a:p>
          <a:p>
            <a:r>
              <a:rPr lang="ru-RU" dirty="0"/>
              <a:t>Линейные модели</a:t>
            </a:r>
          </a:p>
          <a:p>
            <a:pPr lvl="1"/>
            <a:r>
              <a:rPr lang="ru-RU" dirty="0"/>
              <a:t>регрессия</a:t>
            </a:r>
          </a:p>
          <a:p>
            <a:pPr lvl="1"/>
            <a:r>
              <a:rPr lang="ru-RU" dirty="0"/>
              <a:t>классификация</a:t>
            </a:r>
          </a:p>
          <a:p>
            <a:r>
              <a:rPr lang="ru-RU" dirty="0"/>
              <a:t>Ядерные методы</a:t>
            </a:r>
          </a:p>
          <a:p>
            <a:r>
              <a:rPr lang="ru-RU" dirty="0"/>
              <a:t>Деревья решений</a:t>
            </a:r>
          </a:p>
          <a:p>
            <a:r>
              <a:rPr lang="ru-RU" dirty="0" err="1"/>
              <a:t>Графовые</a:t>
            </a:r>
            <a:r>
              <a:rPr lang="ru-RU" dirty="0"/>
              <a:t> модели</a:t>
            </a:r>
          </a:p>
          <a:p>
            <a:r>
              <a:rPr lang="ru-RU" dirty="0"/>
              <a:t>EM-алгоритм</a:t>
            </a:r>
          </a:p>
        </p:txBody>
      </p:sp>
      <p:sp>
        <p:nvSpPr>
          <p:cNvPr id="4" name="Номер слайда 3"/>
          <p:cNvSpPr>
            <a:spLocks noGrp="1"/>
          </p:cNvSpPr>
          <p:nvPr>
            <p:ph type="sldNum" sz="quarter" idx="12"/>
          </p:nvPr>
        </p:nvSpPr>
        <p:spPr/>
        <p:txBody>
          <a:bodyPr/>
          <a:lstStyle/>
          <a:p>
            <a:fld id="{213A858D-DC13-7F48-8EE5-FA8D0F7167EE}" type="slidenum">
              <a:rPr lang="ru-RU" smtClean="0"/>
              <a:t>2</a:t>
            </a:fld>
            <a:endParaRPr lang="ru-RU"/>
          </a:p>
        </p:txBody>
      </p:sp>
    </p:spTree>
    <p:extLst>
      <p:ext uri="{BB962C8B-B14F-4D97-AF65-F5344CB8AC3E}">
        <p14:creationId xmlns:p14="http://schemas.microsoft.com/office/powerpoint/2010/main" val="846930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628650" y="83125"/>
            <a:ext cx="7886700" cy="617517"/>
          </a:xfrm>
        </p:spPr>
        <p:txBody>
          <a:bodyPr>
            <a:normAutofit fontScale="90000"/>
          </a:bodyPr>
          <a:lstStyle/>
          <a:p>
            <a:r>
              <a:rPr lang="ru-RU" dirty="0"/>
              <a:t>Литература</a:t>
            </a:r>
          </a:p>
        </p:txBody>
      </p:sp>
      <p:sp>
        <p:nvSpPr>
          <p:cNvPr id="3" name="Объект 2"/>
          <p:cNvSpPr>
            <a:spLocks noGrp="1"/>
          </p:cNvSpPr>
          <p:nvPr>
            <p:ph idx="1"/>
          </p:nvPr>
        </p:nvSpPr>
        <p:spPr>
          <a:xfrm>
            <a:off x="628650" y="1076446"/>
            <a:ext cx="7886700" cy="5382227"/>
          </a:xfrm>
        </p:spPr>
        <p:txBody>
          <a:bodyPr>
            <a:normAutofit fontScale="92500" lnSpcReduction="20000"/>
          </a:bodyPr>
          <a:lstStyle/>
          <a:p>
            <a:pPr>
              <a:lnSpc>
                <a:spcPct val="145000"/>
              </a:lnSpc>
            </a:pPr>
            <a:r>
              <a:rPr lang="ru-RU" sz="1800" dirty="0"/>
              <a:t>Кристофер Бишоп. Распознавание образов и машинное обучение (</a:t>
            </a:r>
            <a:r>
              <a:rPr lang="ru-RU" sz="1800" dirty="0" err="1"/>
              <a:t>P</a:t>
            </a:r>
            <a:r>
              <a:rPr lang="en-US" sz="1800" dirty="0"/>
              <a:t>RML book</a:t>
            </a:r>
            <a:r>
              <a:rPr lang="ru-RU" sz="1800" dirty="0"/>
              <a:t>)</a:t>
            </a:r>
            <a:endParaRPr lang="en-US" sz="1800" dirty="0"/>
          </a:p>
          <a:p>
            <a:pPr>
              <a:lnSpc>
                <a:spcPct val="145000"/>
              </a:lnSpc>
            </a:pPr>
            <a:r>
              <a:rPr lang="ru-RU" sz="1800" dirty="0" err="1"/>
              <a:t>Кэвин</a:t>
            </a:r>
            <a:r>
              <a:rPr lang="ru-RU" sz="1800" dirty="0"/>
              <a:t> </a:t>
            </a:r>
            <a:r>
              <a:rPr lang="ru-RU" sz="1800" dirty="0" err="1"/>
              <a:t>Мэрфи</a:t>
            </a:r>
            <a:r>
              <a:rPr lang="ru-RU" sz="1800" dirty="0"/>
              <a:t>. Вероятностное машинное обучение: Введение</a:t>
            </a:r>
            <a:endParaRPr lang="en-US" sz="1800" dirty="0"/>
          </a:p>
          <a:p>
            <a:pPr>
              <a:lnSpc>
                <a:spcPct val="145000"/>
              </a:lnSpc>
            </a:pPr>
            <a:r>
              <a:rPr lang="ru-RU" sz="1800" b="0" i="0" u="none" strike="noStrike" dirty="0" err="1">
                <a:solidFill>
                  <a:srgbClr val="000000"/>
                </a:solidFill>
                <a:effectLst/>
                <a:latin typeface="-apple-system"/>
              </a:rPr>
              <a:t>Джоэл</a:t>
            </a:r>
            <a:r>
              <a:rPr lang="ru-RU" sz="1800" b="0" i="0" u="none" strike="noStrike" dirty="0">
                <a:solidFill>
                  <a:srgbClr val="000000"/>
                </a:solidFill>
                <a:effectLst/>
                <a:latin typeface="-apple-system"/>
              </a:rPr>
              <a:t> </a:t>
            </a:r>
            <a:r>
              <a:rPr lang="ru-RU" sz="1800" b="0" i="0" u="none" strike="noStrike" dirty="0" err="1">
                <a:solidFill>
                  <a:srgbClr val="000000"/>
                </a:solidFill>
                <a:effectLst/>
                <a:latin typeface="-apple-system"/>
              </a:rPr>
              <a:t>Грас</a:t>
            </a:r>
            <a:r>
              <a:rPr lang="en-US" sz="1800" b="0" i="0" u="none" strike="noStrike" dirty="0">
                <a:solidFill>
                  <a:srgbClr val="000000"/>
                </a:solidFill>
                <a:effectLst/>
                <a:latin typeface="-apple-system"/>
              </a:rPr>
              <a:t>.</a:t>
            </a:r>
            <a:r>
              <a:rPr lang="ru-RU" sz="1800" b="0" i="0" u="none" strike="noStrike" dirty="0">
                <a:solidFill>
                  <a:srgbClr val="000000"/>
                </a:solidFill>
                <a:effectLst/>
                <a:latin typeface="-apple-system"/>
              </a:rPr>
              <a:t> </a:t>
            </a:r>
            <a:r>
              <a:rPr lang="en" sz="1800" b="0" i="0" u="none" strike="noStrike" dirty="0">
                <a:solidFill>
                  <a:srgbClr val="000000"/>
                </a:solidFill>
                <a:effectLst/>
                <a:latin typeface="-apple-system"/>
              </a:rPr>
              <a:t>Data science. </a:t>
            </a:r>
            <a:r>
              <a:rPr lang="ru-RU" sz="1800" b="0" i="0" u="none" strike="noStrike" dirty="0">
                <a:solidFill>
                  <a:srgbClr val="000000"/>
                </a:solidFill>
                <a:effectLst/>
                <a:latin typeface="-apple-system"/>
              </a:rPr>
              <a:t>Наука о данных с нуля</a:t>
            </a:r>
          </a:p>
          <a:p>
            <a:pPr>
              <a:lnSpc>
                <a:spcPct val="145000"/>
              </a:lnSpc>
            </a:pPr>
            <a:r>
              <a:rPr lang="ru-RU" sz="1800" dirty="0"/>
              <a:t>Машинное обучение (курс лекций, </a:t>
            </a:r>
            <a:r>
              <a:rPr lang="ru-RU" sz="1800" dirty="0" err="1"/>
              <a:t>К.В.Воронцов</a:t>
            </a:r>
            <a:r>
              <a:rPr lang="ru-RU" sz="1800" dirty="0"/>
              <a:t>)</a:t>
            </a:r>
          </a:p>
          <a:p>
            <a:pPr>
              <a:lnSpc>
                <a:spcPct val="145000"/>
              </a:lnSpc>
            </a:pPr>
            <a:r>
              <a:rPr lang="ru-RU" sz="1800" dirty="0"/>
              <a:t>Машинное обучение и анализ данных (курс лекций, </a:t>
            </a:r>
            <a:r>
              <a:rPr lang="ru-RU" sz="1800" dirty="0" err="1"/>
              <a:t>А.Г.Дьяконов</a:t>
            </a:r>
            <a:r>
              <a:rPr lang="ru-RU" sz="1800" dirty="0"/>
              <a:t>)</a:t>
            </a:r>
          </a:p>
          <a:p>
            <a:pPr>
              <a:lnSpc>
                <a:spcPct val="145000"/>
              </a:lnSpc>
            </a:pPr>
            <a:r>
              <a:rPr lang="ru-RU" sz="1800" dirty="0"/>
              <a:t>Стюарт Рассел, Питер </a:t>
            </a:r>
            <a:r>
              <a:rPr lang="ru-RU" sz="1800" dirty="0" err="1"/>
              <a:t>Норвиг</a:t>
            </a:r>
            <a:r>
              <a:rPr lang="ru-RU" sz="1800" dirty="0"/>
              <a:t>. Искусственный интеллект: современный подход (AIMA-2)</a:t>
            </a:r>
          </a:p>
          <a:p>
            <a:pPr>
              <a:lnSpc>
                <a:spcPct val="145000"/>
              </a:lnSpc>
            </a:pPr>
            <a:r>
              <a:rPr lang="ru-RU" sz="1800" dirty="0"/>
              <a:t>Судаков В.А., Титов Ю.П. Методы искусственного интеллекта в информационных системах: Учебник — М.: МИРЭА, 2024.</a:t>
            </a:r>
          </a:p>
          <a:p>
            <a:pPr>
              <a:lnSpc>
                <a:spcPct val="145000"/>
              </a:lnSpc>
            </a:pPr>
            <a:r>
              <a:rPr lang="ru-RU" sz="1800" dirty="0" err="1"/>
              <a:t>Саттон</a:t>
            </a:r>
            <a:r>
              <a:rPr lang="ru-RU" sz="1800" dirty="0"/>
              <a:t> Ричард С., </a:t>
            </a:r>
            <a:r>
              <a:rPr lang="ru-RU" sz="1800" dirty="0" err="1"/>
              <a:t>Барто</a:t>
            </a:r>
            <a:r>
              <a:rPr lang="ru-RU" sz="1800" dirty="0"/>
              <a:t> Эндрю Г. Обучение с подкреплением</a:t>
            </a:r>
          </a:p>
          <a:p>
            <a:pPr>
              <a:lnSpc>
                <a:spcPct val="145000"/>
              </a:lnSpc>
            </a:pPr>
            <a:r>
              <a:rPr lang="en" sz="1800" dirty="0">
                <a:hlinkClick r:id="rId2"/>
              </a:rPr>
              <a:t>https://github.com/sudakov/ai-lab</a:t>
            </a:r>
            <a:endParaRPr lang="en-US" sz="1800" dirty="0"/>
          </a:p>
          <a:p>
            <a:pPr>
              <a:lnSpc>
                <a:spcPct val="145000"/>
              </a:lnSpc>
            </a:pPr>
            <a:r>
              <a:rPr lang="en" sz="1800" dirty="0">
                <a:hlinkClick r:id="rId3"/>
              </a:rPr>
              <a:t>https://github.com/sudakov/math-for-ds/tree/main/Bayes</a:t>
            </a:r>
            <a:endParaRPr lang="en-US" sz="1800" dirty="0"/>
          </a:p>
          <a:p>
            <a:pPr>
              <a:lnSpc>
                <a:spcPct val="145000"/>
              </a:lnSpc>
            </a:pPr>
            <a:endParaRPr lang="ru-RU" sz="1800" dirty="0"/>
          </a:p>
        </p:txBody>
      </p:sp>
      <p:sp>
        <p:nvSpPr>
          <p:cNvPr id="4" name="Номер слайда 3"/>
          <p:cNvSpPr>
            <a:spLocks noGrp="1"/>
          </p:cNvSpPr>
          <p:nvPr>
            <p:ph type="sldNum" sz="quarter" idx="12"/>
          </p:nvPr>
        </p:nvSpPr>
        <p:spPr/>
        <p:txBody>
          <a:bodyPr/>
          <a:lstStyle/>
          <a:p>
            <a:fld id="{213A858D-DC13-7F48-8EE5-FA8D0F7167EE}" type="slidenum">
              <a:rPr lang="ru-RU" smtClean="0"/>
              <a:t>3</a:t>
            </a:fld>
            <a:endParaRPr lang="ru-RU"/>
          </a:p>
        </p:txBody>
      </p:sp>
    </p:spTree>
    <p:extLst>
      <p:ext uri="{BB962C8B-B14F-4D97-AF65-F5344CB8AC3E}">
        <p14:creationId xmlns:p14="http://schemas.microsoft.com/office/powerpoint/2010/main" val="2114738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87411BB-031E-F244-A9BE-4119143F62BF}"/>
              </a:ext>
            </a:extLst>
          </p:cNvPr>
          <p:cNvSpPr>
            <a:spLocks noGrp="1"/>
          </p:cNvSpPr>
          <p:nvPr>
            <p:ph type="title"/>
          </p:nvPr>
        </p:nvSpPr>
        <p:spPr/>
        <p:txBody>
          <a:bodyPr/>
          <a:lstStyle/>
          <a:p>
            <a:r>
              <a:rPr lang="ru-RU" dirty="0"/>
              <a:t>Некоторые популярные на сегодня задачи ИИ</a:t>
            </a:r>
          </a:p>
        </p:txBody>
      </p:sp>
      <p:sp>
        <p:nvSpPr>
          <p:cNvPr id="3" name="Объект 2">
            <a:extLst>
              <a:ext uri="{FF2B5EF4-FFF2-40B4-BE49-F238E27FC236}">
                <a16:creationId xmlns:a16="http://schemas.microsoft.com/office/drawing/2014/main" id="{ECF644B2-B19E-E949-88FF-AFAB11D9BA1B}"/>
              </a:ext>
            </a:extLst>
          </p:cNvPr>
          <p:cNvSpPr>
            <a:spLocks noGrp="1"/>
          </p:cNvSpPr>
          <p:nvPr>
            <p:ph idx="1"/>
          </p:nvPr>
        </p:nvSpPr>
        <p:spPr/>
        <p:txBody>
          <a:bodyPr/>
          <a:lstStyle/>
          <a:p>
            <a:r>
              <a:rPr lang="ru-RU" dirty="0"/>
              <a:t>Обработка естественного языка</a:t>
            </a:r>
          </a:p>
          <a:p>
            <a:r>
              <a:rPr lang="ru-RU" dirty="0"/>
              <a:t>Анализ изображений</a:t>
            </a:r>
          </a:p>
        </p:txBody>
      </p:sp>
      <p:pic>
        <p:nvPicPr>
          <p:cNvPr id="4" name="Google Shape;69;p14">
            <a:extLst>
              <a:ext uri="{FF2B5EF4-FFF2-40B4-BE49-F238E27FC236}">
                <a16:creationId xmlns:a16="http://schemas.microsoft.com/office/drawing/2014/main" id="{5C114319-120D-E34D-AA6C-B61F24C37B05}"/>
              </a:ext>
            </a:extLst>
          </p:cNvPr>
          <p:cNvPicPr preferRelativeResize="0"/>
          <p:nvPr/>
        </p:nvPicPr>
        <p:blipFill rotWithShape="1">
          <a:blip r:embed="rId2">
            <a:alphaModFix/>
          </a:blip>
          <a:srcRect t="7952"/>
          <a:stretch/>
        </p:blipFill>
        <p:spPr>
          <a:xfrm>
            <a:off x="5294933" y="3777804"/>
            <a:ext cx="3636580" cy="2534095"/>
          </a:xfrm>
          <a:prstGeom prst="rect">
            <a:avLst/>
          </a:prstGeom>
          <a:noFill/>
          <a:ln>
            <a:noFill/>
          </a:ln>
        </p:spPr>
      </p:pic>
      <p:pic>
        <p:nvPicPr>
          <p:cNvPr id="6" name="Рисунок 5">
            <a:extLst>
              <a:ext uri="{FF2B5EF4-FFF2-40B4-BE49-F238E27FC236}">
                <a16:creationId xmlns:a16="http://schemas.microsoft.com/office/drawing/2014/main" id="{75633D9D-81FE-A24A-8587-CE78B30599A0}"/>
              </a:ext>
            </a:extLst>
          </p:cNvPr>
          <p:cNvPicPr>
            <a:picLocks noChangeAspect="1"/>
          </p:cNvPicPr>
          <p:nvPr/>
        </p:nvPicPr>
        <p:blipFill>
          <a:blip r:embed="rId3"/>
          <a:stretch>
            <a:fillRect/>
          </a:stretch>
        </p:blipFill>
        <p:spPr>
          <a:xfrm>
            <a:off x="844372" y="3690909"/>
            <a:ext cx="4450561" cy="2534095"/>
          </a:xfrm>
          <a:prstGeom prst="rect">
            <a:avLst/>
          </a:prstGeom>
        </p:spPr>
      </p:pic>
    </p:spTree>
    <p:extLst>
      <p:ext uri="{BB962C8B-B14F-4D97-AF65-F5344CB8AC3E}">
        <p14:creationId xmlns:p14="http://schemas.microsoft.com/office/powerpoint/2010/main" val="7722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9D9C7F-4EBF-F04D-86EF-3F463D76D517}"/>
              </a:ext>
            </a:extLst>
          </p:cNvPr>
          <p:cNvSpPr>
            <a:spLocks noGrp="1"/>
          </p:cNvSpPr>
          <p:nvPr>
            <p:ph type="title"/>
          </p:nvPr>
        </p:nvSpPr>
        <p:spPr/>
        <p:txBody>
          <a:bodyPr/>
          <a:lstStyle/>
          <a:p>
            <a:r>
              <a:rPr lang="ru-RU" dirty="0"/>
              <a:t>Машинное обучение. Определение</a:t>
            </a:r>
          </a:p>
        </p:txBody>
      </p:sp>
      <p:graphicFrame>
        <p:nvGraphicFramePr>
          <p:cNvPr id="4" name="Объект 3">
            <a:extLst>
              <a:ext uri="{FF2B5EF4-FFF2-40B4-BE49-F238E27FC236}">
                <a16:creationId xmlns:a16="http://schemas.microsoft.com/office/drawing/2014/main" id="{7A063502-9465-F44C-8874-66712875CB8A}"/>
              </a:ext>
            </a:extLst>
          </p:cNvPr>
          <p:cNvGraphicFramePr>
            <a:graphicFrameLocks noGrp="1"/>
          </p:cNvGraphicFramePr>
          <p:nvPr>
            <p:ph idx="1"/>
            <p:extLst>
              <p:ext uri="{D42A27DB-BD31-4B8C-83A1-F6EECF244321}">
                <p14:modId xmlns:p14="http://schemas.microsoft.com/office/powerpoint/2010/main" val="236012699"/>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28451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41132" y="297226"/>
            <a:ext cx="5352999" cy="75090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400" b="1" dirty="0">
                <a:solidFill>
                  <a:schemeClr val="bg1">
                    <a:lumMod val="95000"/>
                  </a:schemeClr>
                </a:solidFill>
                <a:latin typeface="Consolas" charset="0"/>
                <a:ea typeface="Consolas" charset="0"/>
                <a:cs typeface="Consolas" charset="0"/>
              </a:rPr>
              <a:t> </a:t>
            </a:r>
            <a:r>
              <a:rPr lang="ru-RU" sz="2400" b="1" dirty="0">
                <a:solidFill>
                  <a:schemeClr val="bg1">
                    <a:lumMod val="95000"/>
                  </a:schemeClr>
                </a:solidFill>
                <a:latin typeface="Consolas" charset="0"/>
                <a:ea typeface="Consolas" charset="0"/>
                <a:cs typeface="Consolas" charset="0"/>
              </a:rPr>
              <a:t> </a:t>
            </a:r>
            <a:r>
              <a:rPr lang="en-US" sz="2400" b="1" dirty="0">
                <a:solidFill>
                  <a:srgbClr val="00B0F0"/>
                </a:solidFill>
                <a:ea typeface="Consolas" charset="0"/>
                <a:cs typeface="Consolas" charset="0"/>
              </a:rPr>
              <a:t> </a:t>
            </a:r>
            <a:r>
              <a:rPr lang="ru-RU" sz="2400" b="1" dirty="0">
                <a:solidFill>
                  <a:srgbClr val="00B0F0"/>
                </a:solidFill>
                <a:ea typeface="Consolas" charset="0"/>
                <a:cs typeface="Consolas" charset="0"/>
              </a:rPr>
              <a:t>Взаимосвязи между науками</a:t>
            </a:r>
          </a:p>
        </p:txBody>
      </p:sp>
      <p:pic>
        <p:nvPicPr>
          <p:cNvPr id="4" name="Рисунок 3">
            <a:extLst>
              <a:ext uri="{FF2B5EF4-FFF2-40B4-BE49-F238E27FC236}">
                <a16:creationId xmlns:a16="http://schemas.microsoft.com/office/drawing/2014/main" id="{C3E69D01-2AB2-5A4D-AF6E-743794E813B8}"/>
              </a:ext>
            </a:extLst>
          </p:cNvPr>
          <p:cNvPicPr>
            <a:picLocks noChangeAspect="1"/>
          </p:cNvPicPr>
          <p:nvPr/>
        </p:nvPicPr>
        <p:blipFill rotWithShape="1">
          <a:blip r:embed="rId2"/>
          <a:srcRect t="14738" b="11243"/>
          <a:stretch/>
        </p:blipFill>
        <p:spPr>
          <a:xfrm>
            <a:off x="1944547" y="1541926"/>
            <a:ext cx="6207929" cy="4595044"/>
          </a:xfrm>
          <a:prstGeom prst="rect">
            <a:avLst/>
          </a:prstGeom>
        </p:spPr>
      </p:pic>
      <p:sp>
        <p:nvSpPr>
          <p:cNvPr id="11" name="Прямоугольник 10">
            <a:extLst>
              <a:ext uri="{FF2B5EF4-FFF2-40B4-BE49-F238E27FC236}">
                <a16:creationId xmlns:a16="http://schemas.microsoft.com/office/drawing/2014/main" id="{6A3C97B3-37BC-F241-BCA0-577EBED7D0F8}"/>
              </a:ext>
            </a:extLst>
          </p:cNvPr>
          <p:cNvSpPr/>
          <p:nvPr/>
        </p:nvSpPr>
        <p:spPr>
          <a:xfrm>
            <a:off x="1944547" y="1541926"/>
            <a:ext cx="6207928" cy="4595043"/>
          </a:xfrm>
          <a:prstGeom prst="rect">
            <a:avLst/>
          </a:prstGeom>
          <a:noFill/>
          <a:ln w="762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sz="1350"/>
          </a:p>
        </p:txBody>
      </p:sp>
    </p:spTree>
    <p:extLst>
      <p:ext uri="{BB962C8B-B14F-4D97-AF65-F5344CB8AC3E}">
        <p14:creationId xmlns:p14="http://schemas.microsoft.com/office/powerpoint/2010/main" val="25129660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BD25213-2654-A746-A2BA-C4DC61C62D30}"/>
              </a:ext>
            </a:extLst>
          </p:cNvPr>
          <p:cNvSpPr>
            <a:spLocks noGrp="1"/>
          </p:cNvSpPr>
          <p:nvPr>
            <p:ph type="title"/>
          </p:nvPr>
        </p:nvSpPr>
        <p:spPr>
          <a:xfrm>
            <a:off x="728798" y="415305"/>
            <a:ext cx="7886700" cy="994172"/>
          </a:xfrm>
        </p:spPr>
        <p:txBody>
          <a:bodyPr/>
          <a:lstStyle/>
          <a:p>
            <a:r>
              <a:rPr lang="ru-RU" dirty="0">
                <a:solidFill>
                  <a:srgbClr val="00B0F0"/>
                </a:solidFill>
              </a:rPr>
              <a:t>Машинное обучение</a:t>
            </a:r>
          </a:p>
        </p:txBody>
      </p:sp>
      <p:graphicFrame>
        <p:nvGraphicFramePr>
          <p:cNvPr id="5" name="Объект 4">
            <a:extLst>
              <a:ext uri="{FF2B5EF4-FFF2-40B4-BE49-F238E27FC236}">
                <a16:creationId xmlns:a16="http://schemas.microsoft.com/office/drawing/2014/main" id="{CB7D5C47-9F4A-E248-8DCC-5EB9A91787E8}"/>
              </a:ext>
            </a:extLst>
          </p:cNvPr>
          <p:cNvGraphicFramePr>
            <a:graphicFrameLocks noGrp="1"/>
          </p:cNvGraphicFramePr>
          <p:nvPr>
            <p:ph idx="1"/>
            <p:extLst>
              <p:ext uri="{D42A27DB-BD31-4B8C-83A1-F6EECF244321}">
                <p14:modId xmlns:p14="http://schemas.microsoft.com/office/powerpoint/2010/main" val="3720965575"/>
              </p:ext>
            </p:extLst>
          </p:nvPr>
        </p:nvGraphicFramePr>
        <p:xfrm>
          <a:off x="381967" y="1250065"/>
          <a:ext cx="8389788" cy="51926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30553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1116013" y="441325"/>
            <a:ext cx="5194118" cy="585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100" b="1" dirty="0">
                <a:solidFill>
                  <a:schemeClr val="bg1">
                    <a:lumMod val="95000"/>
                  </a:schemeClr>
                </a:solidFill>
                <a:latin typeface="Consolas" charset="0"/>
                <a:ea typeface="Consolas" charset="0"/>
                <a:cs typeface="Consolas" charset="0"/>
              </a:rPr>
              <a:t>  </a:t>
            </a:r>
            <a:r>
              <a:rPr lang="en-US" sz="2100" b="1" dirty="0">
                <a:solidFill>
                  <a:srgbClr val="00B0F0"/>
                </a:solidFill>
                <a:ea typeface="Consolas" charset="0"/>
                <a:cs typeface="Consolas" charset="0"/>
              </a:rPr>
              <a:t> </a:t>
            </a:r>
            <a:r>
              <a:rPr lang="ru-RU" sz="2100" b="1" dirty="0">
                <a:solidFill>
                  <a:srgbClr val="00B0F0"/>
                </a:solidFill>
                <a:ea typeface="Consolas" charset="0"/>
                <a:cs typeface="Consolas" charset="0"/>
              </a:rPr>
              <a:t>Отличия</a:t>
            </a:r>
            <a:endParaRPr lang="en-US" sz="2100" b="1" dirty="0">
              <a:solidFill>
                <a:srgbClr val="00B0F0"/>
              </a:solidFill>
              <a:ea typeface="Consolas" charset="0"/>
              <a:cs typeface="Consolas" charset="0"/>
            </a:endParaRPr>
          </a:p>
        </p:txBody>
      </p:sp>
      <p:sp>
        <p:nvSpPr>
          <p:cNvPr id="15" name="Прямоугольник 14"/>
          <p:cNvSpPr/>
          <p:nvPr/>
        </p:nvSpPr>
        <p:spPr>
          <a:xfrm>
            <a:off x="1204148" y="1189822"/>
            <a:ext cx="5514866" cy="5345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dirty="0">
                <a:solidFill>
                  <a:schemeClr val="tx1"/>
                </a:solidFill>
              </a:rPr>
              <a:t>Обучение с учителем </a:t>
            </a:r>
            <a:r>
              <a:rPr lang="en-US" dirty="0">
                <a:solidFill>
                  <a:schemeClr val="tx1"/>
                </a:solidFill>
              </a:rPr>
              <a:t>(supervised) vs</a:t>
            </a:r>
            <a:r>
              <a:rPr lang="ru-RU" dirty="0">
                <a:solidFill>
                  <a:schemeClr val="tx1"/>
                </a:solidFill>
              </a:rPr>
              <a:t> </a:t>
            </a:r>
          </a:p>
          <a:p>
            <a:r>
              <a:rPr lang="ru-RU" dirty="0">
                <a:solidFill>
                  <a:schemeClr val="tx1"/>
                </a:solidFill>
              </a:rPr>
              <a:t>Обучение без учителя</a:t>
            </a:r>
            <a:r>
              <a:rPr lang="en-US" dirty="0">
                <a:solidFill>
                  <a:schemeClr val="tx1"/>
                </a:solidFill>
              </a:rPr>
              <a:t> (unsupervised)</a:t>
            </a:r>
            <a:endParaRPr lang="ru-RU" dirty="0">
              <a:solidFill>
                <a:schemeClr val="tx1"/>
              </a:solidFill>
              <a:ea typeface="Consolas" charset="0"/>
              <a:cs typeface="Consolas" charset="0"/>
            </a:endParaRPr>
          </a:p>
        </p:txBody>
      </p:sp>
      <p:pic>
        <p:nvPicPr>
          <p:cNvPr id="4" name="Объект 4">
            <a:extLst>
              <a:ext uri="{FF2B5EF4-FFF2-40B4-BE49-F238E27FC236}">
                <a16:creationId xmlns:a16="http://schemas.microsoft.com/office/drawing/2014/main" id="{15DD3932-42B3-A249-9A80-DF019F3DF616}"/>
              </a:ext>
            </a:extLst>
          </p:cNvPr>
          <p:cNvPicPr>
            <a:picLocks noChangeAspect="1"/>
          </p:cNvPicPr>
          <p:nvPr/>
        </p:nvPicPr>
        <p:blipFill>
          <a:blip r:embed="rId2"/>
          <a:stretch>
            <a:fillRect/>
          </a:stretch>
        </p:blipFill>
        <p:spPr>
          <a:xfrm>
            <a:off x="1135513" y="2243684"/>
            <a:ext cx="7526243" cy="3044413"/>
          </a:xfrm>
          <a:prstGeom prst="rect">
            <a:avLst/>
          </a:prstGeom>
        </p:spPr>
      </p:pic>
    </p:spTree>
    <p:extLst>
      <p:ext uri="{BB962C8B-B14F-4D97-AF65-F5344CB8AC3E}">
        <p14:creationId xmlns:p14="http://schemas.microsoft.com/office/powerpoint/2010/main" val="3596301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B69A02-5B0D-9B4E-9375-F9041AECC725}"/>
              </a:ext>
            </a:extLst>
          </p:cNvPr>
          <p:cNvSpPr>
            <a:spLocks noGrp="1"/>
          </p:cNvSpPr>
          <p:nvPr>
            <p:ph type="title"/>
          </p:nvPr>
        </p:nvSpPr>
        <p:spPr>
          <a:xfrm>
            <a:off x="497712" y="409135"/>
            <a:ext cx="7805335" cy="994172"/>
          </a:xfrm>
        </p:spPr>
        <p:txBody>
          <a:bodyPr/>
          <a:lstStyle/>
          <a:p>
            <a:r>
              <a:rPr lang="ru-RU" dirty="0">
                <a:solidFill>
                  <a:srgbClr val="00B0F0"/>
                </a:solidFill>
                <a:latin typeface="+mn-lt"/>
              </a:rPr>
              <a:t>Вопрос для обсуждения</a:t>
            </a:r>
          </a:p>
        </p:txBody>
      </p:sp>
      <p:sp>
        <p:nvSpPr>
          <p:cNvPr id="3" name="Объект 2">
            <a:extLst>
              <a:ext uri="{FF2B5EF4-FFF2-40B4-BE49-F238E27FC236}">
                <a16:creationId xmlns:a16="http://schemas.microsoft.com/office/drawing/2014/main" id="{86A314CF-661C-8C4B-9228-8806331B1AB3}"/>
              </a:ext>
            </a:extLst>
          </p:cNvPr>
          <p:cNvSpPr>
            <a:spLocks noGrp="1"/>
          </p:cNvSpPr>
          <p:nvPr>
            <p:ph idx="1"/>
          </p:nvPr>
        </p:nvSpPr>
        <p:spPr>
          <a:xfrm>
            <a:off x="497712" y="1403307"/>
            <a:ext cx="8401362" cy="3789180"/>
          </a:xfrm>
        </p:spPr>
        <p:txBody>
          <a:bodyPr>
            <a:normAutofit/>
          </a:bodyPr>
          <a:lstStyle/>
          <a:p>
            <a:pPr marL="0" indent="0">
              <a:buNone/>
            </a:pPr>
            <a:r>
              <a:rPr lang="ru-RU" dirty="0"/>
              <a:t>Многие методы </a:t>
            </a:r>
            <a:r>
              <a:rPr lang="en-US" dirty="0"/>
              <a:t>Data</a:t>
            </a:r>
            <a:r>
              <a:rPr lang="ru-RU" dirty="0"/>
              <a:t> </a:t>
            </a:r>
            <a:r>
              <a:rPr lang="en-US" dirty="0"/>
              <a:t>Science</a:t>
            </a:r>
            <a:r>
              <a:rPr lang="ru-RU" dirty="0"/>
              <a:t> и </a:t>
            </a:r>
            <a:r>
              <a:rPr lang="en-US" dirty="0"/>
              <a:t>Machine Learning </a:t>
            </a:r>
            <a:r>
              <a:rPr lang="ru-RU" dirty="0"/>
              <a:t>появились достаточно давно - 50-70 года прошлого века, но активно использоваться в бизнесе начали только сейчас</a:t>
            </a:r>
          </a:p>
          <a:p>
            <a:pPr marL="0" indent="0">
              <a:buNone/>
            </a:pPr>
            <a:endParaRPr lang="ru-RU" dirty="0"/>
          </a:p>
          <a:p>
            <a:pPr marL="685765" lvl="2" indent="0">
              <a:buNone/>
            </a:pPr>
            <a:r>
              <a:rPr lang="ru-RU" sz="2100" dirty="0"/>
              <a:t>С чем это связано?</a:t>
            </a:r>
          </a:p>
          <a:p>
            <a:pPr marL="685765" lvl="2" indent="0">
              <a:buNone/>
            </a:pPr>
            <a:r>
              <a:rPr lang="ru-RU" sz="2100" dirty="0"/>
              <a:t>Что такого случилось?</a:t>
            </a:r>
          </a:p>
          <a:p>
            <a:pPr marL="685765" lvl="2" indent="0">
              <a:buNone/>
            </a:pPr>
            <a:r>
              <a:rPr lang="ru-RU" sz="2100" dirty="0"/>
              <a:t>Что есть сейчас и чего не было тогда?</a:t>
            </a:r>
          </a:p>
        </p:txBody>
      </p:sp>
    </p:spTree>
    <p:extLst>
      <p:ext uri="{BB962C8B-B14F-4D97-AF65-F5344CB8AC3E}">
        <p14:creationId xmlns:p14="http://schemas.microsoft.com/office/powerpoint/2010/main" val="26862305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D9F9DE5-3D7B-2544-841E-409027D41697}"/>
              </a:ext>
            </a:extLst>
          </p:cNvPr>
          <p:cNvSpPr>
            <a:spLocks noGrp="1"/>
          </p:cNvSpPr>
          <p:nvPr>
            <p:ph type="title"/>
          </p:nvPr>
        </p:nvSpPr>
        <p:spPr>
          <a:xfrm>
            <a:off x="1150938" y="692150"/>
            <a:ext cx="4923924" cy="554518"/>
          </a:xfrm>
        </p:spPr>
        <p:txBody>
          <a:bodyPr>
            <a:normAutofit fontScale="90000"/>
          </a:bodyPr>
          <a:lstStyle/>
          <a:p>
            <a:r>
              <a:rPr lang="ru-RU" dirty="0">
                <a:solidFill>
                  <a:srgbClr val="00B0F0"/>
                </a:solidFill>
              </a:rPr>
              <a:t>Пример больших данных</a:t>
            </a:r>
          </a:p>
        </p:txBody>
      </p:sp>
      <p:pic>
        <p:nvPicPr>
          <p:cNvPr id="5" name="Объект 3">
            <a:extLst>
              <a:ext uri="{FF2B5EF4-FFF2-40B4-BE49-F238E27FC236}">
                <a16:creationId xmlns:a16="http://schemas.microsoft.com/office/drawing/2014/main" id="{EAE2F36E-2245-B046-A86F-35BCB517305D}"/>
              </a:ext>
            </a:extLst>
          </p:cNvPr>
          <p:cNvPicPr>
            <a:picLocks noChangeAspect="1"/>
          </p:cNvPicPr>
          <p:nvPr/>
        </p:nvPicPr>
        <p:blipFill>
          <a:blip r:embed="rId2"/>
          <a:stretch>
            <a:fillRect/>
          </a:stretch>
        </p:blipFill>
        <p:spPr>
          <a:xfrm>
            <a:off x="699526" y="1440238"/>
            <a:ext cx="7951688" cy="4465361"/>
          </a:xfrm>
          <a:prstGeom prst="rect">
            <a:avLst/>
          </a:prstGeom>
        </p:spPr>
      </p:pic>
    </p:spTree>
    <p:extLst>
      <p:ext uri="{BB962C8B-B14F-4D97-AF65-F5344CB8AC3E}">
        <p14:creationId xmlns:p14="http://schemas.microsoft.com/office/powerpoint/2010/main" val="23679281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6779537-2DB2-D04F-9FB1-4438F7E9E5A4}"/>
              </a:ext>
            </a:extLst>
          </p:cNvPr>
          <p:cNvSpPr>
            <a:spLocks noGrp="1"/>
          </p:cNvSpPr>
          <p:nvPr>
            <p:ph type="title"/>
          </p:nvPr>
        </p:nvSpPr>
        <p:spPr>
          <a:xfrm>
            <a:off x="724556" y="424886"/>
            <a:ext cx="7886700" cy="994172"/>
          </a:xfrm>
        </p:spPr>
        <p:txBody>
          <a:bodyPr>
            <a:normAutofit fontScale="90000"/>
          </a:bodyPr>
          <a:lstStyle/>
          <a:p>
            <a:r>
              <a:rPr lang="ru-RU" dirty="0">
                <a:solidFill>
                  <a:srgbClr val="00B0F0"/>
                </a:solidFill>
              </a:rPr>
              <a:t>Некоторые задачи машинного обучения</a:t>
            </a:r>
          </a:p>
        </p:txBody>
      </p:sp>
      <p:graphicFrame>
        <p:nvGraphicFramePr>
          <p:cNvPr id="4" name="Объект 3">
            <a:extLst>
              <a:ext uri="{FF2B5EF4-FFF2-40B4-BE49-F238E27FC236}">
                <a16:creationId xmlns:a16="http://schemas.microsoft.com/office/drawing/2014/main" id="{51A2C924-911D-DA43-AE40-A471008BB4F8}"/>
              </a:ext>
            </a:extLst>
          </p:cNvPr>
          <p:cNvGraphicFramePr>
            <a:graphicFrameLocks noGrp="1"/>
          </p:cNvGraphicFramePr>
          <p:nvPr>
            <p:ph idx="1"/>
            <p:extLst>
              <p:ext uri="{D42A27DB-BD31-4B8C-83A1-F6EECF244321}">
                <p14:modId xmlns:p14="http://schemas.microsoft.com/office/powerpoint/2010/main" val="1285014322"/>
              </p:ext>
            </p:extLst>
          </p:nvPr>
        </p:nvGraphicFramePr>
        <p:xfrm>
          <a:off x="724556" y="1574156"/>
          <a:ext cx="7886700" cy="48589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43294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3B23B67-945B-7846-B57B-A230B79C5261}"/>
              </a:ext>
            </a:extLst>
          </p:cNvPr>
          <p:cNvSpPr>
            <a:spLocks noGrp="1"/>
          </p:cNvSpPr>
          <p:nvPr>
            <p:ph type="title"/>
          </p:nvPr>
        </p:nvSpPr>
        <p:spPr>
          <a:xfrm>
            <a:off x="566100" y="0"/>
            <a:ext cx="7886700" cy="1325563"/>
          </a:xfrm>
        </p:spPr>
        <p:txBody>
          <a:bodyPr/>
          <a:lstStyle/>
          <a:p>
            <a:r>
              <a:rPr lang="ru-RU" dirty="0"/>
              <a:t>Выбор алгоритма решения</a:t>
            </a:r>
          </a:p>
        </p:txBody>
      </p:sp>
      <p:pic>
        <p:nvPicPr>
          <p:cNvPr id="6" name="Объект 5">
            <a:extLst>
              <a:ext uri="{FF2B5EF4-FFF2-40B4-BE49-F238E27FC236}">
                <a16:creationId xmlns:a16="http://schemas.microsoft.com/office/drawing/2014/main" id="{6CD67B90-72A7-9E4A-B36B-FF8AF284E302}"/>
              </a:ext>
            </a:extLst>
          </p:cNvPr>
          <p:cNvPicPr>
            <a:picLocks noGrp="1" noChangeAspect="1"/>
          </p:cNvPicPr>
          <p:nvPr>
            <p:ph idx="1"/>
          </p:nvPr>
        </p:nvPicPr>
        <p:blipFill>
          <a:blip r:embed="rId2"/>
          <a:stretch>
            <a:fillRect/>
          </a:stretch>
        </p:blipFill>
        <p:spPr>
          <a:xfrm>
            <a:off x="628650" y="1240722"/>
            <a:ext cx="7761600" cy="4837837"/>
          </a:xfrm>
        </p:spPr>
      </p:pic>
      <p:sp>
        <p:nvSpPr>
          <p:cNvPr id="4" name="Номер слайда 3">
            <a:extLst>
              <a:ext uri="{FF2B5EF4-FFF2-40B4-BE49-F238E27FC236}">
                <a16:creationId xmlns:a16="http://schemas.microsoft.com/office/drawing/2014/main" id="{C19AFCB4-3AD0-854F-91EE-5D334974299B}"/>
              </a:ext>
            </a:extLst>
          </p:cNvPr>
          <p:cNvSpPr>
            <a:spLocks noGrp="1"/>
          </p:cNvSpPr>
          <p:nvPr>
            <p:ph type="sldNum" sz="quarter" idx="12"/>
          </p:nvPr>
        </p:nvSpPr>
        <p:spPr/>
        <p:txBody>
          <a:bodyPr/>
          <a:lstStyle/>
          <a:p>
            <a:fld id="{213A858D-DC13-7F48-8EE5-FA8D0F7167EE}" type="slidenum">
              <a:rPr lang="ru-RU" smtClean="0"/>
              <a:t>12</a:t>
            </a:fld>
            <a:endParaRPr lang="ru-RU"/>
          </a:p>
        </p:txBody>
      </p:sp>
    </p:spTree>
    <p:extLst>
      <p:ext uri="{BB962C8B-B14F-4D97-AF65-F5344CB8AC3E}">
        <p14:creationId xmlns:p14="http://schemas.microsoft.com/office/powerpoint/2010/main" val="1333380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1187450" y="404813"/>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ru-RU" sz="4800" b="1" dirty="0">
                <a:solidFill>
                  <a:srgbClr val="00B0F0"/>
                </a:solidFill>
                <a:ea typeface="Consolas" charset="0"/>
                <a:cs typeface="Consolas" charset="0"/>
              </a:rPr>
              <a:t>Некоторые задач</a:t>
            </a:r>
            <a:r>
              <a:rPr lang="en-US" sz="4800" b="1" dirty="0" err="1">
                <a:solidFill>
                  <a:srgbClr val="00B0F0"/>
                </a:solidFill>
                <a:ea typeface="Consolas" charset="0"/>
                <a:cs typeface="Consolas" charset="0"/>
              </a:rPr>
              <a:t>и</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891433"/>
            <a:ext cx="751587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ru-RU" sz="2000" dirty="0">
                <a:solidFill>
                  <a:schemeClr val="tx1"/>
                </a:solidFill>
                <a:cs typeface="Times New Roman" panose="02020603050405020304" pitchFamily="18" charset="0"/>
              </a:rPr>
              <a:t>Задача регрессии – прогноз на основе выборки объектов с различными признаками. На выходе - вещественное число (2, 35, 76.454 и др.). Например, цена квартиры, стоимость ценной бумаги через неделю, ожидаемый доход магазина на следующий месяц.</a:t>
            </a:r>
          </a:p>
          <a:p>
            <a:pPr algn="just"/>
            <a:endParaRPr lang="ru-RU" sz="2000" dirty="0">
              <a:solidFill>
                <a:schemeClr val="tx1"/>
              </a:solidFill>
              <a:cs typeface="Times New Roman" panose="02020603050405020304" pitchFamily="18" charset="0"/>
            </a:endParaRPr>
          </a:p>
          <a:p>
            <a:pPr algn="just"/>
            <a:r>
              <a:rPr lang="ru-RU" sz="2000" dirty="0">
                <a:solidFill>
                  <a:schemeClr val="tx1"/>
                </a:solidFill>
                <a:cs typeface="Times New Roman" panose="02020603050405020304" pitchFamily="18" charset="0"/>
              </a:rPr>
              <a:t>Задача классификации – получение категориального ответа на основе набора признаков. Имеет конечное количество ответов (часто, в формате «да» или «нет»): является ли изображение человеческим лицом, давать ли клиенту кредит, к какой категории отнести товар.</a:t>
            </a:r>
          </a:p>
          <a:p>
            <a:pPr algn="just"/>
            <a:r>
              <a:rPr lang="en" sz="2000" dirty="0">
                <a:solidFill>
                  <a:schemeClr val="tx1"/>
                </a:solidFill>
                <a:cs typeface="Times New Roman" panose="02020603050405020304" pitchFamily="18" charset="0"/>
              </a:rPr>
              <a:t> </a:t>
            </a:r>
          </a:p>
          <a:p>
            <a:pPr algn="just"/>
            <a:endParaRPr lang="ru-RU" sz="2000" dirty="0">
              <a:solidFill>
                <a:schemeClr val="tx1"/>
              </a:solidFill>
              <a:ea typeface="Consolas" charset="0"/>
              <a:cs typeface="Consolas" charset="0"/>
            </a:endParaRPr>
          </a:p>
        </p:txBody>
      </p:sp>
    </p:spTree>
    <p:extLst>
      <p:ext uri="{BB962C8B-B14F-4D97-AF65-F5344CB8AC3E}">
        <p14:creationId xmlns:p14="http://schemas.microsoft.com/office/powerpoint/2010/main" val="900073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23850" y="260350"/>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en-US" sz="4800" b="1" dirty="0">
                <a:solidFill>
                  <a:srgbClr val="00B0F0"/>
                </a:solidFill>
                <a:ea typeface="Consolas" charset="0"/>
                <a:cs typeface="Consolas" charset="0"/>
              </a:rPr>
              <a:t> </a:t>
            </a:r>
            <a:r>
              <a:rPr lang="ru-RU" sz="4800" b="1" dirty="0">
                <a:solidFill>
                  <a:srgbClr val="00B0F0"/>
                </a:solidFill>
                <a:ea typeface="Consolas" charset="0"/>
                <a:cs typeface="Consolas" charset="0"/>
              </a:rPr>
              <a:t>Дано</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748215"/>
            <a:ext cx="735315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sz="2400" dirty="0">
                <a:solidFill>
                  <a:schemeClr val="tx1"/>
                </a:solidFill>
                <a:cs typeface="Times New Roman" panose="02020603050405020304" pitchFamily="18" charset="0"/>
              </a:rPr>
              <a:t>Множество объектов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ru-RU" sz="2400" dirty="0">
                <a:solidFill>
                  <a:schemeClr val="tx1"/>
                </a:solidFill>
                <a:cs typeface="Times New Roman" panose="02020603050405020304" pitchFamily="18" charset="0"/>
              </a:rPr>
              <a:t>.</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Множество допустимых ответов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ru-RU" sz="2400" i="1" dirty="0">
                <a:solidFill>
                  <a:schemeClr val="tx1"/>
                </a:solidFill>
                <a:cs typeface="Times New Roman" panose="02020603050405020304" pitchFamily="18" charset="0"/>
              </a:rPr>
              <a:t>.</a:t>
            </a:r>
          </a:p>
          <a:p>
            <a:r>
              <a:rPr lang="ru-RU" sz="2400" dirty="0">
                <a:solidFill>
                  <a:schemeClr val="tx1"/>
                </a:solidFill>
                <a:cs typeface="Times New Roman" panose="02020603050405020304" pitchFamily="18" charset="0"/>
              </a:rPr>
              <a:t>Целевая функция (</a:t>
            </a:r>
            <a:r>
              <a:rPr lang="en" sz="2400" dirty="0">
                <a:solidFill>
                  <a:schemeClr val="tx1"/>
                </a:solidFill>
                <a:cs typeface="Times New Roman" panose="02020603050405020304" pitchFamily="18" charset="0"/>
              </a:rPr>
              <a:t>target function)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cs typeface="Times New Roman" panose="02020603050405020304" pitchFamily="18" charset="0"/>
              </a:rPr>
              <a:t>∗</a:t>
            </a:r>
            <a:r>
              <a:rPr lang="en" sz="2400" dirty="0">
                <a:solidFill>
                  <a:schemeClr val="tx1"/>
                </a:solidFill>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значения которой </a:t>
            </a:r>
            <a:r>
              <a:rPr lang="ru-RU"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известны только на конечном подмножестве объектов </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 .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l</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Пары «объект– ответ» </a:t>
            </a:r>
            <a:r>
              <a:rPr lang="ru-RU"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называются прецедентами. </a:t>
            </a:r>
          </a:p>
          <a:p>
            <a:r>
              <a:rPr lang="ru-RU" sz="2400" dirty="0">
                <a:solidFill>
                  <a:schemeClr val="tx1"/>
                </a:solidFill>
                <a:cs typeface="Times New Roman" panose="02020603050405020304" pitchFamily="18" charset="0"/>
              </a:rPr>
              <a:t>Совокупность пар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i="1"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N</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ru-RU" sz="2400" dirty="0">
                <a:solidFill>
                  <a:schemeClr val="tx1"/>
                </a:solidFill>
                <a:cs typeface="Times New Roman" panose="02020603050405020304" pitchFamily="18" charset="0"/>
              </a:rPr>
              <a:t>называется обучающей выборкой (</a:t>
            </a:r>
            <a:r>
              <a:rPr lang="en" sz="2400" dirty="0">
                <a:solidFill>
                  <a:schemeClr val="tx1"/>
                </a:solidFill>
                <a:cs typeface="Times New Roman" panose="02020603050405020304" pitchFamily="18" charset="0"/>
              </a:rPr>
              <a:t>training sample). </a:t>
            </a:r>
          </a:p>
          <a:p>
            <a:endParaRPr lang="ru-RU" sz="2400" dirty="0">
              <a:solidFill>
                <a:schemeClr val="tx1"/>
              </a:solidFill>
              <a:ea typeface="Consolas" charset="0"/>
              <a:cs typeface="Consolas" charset="0"/>
            </a:endParaRPr>
          </a:p>
        </p:txBody>
      </p:sp>
    </p:spTree>
    <p:extLst>
      <p:ext uri="{BB962C8B-B14F-4D97-AF65-F5344CB8AC3E}">
        <p14:creationId xmlns:p14="http://schemas.microsoft.com/office/powerpoint/2010/main" val="827334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Прямоугольник 9"/>
          <p:cNvSpPr/>
          <p:nvPr/>
        </p:nvSpPr>
        <p:spPr>
          <a:xfrm>
            <a:off x="323850" y="1004175"/>
            <a:ext cx="6925491" cy="7812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4800" b="1" dirty="0">
                <a:solidFill>
                  <a:schemeClr val="bg1">
                    <a:lumMod val="95000"/>
                  </a:schemeClr>
                </a:solidFill>
                <a:latin typeface="Consolas" charset="0"/>
                <a:ea typeface="Consolas" charset="0"/>
                <a:cs typeface="Consolas" charset="0"/>
              </a:rPr>
              <a:t>  </a:t>
            </a:r>
            <a:r>
              <a:rPr lang="en-US" sz="4800" b="1" dirty="0">
                <a:solidFill>
                  <a:srgbClr val="00B0F0"/>
                </a:solidFill>
                <a:ea typeface="Consolas" charset="0"/>
                <a:cs typeface="Consolas" charset="0"/>
              </a:rPr>
              <a:t> </a:t>
            </a:r>
            <a:r>
              <a:rPr lang="ru-RU" sz="4800" b="1" dirty="0">
                <a:solidFill>
                  <a:srgbClr val="00B0F0"/>
                </a:solidFill>
                <a:ea typeface="Consolas" charset="0"/>
                <a:cs typeface="Consolas" charset="0"/>
              </a:rPr>
              <a:t>Требуется найти</a:t>
            </a:r>
            <a:endParaRPr lang="en-US" sz="4800" b="1" dirty="0">
              <a:solidFill>
                <a:srgbClr val="00B0F0"/>
              </a:solidFill>
              <a:ea typeface="Consolas" charset="0"/>
              <a:cs typeface="Consolas" charset="0"/>
            </a:endParaRPr>
          </a:p>
        </p:txBody>
      </p:sp>
      <p:sp>
        <p:nvSpPr>
          <p:cNvPr id="15" name="Прямоугольник 14"/>
          <p:cNvSpPr/>
          <p:nvPr/>
        </p:nvSpPr>
        <p:spPr>
          <a:xfrm>
            <a:off x="1187450" y="2973095"/>
            <a:ext cx="7353155" cy="209944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ru-RU" sz="2400" dirty="0">
                <a:solidFill>
                  <a:schemeClr val="tx1"/>
                </a:solidFill>
                <a:cs typeface="Times New Roman" panose="02020603050405020304" pitchFamily="18" charset="0"/>
              </a:rPr>
              <a:t>зависимость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baseline="300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по выборке </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i="1"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t</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ru-RU" sz="2400" i="1" baseline="30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N</a:t>
            </a:r>
            <a:r>
              <a:rPr lang="en" sz="2400" i="1" baseline="-25000" dirty="0" err="1">
                <a:solidFill>
                  <a:schemeClr val="tx1"/>
                </a:solidFill>
                <a:latin typeface="Cambria Math" panose="02040503050406030204" pitchFamily="18" charset="0"/>
                <a:ea typeface="Cambria Math" panose="02040503050406030204" pitchFamily="18" charset="0"/>
                <a:cs typeface="Times New Roman" panose="02020603050405020304" pitchFamily="18" charset="0"/>
              </a:rPr>
              <a:t>i</a:t>
            </a:r>
            <a:r>
              <a:rPr lang="en" sz="2400" baseline="-25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=1</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то есть построить решающую функцию (</a:t>
            </a:r>
            <a:r>
              <a:rPr lang="en" sz="2400" dirty="0">
                <a:solidFill>
                  <a:schemeClr val="tx1"/>
                </a:solidFill>
                <a:cs typeface="Times New Roman" panose="02020603050405020304" pitchFamily="18" charset="0"/>
              </a:rPr>
              <a:t>decision function) </a:t>
            </a:r>
            <a:endParaRPr lang="ru-RU" sz="2400" dirty="0">
              <a:solidFill>
                <a:schemeClr val="tx1"/>
              </a:solidFill>
              <a:cs typeface="Times New Roman" panose="02020603050405020304" pitchFamily="18" charset="0"/>
            </a:endParaRPr>
          </a:p>
          <a:p>
            <a:pPr algn="ct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 →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endParaRPr lang="ru-RU" sz="2400" dirty="0">
              <a:solidFill>
                <a:schemeClr val="tx1"/>
              </a:solidFill>
              <a:cs typeface="Times New Roman" panose="02020603050405020304" pitchFamily="18" charset="0"/>
            </a:endParaRPr>
          </a:p>
          <a:p>
            <a:r>
              <a:rPr lang="ru-RU" sz="2400" dirty="0">
                <a:solidFill>
                  <a:schemeClr val="tx1"/>
                </a:solidFill>
                <a:cs typeface="Times New Roman" panose="02020603050405020304" pitchFamily="18" charset="0"/>
              </a:rPr>
              <a:t>которая приближала бы целевую функцию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baseline="300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a:t>
            </a:r>
            <a:r>
              <a:rPr lang="en" sz="2400"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причём не только на объектах обучающей выборки, но и на всём множестве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X  </a:t>
            </a:r>
            <a:r>
              <a:rPr lang="en" sz="2400" dirty="0">
                <a:solidFill>
                  <a:schemeClr val="tx1"/>
                </a:solidFill>
                <a:ea typeface="Cambria Math" panose="02040503050406030204" pitchFamily="18" charset="0"/>
                <a:cs typeface="Times New Roman" panose="02020603050405020304" pitchFamily="18" charset="0"/>
              </a:rPr>
              <a:t>(</a:t>
            </a:r>
            <a:r>
              <a:rPr lang="ru-RU" sz="2400" dirty="0">
                <a:solidFill>
                  <a:schemeClr val="tx1"/>
                </a:solidFill>
                <a:ea typeface="Cambria Math" panose="02040503050406030204" pitchFamily="18" charset="0"/>
                <a:cs typeface="Times New Roman" panose="02020603050405020304" pitchFamily="18" charset="0"/>
              </a:rPr>
              <a:t>или некотором его подмножестве</a:t>
            </a:r>
            <a:r>
              <a:rPr lang="en" sz="2400" dirty="0">
                <a:solidFill>
                  <a:schemeClr val="tx1"/>
                </a:solidFill>
                <a:ea typeface="Cambria Math" panose="02040503050406030204" pitchFamily="18" charset="0"/>
                <a:cs typeface="Times New Roman" panose="02020603050405020304" pitchFamily="18" charset="0"/>
              </a:rPr>
              <a:t>)</a:t>
            </a:r>
            <a:r>
              <a:rPr lang="en" sz="2400" dirty="0">
                <a:solidFill>
                  <a:schemeClr val="tx1"/>
                </a:solidFill>
                <a:cs typeface="Times New Roman" panose="02020603050405020304" pitchFamily="18" charset="0"/>
              </a:rPr>
              <a:t>. </a:t>
            </a:r>
          </a:p>
          <a:p>
            <a:r>
              <a:rPr lang="ru-RU" sz="2400" dirty="0">
                <a:solidFill>
                  <a:schemeClr val="tx1"/>
                </a:solidFill>
                <a:cs typeface="Times New Roman" panose="02020603050405020304" pitchFamily="18" charset="0"/>
              </a:rPr>
              <a:t>Решающая функция </a:t>
            </a:r>
            <a:r>
              <a:rPr lang="en" sz="2400" i="1" dirty="0">
                <a:solidFill>
                  <a:schemeClr val="tx1"/>
                </a:solidFill>
                <a:latin typeface="Cambria Math" panose="02040503050406030204" pitchFamily="18" charset="0"/>
                <a:ea typeface="Cambria Math" panose="02040503050406030204" pitchFamily="18" charset="0"/>
                <a:cs typeface="Times New Roman" panose="02020603050405020304" pitchFamily="18" charset="0"/>
              </a:rPr>
              <a:t>y</a:t>
            </a:r>
            <a:r>
              <a:rPr lang="en" sz="2400" dirty="0">
                <a:solidFill>
                  <a:schemeClr val="tx1"/>
                </a:solidFill>
                <a:cs typeface="Times New Roman" panose="02020603050405020304" pitchFamily="18" charset="0"/>
              </a:rPr>
              <a:t> </a:t>
            </a:r>
            <a:r>
              <a:rPr lang="ru-RU" sz="2400" dirty="0">
                <a:solidFill>
                  <a:schemeClr val="tx1"/>
                </a:solidFill>
                <a:cs typeface="Times New Roman" panose="02020603050405020304" pitchFamily="18" charset="0"/>
              </a:rPr>
              <a:t>должна допускать эффективную компьютерную реализацию. </a:t>
            </a:r>
          </a:p>
          <a:p>
            <a:r>
              <a:rPr lang="en" sz="2400" dirty="0">
                <a:solidFill>
                  <a:schemeClr val="tx1"/>
                </a:solidFill>
                <a:cs typeface="Times New Roman" panose="02020603050405020304" pitchFamily="18" charset="0"/>
              </a:rPr>
              <a:t> </a:t>
            </a:r>
          </a:p>
          <a:p>
            <a:endParaRPr lang="ru-RU" sz="2400" dirty="0">
              <a:solidFill>
                <a:schemeClr val="tx1"/>
              </a:solidFill>
              <a:ea typeface="Consolas" charset="0"/>
              <a:cs typeface="Consolas" charset="0"/>
            </a:endParaRPr>
          </a:p>
        </p:txBody>
      </p:sp>
    </p:spTree>
    <p:extLst>
      <p:ext uri="{BB962C8B-B14F-4D97-AF65-F5344CB8AC3E}">
        <p14:creationId xmlns:p14="http://schemas.microsoft.com/office/powerpoint/2010/main" val="455728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839280F-7819-FB45-B551-C74CCD43AD4F}"/>
              </a:ext>
            </a:extLst>
          </p:cNvPr>
          <p:cNvSpPr>
            <a:spLocks noGrp="1"/>
          </p:cNvSpPr>
          <p:nvPr>
            <p:ph type="title"/>
          </p:nvPr>
        </p:nvSpPr>
        <p:spPr/>
        <p:txBody>
          <a:bodyPr/>
          <a:lstStyle/>
          <a:p>
            <a:r>
              <a:rPr lang="ru-RU" dirty="0"/>
              <a:t>Этапы обучения</a:t>
            </a:r>
          </a:p>
        </p:txBody>
      </p:sp>
      <p:pic>
        <p:nvPicPr>
          <p:cNvPr id="9" name="Объект 8">
            <a:extLst>
              <a:ext uri="{FF2B5EF4-FFF2-40B4-BE49-F238E27FC236}">
                <a16:creationId xmlns:a16="http://schemas.microsoft.com/office/drawing/2014/main" id="{7BD8FC4D-E355-BB42-B8F0-BFD983DCB996}"/>
              </a:ext>
            </a:extLst>
          </p:cNvPr>
          <p:cNvPicPr>
            <a:picLocks noGrp="1" noChangeAspect="1"/>
          </p:cNvPicPr>
          <p:nvPr>
            <p:ph idx="1"/>
          </p:nvPr>
        </p:nvPicPr>
        <p:blipFill>
          <a:blip r:embed="rId2"/>
          <a:stretch>
            <a:fillRect/>
          </a:stretch>
        </p:blipFill>
        <p:spPr>
          <a:xfrm>
            <a:off x="154784" y="1718751"/>
            <a:ext cx="8834432" cy="3883395"/>
          </a:xfrm>
          <a:prstGeom prst="rect">
            <a:avLst/>
          </a:prstGeom>
        </p:spPr>
      </p:pic>
      <p:sp>
        <p:nvSpPr>
          <p:cNvPr id="4" name="Номер слайда 3">
            <a:extLst>
              <a:ext uri="{FF2B5EF4-FFF2-40B4-BE49-F238E27FC236}">
                <a16:creationId xmlns:a16="http://schemas.microsoft.com/office/drawing/2014/main" id="{E70D0FA6-DA1F-EB49-B4E0-5171BF285FA0}"/>
              </a:ext>
            </a:extLst>
          </p:cNvPr>
          <p:cNvSpPr>
            <a:spLocks noGrp="1"/>
          </p:cNvSpPr>
          <p:nvPr>
            <p:ph type="sldNum" sz="quarter" idx="12"/>
          </p:nvPr>
        </p:nvSpPr>
        <p:spPr/>
        <p:txBody>
          <a:bodyPr/>
          <a:lstStyle/>
          <a:p>
            <a:fld id="{38237106-F2ED-405E-BC33-CC3CF426205F}" type="slidenum">
              <a:rPr lang="en-US" smtClean="0"/>
              <a:pPr/>
              <a:t>16</a:t>
            </a:fld>
            <a:endParaRPr lang="en-US"/>
          </a:p>
        </p:txBody>
      </p:sp>
    </p:spTree>
    <p:extLst>
      <p:ext uri="{BB962C8B-B14F-4D97-AF65-F5344CB8AC3E}">
        <p14:creationId xmlns:p14="http://schemas.microsoft.com/office/powerpoint/2010/main" val="16580497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Заголовок 2">
            <a:extLst>
              <a:ext uri="{FF2B5EF4-FFF2-40B4-BE49-F238E27FC236}">
                <a16:creationId xmlns:a16="http://schemas.microsoft.com/office/drawing/2014/main" id="{D7491BC4-88BF-9D45-B320-4E75BF1208C3}"/>
              </a:ext>
            </a:extLst>
          </p:cNvPr>
          <p:cNvSpPr>
            <a:spLocks noGrp="1"/>
          </p:cNvSpPr>
          <p:nvPr>
            <p:ph type="title"/>
          </p:nvPr>
        </p:nvSpPr>
        <p:spPr/>
        <p:txBody>
          <a:bodyPr>
            <a:normAutofit fontScale="90000"/>
          </a:bodyPr>
          <a:lstStyle/>
          <a:p>
            <a:r>
              <a:rPr lang="ru-RU" dirty="0"/>
              <a:t>Рекомендуемые системы программирования и библиотеки</a:t>
            </a:r>
          </a:p>
        </p:txBody>
      </p:sp>
      <p:sp>
        <p:nvSpPr>
          <p:cNvPr id="4" name="Объект 3">
            <a:extLst>
              <a:ext uri="{FF2B5EF4-FFF2-40B4-BE49-F238E27FC236}">
                <a16:creationId xmlns:a16="http://schemas.microsoft.com/office/drawing/2014/main" id="{AC6DC6BA-04C9-4149-AD84-A2C64CF45781}"/>
              </a:ext>
            </a:extLst>
          </p:cNvPr>
          <p:cNvSpPr>
            <a:spLocks noGrp="1"/>
          </p:cNvSpPr>
          <p:nvPr>
            <p:ph idx="1"/>
          </p:nvPr>
        </p:nvSpPr>
        <p:spPr>
          <a:xfrm>
            <a:off x="457200" y="1600200"/>
            <a:ext cx="8229600" cy="4983162"/>
          </a:xfrm>
        </p:spPr>
        <p:txBody>
          <a:bodyPr>
            <a:normAutofit lnSpcReduction="10000"/>
          </a:bodyPr>
          <a:lstStyle/>
          <a:p>
            <a:r>
              <a:rPr lang="en-US" dirty="0"/>
              <a:t>Python</a:t>
            </a:r>
          </a:p>
          <a:p>
            <a:r>
              <a:rPr lang="en-US" dirty="0"/>
              <a:t>Jupyter Lab</a:t>
            </a:r>
          </a:p>
          <a:p>
            <a:r>
              <a:rPr lang="en-US" dirty="0"/>
              <a:t>NumPy</a:t>
            </a:r>
          </a:p>
          <a:p>
            <a:r>
              <a:rPr lang="en-US" dirty="0"/>
              <a:t>Pandas</a:t>
            </a:r>
          </a:p>
          <a:p>
            <a:r>
              <a:rPr lang="en-US" dirty="0"/>
              <a:t>Scikit-Learn</a:t>
            </a:r>
          </a:p>
          <a:p>
            <a:r>
              <a:rPr lang="en-US" dirty="0" err="1"/>
              <a:t>XGBoost</a:t>
            </a:r>
            <a:endParaRPr lang="en-US" dirty="0"/>
          </a:p>
          <a:p>
            <a:pPr marL="0" indent="0">
              <a:buNone/>
            </a:pPr>
            <a:endParaRPr lang="ru-RU" dirty="0"/>
          </a:p>
          <a:p>
            <a:pPr marL="0" indent="0">
              <a:buNone/>
            </a:pPr>
            <a:r>
              <a:rPr lang="ru-RU" dirty="0"/>
              <a:t>Следующий семестр</a:t>
            </a:r>
            <a:endParaRPr lang="en-US" dirty="0"/>
          </a:p>
          <a:p>
            <a:r>
              <a:rPr lang="en-US" dirty="0" err="1"/>
              <a:t>PyTorch</a:t>
            </a:r>
            <a:r>
              <a:rPr lang="en-US" dirty="0"/>
              <a:t>,</a:t>
            </a:r>
            <a:r>
              <a:rPr lang="ru-RU" dirty="0"/>
              <a:t> </a:t>
            </a:r>
            <a:r>
              <a:rPr lang="en-US" dirty="0"/>
              <a:t>TensorFlow,</a:t>
            </a:r>
            <a:r>
              <a:rPr lang="ru-RU" dirty="0"/>
              <a:t> </a:t>
            </a:r>
            <a:r>
              <a:rPr lang="en-US" dirty="0"/>
              <a:t>Transformers</a:t>
            </a:r>
            <a:endParaRPr lang="ru-RU" dirty="0"/>
          </a:p>
        </p:txBody>
      </p:sp>
      <p:sp>
        <p:nvSpPr>
          <p:cNvPr id="2" name="Номер слайда 1">
            <a:extLst>
              <a:ext uri="{FF2B5EF4-FFF2-40B4-BE49-F238E27FC236}">
                <a16:creationId xmlns:a16="http://schemas.microsoft.com/office/drawing/2014/main" id="{C3E66446-B2E8-0A41-A7EB-F7980AD097DB}"/>
              </a:ext>
            </a:extLst>
          </p:cNvPr>
          <p:cNvSpPr>
            <a:spLocks noGrp="1"/>
          </p:cNvSpPr>
          <p:nvPr>
            <p:ph type="sldNum" sz="quarter" idx="12"/>
          </p:nvPr>
        </p:nvSpPr>
        <p:spPr/>
        <p:txBody>
          <a:bodyPr/>
          <a:lstStyle/>
          <a:p>
            <a:fld id="{213A858D-DC13-7F48-8EE5-FA8D0F7167EE}" type="slidenum">
              <a:rPr lang="ru-RU" smtClean="0"/>
              <a:t>17</a:t>
            </a:fld>
            <a:endParaRPr lang="ru-RU"/>
          </a:p>
        </p:txBody>
      </p:sp>
      <p:pic>
        <p:nvPicPr>
          <p:cNvPr id="1026" name="Picture 2" descr="Python (programming language) - Wikipedia">
            <a:extLst>
              <a:ext uri="{FF2B5EF4-FFF2-40B4-BE49-F238E27FC236}">
                <a16:creationId xmlns:a16="http://schemas.microsoft.com/office/drawing/2014/main" id="{34FF9E4C-7FF0-A340-AF0E-AD6230EB37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6913" y="1556795"/>
            <a:ext cx="1797230" cy="17972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upyter — Википедия">
            <a:extLst>
              <a:ext uri="{FF2B5EF4-FFF2-40B4-BE49-F238E27FC236}">
                <a16:creationId xmlns:a16="http://schemas.microsoft.com/office/drawing/2014/main" id="{BC8F58E8-C429-C847-9CD4-BF42E11BDC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4216" y="1644128"/>
            <a:ext cx="1196255" cy="138659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GitHub - numpy/numpy: The fundamental package for scientific computing with  Python.">
            <a:extLst>
              <a:ext uri="{FF2B5EF4-FFF2-40B4-BE49-F238E27FC236}">
                <a16:creationId xmlns:a16="http://schemas.microsoft.com/office/drawing/2014/main" id="{CD7F2655-7F0A-8847-9883-873C47986A6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32896" y="3134276"/>
            <a:ext cx="2127250" cy="9525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cikit-learn - Wikipedia">
            <a:extLst>
              <a:ext uri="{FF2B5EF4-FFF2-40B4-BE49-F238E27FC236}">
                <a16:creationId xmlns:a16="http://schemas.microsoft.com/office/drawing/2014/main" id="{033B7F82-4531-574B-A52B-F2D378B2A0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40288" y="3478712"/>
            <a:ext cx="2363232" cy="12759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XGBoost — Википедия">
            <a:extLst>
              <a:ext uri="{FF2B5EF4-FFF2-40B4-BE49-F238E27FC236}">
                <a16:creationId xmlns:a16="http://schemas.microsoft.com/office/drawing/2014/main" id="{467F2E01-3A75-8243-9495-5A496E17AF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81946" y="4350835"/>
            <a:ext cx="2629149" cy="906965"/>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Transformers">
            <a:extLst>
              <a:ext uri="{FF2B5EF4-FFF2-40B4-BE49-F238E27FC236}">
                <a16:creationId xmlns:a16="http://schemas.microsoft.com/office/drawing/2014/main" id="{0BBC663B-3DD5-2C4C-B1B6-FA957615985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612765" y="5301205"/>
            <a:ext cx="2074035" cy="111983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pandas (software) - Wikipedia">
            <a:extLst>
              <a:ext uri="{FF2B5EF4-FFF2-40B4-BE49-F238E27FC236}">
                <a16:creationId xmlns:a16="http://schemas.microsoft.com/office/drawing/2014/main" id="{FCE6E0F0-C436-5446-9849-5C2D258B0CF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12683" y="2331124"/>
            <a:ext cx="1929034" cy="781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5626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7EDABA-B766-3F4A-808F-75BD0D97EF77}"/>
              </a:ext>
            </a:extLst>
          </p:cNvPr>
          <p:cNvSpPr>
            <a:spLocks noGrp="1"/>
          </p:cNvSpPr>
          <p:nvPr>
            <p:ph type="title"/>
          </p:nvPr>
        </p:nvSpPr>
        <p:spPr/>
        <p:txBody>
          <a:bodyPr>
            <a:normAutofit/>
          </a:bodyPr>
          <a:lstStyle/>
          <a:p>
            <a:r>
              <a:rPr lang="ru-RU" dirty="0"/>
              <a:t>Пример задачи</a:t>
            </a:r>
          </a:p>
        </p:txBody>
      </p:sp>
      <p:sp>
        <p:nvSpPr>
          <p:cNvPr id="4" name="Номер слайда 3">
            <a:extLst>
              <a:ext uri="{FF2B5EF4-FFF2-40B4-BE49-F238E27FC236}">
                <a16:creationId xmlns:a16="http://schemas.microsoft.com/office/drawing/2014/main" id="{16846905-7D35-DF4B-97F8-7228D6339821}"/>
              </a:ext>
            </a:extLst>
          </p:cNvPr>
          <p:cNvSpPr>
            <a:spLocks noGrp="1"/>
          </p:cNvSpPr>
          <p:nvPr>
            <p:ph type="sldNum" sz="quarter" idx="12"/>
          </p:nvPr>
        </p:nvSpPr>
        <p:spPr/>
        <p:txBody>
          <a:bodyPr/>
          <a:lstStyle/>
          <a:p>
            <a:fld id="{38237106-F2ED-405E-BC33-CC3CF426205F}" type="slidenum">
              <a:rPr lang="en-US" smtClean="0"/>
              <a:pPr/>
              <a:t>18</a:t>
            </a:fld>
            <a:endParaRPr lang="en-US"/>
          </a:p>
        </p:txBody>
      </p:sp>
      <p:pic>
        <p:nvPicPr>
          <p:cNvPr id="8" name="Объект 7">
            <a:extLst>
              <a:ext uri="{FF2B5EF4-FFF2-40B4-BE49-F238E27FC236}">
                <a16:creationId xmlns:a16="http://schemas.microsoft.com/office/drawing/2014/main" id="{F214702F-B6D6-4348-9018-7C09CDCF357A}"/>
              </a:ext>
            </a:extLst>
          </p:cNvPr>
          <p:cNvPicPr>
            <a:picLocks noGrp="1" noChangeAspect="1"/>
          </p:cNvPicPr>
          <p:nvPr>
            <p:ph idx="1"/>
          </p:nvPr>
        </p:nvPicPr>
        <p:blipFill>
          <a:blip r:embed="rId2"/>
          <a:stretch>
            <a:fillRect/>
          </a:stretch>
        </p:blipFill>
        <p:spPr>
          <a:xfrm>
            <a:off x="1212294" y="1218236"/>
            <a:ext cx="6719412" cy="5761298"/>
          </a:xfrm>
          <a:prstGeom prst="rect">
            <a:avLst/>
          </a:prstGeom>
        </p:spPr>
      </p:pic>
    </p:spTree>
    <p:extLst>
      <p:ext uri="{BB962C8B-B14F-4D97-AF65-F5344CB8AC3E}">
        <p14:creationId xmlns:p14="http://schemas.microsoft.com/office/powerpoint/2010/main" val="8430913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7EDABA-B766-3F4A-808F-75BD0D97EF77}"/>
              </a:ext>
            </a:extLst>
          </p:cNvPr>
          <p:cNvSpPr>
            <a:spLocks noGrp="1"/>
          </p:cNvSpPr>
          <p:nvPr>
            <p:ph type="title"/>
          </p:nvPr>
        </p:nvSpPr>
        <p:spPr/>
        <p:txBody>
          <a:bodyPr>
            <a:normAutofit fontScale="90000"/>
          </a:bodyPr>
          <a:lstStyle/>
          <a:p>
            <a:r>
              <a:rPr lang="ru-RU" dirty="0"/>
              <a:t>Пример решения </a:t>
            </a:r>
            <a:br>
              <a:rPr lang="ru-RU" dirty="0"/>
            </a:br>
            <a:r>
              <a:rPr lang="ru-RU" sz="2700" dirty="0"/>
              <a:t>(не идеального)</a:t>
            </a:r>
            <a:endParaRPr lang="ru-RU" dirty="0"/>
          </a:p>
        </p:txBody>
      </p:sp>
      <p:sp>
        <p:nvSpPr>
          <p:cNvPr id="4" name="Номер слайда 3">
            <a:extLst>
              <a:ext uri="{FF2B5EF4-FFF2-40B4-BE49-F238E27FC236}">
                <a16:creationId xmlns:a16="http://schemas.microsoft.com/office/drawing/2014/main" id="{16846905-7D35-DF4B-97F8-7228D6339821}"/>
              </a:ext>
            </a:extLst>
          </p:cNvPr>
          <p:cNvSpPr>
            <a:spLocks noGrp="1"/>
          </p:cNvSpPr>
          <p:nvPr>
            <p:ph type="sldNum" sz="quarter" idx="12"/>
          </p:nvPr>
        </p:nvSpPr>
        <p:spPr/>
        <p:txBody>
          <a:bodyPr/>
          <a:lstStyle/>
          <a:p>
            <a:fld id="{38237106-F2ED-405E-BC33-CC3CF426205F}" type="slidenum">
              <a:rPr lang="en-US" smtClean="0"/>
              <a:pPr/>
              <a:t>19</a:t>
            </a:fld>
            <a:endParaRPr lang="en-US"/>
          </a:p>
        </p:txBody>
      </p:sp>
      <p:pic>
        <p:nvPicPr>
          <p:cNvPr id="7" name="Объект 6">
            <a:extLst>
              <a:ext uri="{FF2B5EF4-FFF2-40B4-BE49-F238E27FC236}">
                <a16:creationId xmlns:a16="http://schemas.microsoft.com/office/drawing/2014/main" id="{27A4CAA2-CD4A-414E-87E6-02AAB39C152A}"/>
              </a:ext>
            </a:extLst>
          </p:cNvPr>
          <p:cNvPicPr>
            <a:picLocks noGrp="1" noChangeAspect="1"/>
          </p:cNvPicPr>
          <p:nvPr>
            <p:ph idx="1"/>
          </p:nvPr>
        </p:nvPicPr>
        <p:blipFill>
          <a:blip r:embed="rId2"/>
          <a:stretch>
            <a:fillRect/>
          </a:stretch>
        </p:blipFill>
        <p:spPr>
          <a:xfrm>
            <a:off x="1292986" y="1235075"/>
            <a:ext cx="6558028" cy="5622925"/>
          </a:xfrm>
          <a:prstGeom prst="rect">
            <a:avLst/>
          </a:prstGeom>
        </p:spPr>
      </p:pic>
      <p:sp>
        <p:nvSpPr>
          <p:cNvPr id="8" name="TextBox 7">
            <a:extLst>
              <a:ext uri="{FF2B5EF4-FFF2-40B4-BE49-F238E27FC236}">
                <a16:creationId xmlns:a16="http://schemas.microsoft.com/office/drawing/2014/main" id="{E1F43440-5ECA-C841-9AD1-62963B494911}"/>
              </a:ext>
            </a:extLst>
          </p:cNvPr>
          <p:cNvSpPr txBox="1"/>
          <p:nvPr/>
        </p:nvSpPr>
        <p:spPr>
          <a:xfrm>
            <a:off x="300942" y="3501746"/>
            <a:ext cx="1204967" cy="646331"/>
          </a:xfrm>
          <a:prstGeom prst="rect">
            <a:avLst/>
          </a:prstGeom>
          <a:noFill/>
        </p:spPr>
        <p:txBody>
          <a:bodyPr wrap="square" rtlCol="0">
            <a:spAutoFit/>
          </a:bodyPr>
          <a:lstStyle/>
          <a:p>
            <a:r>
              <a:rPr lang="ru-RU" dirty="0">
                <a:solidFill>
                  <a:srgbClr val="FF0000"/>
                </a:solidFill>
              </a:rPr>
              <a:t>Что нужно улучшить?</a:t>
            </a:r>
          </a:p>
        </p:txBody>
      </p:sp>
    </p:spTree>
    <p:extLst>
      <p:ext uri="{BB962C8B-B14F-4D97-AF65-F5344CB8AC3E}">
        <p14:creationId xmlns:p14="http://schemas.microsoft.com/office/powerpoint/2010/main" val="2429088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7EE8CDE-A2F4-834F-805E-C197FEE69CF8}"/>
              </a:ext>
            </a:extLst>
          </p:cNvPr>
          <p:cNvSpPr>
            <a:spLocks noGrp="1"/>
          </p:cNvSpPr>
          <p:nvPr>
            <p:ph type="title"/>
          </p:nvPr>
        </p:nvSpPr>
        <p:spPr/>
        <p:txBody>
          <a:bodyPr/>
          <a:lstStyle/>
          <a:p>
            <a:r>
              <a:rPr lang="ru-RU" dirty="0"/>
              <a:t>Пример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CF69E8F-0C5B-CE49-A3D2-8398E89F8602}"/>
                  </a:ext>
                </a:extLst>
              </p:cNvPr>
              <p:cNvSpPr>
                <a:spLocks noGrp="1"/>
              </p:cNvSpPr>
              <p:nvPr>
                <p:ph idx="1"/>
              </p:nvPr>
            </p:nvSpPr>
            <p:spPr/>
            <p:txBody>
              <a:bodyPr>
                <a:normAutofit fontScale="77500" lnSpcReduction="20000"/>
              </a:bodyPr>
              <a:lstStyle/>
              <a:p>
                <a:r>
                  <a:rPr lang="ru-RU" dirty="0"/>
                  <a:t>Рассмотрим синтетически сгенерированный пример набора данных. Данные были получены из функции </a:t>
                </a:r>
                <a14:m>
                  <m:oMath xmlns:m="http://schemas.openxmlformats.org/officeDocument/2006/math">
                    <m:r>
                      <m:rPr>
                        <m:sty m:val="p"/>
                      </m:rPr>
                      <a:rPr lang="ru-RU">
                        <a:latin typeface="Cambria Math" panose="02040503050406030204" pitchFamily="18" charset="0"/>
                      </a:rPr>
                      <m:t>sin</m:t>
                    </m:r>
                    <m:r>
                      <a:rPr lang="ru-RU">
                        <a:latin typeface="Cambria Math" panose="02040503050406030204" pitchFamily="18" charset="0"/>
                      </a:rPr>
                      <m:t>(</m:t>
                    </m:r>
                    <m:r>
                      <a:rPr lang="ru-RU" i="1">
                        <a:latin typeface="Cambria Math" panose="02040503050406030204" pitchFamily="18" charset="0"/>
                      </a:rPr>
                      <m:t>2</m:t>
                    </m:r>
                    <m:r>
                      <a:rPr lang="ru-RU" i="1">
                        <a:latin typeface="Cambria Math" panose="02040503050406030204" pitchFamily="18" charset="0"/>
                      </a:rPr>
                      <m:t>𝜋</m:t>
                    </m:r>
                    <m:r>
                      <a:rPr lang="ru-RU" i="1">
                        <a:latin typeface="Cambria Math" panose="02040503050406030204" pitchFamily="18" charset="0"/>
                      </a:rPr>
                      <m:t>𝑥</m:t>
                    </m:r>
                    <m:r>
                      <a:rPr lang="ru-RU">
                        <a:latin typeface="Cambria Math" panose="02040503050406030204" pitchFamily="18" charset="0"/>
                      </a:rPr>
                      <m:t>)</m:t>
                    </m:r>
                  </m:oMath>
                </a14:m>
                <a:r>
                  <a:rPr lang="ru-RU" dirty="0"/>
                  <a:t>путём добавления случайного </a:t>
                </a:r>
                <a:r>
                  <a:rPr lang="ru-RU" dirty="0" err="1"/>
                  <a:t>гауссовского</a:t>
                </a:r>
                <a:r>
                  <a:rPr lang="ru-RU" dirty="0"/>
                  <a:t> шума со стандартным отклонением </a:t>
                </a:r>
                <a14:m>
                  <m:oMath xmlns:m="http://schemas.openxmlformats.org/officeDocument/2006/math">
                    <m:r>
                      <a:rPr lang="ru-RU" i="1">
                        <a:latin typeface="Cambria Math" panose="02040503050406030204" pitchFamily="18" charset="0"/>
                      </a:rPr>
                      <m:t>𝜎</m:t>
                    </m:r>
                    <m:r>
                      <a:rPr lang="ru-RU">
                        <a:latin typeface="Cambria Math" panose="02040503050406030204" pitchFamily="18" charset="0"/>
                      </a:rPr>
                      <m:t>=</m:t>
                    </m:r>
                    <m:r>
                      <a:rPr lang="ru-RU" i="1">
                        <a:latin typeface="Cambria Math" panose="02040503050406030204" pitchFamily="18" charset="0"/>
                      </a:rPr>
                      <m:t>0.3</m:t>
                    </m:r>
                  </m:oMath>
                </a14:m>
                <a:r>
                  <a:rPr lang="ru-RU" dirty="0"/>
                  <a:t>.</a:t>
                </a:r>
              </a:p>
              <a:p>
                <a:r>
                  <a:rPr lang="ru-RU" dirty="0"/>
                  <a:t>Мы сгенерировали </a:t>
                </a:r>
                <a14:m>
                  <m:oMath xmlns:m="http://schemas.openxmlformats.org/officeDocument/2006/math">
                    <m:r>
                      <a:rPr lang="ru-RU" i="1">
                        <a:latin typeface="Cambria Math" panose="02040503050406030204" pitchFamily="18" charset="0"/>
                      </a:rPr>
                      <m:t>𝑁</m:t>
                    </m:r>
                    <m:r>
                      <a:rPr lang="ru-RU">
                        <a:latin typeface="Cambria Math" panose="02040503050406030204" pitchFamily="18" charset="0"/>
                      </a:rPr>
                      <m:t>=</m:t>
                    </m:r>
                    <m:r>
                      <a:rPr lang="ru-RU" i="1">
                        <a:latin typeface="Cambria Math" panose="02040503050406030204" pitchFamily="18" charset="0"/>
                      </a:rPr>
                      <m:t>10</m:t>
                    </m:r>
                  </m:oMath>
                </a14:m>
                <a:r>
                  <a:rPr lang="ru-RU" dirty="0"/>
                  <a:t> наблюдения, равномерно распределенные в диапазоне </a:t>
                </a:r>
                <a14:m>
                  <m:oMath xmlns:m="http://schemas.openxmlformats.org/officeDocument/2006/math">
                    <m:r>
                      <a:rPr lang="ru-RU">
                        <a:latin typeface="Cambria Math" panose="02040503050406030204" pitchFamily="18" charset="0"/>
                      </a:rPr>
                      <m:t>[</m:t>
                    </m:r>
                    <m:r>
                      <a:rPr lang="ru-RU" i="1">
                        <a:latin typeface="Cambria Math" panose="02040503050406030204" pitchFamily="18" charset="0"/>
                      </a:rPr>
                      <m:t>0</m:t>
                    </m:r>
                    <m:r>
                      <a:rPr lang="ru-RU">
                        <a:latin typeface="Cambria Math" panose="02040503050406030204" pitchFamily="18" charset="0"/>
                      </a:rPr>
                      <m:t>,</m:t>
                    </m:r>
                    <m:r>
                      <a:rPr lang="ru-RU" i="1">
                        <a:latin typeface="Cambria Math" panose="02040503050406030204" pitchFamily="18" charset="0"/>
                      </a:rPr>
                      <m:t>1</m:t>
                    </m:r>
                    <m:r>
                      <a:rPr lang="ru-RU">
                        <a:latin typeface="Cambria Math" panose="02040503050406030204" pitchFamily="18" charset="0"/>
                      </a:rPr>
                      <m:t>]</m:t>
                    </m:r>
                  </m:oMath>
                </a14:m>
                <a:r>
                  <a:rPr lang="ru-RU" dirty="0"/>
                  <a:t>. Эти наблюдения составляют вектор входных данных,</a:t>
                </a:r>
              </a:p>
              <a:p>
                <a:pPr marL="0" indent="0">
                  <a:buNone/>
                </a:pPr>
                <a14:m>
                  <m:oMathPara xmlns:m="http://schemas.openxmlformats.org/officeDocument/2006/math">
                    <m:oMathParaPr>
                      <m:jc m:val="centerGroup"/>
                    </m:oMathParaPr>
                    <m:oMath xmlns:m="http://schemas.openxmlformats.org/officeDocument/2006/math">
                      <m:r>
                        <a:rPr lang="ru-RU" i="1">
                          <a:latin typeface="Cambria Math" panose="02040503050406030204" pitchFamily="18" charset="0"/>
                        </a:rPr>
                        <m:t>𝗑</m:t>
                      </m:r>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𝑥</m:t>
                          </m:r>
                        </m:e>
                        <m:sub>
                          <m:r>
                            <a:rPr lang="ru-RU" i="1">
                              <a:latin typeface="Cambria Math" panose="02040503050406030204" pitchFamily="18" charset="0"/>
                            </a:rPr>
                            <m:t>1</m:t>
                          </m:r>
                        </m:sub>
                      </m:sSub>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𝑥</m:t>
                          </m:r>
                        </m:e>
                        <m:sub>
                          <m:r>
                            <a:rPr lang="ru-RU" i="1">
                              <a:latin typeface="Cambria Math" panose="02040503050406030204" pitchFamily="18" charset="0"/>
                            </a:rPr>
                            <m:t>𝑁</m:t>
                          </m:r>
                        </m:sub>
                      </m:sSub>
                      <m:sSup>
                        <m:sSupPr>
                          <m:ctrlPr>
                            <a:rPr lang="ru-RU" i="1">
                              <a:latin typeface="Cambria Math" panose="02040503050406030204" pitchFamily="18" charset="0"/>
                            </a:rPr>
                          </m:ctrlPr>
                        </m:sSupPr>
                        <m:e>
                          <m:r>
                            <a:rPr lang="ru-RU">
                              <a:latin typeface="Cambria Math" panose="02040503050406030204" pitchFamily="18" charset="0"/>
                            </a:rPr>
                            <m:t>)</m:t>
                          </m:r>
                        </m:e>
                        <m:sup>
                          <m:r>
                            <m:rPr>
                              <m:nor/>
                            </m:rPr>
                            <a:rPr lang="ru-RU"/>
                            <m:t>T</m:t>
                          </m:r>
                        </m:sup>
                      </m:sSup>
                    </m:oMath>
                  </m:oMathPara>
                </a14:m>
                <a:endParaRPr lang="ru-RU" dirty="0"/>
              </a:p>
              <a:p>
                <a:r>
                  <a:rPr lang="ru-RU" dirty="0"/>
                  <a:t>Для каждого сгенерированного наблюдения </a:t>
                </a:r>
                <a14:m>
                  <m:oMath xmlns:m="http://schemas.openxmlformats.org/officeDocument/2006/math">
                    <m:r>
                      <a:rPr lang="ru-RU" i="1">
                        <a:latin typeface="Cambria Math" panose="02040503050406030204" pitchFamily="18" charset="0"/>
                      </a:rPr>
                      <m:t>𝑥</m:t>
                    </m:r>
                  </m:oMath>
                </a14:m>
                <a:r>
                  <a:rPr lang="ru-RU" dirty="0"/>
                  <a:t> мы получили соответствующее значение функции </a:t>
                </a:r>
                <a14:m>
                  <m:oMath xmlns:m="http://schemas.openxmlformats.org/officeDocument/2006/math">
                    <m:r>
                      <m:rPr>
                        <m:sty m:val="p"/>
                      </m:rPr>
                      <a:rPr lang="ru-RU">
                        <a:latin typeface="Cambria Math" panose="02040503050406030204" pitchFamily="18" charset="0"/>
                      </a:rPr>
                      <m:t>sin</m:t>
                    </m:r>
                    <m:r>
                      <a:rPr lang="ru-RU">
                        <a:latin typeface="Cambria Math" panose="02040503050406030204" pitchFamily="18" charset="0"/>
                      </a:rPr>
                      <m:t>(</m:t>
                    </m:r>
                    <m:r>
                      <a:rPr lang="ru-RU" i="1">
                        <a:latin typeface="Cambria Math" panose="02040503050406030204" pitchFamily="18" charset="0"/>
                      </a:rPr>
                      <m:t>2</m:t>
                    </m:r>
                    <m:r>
                      <a:rPr lang="ru-RU" i="1">
                        <a:latin typeface="Cambria Math" panose="02040503050406030204" pitchFamily="18" charset="0"/>
                      </a:rPr>
                      <m:t>𝜋</m:t>
                    </m:r>
                    <m:r>
                      <a:rPr lang="ru-RU" i="1">
                        <a:latin typeface="Cambria Math" panose="02040503050406030204" pitchFamily="18" charset="0"/>
                      </a:rPr>
                      <m:t>𝑥</m:t>
                    </m:r>
                    <m:r>
                      <a:rPr lang="ru-RU">
                        <a:latin typeface="Cambria Math" panose="02040503050406030204" pitchFamily="18" charset="0"/>
                      </a:rPr>
                      <m:t>)</m:t>
                    </m:r>
                  </m:oMath>
                </a14:m>
                <a:r>
                  <a:rPr lang="ru-RU" dirty="0"/>
                  <a:t>, а затем добавили случайный шум, чтобы зафиксировать реальную ситуацию с отсутствующей информацией.</a:t>
                </a:r>
              </a:p>
              <a:p>
                <a:pPr marL="0" indent="0">
                  <a:buNone/>
                </a:pPr>
                <a14:m>
                  <m:oMathPara xmlns:m="http://schemas.openxmlformats.org/officeDocument/2006/math">
                    <m:oMathParaPr>
                      <m:jc m:val="centerGroup"/>
                    </m:oMathParaPr>
                    <m:oMath xmlns:m="http://schemas.openxmlformats.org/officeDocument/2006/math">
                      <m:r>
                        <a:rPr lang="ru-RU" i="1">
                          <a:latin typeface="Cambria Math" panose="02040503050406030204" pitchFamily="18" charset="0"/>
                        </a:rPr>
                        <m:t>𝗍</m:t>
                      </m:r>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𝑡</m:t>
                          </m:r>
                        </m:e>
                        <m:sub>
                          <m:r>
                            <a:rPr lang="ru-RU" i="1">
                              <a:latin typeface="Cambria Math" panose="02040503050406030204" pitchFamily="18" charset="0"/>
                            </a:rPr>
                            <m:t>1</m:t>
                          </m:r>
                        </m:sub>
                      </m:sSub>
                      <m:r>
                        <a:rPr lang="ru-RU">
                          <a:latin typeface="Cambria Math" panose="02040503050406030204" pitchFamily="18" charset="0"/>
                        </a:rPr>
                        <m:t>,…,</m:t>
                      </m:r>
                      <m:sSub>
                        <m:sSubPr>
                          <m:ctrlPr>
                            <a:rPr lang="ru-RU" i="1">
                              <a:latin typeface="Cambria Math" panose="02040503050406030204" pitchFamily="18" charset="0"/>
                            </a:rPr>
                          </m:ctrlPr>
                        </m:sSubPr>
                        <m:e>
                          <m:r>
                            <a:rPr lang="ru-RU" i="1">
                              <a:latin typeface="Cambria Math" panose="02040503050406030204" pitchFamily="18" charset="0"/>
                            </a:rPr>
                            <m:t>𝑡</m:t>
                          </m:r>
                        </m:e>
                        <m:sub>
                          <m:r>
                            <a:rPr lang="ru-RU" i="1">
                              <a:latin typeface="Cambria Math" panose="02040503050406030204" pitchFamily="18" charset="0"/>
                            </a:rPr>
                            <m:t>𝑁</m:t>
                          </m:r>
                        </m:sub>
                      </m:sSub>
                      <m:sSup>
                        <m:sSupPr>
                          <m:ctrlPr>
                            <a:rPr lang="ru-RU" i="1">
                              <a:latin typeface="Cambria Math" panose="02040503050406030204" pitchFamily="18" charset="0"/>
                            </a:rPr>
                          </m:ctrlPr>
                        </m:sSupPr>
                        <m:e>
                          <m:r>
                            <a:rPr lang="ru-RU">
                              <a:latin typeface="Cambria Math" panose="02040503050406030204" pitchFamily="18" charset="0"/>
                            </a:rPr>
                            <m:t>)</m:t>
                          </m:r>
                        </m:e>
                        <m:sup>
                          <m:r>
                            <m:rPr>
                              <m:nor/>
                            </m:rPr>
                            <a:rPr lang="ru-RU"/>
                            <m:t>T</m:t>
                          </m:r>
                        </m:sup>
                      </m:sSup>
                    </m:oMath>
                  </m:oMathPara>
                </a14:m>
                <a:endParaRPr lang="ru-RU" dirty="0"/>
              </a:p>
              <a:p>
                <a:pPr marL="0" indent="0">
                  <a:buNone/>
                </a:pPr>
                <a:endParaRPr lang="ru-RU" dirty="0"/>
              </a:p>
            </p:txBody>
          </p:sp>
        </mc:Choice>
        <mc:Fallback xmlns="">
          <p:sp>
            <p:nvSpPr>
              <p:cNvPr id="3" name="Объект 2">
                <a:extLst>
                  <a:ext uri="{FF2B5EF4-FFF2-40B4-BE49-F238E27FC236}">
                    <a16:creationId xmlns:a16="http://schemas.microsoft.com/office/drawing/2014/main" id="{ECF69E8F-0C5B-CE49-A3D2-8398E89F8602}"/>
                  </a:ext>
                </a:extLst>
              </p:cNvPr>
              <p:cNvSpPr>
                <a:spLocks noGrp="1" noRot="1" noChangeAspect="1" noMove="1" noResize="1" noEditPoints="1" noAdjustHandles="1" noChangeArrowheads="1" noChangeShapeType="1" noTextEdit="1"/>
              </p:cNvSpPr>
              <p:nvPr>
                <p:ph idx="1"/>
              </p:nvPr>
            </p:nvSpPr>
            <p:spPr>
              <a:blipFill>
                <a:blip r:embed="rId2"/>
                <a:stretch>
                  <a:fillRect l="-1235" t="-2801" r="-1543" b="-84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434396C-7116-F245-A85F-0A0FB14B2C1F}"/>
              </a:ext>
            </a:extLst>
          </p:cNvPr>
          <p:cNvSpPr>
            <a:spLocks noGrp="1"/>
          </p:cNvSpPr>
          <p:nvPr>
            <p:ph type="sldNum" sz="quarter" idx="12"/>
          </p:nvPr>
        </p:nvSpPr>
        <p:spPr/>
        <p:txBody>
          <a:bodyPr/>
          <a:lstStyle/>
          <a:p>
            <a:fld id="{38237106-F2ED-405E-BC33-CC3CF426205F}" type="slidenum">
              <a:rPr lang="en-US" smtClean="0"/>
              <a:pPr/>
              <a:t>20</a:t>
            </a:fld>
            <a:endParaRPr lang="en-US"/>
          </a:p>
        </p:txBody>
      </p:sp>
    </p:spTree>
    <p:extLst>
      <p:ext uri="{BB962C8B-B14F-4D97-AF65-F5344CB8AC3E}">
        <p14:creationId xmlns:p14="http://schemas.microsoft.com/office/powerpoint/2010/main" val="3375774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9EA045-C4D9-E84F-AF0A-5459C2A1A643}"/>
              </a:ext>
            </a:extLst>
          </p:cNvPr>
          <p:cNvSpPr>
            <a:spLocks noGrp="1"/>
          </p:cNvSpPr>
          <p:nvPr>
            <p:ph type="title"/>
          </p:nvPr>
        </p:nvSpPr>
        <p:spPr/>
        <p:txBody>
          <a:bodyPr/>
          <a:lstStyle/>
          <a:p>
            <a:r>
              <a:rPr lang="ru-RU" dirty="0"/>
              <a:t>Пример графика</a:t>
            </a:r>
          </a:p>
        </p:txBody>
      </p:sp>
      <p:pic>
        <p:nvPicPr>
          <p:cNvPr id="5" name="Объект 4">
            <a:extLst>
              <a:ext uri="{FF2B5EF4-FFF2-40B4-BE49-F238E27FC236}">
                <a16:creationId xmlns:a16="http://schemas.microsoft.com/office/drawing/2014/main" id="{DD7E54CF-5CCE-124F-A110-A837DF930F2C}"/>
              </a:ext>
            </a:extLst>
          </p:cNvPr>
          <p:cNvPicPr>
            <a:picLocks noGrp="1" noChangeAspect="1"/>
          </p:cNvPicPr>
          <p:nvPr>
            <p:ph idx="1"/>
          </p:nvPr>
        </p:nvPicPr>
        <p:blipFill>
          <a:blip r:embed="rId2"/>
          <a:stretch>
            <a:fillRect/>
          </a:stretch>
        </p:blipFill>
        <p:spPr>
          <a:xfrm>
            <a:off x="1749464" y="1603466"/>
            <a:ext cx="5345816" cy="3990538"/>
          </a:xfrm>
          <a:prstGeom prst="rect">
            <a:avLst/>
          </a:prstGeom>
        </p:spPr>
      </p:pic>
      <p:sp>
        <p:nvSpPr>
          <p:cNvPr id="4" name="Номер слайда 3">
            <a:extLst>
              <a:ext uri="{FF2B5EF4-FFF2-40B4-BE49-F238E27FC236}">
                <a16:creationId xmlns:a16="http://schemas.microsoft.com/office/drawing/2014/main" id="{31BC058A-CA7F-F44C-BAB6-2066451BCC9C}"/>
              </a:ext>
            </a:extLst>
          </p:cNvPr>
          <p:cNvSpPr>
            <a:spLocks noGrp="1"/>
          </p:cNvSpPr>
          <p:nvPr>
            <p:ph type="sldNum" sz="quarter" idx="12"/>
          </p:nvPr>
        </p:nvSpPr>
        <p:spPr/>
        <p:txBody>
          <a:bodyPr/>
          <a:lstStyle/>
          <a:p>
            <a:fld id="{38237106-F2ED-405E-BC33-CC3CF426205F}" type="slidenum">
              <a:rPr lang="en-US" smtClean="0"/>
              <a:pPr/>
              <a:t>21</a:t>
            </a:fld>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47918A-3AD4-BB42-86D9-D4EA077220F7}"/>
                  </a:ext>
                </a:extLst>
              </p:cNvPr>
              <p:cNvSpPr txBox="1"/>
              <p:nvPr/>
            </p:nvSpPr>
            <p:spPr>
              <a:xfrm>
                <a:off x="578735" y="5470757"/>
                <a:ext cx="8229599" cy="646331"/>
              </a:xfrm>
              <a:prstGeom prst="rect">
                <a:avLst/>
              </a:prstGeom>
              <a:noFill/>
            </p:spPr>
            <p:txBody>
              <a:bodyPr wrap="square">
                <a:spAutoFit/>
              </a:bodyPr>
              <a:lstStyle/>
              <a:p>
                <a:r>
                  <a:rPr lang="ru-RU" sz="1800" dirty="0">
                    <a:effectLst/>
                    <a:latin typeface="Aptos" panose="020B0004020202020204" pitchFamily="34" charset="0"/>
                    <a:ea typeface="Aptos" panose="020B0004020202020204" pitchFamily="34" charset="0"/>
                    <a:cs typeface="Times New Roman" panose="02020603050405020304" pitchFamily="18" charset="0"/>
                  </a:rPr>
                  <a:t>Наша цель — предсказать значение </a:t>
                </a:r>
                <a14:m>
                  <m:oMath xmlns:m="http://schemas.openxmlformats.org/officeDocument/2006/math">
                    <m:acc>
                      <m:accPr>
                        <m:chr m:val="̂"/>
                        <m:ctrlPr>
                          <a:rPr lang="ru-RU" i="1">
                            <a:effectLst/>
                            <a:latin typeface="Cambria Math" panose="020405030504060302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acc>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для некоторого </a:t>
                </a:r>
                <a:r>
                  <a:rPr lang="ru-RU" sz="1800" b="1" dirty="0">
                    <a:effectLst/>
                    <a:latin typeface="Aptos" panose="020B0004020202020204" pitchFamily="34" charset="0"/>
                    <a:ea typeface="Aptos" panose="020B0004020202020204" pitchFamily="34" charset="0"/>
                    <a:cs typeface="Times New Roman" panose="02020603050405020304" pitchFamily="18" charset="0"/>
                  </a:rPr>
                  <a:t>нового </a:t>
                </a:r>
                <a:r>
                  <a:rPr lang="ru-RU" sz="1800" dirty="0">
                    <a:effectLst/>
                    <a:latin typeface="Aptos" panose="020B0004020202020204" pitchFamily="34" charset="0"/>
                    <a:ea typeface="Aptos" panose="020B0004020202020204" pitchFamily="34" charset="0"/>
                    <a:cs typeface="Times New Roman" panose="02020603050405020304" pitchFamily="18" charset="0"/>
                  </a:rPr>
                  <a:t>значения </a:t>
                </a:r>
                <a14:m>
                  <m:oMath xmlns:m="http://schemas.openxmlformats.org/officeDocument/2006/math">
                    <m:acc>
                      <m:accPr>
                        <m:chr m:val="̂"/>
                        <m:ctrlPr>
                          <a:rPr lang="ru-RU" i="1">
                            <a:effectLst/>
                            <a:latin typeface="Cambria Math" panose="020405030504060302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acc>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отсутствии каких-либо данных о зелёной кривой. </a:t>
                </a:r>
                <a:endParaRPr lang="ru-RU" dirty="0"/>
              </a:p>
            </p:txBody>
          </p:sp>
        </mc:Choice>
        <mc:Fallback xmlns="">
          <p:sp>
            <p:nvSpPr>
              <p:cNvPr id="7" name="TextBox 6">
                <a:extLst>
                  <a:ext uri="{FF2B5EF4-FFF2-40B4-BE49-F238E27FC236}">
                    <a16:creationId xmlns:a16="http://schemas.microsoft.com/office/drawing/2014/main" id="{B747918A-3AD4-BB42-86D9-D4EA077220F7}"/>
                  </a:ext>
                </a:extLst>
              </p:cNvPr>
              <p:cNvSpPr txBox="1">
                <a:spLocks noRot="1" noChangeAspect="1" noMove="1" noResize="1" noEditPoints="1" noAdjustHandles="1" noChangeArrowheads="1" noChangeShapeType="1" noTextEdit="1"/>
              </p:cNvSpPr>
              <p:nvPr/>
            </p:nvSpPr>
            <p:spPr>
              <a:xfrm>
                <a:off x="578735" y="5470757"/>
                <a:ext cx="8229599" cy="646331"/>
              </a:xfrm>
              <a:prstGeom prst="rect">
                <a:avLst/>
              </a:prstGeom>
              <a:blipFill>
                <a:blip r:embed="rId3"/>
                <a:stretch>
                  <a:fillRect l="-616" t="-3846" b="-13462"/>
                </a:stretch>
              </a:blipFill>
            </p:spPr>
            <p:txBody>
              <a:bodyPr/>
              <a:lstStyle/>
              <a:p>
                <a:r>
                  <a:rPr lang="ru-RU">
                    <a:noFill/>
                  </a:rPr>
                  <a:t> </a:t>
                </a:r>
              </a:p>
            </p:txBody>
          </p:sp>
        </mc:Fallback>
      </mc:AlternateContent>
    </p:spTree>
    <p:extLst>
      <p:ext uri="{BB962C8B-B14F-4D97-AF65-F5344CB8AC3E}">
        <p14:creationId xmlns:p14="http://schemas.microsoft.com/office/powerpoint/2010/main" val="325973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09F8D10-CC55-864E-B117-1E58586E5BCF}"/>
              </a:ext>
            </a:extLst>
          </p:cNvPr>
          <p:cNvSpPr>
            <a:spLocks noGrp="1"/>
          </p:cNvSpPr>
          <p:nvPr>
            <p:ph type="title"/>
          </p:nvPr>
        </p:nvSpPr>
        <p:spPr/>
        <p:txBody>
          <a:bodyPr/>
          <a:lstStyle/>
          <a:p>
            <a:r>
              <a:rPr lang="ru-RU" dirty="0"/>
              <a:t>Пример</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E363DA3B-6EC3-1442-9F2E-43074C91B3FB}"/>
                  </a:ext>
                </a:extLst>
              </p:cNvPr>
              <p:cNvSpPr>
                <a:spLocks noGrp="1"/>
              </p:cNvSpPr>
              <p:nvPr>
                <p:ph idx="1"/>
              </p:nvPr>
            </p:nvSpPr>
            <p:spPr/>
            <p:txBody>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П</a:t>
                </a:r>
                <a:r>
                  <a:rPr lang="ru-RU" sz="1800" dirty="0">
                    <a:effectLst/>
                    <a:latin typeface="Aptos" panose="020B0004020202020204" pitchFamily="34" charset="0"/>
                    <a:ea typeface="Aptos" panose="020B0004020202020204" pitchFamily="34" charset="0"/>
                    <a:cs typeface="Times New Roman" panose="02020603050405020304" pitchFamily="18" charset="0"/>
                  </a:rPr>
                  <a:t>опытаемся подгонять данные с помощью полиномиальной функции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p>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i="1" dirty="0">
                    <a:effectLst/>
                    <a:latin typeface="Aptos" panose="020B0004020202020204" pitchFamily="34" charset="0"/>
                    <a:ea typeface="Aptos" panose="020B0004020202020204" pitchFamily="34" charset="0"/>
                    <a:cs typeface="Times New Roman" panose="02020603050405020304" pitchFamily="18" charset="0"/>
                  </a:rPr>
                  <a:t>порядок </a:t>
                </a:r>
                <a:r>
                  <a:rPr lang="ru-RU" sz="1800" dirty="0">
                    <a:effectLst/>
                    <a:latin typeface="Aptos" panose="020B0004020202020204" pitchFamily="34" charset="0"/>
                    <a:ea typeface="Aptos" panose="020B0004020202020204" pitchFamily="34" charset="0"/>
                    <a:cs typeface="Times New Roman" panose="02020603050405020304" pitchFamily="18" charset="0"/>
                  </a:rPr>
                  <a:t>полинома. </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Такие функции, как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являющиеся линейными функциями неизвестных коэффициентов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называются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линейными моделями </a:t>
                </a:r>
                <a:r>
                  <a:rPr lang="ru-RU" sz="1800" dirty="0">
                    <a:effectLst/>
                    <a:latin typeface="Aptos" panose="020B0004020202020204" pitchFamily="34" charset="0"/>
                    <a:ea typeface="Aptos" panose="020B0004020202020204" pitchFamily="34" charset="0"/>
                    <a:cs typeface="Times New Roman" panose="02020603050405020304" pitchFamily="18" charset="0"/>
                  </a:rPr>
                  <a:t>.</a:t>
                </a:r>
                <a:endParaRPr lang="ru-RU" dirty="0"/>
              </a:p>
            </p:txBody>
          </p:sp>
        </mc:Choice>
        <mc:Fallback xmlns="">
          <p:sp>
            <p:nvSpPr>
              <p:cNvPr id="3" name="Объект 2">
                <a:extLst>
                  <a:ext uri="{FF2B5EF4-FFF2-40B4-BE49-F238E27FC236}">
                    <a16:creationId xmlns:a16="http://schemas.microsoft.com/office/drawing/2014/main" id="{E363DA3B-6EC3-1442-9F2E-43074C91B3FB}"/>
                  </a:ext>
                </a:extLst>
              </p:cNvPr>
              <p:cNvSpPr>
                <a:spLocks noGrp="1" noRot="1" noChangeAspect="1" noMove="1" noResize="1" noEditPoints="1" noAdjustHandles="1" noChangeArrowheads="1" noChangeShapeType="1" noTextEdit="1"/>
              </p:cNvSpPr>
              <p:nvPr>
                <p:ph idx="1"/>
              </p:nvPr>
            </p:nvSpPr>
            <p:spPr>
              <a:blipFill>
                <a:blip r:embed="rId2"/>
                <a:stretch>
                  <a:fillRect l="-617" t="-10084" r="-617"/>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0D8ABB8B-6F15-CD43-AC45-7B84DE943F26}"/>
              </a:ext>
            </a:extLst>
          </p:cNvPr>
          <p:cNvSpPr>
            <a:spLocks noGrp="1"/>
          </p:cNvSpPr>
          <p:nvPr>
            <p:ph type="sldNum" sz="quarter" idx="12"/>
          </p:nvPr>
        </p:nvSpPr>
        <p:spPr/>
        <p:txBody>
          <a:bodyPr/>
          <a:lstStyle/>
          <a:p>
            <a:fld id="{38237106-F2ED-405E-BC33-CC3CF426205F}" type="slidenum">
              <a:rPr lang="en-US" smtClean="0"/>
              <a:pPr/>
              <a:t>22</a:t>
            </a:fld>
            <a:endParaRPr lang="en-US"/>
          </a:p>
        </p:txBody>
      </p:sp>
    </p:spTree>
    <p:extLst>
      <p:ext uri="{BB962C8B-B14F-4D97-AF65-F5344CB8AC3E}">
        <p14:creationId xmlns:p14="http://schemas.microsoft.com/office/powerpoint/2010/main" val="132070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C900F29-28B0-DF43-9CF5-D5B5B37D090D}"/>
              </a:ext>
            </a:extLst>
          </p:cNvPr>
          <p:cNvSpPr>
            <a:spLocks noGrp="1"/>
          </p:cNvSpPr>
          <p:nvPr>
            <p:ph type="title"/>
          </p:nvPr>
        </p:nvSpPr>
        <p:spPr/>
        <p:txBody>
          <a:bodyPr/>
          <a:lstStyle/>
          <a:p>
            <a:r>
              <a:rPr lang="ru-RU" dirty="0"/>
              <a:t>Функция ошибки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F71CE1F-8656-F04B-BA4C-4A5981FD77FA}"/>
                  </a:ext>
                </a:extLst>
              </p:cNvPr>
              <p:cNvSpPr>
                <a:spLocks noGrp="1"/>
              </p:cNvSpPr>
              <p:nvPr>
                <p:ph idx="1"/>
              </p:nvPr>
            </p:nvSpPr>
            <p:spPr>
              <a:xfrm>
                <a:off x="457200" y="1600200"/>
                <a:ext cx="4334719" cy="5257800"/>
              </a:xfrm>
            </p:spPr>
            <p:txBody>
              <a:bodyPr>
                <a:normAutofit fontScale="775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Н</a:t>
                </a:r>
                <a:r>
                  <a:rPr lang="ru-RU" sz="1800" dirty="0">
                    <a:effectLst/>
                    <a:latin typeface="Aptos" panose="020B0004020202020204" pitchFamily="34" charset="0"/>
                    <a:ea typeface="Aptos" panose="020B0004020202020204" pitchFamily="34" charset="0"/>
                    <a:cs typeface="Times New Roman" panose="02020603050405020304" pitchFamily="18" charset="0"/>
                  </a:rPr>
                  <a:t>еобходимо определить значения коэффициентов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подгоняя полином к обучающим данным. Это можно сделать, минимизировав </a:t>
                </a:r>
                <a:r>
                  <a:rPr lang="ru-RU" sz="1800" i="1" dirty="0">
                    <a:effectLst/>
                    <a:latin typeface="Aptos" panose="020B0004020202020204" pitchFamily="34" charset="0"/>
                    <a:ea typeface="Aptos" panose="020B0004020202020204" pitchFamily="34" charset="0"/>
                    <a:cs typeface="Times New Roman" panose="02020603050405020304" pitchFamily="18" charset="0"/>
                  </a:rPr>
                  <a:t>функцию ошибки </a:t>
                </a:r>
                <a:r>
                  <a:rPr lang="ru-RU" sz="1800" dirty="0">
                    <a:effectLst/>
                    <a:latin typeface="Aptos" panose="020B0004020202020204" pitchFamily="34" charset="0"/>
                    <a:ea typeface="Aptos" panose="020B0004020202020204" pitchFamily="34" charset="0"/>
                    <a:cs typeface="Times New Roman" panose="02020603050405020304" pitchFamily="18" charset="0"/>
                  </a:rPr>
                  <a:t>, которая измеряет несоответствие между функцией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для заданного значения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точками обучающих данных.</a:t>
                </a: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Одна простая функция ошибок представляет собой </a:t>
                </a:r>
                <a:r>
                  <a:rPr lang="ru-RU" sz="1800" i="1" dirty="0">
                    <a:effectLst/>
                    <a:latin typeface="Aptos" panose="020B0004020202020204" pitchFamily="34" charset="0"/>
                    <a:ea typeface="Aptos" panose="020B0004020202020204" pitchFamily="34" charset="0"/>
                    <a:cs typeface="Times New Roman" panose="02020603050405020304" pitchFamily="18" charset="0"/>
                  </a:rPr>
                  <a:t>сумму квадратов ошибок </a:t>
                </a:r>
                <a:r>
                  <a:rPr lang="ru-RU" sz="1800" dirty="0">
                    <a:effectLst/>
                    <a:latin typeface="Aptos" panose="020B0004020202020204" pitchFamily="34" charset="0"/>
                    <a:ea typeface="Aptos" panose="020B0004020202020204" pitchFamily="34" charset="0"/>
                    <a:cs typeface="Times New Roman" panose="02020603050405020304" pitchFamily="18" charset="0"/>
                  </a:rPr>
                  <a:t>между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 соответствующими целевыми значениями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функция становится равной нулю тогда и только тогда, когда функция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проходит точно через каждую точку обучающих данных.</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Мы можем решить задачу аппроксимации кривой, выбрав значение ,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котором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как можно меньше. Поскольку функция погрешности квадратичная, её производные линейны, и, следовательно, минимизация функции имеет единственное решение</a:t>
                </a:r>
                <a:r>
                  <a:rPr lang="ru-RU" sz="1800" dirty="0">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в точке, обозначенное как </a:t>
                </a:r>
                <a14:m>
                  <m:oMath xmlns:m="http://schemas.openxmlformats.org/officeDocument/2006/math">
                    <m:sSup>
                      <m:sSupPr>
                        <m:ctrlPr>
                          <a:rPr lang="ru-RU" i="1">
                            <a:effectLst/>
                            <a:latin typeface="Cambria Math" panose="020405030504060302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endParaRPr lang="ru-RU" dirty="0"/>
              </a:p>
            </p:txBody>
          </p:sp>
        </mc:Choice>
        <mc:Fallback xmlns="">
          <p:sp>
            <p:nvSpPr>
              <p:cNvPr id="3" name="Объект 2">
                <a:extLst>
                  <a:ext uri="{FF2B5EF4-FFF2-40B4-BE49-F238E27FC236}">
                    <a16:creationId xmlns:a16="http://schemas.microsoft.com/office/drawing/2014/main" id="{0F71CE1F-8656-F04B-BA4C-4A5981FD77FA}"/>
                  </a:ext>
                </a:extLst>
              </p:cNvPr>
              <p:cNvSpPr>
                <a:spLocks noGrp="1" noRot="1" noChangeAspect="1" noMove="1" noResize="1" noEditPoints="1" noAdjustHandles="1" noChangeArrowheads="1" noChangeShapeType="1" noTextEdit="1"/>
              </p:cNvSpPr>
              <p:nvPr>
                <p:ph idx="1"/>
              </p:nvPr>
            </p:nvSpPr>
            <p:spPr>
              <a:xfrm>
                <a:off x="457200" y="1600200"/>
                <a:ext cx="4334719" cy="5257800"/>
              </a:xfrm>
              <a:blipFill>
                <a:blip r:embed="rId2"/>
                <a:stretch>
                  <a:fillRect l="-585" t="-1208" r="-877"/>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B7AD3B7-FEAE-754D-BE81-F960811CF0A6}"/>
              </a:ext>
            </a:extLst>
          </p:cNvPr>
          <p:cNvSpPr>
            <a:spLocks noGrp="1"/>
          </p:cNvSpPr>
          <p:nvPr>
            <p:ph type="sldNum" sz="quarter" idx="12"/>
          </p:nvPr>
        </p:nvSpPr>
        <p:spPr/>
        <p:txBody>
          <a:bodyPr/>
          <a:lstStyle/>
          <a:p>
            <a:fld id="{38237106-F2ED-405E-BC33-CC3CF426205F}" type="slidenum">
              <a:rPr lang="en-US" smtClean="0"/>
              <a:pPr/>
              <a:t>23</a:t>
            </a:fld>
            <a:endParaRPr lang="en-US"/>
          </a:p>
        </p:txBody>
      </p:sp>
      <p:pic>
        <p:nvPicPr>
          <p:cNvPr id="5" name="Рисунок 4">
            <a:extLst>
              <a:ext uri="{FF2B5EF4-FFF2-40B4-BE49-F238E27FC236}">
                <a16:creationId xmlns:a16="http://schemas.microsoft.com/office/drawing/2014/main" id="{0364ABAE-0AC8-304E-9601-506F50EED3FA}"/>
              </a:ext>
            </a:extLst>
          </p:cNvPr>
          <p:cNvPicPr>
            <a:picLocks noChangeAspect="1"/>
          </p:cNvPicPr>
          <p:nvPr/>
        </p:nvPicPr>
        <p:blipFill>
          <a:blip r:embed="rId3"/>
          <a:stretch>
            <a:fillRect/>
          </a:stretch>
        </p:blipFill>
        <p:spPr>
          <a:xfrm>
            <a:off x="4957502" y="2439525"/>
            <a:ext cx="3729298" cy="2787922"/>
          </a:xfrm>
          <a:prstGeom prst="rect">
            <a:avLst/>
          </a:prstGeom>
        </p:spPr>
      </p:pic>
    </p:spTree>
    <p:extLst>
      <p:ext uri="{BB962C8B-B14F-4D97-AF65-F5344CB8AC3E}">
        <p14:creationId xmlns:p14="http://schemas.microsoft.com/office/powerpoint/2010/main" val="15865548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5A8E74D-EDE4-3D4B-A43F-8B39661FE8EA}"/>
              </a:ext>
            </a:extLst>
          </p:cNvPr>
          <p:cNvSpPr>
            <a:spLocks noGrp="1"/>
          </p:cNvSpPr>
          <p:nvPr>
            <p:ph type="title"/>
          </p:nvPr>
        </p:nvSpPr>
        <p:spPr>
          <a:xfrm>
            <a:off x="272005" y="0"/>
            <a:ext cx="8229600" cy="630560"/>
          </a:xfrm>
        </p:spPr>
        <p:txBody>
          <a:bodyPr>
            <a:normAutofit fontScale="90000"/>
          </a:bodyPr>
          <a:lstStyle/>
          <a:p>
            <a:r>
              <a:rPr lang="ru-RU" dirty="0"/>
              <a:t>Поиск решения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63D84281-5E0F-D049-8280-20AB1CFF8A59}"/>
                  </a:ext>
                </a:extLst>
              </p:cNvPr>
              <p:cNvSpPr>
                <a:spLocks noGrp="1"/>
              </p:cNvSpPr>
              <p:nvPr>
                <p:ph idx="1"/>
              </p:nvPr>
            </p:nvSpPr>
            <p:spPr>
              <a:xfrm>
                <a:off x="457200" y="630560"/>
                <a:ext cx="8229600" cy="5952802"/>
              </a:xfrm>
            </p:spPr>
            <p:txBody>
              <a:bodyPr>
                <a:noAutofit/>
              </a:bodyPr>
              <a:lstStyle/>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Для минимизации функции погрешности необходимо вывести вектор градиента, приравнять его к нулю и решить уравнение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Сначала нам нужно подставить полином в функцию ошибки</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600" i="1">
                          <a:latin typeface="Cambria Math" panose="02040503050406030204" pitchFamily="18" charset="0"/>
                          <a:ea typeface="Aptos" panose="020B0004020202020204" pitchFamily="34" charset="0"/>
                          <a:cs typeface="Times New Roman" panose="02020603050405020304" pitchFamily="18" charset="0"/>
                        </a:rPr>
                        <m:t>𝐸</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b="1" i="1">
                          <a:latin typeface="Cambria Math" panose="02040503050406030204" pitchFamily="18" charset="0"/>
                          <a:ea typeface="Aptos" panose="020B0004020202020204" pitchFamily="34" charset="0"/>
                          <a:cs typeface="Times New Roman" panose="02020603050405020304" pitchFamily="18" charset="0"/>
                        </a:rPr>
                        <m:t>𝐰</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6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6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600" i="1">
                              <a:effectLst/>
                              <a:latin typeface="Cambria Math" panose="02040503050406030204" pitchFamily="18" charset="0"/>
                              <a:ea typeface="Aptos" panose="020B0004020202020204" pitchFamily="34" charset="0"/>
                              <a:cs typeface="Times New Roman" panose="02020603050405020304" pitchFamily="18" charset="0"/>
                            </a:rPr>
                            <m:t>𝑛</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600" i="1">
                              <a:effectLst/>
                              <a:latin typeface="Cambria Math" panose="02040503050406030204" pitchFamily="18" charset="0"/>
                              <a:ea typeface="Aptos" panose="020B0004020202020204" pitchFamily="34" charset="0"/>
                              <a:cs typeface="Times New Roman" panose="02020603050405020304" pitchFamily="18" charset="0"/>
                            </a:rPr>
                            <m:t>𝑁</m:t>
                          </m:r>
                        </m:sup>
                        <m:e>
                          <m:nary>
                            <m:naryPr>
                              <m:chr m:val="∑"/>
                              <m:limLoc m:val="undOvr"/>
                              <m:ctrlPr>
                                <a:rPr lang="ru-RU" sz="1600" i="1">
                                  <a:latin typeface="Cambria Math" panose="02040503050406030204" pitchFamily="18" charset="0"/>
                                  <a:ea typeface="Aptos" panose="020B0004020202020204" pitchFamily="34" charset="0"/>
                                  <a:cs typeface="Times New Roman" panose="02020603050405020304" pitchFamily="18" charset="0"/>
                                </a:rPr>
                              </m:ctrlPr>
                            </m:naryPr>
                            <m:sub>
                              <m:r>
                                <a:rPr lang="ru-RU" sz="1600" i="1">
                                  <a:latin typeface="Cambria Math" panose="02040503050406030204" pitchFamily="18" charset="0"/>
                                  <a:ea typeface="Aptos" panose="020B0004020202020204" pitchFamily="34" charset="0"/>
                                  <a:cs typeface="Times New Roman" panose="02020603050405020304" pitchFamily="18" charset="0"/>
                                </a:rPr>
                                <m:t>𝑗</m:t>
                              </m:r>
                              <m:r>
                                <a:rPr lang="ru-RU" sz="1600">
                                  <a:latin typeface="Cambria Math" panose="02040503050406030204" pitchFamily="18" charset="0"/>
                                  <a:ea typeface="Aptos" panose="020B0004020202020204" pitchFamily="34" charset="0"/>
                                  <a:cs typeface="Times New Roman" panose="02020603050405020304" pitchFamily="18" charset="0"/>
                                </a:rPr>
                                <m:t>=</m:t>
                              </m:r>
                              <m:r>
                                <a:rPr lang="ru-RU" sz="1600" i="1">
                                  <a:latin typeface="Cambria Math" panose="02040503050406030204" pitchFamily="18" charset="0"/>
                                  <a:ea typeface="Aptos" panose="020B0004020202020204" pitchFamily="34" charset="0"/>
                                  <a:cs typeface="Times New Roman" panose="02020603050405020304" pitchFamily="18" charset="0"/>
                                </a:rPr>
                                <m:t>0</m:t>
                              </m:r>
                            </m:sub>
                            <m:sup>
                              <m:r>
                                <a:rPr lang="ru-RU" sz="1600" i="1">
                                  <a:latin typeface="Cambria Math" panose="02040503050406030204" pitchFamily="18" charset="0"/>
                                  <a:ea typeface="Aptos" panose="020B0004020202020204" pitchFamily="34" charset="0"/>
                                  <a:cs typeface="Times New Roman" panose="02020603050405020304" pitchFamily="18" charset="0"/>
                                </a:rPr>
                                <m:t>𝑀</m:t>
                              </m:r>
                            </m:sup>
                            <m:e>
                              <m:r>
                                <a:rPr lang="ru-RU" sz="1600" i="1">
                                  <a:latin typeface="Cambria Math" panose="02040503050406030204" pitchFamily="18" charset="0"/>
                                  <a:ea typeface="Aptos" panose="020B0004020202020204" pitchFamily="34" charset="0"/>
                                  <a:cs typeface="Times New Roman" panose="02020603050405020304" pitchFamily="18" charset="0"/>
                                </a:rPr>
                                <m:t>(</m:t>
                              </m:r>
                              <m:sSub>
                                <m:sSubPr>
                                  <m:ctrlPr>
                                    <a:rPr lang="ru-RU" sz="1600" i="1">
                                      <a:latin typeface="Cambria Math" panose="02040503050406030204" pitchFamily="18" charset="0"/>
                                      <a:ea typeface="Aptos" panose="020B0004020202020204" pitchFamily="34" charset="0"/>
                                      <a:cs typeface="Times New Roman" panose="02020603050405020304" pitchFamily="18" charset="0"/>
                                    </a:rPr>
                                  </m:ctrlPr>
                                </m:sSubPr>
                                <m:e>
                                  <m:r>
                                    <a:rPr lang="ru-RU" sz="1600" i="1">
                                      <a:latin typeface="Cambria Math" panose="02040503050406030204" pitchFamily="18" charset="0"/>
                                      <a:ea typeface="Aptos" panose="020B0004020202020204" pitchFamily="34" charset="0"/>
                                      <a:cs typeface="Times New Roman" panose="02020603050405020304" pitchFamily="18" charset="0"/>
                                    </a:rPr>
                                    <m:t>𝑤</m:t>
                                  </m:r>
                                </m:e>
                                <m:sub>
                                  <m:r>
                                    <a:rPr lang="ru-RU" sz="1600" i="1">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600" i="1">
                                  <a:latin typeface="Cambria Math" panose="02040503050406030204" pitchFamily="18" charset="0"/>
                                  <a:ea typeface="Aptos" panose="020B0004020202020204" pitchFamily="34" charset="0"/>
                                  <a:cs typeface="Times New Roman" panose="02020603050405020304" pitchFamily="18" charset="0"/>
                                </a:rPr>
                              </m:ctrlPr>
                            </m:sSubSupPr>
                            <m:e>
                              <m:r>
                                <a:rPr lang="ru-RU" sz="1600" i="1">
                                  <a:latin typeface="Cambria Math" panose="02040503050406030204" pitchFamily="18" charset="0"/>
                                  <a:ea typeface="Aptos" panose="020B0004020202020204" pitchFamily="34" charset="0"/>
                                  <a:cs typeface="Times New Roman" panose="02020603050405020304" pitchFamily="18" charset="0"/>
                                </a:rPr>
                                <m:t>𝑥</m:t>
                              </m:r>
                            </m:e>
                            <m:sub>
                              <m:r>
                                <a:rPr lang="ru-RU" sz="1600" i="1">
                                  <a:latin typeface="Cambria Math" panose="02040503050406030204" pitchFamily="18" charset="0"/>
                                  <a:ea typeface="Aptos" panose="020B0004020202020204" pitchFamily="34" charset="0"/>
                                  <a:cs typeface="Times New Roman" panose="02020603050405020304" pitchFamily="18" charset="0"/>
                                </a:rPr>
                                <m:t>𝑛</m:t>
                              </m:r>
                            </m:sub>
                            <m:sup>
                              <m:r>
                                <a:rPr lang="ru-RU" sz="1600" i="1">
                                  <a:latin typeface="Cambria Math" panose="02040503050406030204" pitchFamily="18" charset="0"/>
                                  <a:ea typeface="Aptos" panose="020B0004020202020204" pitchFamily="34" charset="0"/>
                                  <a:cs typeface="Times New Roman" panose="02020603050405020304" pitchFamily="18" charset="0"/>
                                </a:rPr>
                                <m:t>𝑗</m:t>
                              </m:r>
                            </m:sup>
                          </m:sSubSup>
                          <m:r>
                            <a:rPr lang="ru-RU" sz="1600" i="1">
                              <a:latin typeface="Cambria Math" panose="02040503050406030204" pitchFamily="18" charset="0"/>
                              <a:ea typeface="Aptos" panose="020B0004020202020204" pitchFamily="34" charset="0"/>
                              <a:cs typeface="Times New Roman" panose="02020603050405020304" pitchFamily="18" charset="0"/>
                            </a:rPr>
                            <m:t>−</m:t>
                          </m:r>
                          <m:sSub>
                            <m:sSubPr>
                              <m:ctrlPr>
                                <a:rPr lang="ru-RU" sz="1600" i="1">
                                  <a:latin typeface="Cambria Math" panose="02040503050406030204" pitchFamily="18" charset="0"/>
                                  <a:ea typeface="Aptos" panose="020B0004020202020204" pitchFamily="34" charset="0"/>
                                  <a:cs typeface="Times New Roman" panose="02020603050405020304" pitchFamily="18" charset="0"/>
                                </a:rPr>
                              </m:ctrlPr>
                            </m:sSubPr>
                            <m:e>
                              <m:r>
                                <a:rPr lang="ru-RU" sz="1600" i="1">
                                  <a:latin typeface="Cambria Math" panose="02040503050406030204" pitchFamily="18" charset="0"/>
                                  <a:ea typeface="Aptos" panose="020B0004020202020204" pitchFamily="34" charset="0"/>
                                  <a:cs typeface="Times New Roman" panose="02020603050405020304" pitchFamily="18" charset="0"/>
                                </a:rPr>
                                <m:t>𝑡</m:t>
                              </m:r>
                            </m:e>
                            <m:sub>
                              <m:r>
                                <a:rPr lang="ru-RU" sz="1600" i="1">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600" i="1">
                                  <a:latin typeface="Cambria Math" panose="02040503050406030204" pitchFamily="18" charset="0"/>
                                  <a:ea typeface="Aptos" panose="020B0004020202020204" pitchFamily="34" charset="0"/>
                                  <a:cs typeface="Times New Roman" panose="02020603050405020304" pitchFamily="18" charset="0"/>
                                </a:rPr>
                              </m:ctrlPr>
                            </m:sSupPr>
                            <m:e>
                              <m:r>
                                <a:rPr lang="ru-RU" sz="1600">
                                  <a:latin typeface="Cambria Math" panose="02040503050406030204" pitchFamily="18" charset="0"/>
                                  <a:ea typeface="Aptos" panose="020B0004020202020204" pitchFamily="34" charset="0"/>
                                  <a:cs typeface="Times New Roman" panose="02020603050405020304" pitchFamily="18" charset="0"/>
                                </a:rPr>
                                <m:t>)</m:t>
                              </m:r>
                            </m:e>
                            <m:sup>
                              <m:r>
                                <a:rPr lang="ru-RU" sz="1600" i="1">
                                  <a:latin typeface="Cambria Math" panose="02040503050406030204" pitchFamily="18" charset="0"/>
                                  <a:ea typeface="Aptos" panose="020B0004020202020204" pitchFamily="34" charset="0"/>
                                  <a:cs typeface="Times New Roman" panose="02020603050405020304" pitchFamily="18" charset="0"/>
                                </a:rPr>
                                <m:t>2</m:t>
                              </m:r>
                            </m:sup>
                          </m:sSup>
                        </m:e>
                      </m:nary>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Обратите внимание, что каждая точка данных из сгенерированного обучающего набора имеет размерность</a:t>
                </a:r>
                <a:r>
                  <a:rPr lang="en-US" sz="105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050" i="1">
                        <a:latin typeface="Cambria Math" panose="02040503050406030204" pitchFamily="18" charset="0"/>
                        <a:ea typeface="Aptos" panose="020B0004020202020204" pitchFamily="34" charset="0"/>
                        <a:cs typeface="Times New Roman" panose="02020603050405020304" pitchFamily="18" charset="0"/>
                      </a:rPr>
                      <m:t>1</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то есть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ℝ</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Однако полиномиальная функция заполняет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признаков для каждого входного значения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по сути, преобразуя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b="0" i="1" smtClean="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в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-мерный вектор. Таким образом, обучающий набор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𝗑</m:t>
                    </m:r>
                    <m:r>
                      <a:rPr lang="ru-RU" sz="1050" b="0" i="1" smtClean="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можно записать в виде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𝑁</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en-US" sz="1050" dirty="0">
                    <a:effectLst/>
                    <a:latin typeface="Aptos" panose="020B0004020202020204" pitchFamily="34" charset="0"/>
                    <a:ea typeface="Aptos" panose="020B0004020202020204" pitchFamily="34" charset="0"/>
                    <a:cs typeface="Times New Roman" panose="02020603050405020304" pitchFamily="18" charset="0"/>
                  </a:rPr>
                  <a:t> </a:t>
                </a:r>
                <a:r>
                  <a:rPr lang="ru-RU" sz="1050" dirty="0">
                    <a:effectLst/>
                    <a:latin typeface="Aptos" panose="020B0004020202020204" pitchFamily="34" charset="0"/>
                    <a:ea typeface="Aptos" panose="020B0004020202020204" pitchFamily="34" charset="0"/>
                    <a:cs typeface="Times New Roman" panose="02020603050405020304" pitchFamily="18" charset="0"/>
                  </a:rPr>
                  <a:t>матрицы </a:t>
                </a:r>
                <a14:m>
                  <m:oMath xmlns:m="http://schemas.openxmlformats.org/officeDocument/2006/math">
                    <m:r>
                      <a:rPr lang="ru-RU" sz="1050" b="1" i="1">
                        <a:effectLst/>
                        <a:latin typeface="Cambria Math" panose="02040503050406030204" pitchFamily="18" charset="0"/>
                        <a:ea typeface="Aptos" panose="020B0004020202020204" pitchFamily="34" charset="0"/>
                        <a:cs typeface="Times New Roman" panose="02020603050405020304" pitchFamily="18" charset="0"/>
                      </a:rPr>
                      <m:t>𝐗</m:t>
                    </m:r>
                    <m:r>
                      <a:rPr lang="en-US" sz="1050" b="1" i="1" smtClean="0">
                        <a:effectLst/>
                        <a:latin typeface="Cambria Math" panose="02040503050406030204" pitchFamily="18" charset="0"/>
                        <a:ea typeface="Aptos" panose="020B0004020202020204" pitchFamily="34" charset="0"/>
                        <a:cs typeface="Times New Roman" panose="02020603050405020304" pitchFamily="18" charset="0"/>
                      </a:rPr>
                      <m:t>=</m:t>
                    </m:r>
                    <m:d>
                      <m:dPr>
                        <m:begChr m:val="‖"/>
                        <m:endChr m:val="‖"/>
                        <m:ctrlPr>
                          <a:rPr lang="en-US" sz="1050" b="1" i="1" smtClean="0">
                            <a:effectLst/>
                            <a:latin typeface="Cambria Math" panose="02040503050406030204" pitchFamily="18" charset="0"/>
                            <a:cs typeface="Times New Roman" panose="02020603050405020304" pitchFamily="18" charset="0"/>
                          </a:rPr>
                        </m:ctrlPr>
                      </m:dPr>
                      <m:e>
                        <m:sSub>
                          <m:sSubPr>
                            <m:ctrlPr>
                              <a:rPr lang="ru-RU" sz="1050" i="1">
                                <a:latin typeface="Cambria Math" panose="02040503050406030204" pitchFamily="18" charset="0"/>
                                <a:ea typeface="Aptos" panose="020B0004020202020204" pitchFamily="34" charset="0"/>
                                <a:cs typeface="Times New Roman" panose="02020603050405020304" pitchFamily="18" charset="0"/>
                              </a:rPr>
                            </m:ctrlPr>
                          </m:sSubPr>
                          <m:e>
                            <m:r>
                              <a:rPr lang="en-US" sz="1050" b="1" i="1">
                                <a:latin typeface="Cambria Math" panose="02040503050406030204" pitchFamily="18" charset="0"/>
                                <a:ea typeface="Aptos" panose="020B0004020202020204" pitchFamily="34" charset="0"/>
                                <a:cs typeface="Times New Roman" panose="02020603050405020304" pitchFamily="18" charset="0"/>
                              </a:rPr>
                              <m:t>𝒙</m:t>
                            </m:r>
                          </m:e>
                          <m:sub>
                            <m:r>
                              <a:rPr lang="ru-RU" sz="1050" i="1">
                                <a:latin typeface="Cambria Math" panose="02040503050406030204" pitchFamily="18" charset="0"/>
                                <a:ea typeface="Aptos" panose="020B0004020202020204" pitchFamily="34" charset="0"/>
                                <a:cs typeface="Times New Roman" panose="02020603050405020304" pitchFamily="18" charset="0"/>
                              </a:rPr>
                              <m:t>𝑛𝑗</m:t>
                            </m:r>
                          </m:sub>
                        </m:sSub>
                      </m:e>
                    </m:d>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где </a:t>
                </a:r>
                <a14:m>
                  <m:oMath xmlns:m="http://schemas.openxmlformats.org/officeDocument/2006/math">
                    <m:sSub>
                      <m:sSubPr>
                        <m:ctrlPr>
                          <a:rPr lang="ru-RU" sz="1050" i="1">
                            <a:latin typeface="Cambria Math" panose="02040503050406030204" pitchFamily="18" charset="0"/>
                            <a:ea typeface="Aptos" panose="020B0004020202020204" pitchFamily="34" charset="0"/>
                            <a:cs typeface="Times New Roman" panose="02020603050405020304" pitchFamily="18" charset="0"/>
                          </a:rPr>
                        </m:ctrlPr>
                      </m:sSubPr>
                      <m:e>
                        <m:r>
                          <a:rPr lang="en-US" sz="1050" b="1" i="1">
                            <a:latin typeface="Cambria Math" panose="02040503050406030204" pitchFamily="18" charset="0"/>
                            <a:ea typeface="Aptos" panose="020B0004020202020204" pitchFamily="34" charset="0"/>
                            <a:cs typeface="Times New Roman" panose="02020603050405020304" pitchFamily="18" charset="0"/>
                          </a:rPr>
                          <m:t>𝒙</m:t>
                        </m:r>
                      </m:e>
                      <m:sub>
                        <m:r>
                          <a:rPr lang="ru-RU" sz="1050" i="1">
                            <a:latin typeface="Cambria Math" panose="02040503050406030204" pitchFamily="18" charset="0"/>
                            <a:ea typeface="Aptos" panose="020B0004020202020204" pitchFamily="34" charset="0"/>
                            <a:cs typeface="Times New Roman" panose="02020603050405020304" pitchFamily="18" charset="0"/>
                          </a:rPr>
                          <m:t>𝑛𝑗</m:t>
                        </m:r>
                      </m:sub>
                    </m:sSub>
                    <m:r>
                      <a:rPr lang="ru-RU" sz="1050" i="1">
                        <a:latin typeface="Cambria Math" panose="02040503050406030204" pitchFamily="18" charset="0"/>
                        <a:ea typeface="Aptos" panose="020B0004020202020204" pitchFamily="34" charset="0"/>
                        <a:cs typeface="Times New Roman" panose="02020603050405020304" pitchFamily="18" charset="0"/>
                      </a:rPr>
                      <m:t> </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представляет </a:t>
                </a:r>
                <a14:m>
                  <m:oMath xmlns:m="http://schemas.openxmlformats.org/officeDocument/2006/math">
                    <m:sSubSup>
                      <m:sSub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05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050" i="1">
                            <a:effectLst/>
                            <a:latin typeface="Cambria Math" panose="02040503050406030204" pitchFamily="18" charset="0"/>
                            <a:ea typeface="Aptos" panose="020B0004020202020204" pitchFamily="34" charset="0"/>
                            <a:cs typeface="Times New Roman" panose="02020603050405020304" pitchFamily="18" charset="0"/>
                          </a:rPr>
                          <m:t>𝑗</m:t>
                        </m:r>
                      </m:sup>
                    </m:sSub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то есть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𝑛</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a:t>
                </a:r>
                <a:r>
                  <a:rPr lang="ru-RU" sz="1050" dirty="0" err="1">
                    <a:effectLst/>
                    <a:latin typeface="Aptos" panose="020B0004020202020204" pitchFamily="34" charset="0"/>
                    <a:ea typeface="Aptos" panose="020B0004020202020204" pitchFamily="34" charset="0"/>
                    <a:cs typeface="Times New Roman" panose="02020603050405020304" pitchFamily="18" charset="0"/>
                  </a:rPr>
                  <a:t>ое</a:t>
                </a:r>
                <a:r>
                  <a:rPr lang="ru-RU" sz="1050" dirty="0">
                    <a:effectLst/>
                    <a:latin typeface="Aptos" panose="020B0004020202020204" pitchFamily="34" charset="0"/>
                    <a:ea typeface="Aptos" panose="020B0004020202020204" pitchFamily="34" charset="0"/>
                    <a:cs typeface="Times New Roman" panose="02020603050405020304" pitchFamily="18" charset="0"/>
                  </a:rPr>
                  <a:t> входное значение, возведенное в степень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𝑗</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Чтобы найти вектор градиента, мы берём частную производную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𝐸</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по произвольному </a:t>
                </a:r>
                <a14:m>
                  <m:oMath xmlns:m="http://schemas.openxmlformats.org/officeDocument/2006/math">
                    <m:sSub>
                      <m:sSub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05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050" i="1">
                            <a:effectLst/>
                            <a:latin typeface="Cambria Math" panose="02040503050406030204" pitchFamily="18" charset="0"/>
                            <a:ea typeface="Aptos" panose="020B0004020202020204" pitchFamily="34" charset="0"/>
                            <a:cs typeface="Times New Roman" panose="02020603050405020304" pitchFamily="18" charset="0"/>
                          </a:rPr>
                          <m:t>𝑘</m:t>
                        </m:r>
                      </m:sub>
                    </m:sSub>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Дифференцируя сумму </a:t>
                </a:r>
                <a:r>
                  <a:rPr lang="ru-RU" sz="1050" dirty="0" err="1">
                    <a:effectLst/>
                    <a:latin typeface="Aptos" panose="020B0004020202020204" pitchFamily="34" charset="0"/>
                    <a:ea typeface="Aptos" panose="020B0004020202020204" pitchFamily="34" charset="0"/>
                    <a:cs typeface="Times New Roman" panose="02020603050405020304" pitchFamily="18" charset="0"/>
                  </a:rPr>
                  <a:t>почленно</a:t>
                </a:r>
                <a:r>
                  <a:rPr lang="ru-RU" sz="1050" dirty="0">
                    <a:effectLst/>
                    <a:latin typeface="Aptos" panose="020B0004020202020204" pitchFamily="34" charset="0"/>
                    <a:ea typeface="Aptos" panose="020B0004020202020204" pitchFamily="34" charset="0"/>
                    <a:cs typeface="Times New Roman" panose="02020603050405020304" pitchFamily="18" charset="0"/>
                  </a:rPr>
                  <a:t>, получаем: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200" smtClean="0">
                          <a:latin typeface="Cambria Math" panose="02040503050406030204" pitchFamily="18" charset="0"/>
                          <a:ea typeface="Aptos" panose="020B0004020202020204" pitchFamily="34" charset="0"/>
                          <a:cs typeface="Times New Roman" panose="02020603050405020304" pitchFamily="18" charset="0"/>
                        </a:rPr>
                        <m:t>∇</m:t>
                      </m:r>
                      <m:r>
                        <a:rPr lang="ru-RU" sz="1200" i="1">
                          <a:latin typeface="Cambria Math" panose="02040503050406030204" pitchFamily="18" charset="0"/>
                          <a:ea typeface="Aptos" panose="020B0004020202020204" pitchFamily="34" charset="0"/>
                          <a:cs typeface="Times New Roman" panose="02020603050405020304" pitchFamily="18" charset="0"/>
                        </a:rPr>
                        <m:t>𝐸</m:t>
                      </m:r>
                      <m:r>
                        <a:rPr lang="ru-RU" sz="1200">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latin typeface="Cambria Math" panose="02040503050406030204" pitchFamily="18" charset="0"/>
                              <a:ea typeface="Aptos" panose="020B0004020202020204" pitchFamily="34" charset="0"/>
                              <a:cs typeface="Times New Roman" panose="02020603050405020304" pitchFamily="18" charset="0"/>
                            </a:rPr>
                          </m:ctrlPr>
                        </m:sSupPr>
                        <m:e>
                          <m:r>
                            <a:rPr lang="ru-RU" sz="1200" b="1" i="1">
                              <a:latin typeface="Cambria Math" panose="02040503050406030204" pitchFamily="18" charset="0"/>
                              <a:ea typeface="Aptos" panose="020B0004020202020204" pitchFamily="34" charset="0"/>
                              <a:cs typeface="Times New Roman" panose="02020603050405020304" pitchFamily="18" charset="0"/>
                            </a:rPr>
                            <m:t>𝐰</m:t>
                          </m:r>
                        </m:e>
                        <m:sup>
                          <m:r>
                            <a:rPr lang="ru-RU" sz="1200">
                              <a:latin typeface="Cambria Math" panose="02040503050406030204" pitchFamily="18" charset="0"/>
                              <a:ea typeface="Aptos" panose="020B0004020202020204" pitchFamily="34" charset="0"/>
                              <a:cs typeface="Times New Roman" panose="02020603050405020304" pitchFamily="18" charset="0"/>
                            </a:rPr>
                            <m:t>⋆</m:t>
                          </m:r>
                        </m:sup>
                      </m:sSup>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a:latin typeface="Cambria Math" panose="02040503050406030204" pitchFamily="18" charset="0"/>
                              <a:ea typeface="Aptos" panose="020B0004020202020204" pitchFamily="34" charset="0"/>
                              <a:cs typeface="Times New Roman" panose="02020603050405020304" pitchFamily="18" charset="0"/>
                            </a:rPr>
                            <m:t>)</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r>
                        <a:rPr lang="ru-RU" sz="1200">
                          <a:latin typeface="Cambria Math" panose="02040503050406030204" pitchFamily="18" charset="0"/>
                          <a:ea typeface="Aptos" panose="020B0004020202020204" pitchFamily="34" charset="0"/>
                          <a:cs typeface="Times New Roman" panose="02020603050405020304" pitchFamily="18" charset="0"/>
                        </a:rPr>
                        <m:t>=</m:t>
                      </m:r>
                      <m:f>
                        <m:fPr>
                          <m:ctrlPr>
                            <a:rPr lang="ru-RU" sz="1200" i="1">
                              <a:latin typeface="Cambria Math" panose="02040503050406030204" pitchFamily="18" charset="0"/>
                              <a:ea typeface="Aptos" panose="020B0004020202020204" pitchFamily="34" charset="0"/>
                              <a:cs typeface="Times New Roman" panose="02020603050405020304" pitchFamily="18" charset="0"/>
                            </a:rPr>
                          </m:ctrlPr>
                        </m:fPr>
                        <m:num>
                          <m:r>
                            <a:rPr lang="ru-RU" sz="1200">
                              <a:latin typeface="Cambria Math" panose="02040503050406030204" pitchFamily="18" charset="0"/>
                              <a:ea typeface="Aptos" panose="020B0004020202020204" pitchFamily="34" charset="0"/>
                              <a:cs typeface="Times New Roman" panose="02020603050405020304" pitchFamily="18" charset="0"/>
                            </a:rPr>
                            <m:t>𝜕</m:t>
                          </m:r>
                        </m:num>
                        <m:den>
                          <m:r>
                            <a:rPr lang="ru-RU" sz="1200">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i="1">
                                  <a:latin typeface="Cambria Math" panose="02040503050406030204" pitchFamily="18" charset="0"/>
                                  <a:ea typeface="Aptos" panose="020B0004020202020204" pitchFamily="34" charset="0"/>
                                  <a:cs typeface="Times New Roman" panose="02020603050405020304" pitchFamily="18" charset="0"/>
                                </a:rPr>
                                <m:t>𝑤</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den>
                      </m:f>
                      <m:r>
                        <a:rPr lang="ru-RU" sz="1200" i="1">
                          <a:latin typeface="Cambria Math" panose="02040503050406030204" pitchFamily="18" charset="0"/>
                          <a:ea typeface="Aptos" panose="020B0004020202020204" pitchFamily="34" charset="0"/>
                          <a:cs typeface="Times New Roman" panose="02020603050405020304" pitchFamily="18" charset="0"/>
                        </a:rPr>
                        <m:t>𝐸</m:t>
                      </m:r>
                      <m:r>
                        <a:rPr lang="ru-RU" sz="1200">
                          <a:latin typeface="Cambria Math" panose="02040503050406030204" pitchFamily="18" charset="0"/>
                          <a:ea typeface="Aptos" panose="020B0004020202020204" pitchFamily="34" charset="0"/>
                          <a:cs typeface="Times New Roman" panose="02020603050405020304" pitchFamily="18" charset="0"/>
                        </a:rPr>
                        <m:t>(</m:t>
                      </m:r>
                      <m:r>
                        <a:rPr lang="ru-RU" sz="1200" b="1" i="1">
                          <a:latin typeface="Cambria Math" panose="02040503050406030204" pitchFamily="18" charset="0"/>
                          <a:ea typeface="Aptos" panose="020B0004020202020204" pitchFamily="34" charset="0"/>
                          <a:cs typeface="Times New Roman" panose="02020603050405020304" pitchFamily="18" charset="0"/>
                        </a:rPr>
                        <m:t>𝐰</m:t>
                      </m:r>
                      <m:r>
                        <a:rPr lang="ru-RU" sz="1200">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i="1">
                              <a:effectLst/>
                              <a:latin typeface="Cambria Math" panose="02040503050406030204" pitchFamily="18" charset="0"/>
                              <a:ea typeface="Aptos" panose="020B0004020202020204" pitchFamily="34" charset="0"/>
                              <a:cs typeface="Times New Roman" panose="02020603050405020304" pitchFamily="18" charset="0"/>
                            </a:rPr>
                            <m:t>2</m:t>
                          </m:r>
                        </m:e>
                      </m:nary>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2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en-US" sz="1200" b="1" i="1">
                              <a:latin typeface="Cambria Math" panose="02040503050406030204" pitchFamily="18" charset="0"/>
                              <a:ea typeface="Aptos" panose="020B0004020202020204" pitchFamily="34" charset="0"/>
                              <a:cs typeface="Times New Roman" panose="02020603050405020304" pitchFamily="18" charset="0"/>
                            </a:rPr>
                            <m:t>𝒙</m:t>
                          </m:r>
                        </m:e>
                        <m:sub>
                          <m:r>
                            <a:rPr lang="ru-RU" sz="1200" i="1">
                              <a:latin typeface="Cambria Math" panose="02040503050406030204" pitchFamily="18" charset="0"/>
                              <a:ea typeface="Aptos" panose="020B0004020202020204" pitchFamily="34" charset="0"/>
                              <a:cs typeface="Times New Roman" panose="02020603050405020304" pitchFamily="18" charset="0"/>
                            </a:rPr>
                            <m:t>𝑛</m:t>
                          </m:r>
                          <m:r>
                            <a:rPr lang="en-US" sz="1200" b="0" i="1" smtClean="0">
                              <a:latin typeface="Cambria Math" panose="02040503050406030204" pitchFamily="18" charset="0"/>
                              <a:ea typeface="Aptos" panose="020B0004020202020204" pitchFamily="34" charset="0"/>
                              <a:cs typeface="Times New Roman" panose="02020603050405020304" pitchFamily="18" charset="0"/>
                            </a:rPr>
                            <m:t>𝑘</m:t>
                          </m:r>
                        </m:sub>
                      </m:sSub>
                      <m:r>
                        <a:rPr lang="ru-RU" sz="12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𝑘𝑛</m:t>
                              </m:r>
                            </m:sub>
                            <m:sup>
                              <m:r>
                                <m:rPr>
                                  <m:nor/>
                                </m:rPr>
                                <a:rPr lang="ru-RU" sz="1200">
                                  <a:effectLst/>
                                  <a:latin typeface="Aptos" panose="020B0004020202020204" pitchFamily="34" charset="0"/>
                                  <a:ea typeface="Aptos" panose="020B0004020202020204" pitchFamily="34" charset="0"/>
                                  <a:cs typeface="Times New Roman" panose="02020603050405020304" pitchFamily="18" charset="0"/>
                                </a:rPr>
                                <m:t>T</m:t>
                              </m:r>
                            </m:sup>
                          </m:sSubSup>
                        </m:e>
                      </m:nary>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latin typeface="Cambria Math" panose="02040503050406030204" pitchFamily="18" charset="0"/>
                              <a:ea typeface="Aptos" panose="020B0004020202020204" pitchFamily="34" charset="0"/>
                              <a:cs typeface="Times New Roman" panose="02020603050405020304" pitchFamily="18" charset="0"/>
                            </a:rPr>
                          </m:ctrlPr>
                        </m:sSupPr>
                        <m:e>
                          <m:r>
                            <a:rPr lang="ru-RU" sz="1200" b="1" i="1">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200">
                              <a:latin typeface="Aptos" panose="020B0004020202020204" pitchFamily="34" charset="0"/>
                              <a:ea typeface="Aptos" panose="020B0004020202020204" pitchFamily="34" charset="0"/>
                              <a:cs typeface="Times New Roman" panose="02020603050405020304" pitchFamily="18" charset="0"/>
                            </a:rPr>
                            <m:t>T</m:t>
                          </m:r>
                        </m:sup>
                      </m:sSup>
                      <m:r>
                        <a:rPr lang="ru-RU" sz="1200">
                          <a:latin typeface="Cambria Math" panose="02040503050406030204" pitchFamily="18" charset="0"/>
                          <a:ea typeface="Aptos" panose="020B0004020202020204" pitchFamily="34" charset="0"/>
                          <a:cs typeface="Times New Roman" panose="02020603050405020304" pitchFamily="18" charset="0"/>
                        </a:rPr>
                        <m:t>(</m:t>
                      </m:r>
                      <m:r>
                        <a:rPr lang="ru-RU" sz="1200" b="1" i="1">
                          <a:latin typeface="Cambria Math" panose="02040503050406030204" pitchFamily="18" charset="0"/>
                          <a:ea typeface="Aptos" panose="020B0004020202020204" pitchFamily="34" charset="0"/>
                          <a:cs typeface="Times New Roman" panose="02020603050405020304" pitchFamily="18" charset="0"/>
                        </a:rPr>
                        <m:t>𝐗𝐰</m:t>
                      </m:r>
                      <m:r>
                        <a:rPr lang="ru-RU" sz="1200" i="1">
                          <a:latin typeface="Cambria Math" panose="02040503050406030204" pitchFamily="18" charset="0"/>
                          <a:ea typeface="Aptos" panose="020B0004020202020204" pitchFamily="34" charset="0"/>
                          <a:cs typeface="Times New Roman" panose="02020603050405020304" pitchFamily="18" charset="0"/>
                        </a:rPr>
                        <m:t>−</m:t>
                      </m:r>
                      <m:r>
                        <a:rPr lang="ru-RU" sz="1200" i="1">
                          <a:latin typeface="Cambria Math" panose="02040503050406030204" pitchFamily="18" charset="0"/>
                          <a:ea typeface="Aptos" panose="020B0004020202020204" pitchFamily="34" charset="0"/>
                          <a:cs typeface="Times New Roman" panose="02020603050405020304" pitchFamily="18" charset="0"/>
                        </a:rPr>
                        <m:t>𝗍</m:t>
                      </m:r>
                      <m:r>
                        <a:rPr lang="ru-RU" sz="1200">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latin typeface="Cambria Math" panose="02040503050406030204" pitchFamily="18" charset="0"/>
                              <a:ea typeface="Aptos" panose="020B0004020202020204" pitchFamily="34" charset="0"/>
                              <a:cs typeface="Times New Roman" panose="02020603050405020304" pitchFamily="18" charset="0"/>
                            </a:rPr>
                          </m:ctrlPr>
                        </m:sSubPr>
                        <m:e>
                          <m:r>
                            <a:rPr lang="ru-RU" sz="1200">
                              <a:latin typeface="Cambria Math" panose="02040503050406030204" pitchFamily="18" charset="0"/>
                              <a:ea typeface="Aptos" panose="020B0004020202020204" pitchFamily="34" charset="0"/>
                              <a:cs typeface="Times New Roman" panose="02020603050405020304" pitchFamily="18" charset="0"/>
                            </a:rPr>
                            <m:t>)</m:t>
                          </m:r>
                        </m:e>
                        <m:sub>
                          <m:r>
                            <a:rPr lang="ru-RU" sz="1200" i="1">
                              <a:latin typeface="Cambria Math" panose="02040503050406030204" pitchFamily="18" charset="0"/>
                              <a:ea typeface="Aptos" panose="020B0004020202020204" pitchFamily="34" charset="0"/>
                              <a:cs typeface="Times New Roman" panose="02020603050405020304" pitchFamily="18" charset="0"/>
                            </a:rPr>
                            <m:t>𝑘</m:t>
                          </m:r>
                        </m:sub>
                      </m:sSub>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Используя частную производную для одного компонента, мы вычисляем вектор градиента</a:t>
                </a:r>
                <a:r>
                  <a:rPr lang="en-US" sz="1050" dirty="0">
                    <a:effectLst/>
                    <a:latin typeface="Aptos" panose="020B0004020202020204" pitchFamily="34" charset="0"/>
                    <a:ea typeface="Aptos" panose="020B0004020202020204" pitchFamily="34" charset="0"/>
                    <a:cs typeface="Times New Roman" panose="02020603050405020304" pitchFamily="18" charset="0"/>
                  </a:rPr>
                  <a:t> </a:t>
                </a:r>
                <a:r>
                  <a:rPr lang="ru-RU" sz="1050" dirty="0">
                    <a:effectLst/>
                    <a:latin typeface="Aptos" panose="020B0004020202020204" pitchFamily="34" charset="0"/>
                    <a:ea typeface="Aptos" panose="020B0004020202020204" pitchFamily="34" charset="0"/>
                    <a:cs typeface="Times New Roman" panose="02020603050405020304" pitchFamily="18" charset="0"/>
                  </a:rPr>
                  <a:t>по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𝑘</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 индексу. Таким образом,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должно удовлетворять</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𝐸</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Решение </a:t>
                </a:r>
                <a14:m>
                  <m:oMath xmlns:m="http://schemas.openxmlformats.org/officeDocument/2006/math">
                    <m:sSup>
                      <m:sSupPr>
                        <m:ctrlPr>
                          <a:rPr lang="ru-RU" sz="105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050" dirty="0">
                    <a:effectLst/>
                    <a:latin typeface="Aptos" panose="020B0004020202020204" pitchFamily="34" charset="0"/>
                    <a:ea typeface="Aptos" panose="020B0004020202020204" pitchFamily="34" charset="0"/>
                    <a:cs typeface="Times New Roman" panose="02020603050405020304" pitchFamily="18" charset="0"/>
                  </a:rPr>
                  <a:t>дает единственное решение задачи подгонки кривой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m:t>
                      </m:r>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r>
                        <a:rPr lang="ru-RU" sz="16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6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6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a:effectLst/>
                              <a:latin typeface="Cambria Math" panose="02040503050406030204" pitchFamily="18" charset="0"/>
                              <a:ea typeface="Aptos" panose="020B0004020202020204" pitchFamily="34" charset="0"/>
                              <a:cs typeface="Times New Roman" panose="02020603050405020304" pitchFamily="18" charset="0"/>
                            </a:rPr>
                            <m:t>)</m:t>
                          </m:r>
                        </m:e>
                        <m:sup>
                          <m:r>
                            <a:rPr lang="ru-RU" sz="1600" i="1">
                              <a:effectLst/>
                              <a:latin typeface="Cambria Math" panose="02040503050406030204" pitchFamily="18" charset="0"/>
                              <a:ea typeface="Aptos" panose="020B0004020202020204" pitchFamily="34" charset="0"/>
                              <a:cs typeface="Times New Roman" panose="02020603050405020304" pitchFamily="18" charset="0"/>
                            </a:rPr>
                            <m:t>−1</m:t>
                          </m:r>
                        </m:sup>
                      </m:sSup>
                      <m:sSup>
                        <m:sSupPr>
                          <m:ctrlPr>
                            <a:rPr lang="ru-RU" sz="16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6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600">
                              <a:effectLst/>
                              <a:latin typeface="Aptos" panose="020B0004020202020204" pitchFamily="34" charset="0"/>
                              <a:ea typeface="Aptos" panose="020B0004020202020204" pitchFamily="34" charset="0"/>
                              <a:cs typeface="Times New Roman" panose="02020603050405020304" pitchFamily="18" charset="0"/>
                            </a:rPr>
                            <m:t>T</m:t>
                          </m:r>
                        </m:sup>
                      </m:sSup>
                      <m:r>
                        <a:rPr lang="ru-RU" sz="1600" i="1">
                          <a:effectLst/>
                          <a:latin typeface="Cambria Math" panose="02040503050406030204" pitchFamily="18" charset="0"/>
                          <a:ea typeface="Aptos" panose="020B0004020202020204" pitchFamily="34" charset="0"/>
                          <a:cs typeface="Times New Roman" panose="02020603050405020304" pitchFamily="18" charset="0"/>
                        </a:rPr>
                        <m:t>𝗍</m:t>
                      </m:r>
                    </m:oMath>
                  </m:oMathPara>
                </a14:m>
                <a:endParaRPr lang="ru-RU" sz="16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050" dirty="0">
                    <a:effectLst/>
                    <a:latin typeface="Aptos" panose="020B0004020202020204" pitchFamily="34" charset="0"/>
                    <a:ea typeface="Aptos" panose="020B0004020202020204" pitchFamily="34" charset="0"/>
                    <a:cs typeface="Times New Roman" panose="02020603050405020304" pitchFamily="18" charset="0"/>
                  </a:rPr>
                  <a:t>Полученный многочлен задается функцией </a:t>
                </a:r>
                <a14:m>
                  <m:oMath xmlns:m="http://schemas.openxmlformats.org/officeDocument/2006/math">
                    <m:r>
                      <a:rPr lang="ru-RU" sz="1050" i="1">
                        <a:effectLst/>
                        <a:latin typeface="Cambria Math" panose="02040503050406030204" pitchFamily="18" charset="0"/>
                        <a:ea typeface="Aptos" panose="020B0004020202020204" pitchFamily="34" charset="0"/>
                        <a:cs typeface="Times New Roman" panose="02020603050405020304" pitchFamily="18" charset="0"/>
                      </a:rPr>
                      <m:t>𝑦</m:t>
                    </m:r>
                    <m:r>
                      <a:rPr lang="ru-RU" sz="1050">
                        <a:effectLst/>
                        <a:latin typeface="Cambria Math" panose="02040503050406030204" pitchFamily="18" charset="0"/>
                        <a:ea typeface="Aptos" panose="020B0004020202020204" pitchFamily="34" charset="0"/>
                        <a:cs typeface="Times New Roman" panose="02020603050405020304" pitchFamily="18" charset="0"/>
                      </a:rPr>
                      <m:t>(</m:t>
                    </m:r>
                    <m:r>
                      <a:rPr lang="ru-RU" sz="1050" i="1">
                        <a:effectLst/>
                        <a:latin typeface="Cambria Math" panose="02040503050406030204" pitchFamily="18" charset="0"/>
                        <a:ea typeface="Aptos" panose="020B0004020202020204" pitchFamily="34" charset="0"/>
                        <a:cs typeface="Times New Roman" panose="02020603050405020304" pitchFamily="18" charset="0"/>
                      </a:rPr>
                      <m:t>𝑥</m:t>
                    </m:r>
                    <m:r>
                      <a:rPr lang="ru-RU" sz="105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000" i="1">
                            <a:effectLst/>
                            <a:latin typeface="Cambria Math" panose="02040503050406030204" pitchFamily="18" charset="0"/>
                          </a:rPr>
                        </m:ctrlPr>
                      </m:sSupPr>
                      <m:e>
                        <m:r>
                          <a:rPr lang="ru-RU" sz="105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05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05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050" dirty="0">
                    <a:effectLst/>
                    <a:latin typeface="Aptos" panose="020B0004020202020204" pitchFamily="34" charset="0"/>
                    <a:ea typeface="Aptos" panose="020B0004020202020204" pitchFamily="34" charset="0"/>
                    <a:cs typeface="Times New Roman" panose="02020603050405020304" pitchFamily="18" charset="0"/>
                  </a:rPr>
                  <a:t>.</a:t>
                </a:r>
                <a:endParaRPr lang="ru-RU" sz="2000" dirty="0"/>
              </a:p>
            </p:txBody>
          </p:sp>
        </mc:Choice>
        <mc:Fallback xmlns="">
          <p:sp>
            <p:nvSpPr>
              <p:cNvPr id="3" name="Объект 2">
                <a:extLst>
                  <a:ext uri="{FF2B5EF4-FFF2-40B4-BE49-F238E27FC236}">
                    <a16:creationId xmlns:a16="http://schemas.microsoft.com/office/drawing/2014/main" id="{63D84281-5E0F-D049-8280-20AB1CFF8A59}"/>
                  </a:ext>
                </a:extLst>
              </p:cNvPr>
              <p:cNvSpPr>
                <a:spLocks noGrp="1" noRot="1" noChangeAspect="1" noMove="1" noResize="1" noEditPoints="1" noAdjustHandles="1" noChangeArrowheads="1" noChangeShapeType="1" noTextEdit="1"/>
              </p:cNvSpPr>
              <p:nvPr>
                <p:ph idx="1"/>
              </p:nvPr>
            </p:nvSpPr>
            <p:spPr>
              <a:xfrm>
                <a:off x="457200" y="630560"/>
                <a:ext cx="8229600" cy="5952802"/>
              </a:xfrm>
              <a:blipFill>
                <a:blip r:embed="rId2"/>
                <a:stretch>
                  <a:fillRect r="-154" b="-106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E593B4D-E769-2A44-9D74-5FD0555BF6FC}"/>
              </a:ext>
            </a:extLst>
          </p:cNvPr>
          <p:cNvSpPr>
            <a:spLocks noGrp="1"/>
          </p:cNvSpPr>
          <p:nvPr>
            <p:ph type="sldNum" sz="quarter" idx="12"/>
          </p:nvPr>
        </p:nvSpPr>
        <p:spPr/>
        <p:txBody>
          <a:bodyPr/>
          <a:lstStyle/>
          <a:p>
            <a:fld id="{38237106-F2ED-405E-BC33-CC3CF426205F}" type="slidenum">
              <a:rPr lang="en-US" smtClean="0"/>
              <a:pPr/>
              <a:t>24</a:t>
            </a:fld>
            <a:endParaRPr lang="en-US"/>
          </a:p>
        </p:txBody>
      </p:sp>
    </p:spTree>
    <p:extLst>
      <p:ext uri="{BB962C8B-B14F-4D97-AF65-F5344CB8AC3E}">
        <p14:creationId xmlns:p14="http://schemas.microsoft.com/office/powerpoint/2010/main" val="5181027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2CEF0C4-71D8-0F4E-8CB6-AF2484778A74}"/>
              </a:ext>
            </a:extLst>
          </p:cNvPr>
          <p:cNvSpPr>
            <a:spLocks noGrp="1"/>
          </p:cNvSpPr>
          <p:nvPr>
            <p:ph type="title"/>
          </p:nvPr>
        </p:nvSpPr>
        <p:spPr>
          <a:xfrm>
            <a:off x="457200" y="0"/>
            <a:ext cx="8229600" cy="1143000"/>
          </a:xfrm>
        </p:spPr>
        <p:txBody>
          <a:bodyPr/>
          <a:lstStyle/>
          <a:p>
            <a:r>
              <a:rPr lang="ru-RU" dirty="0"/>
              <a:t>Выбор модели</a:t>
            </a:r>
          </a:p>
        </p:txBody>
      </p:sp>
      <p:sp>
        <p:nvSpPr>
          <p:cNvPr id="4" name="Номер слайда 3">
            <a:extLst>
              <a:ext uri="{FF2B5EF4-FFF2-40B4-BE49-F238E27FC236}">
                <a16:creationId xmlns:a16="http://schemas.microsoft.com/office/drawing/2014/main" id="{7C02EBCB-1FBB-A443-B284-43593484B429}"/>
              </a:ext>
            </a:extLst>
          </p:cNvPr>
          <p:cNvSpPr>
            <a:spLocks noGrp="1"/>
          </p:cNvSpPr>
          <p:nvPr>
            <p:ph type="sldNum" sz="quarter" idx="12"/>
          </p:nvPr>
        </p:nvSpPr>
        <p:spPr/>
        <p:txBody>
          <a:bodyPr/>
          <a:lstStyle/>
          <a:p>
            <a:fld id="{38237106-F2ED-405E-BC33-CC3CF426205F}" type="slidenum">
              <a:rPr lang="en-US" smtClean="0"/>
              <a:pPr/>
              <a:t>25</a:t>
            </a:fld>
            <a:endParaRPr lang="en-US"/>
          </a:p>
        </p:txBody>
      </p:sp>
      <p:pic>
        <p:nvPicPr>
          <p:cNvPr id="5" name="Picture" descr="png">
            <a:extLst>
              <a:ext uri="{FF2B5EF4-FFF2-40B4-BE49-F238E27FC236}">
                <a16:creationId xmlns:a16="http://schemas.microsoft.com/office/drawing/2014/main" id="{A72284AB-683F-F346-9C76-F3966F742BAB}"/>
              </a:ext>
            </a:extLst>
          </p:cNvPr>
          <p:cNvPicPr>
            <a:picLocks noGrp="1"/>
          </p:cNvPicPr>
          <p:nvPr>
            <p:ph idx="1"/>
          </p:nvPr>
        </p:nvPicPr>
        <p:blipFill>
          <a:blip r:embed="rId2"/>
          <a:stretch>
            <a:fillRect/>
          </a:stretch>
        </p:blipFill>
        <p:spPr bwMode="auto">
          <a:xfrm>
            <a:off x="1770927" y="1074911"/>
            <a:ext cx="6306273" cy="3468577"/>
          </a:xfrm>
          <a:prstGeom prst="rect">
            <a:avLst/>
          </a:prstGeom>
          <a:noFill/>
          <a:ln w="9525">
            <a:noFill/>
            <a:headEnd/>
            <a:tailEnd/>
          </a:ln>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8DE054-A101-B442-A3BA-D274CDCBE4A7}"/>
                  </a:ext>
                </a:extLst>
              </p:cNvPr>
              <p:cNvSpPr txBox="1"/>
              <p:nvPr/>
            </p:nvSpPr>
            <p:spPr>
              <a:xfrm>
                <a:off x="692551" y="4826675"/>
                <a:ext cx="8092634" cy="1754326"/>
              </a:xfrm>
              <a:prstGeom prst="rect">
                <a:avLst/>
              </a:prstGeom>
              <a:noFill/>
            </p:spPr>
            <p:txBody>
              <a:bodyPr wrap="square">
                <a:spAutoFit/>
              </a:bodyPr>
              <a:lstStyle/>
              <a:p>
                <a:r>
                  <a:rPr lang="ru-RU" sz="1800" dirty="0">
                    <a:effectLst/>
                    <a:latin typeface="Aptos" panose="020B0004020202020204" pitchFamily="34" charset="0"/>
                    <a:ea typeface="Aptos" panose="020B0004020202020204" pitchFamily="34" charset="0"/>
                    <a:cs typeface="Times New Roman" panose="02020603050405020304" pitchFamily="18" charset="0"/>
                  </a:rPr>
                  <a:t>Обратите внимание, что константа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полиномы первого порядка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дают довольно плохое соответствие данным. Полином третьего порядка (</a:t>
                </a:r>
                <a14:m>
                  <m:oMath xmlns:m="http://schemas.openxmlformats.org/officeDocument/2006/math">
                    <m:r>
                      <a:rPr lang="ru-RU" i="1">
                        <a:latin typeface="Cambria Math" panose="02040503050406030204" pitchFamily="18" charset="0"/>
                        <a:ea typeface="Aptos" panose="020B0004020202020204" pitchFamily="34" charset="0"/>
                        <a:cs typeface="Times New Roman" panose="02020603050405020304" pitchFamily="18" charset="0"/>
                      </a:rPr>
                      <m:t>𝑀</m:t>
                    </m:r>
                    <m:r>
                      <a:rPr lang="ru-RU">
                        <a:latin typeface="Cambria Math" panose="02040503050406030204" pitchFamily="18" charset="0"/>
                        <a:ea typeface="Aptos" panose="020B0004020202020204" pitchFamily="34" charset="0"/>
                        <a:cs typeface="Times New Roman" panose="02020603050405020304" pitchFamily="18" charset="0"/>
                      </a:rPr>
                      <m:t>=</m:t>
                    </m:r>
                    <m:r>
                      <a:rPr lang="ru-RU" i="1">
                        <a:latin typeface="Cambria Math" panose="02040503050406030204" pitchFamily="18" charset="0"/>
                        <a:ea typeface="Aptos" panose="020B0004020202020204" pitchFamily="34" charset="0"/>
                        <a:cs typeface="Times New Roman" panose="02020603050405020304" pitchFamily="18" charset="0"/>
                      </a:rPr>
                      <m:t>3</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даёт, по-видимому, наилучшее соответствие, в то время как полином более высокого порядка (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9</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даёт отличное соответствие данным, то есть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i="1">
                            <a:effectLst/>
                            <a:latin typeface="Cambria Math" panose="020405030504060302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Однако подобранная кривая плохо отражает базовую функцию </a:t>
                </a:r>
                <a14:m>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sin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Это явление известно как </a:t>
                </a:r>
                <a:r>
                  <a:rPr lang="ru-RU" sz="1800" i="1" dirty="0">
                    <a:effectLst/>
                    <a:latin typeface="Aptos" panose="020B0004020202020204" pitchFamily="34" charset="0"/>
                    <a:ea typeface="Aptos" panose="020B0004020202020204" pitchFamily="34" charset="0"/>
                    <a:cs typeface="Times New Roman" panose="02020603050405020304" pitchFamily="18" charset="0"/>
                  </a:rPr>
                  <a:t>переобучение</a:t>
                </a:r>
                <a:r>
                  <a:rPr lang="en-US" sz="1800" i="1" dirty="0">
                    <a:effectLst/>
                    <a:latin typeface="Aptos" panose="020B0004020202020204" pitchFamily="34" charset="0"/>
                    <a:ea typeface="Aptos" panose="020B0004020202020204" pitchFamily="34" charset="0"/>
                    <a:cs typeface="Times New Roman" panose="02020603050405020304" pitchFamily="18" charset="0"/>
                  </a:rPr>
                  <a:t>. </a:t>
                </a:r>
                <a:r>
                  <a:rPr lang="ru-RU" sz="1800" i="1" dirty="0">
                    <a:effectLst/>
                    <a:latin typeface="Aptos" panose="020B0004020202020204" pitchFamily="34" charset="0"/>
                    <a:ea typeface="Aptos" panose="020B0004020202020204" pitchFamily="34" charset="0"/>
                    <a:cs typeface="Times New Roman" panose="02020603050405020304" pitchFamily="18" charset="0"/>
                  </a:rPr>
                  <a:t> </a:t>
                </a:r>
                <a:endParaRPr lang="ru-RU" dirty="0"/>
              </a:p>
            </p:txBody>
          </p:sp>
        </mc:Choice>
        <mc:Fallback xmlns="">
          <p:sp>
            <p:nvSpPr>
              <p:cNvPr id="7" name="TextBox 6">
                <a:extLst>
                  <a:ext uri="{FF2B5EF4-FFF2-40B4-BE49-F238E27FC236}">
                    <a16:creationId xmlns:a16="http://schemas.microsoft.com/office/drawing/2014/main" id="{E68DE054-A101-B442-A3BA-D274CDCBE4A7}"/>
                  </a:ext>
                </a:extLst>
              </p:cNvPr>
              <p:cNvSpPr txBox="1">
                <a:spLocks noRot="1" noChangeAspect="1" noMove="1" noResize="1" noEditPoints="1" noAdjustHandles="1" noChangeArrowheads="1" noChangeShapeType="1" noTextEdit="1"/>
              </p:cNvSpPr>
              <p:nvPr/>
            </p:nvSpPr>
            <p:spPr>
              <a:xfrm>
                <a:off x="692551" y="4826675"/>
                <a:ext cx="8092634" cy="1754326"/>
              </a:xfrm>
              <a:prstGeom prst="rect">
                <a:avLst/>
              </a:prstGeom>
              <a:blipFill>
                <a:blip r:embed="rId3"/>
                <a:stretch>
                  <a:fillRect l="-627" t="-2158" r="-627" b="-5036"/>
                </a:stretch>
              </a:blipFill>
            </p:spPr>
            <p:txBody>
              <a:bodyPr/>
              <a:lstStyle/>
              <a:p>
                <a:r>
                  <a:rPr lang="ru-RU">
                    <a:noFill/>
                  </a:rPr>
                  <a:t> </a:t>
                </a:r>
              </a:p>
            </p:txBody>
          </p:sp>
        </mc:Fallback>
      </mc:AlternateContent>
    </p:spTree>
    <p:extLst>
      <p:ext uri="{BB962C8B-B14F-4D97-AF65-F5344CB8AC3E}">
        <p14:creationId xmlns:p14="http://schemas.microsoft.com/office/powerpoint/2010/main" val="21173315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D30DA6A-075C-2D47-9EBB-F40808F95197}"/>
              </a:ext>
            </a:extLst>
          </p:cNvPr>
          <p:cNvSpPr>
            <a:spLocks noGrp="1"/>
          </p:cNvSpPr>
          <p:nvPr>
            <p:ph type="title"/>
          </p:nvPr>
        </p:nvSpPr>
        <p:spPr/>
        <p:txBody>
          <a:bodyPr/>
          <a:lstStyle/>
          <a:p>
            <a:r>
              <a:rPr lang="ru-RU" sz="4400" dirty="0">
                <a:effectLst/>
                <a:latin typeface="Aptos" panose="020B0004020202020204" pitchFamily="34" charset="0"/>
                <a:ea typeface="Aptos" panose="020B0004020202020204" pitchFamily="34" charset="0"/>
                <a:cs typeface="Times New Roman" panose="02020603050405020304" pitchFamily="18" charset="0"/>
              </a:rPr>
              <a:t>RMS</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4A8A0EBB-447F-DB42-ADAD-F694CBC7319E}"/>
                  </a:ext>
                </a:extLst>
              </p:cNvPr>
              <p:cNvSpPr>
                <a:spLocks noGrp="1"/>
              </p:cNvSpPr>
              <p:nvPr>
                <p:ph idx="1"/>
              </p:nvPr>
            </p:nvSpPr>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Более количественное представление об эффективности обобщения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en-US"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можно получить, используя </a:t>
                </a:r>
                <a:r>
                  <a:rPr lang="ru-RU" sz="1800" i="1" dirty="0">
                    <a:effectLst/>
                    <a:latin typeface="Aptos" panose="020B0004020202020204" pitchFamily="34" charset="0"/>
                    <a:ea typeface="Aptos" panose="020B0004020202020204" pitchFamily="34" charset="0"/>
                    <a:cs typeface="Times New Roman" panose="02020603050405020304" pitchFamily="18" charset="0"/>
                  </a:rPr>
                  <a:t>среднеквадратичную </a:t>
                </a:r>
                <a:r>
                  <a:rPr lang="ru-RU" sz="1800" dirty="0">
                    <a:effectLst/>
                    <a:latin typeface="Aptos" panose="020B0004020202020204" pitchFamily="34" charset="0"/>
                    <a:ea typeface="Aptos" panose="020B0004020202020204" pitchFamily="34" charset="0"/>
                    <a:cs typeface="Times New Roman" panose="02020603050405020304" pitchFamily="18" charset="0"/>
                  </a:rPr>
                  <a:t>ошибку (RMS), определяемую как</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𝑅𝑀𝑆</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ad>
                        <m:radPr>
                          <m:degHide m:val="on"/>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radPr>
                        <m:deg/>
                        <m:e>
                          <m:r>
                            <a:rPr lang="ru-RU" sz="1800" i="1">
                              <a:effectLst/>
                              <a:latin typeface="Cambria Math" panose="02040503050406030204" pitchFamily="18" charset="0"/>
                              <a:ea typeface="Aptos" panose="020B0004020202020204" pitchFamily="34" charset="0"/>
                              <a:cs typeface="Times New Roman" panose="02020603050405020304" pitchFamily="18" charset="0"/>
                            </a:rPr>
                            <m:t>2</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e>
                      </m:rad>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4A8A0EBB-447F-DB42-ADAD-F694CBC7319E}"/>
                  </a:ext>
                </a:extLst>
              </p:cNvPr>
              <p:cNvSpPr>
                <a:spLocks noGrp="1" noRot="1" noChangeAspect="1" noMove="1" noResize="1" noEditPoints="1" noAdjustHandles="1" noChangeArrowheads="1" noChangeShapeType="1" noTextEdit="1"/>
              </p:cNvSpPr>
              <p:nvPr>
                <p:ph idx="1"/>
              </p:nvPr>
            </p:nvSpPr>
            <p:spPr>
              <a:blipFill>
                <a:blip r:embed="rId2"/>
                <a:stretch>
                  <a:fillRect l="-617" t="-84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64C851F8-926B-6648-88A6-E47CAAF27A4D}"/>
              </a:ext>
            </a:extLst>
          </p:cNvPr>
          <p:cNvSpPr>
            <a:spLocks noGrp="1"/>
          </p:cNvSpPr>
          <p:nvPr>
            <p:ph type="sldNum" sz="quarter" idx="12"/>
          </p:nvPr>
        </p:nvSpPr>
        <p:spPr/>
        <p:txBody>
          <a:bodyPr/>
          <a:lstStyle/>
          <a:p>
            <a:fld id="{38237106-F2ED-405E-BC33-CC3CF426205F}" type="slidenum">
              <a:rPr lang="en-US" smtClean="0"/>
              <a:pPr/>
              <a:t>26</a:t>
            </a:fld>
            <a:endParaRPr lang="en-US"/>
          </a:p>
        </p:txBody>
      </p:sp>
      <p:pic>
        <p:nvPicPr>
          <p:cNvPr id="5" name="Рисунок 4">
            <a:extLst>
              <a:ext uri="{FF2B5EF4-FFF2-40B4-BE49-F238E27FC236}">
                <a16:creationId xmlns:a16="http://schemas.microsoft.com/office/drawing/2014/main" id="{2CADF33D-6D17-0849-9DE1-C6117C0DBCFB}"/>
              </a:ext>
            </a:extLst>
          </p:cNvPr>
          <p:cNvPicPr>
            <a:picLocks noChangeAspect="1"/>
          </p:cNvPicPr>
          <p:nvPr/>
        </p:nvPicPr>
        <p:blipFill>
          <a:blip r:embed="rId3"/>
          <a:stretch>
            <a:fillRect/>
          </a:stretch>
        </p:blipFill>
        <p:spPr>
          <a:xfrm>
            <a:off x="2096704" y="3429000"/>
            <a:ext cx="4616611" cy="3446203"/>
          </a:xfrm>
          <a:prstGeom prst="rect">
            <a:avLst/>
          </a:prstGeom>
        </p:spPr>
      </p:pic>
      <p:sp>
        <p:nvSpPr>
          <p:cNvPr id="6" name="TextBox 5">
            <a:extLst>
              <a:ext uri="{FF2B5EF4-FFF2-40B4-BE49-F238E27FC236}">
                <a16:creationId xmlns:a16="http://schemas.microsoft.com/office/drawing/2014/main" id="{D466FC65-1452-D942-81A5-147339DA28CC}"/>
              </a:ext>
            </a:extLst>
          </p:cNvPr>
          <p:cNvSpPr txBox="1"/>
          <p:nvPr/>
        </p:nvSpPr>
        <p:spPr>
          <a:xfrm>
            <a:off x="7010400" y="4093527"/>
            <a:ext cx="1892463" cy="1477328"/>
          </a:xfrm>
          <a:prstGeom prst="rect">
            <a:avLst/>
          </a:prstGeom>
          <a:noFill/>
        </p:spPr>
        <p:txBody>
          <a:bodyPr wrap="square" rtlCol="0">
            <a:spAutoFit/>
          </a:bodyPr>
          <a:lstStyle/>
          <a:p>
            <a:r>
              <a:rPr lang="ru-RU" dirty="0">
                <a:solidFill>
                  <a:srgbClr val="FF0000"/>
                </a:solidFill>
              </a:rPr>
              <a:t>Кажется</a:t>
            </a:r>
            <a:r>
              <a:rPr lang="en-US" dirty="0">
                <a:solidFill>
                  <a:srgbClr val="FF0000"/>
                </a:solidFill>
              </a:rPr>
              <a:t>,</a:t>
            </a:r>
            <a:r>
              <a:rPr lang="ru-RU" dirty="0">
                <a:solidFill>
                  <a:srgbClr val="FF0000"/>
                </a:solidFill>
              </a:rPr>
              <a:t> что модель не должна работать хуже с увеличением </a:t>
            </a:r>
            <a:r>
              <a:rPr lang="ru-RU" i="1" dirty="0" err="1">
                <a:solidFill>
                  <a:srgbClr val="FF0000"/>
                </a:solidFill>
                <a:latin typeface="Cambria Math" panose="02040503050406030204" pitchFamily="18" charset="0"/>
                <a:ea typeface="Cambria Math" panose="02040503050406030204" pitchFamily="18" charset="0"/>
              </a:rPr>
              <a:t>M</a:t>
            </a:r>
            <a:endParaRPr lang="ru-RU" i="1" dirty="0">
              <a:solidFill>
                <a:srgbClr val="FF0000"/>
              </a:solidFill>
              <a:latin typeface="Cambria Math" panose="02040503050406030204" pitchFamily="18" charset="0"/>
              <a:ea typeface="Cambria Math" panose="02040503050406030204" pitchFamily="18" charset="0"/>
            </a:endParaRPr>
          </a:p>
        </p:txBody>
      </p:sp>
    </p:spTree>
    <p:extLst>
      <p:ext uri="{BB962C8B-B14F-4D97-AF65-F5344CB8AC3E}">
        <p14:creationId xmlns:p14="http://schemas.microsoft.com/office/powerpoint/2010/main" val="1816434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A52D7DC-0F65-8341-9A26-1E25CA6E0EAF}"/>
              </a:ext>
            </a:extLst>
          </p:cNvPr>
          <p:cNvSpPr>
            <a:spLocks noGrp="1"/>
          </p:cNvSpPr>
          <p:nvPr>
            <p:ph type="title"/>
          </p:nvPr>
        </p:nvSpPr>
        <p:spPr/>
        <p:txBody>
          <a:bodyPr/>
          <a:lstStyle/>
          <a:p>
            <a:r>
              <a:rPr lang="ru-RU" dirty="0"/>
              <a:t>Таблица коэффициентов</a:t>
            </a:r>
          </a:p>
        </p:txBody>
      </p:sp>
      <p:sp>
        <p:nvSpPr>
          <p:cNvPr id="4" name="Номер слайда 3">
            <a:extLst>
              <a:ext uri="{FF2B5EF4-FFF2-40B4-BE49-F238E27FC236}">
                <a16:creationId xmlns:a16="http://schemas.microsoft.com/office/drawing/2014/main" id="{A0C2F5FE-618B-104C-9937-D26A83566080}"/>
              </a:ext>
            </a:extLst>
          </p:cNvPr>
          <p:cNvSpPr>
            <a:spLocks noGrp="1"/>
          </p:cNvSpPr>
          <p:nvPr>
            <p:ph type="sldNum" sz="quarter" idx="12"/>
          </p:nvPr>
        </p:nvSpPr>
        <p:spPr/>
        <p:txBody>
          <a:bodyPr/>
          <a:lstStyle/>
          <a:p>
            <a:fld id="{38237106-F2ED-405E-BC33-CC3CF426205F}" type="slidenum">
              <a:rPr lang="en-US" smtClean="0"/>
              <a:pPr/>
              <a:t>27</a:t>
            </a:fld>
            <a:endParaRPr lang="en-US"/>
          </a:p>
        </p:txBody>
      </p:sp>
      <p:pic>
        <p:nvPicPr>
          <p:cNvPr id="7" name="Picture 3" descr="TP_tmp.emf">
            <a:extLst>
              <a:ext uri="{FF2B5EF4-FFF2-40B4-BE49-F238E27FC236}">
                <a16:creationId xmlns:a16="http://schemas.microsoft.com/office/drawing/2014/main" id="{EE18B753-AFBB-0643-A516-44FDF6BDB166}"/>
              </a:ext>
            </a:extLst>
          </p:cNvPr>
          <p:cNvPicPr>
            <a:picLocks noGrp="1" noChangeAspect="1"/>
          </p:cNvPicPr>
          <p:nvPr>
            <p:ph idx="1"/>
            <p:custDataLst>
              <p:tags r:id="rId1"/>
            </p:custDataLst>
          </p:nvPr>
        </p:nvPicPr>
        <p:blipFill>
          <a:blip r:embed="rId3">
            <a:clrChange>
              <a:clrFrom>
                <a:srgbClr val="FFFFFF"/>
              </a:clrFrom>
              <a:clrTo>
                <a:srgbClr val="FFFFFF">
                  <a:alpha val="0"/>
                </a:srgbClr>
              </a:clrTo>
            </a:clrChange>
          </a:blip>
          <a:stretch>
            <a:fillRect/>
          </a:stretch>
        </p:blipFill>
        <p:spPr bwMode="auto">
          <a:xfrm>
            <a:off x="900414" y="1636018"/>
            <a:ext cx="7132416" cy="4483233"/>
          </a:xfrm>
          <a:prstGeom prst="rect">
            <a:avLst/>
          </a:prstGeom>
          <a:noFill/>
          <a:ln/>
          <a:effectLst/>
        </p:spPr>
      </p:pic>
    </p:spTree>
    <p:extLst>
      <p:ext uri="{BB962C8B-B14F-4D97-AF65-F5344CB8AC3E}">
        <p14:creationId xmlns:p14="http://schemas.microsoft.com/office/powerpoint/2010/main" val="3909296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9293FE-EFA4-4F47-9E25-122C44F7326F}"/>
              </a:ext>
            </a:extLst>
          </p:cNvPr>
          <p:cNvSpPr>
            <a:spLocks noGrp="1"/>
          </p:cNvSpPr>
          <p:nvPr>
            <p:ph type="title"/>
          </p:nvPr>
        </p:nvSpPr>
        <p:spPr/>
        <p:txBody>
          <a:bodyPr/>
          <a:lstStyle/>
          <a:p>
            <a:r>
              <a:rPr lang="ru-RU" dirty="0"/>
              <a:t>Увеличение объема данных</a:t>
            </a:r>
          </a:p>
        </p:txBody>
      </p:sp>
      <p:sp>
        <p:nvSpPr>
          <p:cNvPr id="4" name="Номер слайда 3">
            <a:extLst>
              <a:ext uri="{FF2B5EF4-FFF2-40B4-BE49-F238E27FC236}">
                <a16:creationId xmlns:a16="http://schemas.microsoft.com/office/drawing/2014/main" id="{BD68C1B7-FB3D-254B-B104-0E129934A02E}"/>
              </a:ext>
            </a:extLst>
          </p:cNvPr>
          <p:cNvSpPr>
            <a:spLocks noGrp="1"/>
          </p:cNvSpPr>
          <p:nvPr>
            <p:ph type="sldNum" sz="quarter" idx="12"/>
          </p:nvPr>
        </p:nvSpPr>
        <p:spPr/>
        <p:txBody>
          <a:bodyPr/>
          <a:lstStyle/>
          <a:p>
            <a:fld id="{38237106-F2ED-405E-BC33-CC3CF426205F}" type="slidenum">
              <a:rPr lang="en-US" smtClean="0"/>
              <a:pPr/>
              <a:t>28</a:t>
            </a:fld>
            <a:endParaRPr lang="en-US"/>
          </a:p>
        </p:txBody>
      </p:sp>
      <p:pic>
        <p:nvPicPr>
          <p:cNvPr id="7" name="Picture" descr="png">
            <a:extLst>
              <a:ext uri="{FF2B5EF4-FFF2-40B4-BE49-F238E27FC236}">
                <a16:creationId xmlns:a16="http://schemas.microsoft.com/office/drawing/2014/main" id="{C17AA4E7-923C-D34D-A2D4-D2C629ED2086}"/>
              </a:ext>
            </a:extLst>
          </p:cNvPr>
          <p:cNvPicPr>
            <a:picLocks noGrp="1"/>
          </p:cNvPicPr>
          <p:nvPr>
            <p:ph idx="1"/>
          </p:nvPr>
        </p:nvPicPr>
        <p:blipFill>
          <a:blip r:embed="rId2"/>
          <a:stretch>
            <a:fillRect/>
          </a:stretch>
        </p:blipFill>
        <p:spPr bwMode="auto">
          <a:xfrm>
            <a:off x="1028700" y="1869281"/>
            <a:ext cx="7086600" cy="3987800"/>
          </a:xfrm>
          <a:prstGeom prst="rect">
            <a:avLst/>
          </a:prstGeom>
          <a:noFill/>
          <a:ln w="9525">
            <a:noFill/>
            <a:headEnd/>
            <a:tailEnd/>
          </a:ln>
        </p:spPr>
      </p:pic>
      <p:sp>
        <p:nvSpPr>
          <p:cNvPr id="5" name="TextBox 4">
            <a:extLst>
              <a:ext uri="{FF2B5EF4-FFF2-40B4-BE49-F238E27FC236}">
                <a16:creationId xmlns:a16="http://schemas.microsoft.com/office/drawing/2014/main" id="{FC1BEAB3-F17F-EF4E-9F8C-6E66C0A5F3F7}"/>
              </a:ext>
            </a:extLst>
          </p:cNvPr>
          <p:cNvSpPr txBox="1"/>
          <p:nvPr/>
        </p:nvSpPr>
        <p:spPr>
          <a:xfrm>
            <a:off x="596096" y="1320552"/>
            <a:ext cx="8229600" cy="461665"/>
          </a:xfrm>
          <a:prstGeom prst="rect">
            <a:avLst/>
          </a:prstGeom>
          <a:noFill/>
        </p:spPr>
        <p:txBody>
          <a:bodyPr wrap="square" rtlCol="0">
            <a:spAutoFit/>
          </a:bodyPr>
          <a:lstStyle/>
          <a:p>
            <a:r>
              <a:rPr lang="ru-RU" sz="2400" dirty="0"/>
              <a:t>Полином 9-й степени</a:t>
            </a:r>
            <a:endParaRPr lang="en-GB" sz="2400" dirty="0"/>
          </a:p>
        </p:txBody>
      </p:sp>
    </p:spTree>
    <p:extLst>
      <p:ext uri="{BB962C8B-B14F-4D97-AF65-F5344CB8AC3E}">
        <p14:creationId xmlns:p14="http://schemas.microsoft.com/office/powerpoint/2010/main" val="1202503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7002657-1E5C-3849-AC1E-9344966985F6}"/>
              </a:ext>
            </a:extLst>
          </p:cNvPr>
          <p:cNvSpPr>
            <a:spLocks noGrp="1"/>
          </p:cNvSpPr>
          <p:nvPr>
            <p:ph type="title"/>
          </p:nvPr>
        </p:nvSpPr>
        <p:spPr/>
        <p:txBody>
          <a:bodyPr/>
          <a:lstStyle/>
          <a:p>
            <a:r>
              <a:rPr lang="en-US" dirty="0" err="1">
                <a:latin typeface="+mn-lt"/>
                <a:ea typeface="Aptos" panose="020B0004020202020204" pitchFamily="34" charset="0"/>
                <a:cs typeface="Times New Roman" panose="02020603050405020304" pitchFamily="18" charset="0"/>
              </a:rPr>
              <a:t>Р</a:t>
            </a:r>
            <a:r>
              <a:rPr lang="ru-RU" sz="4400" dirty="0" err="1">
                <a:effectLst/>
                <a:latin typeface="+mn-lt"/>
                <a:ea typeface="Aptos" panose="020B0004020202020204" pitchFamily="34" charset="0"/>
                <a:cs typeface="Times New Roman" panose="02020603050405020304" pitchFamily="18" charset="0"/>
              </a:rPr>
              <a:t>егуляризация</a:t>
            </a:r>
            <a:endParaRPr lang="ru-RU" dirty="0">
              <a:latin typeface="+mn-lt"/>
            </a:endParaRP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08D3B0AC-8924-E649-9D5F-CF158E0D9087}"/>
                  </a:ext>
                </a:extLst>
              </p:cNvPr>
              <p:cNvSpPr>
                <a:spLocks noGrp="1"/>
              </p:cNvSpPr>
              <p:nvPr>
                <p:ph idx="1"/>
              </p:nvPr>
            </p:nvSpPr>
            <p:spPr>
              <a:xfrm>
                <a:off x="457200" y="1600200"/>
                <a:ext cx="8229600" cy="4983162"/>
              </a:xfrm>
            </p:spPr>
            <p:txBody>
              <a:bodyPr>
                <a:normAutofit/>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Одним из часто используемых методов контроля явления переобучения является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регуляризация </a:t>
                </a:r>
                <a:r>
                  <a:rPr lang="ru-RU" sz="1800" dirty="0">
                    <a:effectLst/>
                    <a:latin typeface="Aptos" panose="020B0004020202020204" pitchFamily="34" charset="0"/>
                    <a:ea typeface="Aptos" panose="020B0004020202020204" pitchFamily="34" charset="0"/>
                    <a:cs typeface="Times New Roman" panose="02020603050405020304" pitchFamily="18" charset="0"/>
                  </a:rPr>
                  <a:t>, которая добавляет штрафной член к функции ошибки, чтобы предотвратить достижение коэффициентами больших значений. Простейшим таким штрафным членом является сумма квадратов всех коэффициентов, что приводит к модифицированной функции ошибки следующего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acc>
                        <m:accPr>
                          <m: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e>
                      </m:acc>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smtClean="0">
                              <a:effectLst/>
                              <a:latin typeface="Cambria Math" panose="02040503050406030204" pitchFamily="18" charset="0"/>
                              <a:cs typeface="Times New Roman" panose="02020603050405020304" pitchFamily="18" charset="0"/>
                            </a:rPr>
                          </m:ctrlPr>
                        </m:fPr>
                        <m:num>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𝜆</m:t>
                          </m:r>
                        </m:num>
                        <m:den>
                          <m:r>
                            <a:rPr lang="ru-RU" sz="1800" b="0" i="1" smtClean="0">
                              <a:effectLst/>
                              <a:latin typeface="Cambria Math" panose="02040503050406030204" pitchFamily="18" charset="0"/>
                              <a:cs typeface="Times New Roman" panose="02020603050405020304" pitchFamily="18" charset="0"/>
                            </a:rPr>
                            <m:t>2</m:t>
                          </m:r>
                        </m:den>
                      </m:f>
                      <m:sSup>
                        <m:sSupPr>
                          <m:ctrlPr>
                            <a:rPr lang="ru-RU" sz="1800" i="1" smtClean="0">
                              <a:effectLst/>
                              <a:latin typeface="Cambria Math" panose="02040503050406030204" pitchFamily="18" charset="0"/>
                              <a:cs typeface="Times New Roman" panose="02020603050405020304" pitchFamily="18" charset="0"/>
                            </a:rPr>
                          </m:ctrlPr>
                        </m:sSupPr>
                        <m:e>
                          <m:d>
                            <m:dPr>
                              <m:begChr m:val="‖"/>
                              <m:endChr m:val="‖"/>
                              <m:ctrlPr>
                                <a:rPr lang="ru-RU" sz="1800" i="1">
                                  <a:latin typeface="Cambria Math" panose="02040503050406030204" pitchFamily="18"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e>
                        <m:sup>
                          <m:r>
                            <a:rPr lang="en-US" sz="1800" b="0" i="1" smtClean="0">
                              <a:effectLst/>
                              <a:latin typeface="Cambria Math" panose="02040503050406030204" pitchFamily="18" charset="0"/>
                              <a:cs typeface="Times New Roman" panose="02020603050405020304" pitchFamily="18" charset="0"/>
                            </a:rPr>
                            <m:t>2</m:t>
                          </m:r>
                        </m:sup>
                      </m:sSup>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Такие методы известны как методы </a:t>
                </a:r>
                <a:r>
                  <a:rPr lang="ru-RU" sz="1800" i="1" dirty="0">
                    <a:effectLst/>
                    <a:latin typeface="Aptos" panose="020B0004020202020204" pitchFamily="34" charset="0"/>
                    <a:ea typeface="Aptos" panose="020B0004020202020204" pitchFamily="34" charset="0"/>
                    <a:cs typeface="Times New Roman" panose="02020603050405020304" pitchFamily="18" charset="0"/>
                  </a:rPr>
                  <a:t>сжатия</a:t>
                </a:r>
                <a:r>
                  <a:rPr lang="ru-RU" sz="1800" dirty="0">
                    <a:effectLst/>
                    <a:latin typeface="Aptos" panose="020B0004020202020204" pitchFamily="34" charset="0"/>
                    <a:ea typeface="Aptos" panose="020B0004020202020204" pitchFamily="34" charset="0"/>
                    <a:cs typeface="Times New Roman" panose="02020603050405020304" pitchFamily="18" charset="0"/>
                  </a:rPr>
                  <a:t>, поскольку они уменьшают значение коэффициентов. Частный случай квадратичной регуляризации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гребневой регрессией </a:t>
                </a:r>
                <a:r>
                  <a:rPr lang="ru-RU" sz="1800" dirty="0">
                    <a:latin typeface="Aptos" panose="020B0004020202020204" pitchFamily="34" charset="0"/>
                    <a:ea typeface="Aptos" panose="020B0004020202020204" pitchFamily="34" charset="0"/>
                    <a:cs typeface="Times New Roman" panose="02020603050405020304" pitchFamily="18" charset="0"/>
                  </a:rPr>
                  <a:t>(</a:t>
                </a:r>
                <a:r>
                  <a:rPr lang="en" sz="1800" dirty="0">
                    <a:effectLst/>
                    <a:latin typeface="Fd2042035-Identity-H"/>
                  </a:rPr>
                  <a:t>ridge regression</a:t>
                </a:r>
                <a:r>
                  <a:rPr lang="en-US" sz="1800" dirty="0">
                    <a:latin typeface="Aptos" panose="020B0004020202020204" pitchFamily="34" charset="0"/>
                    <a:ea typeface="Aptos" panose="020B0004020202020204" pitchFamily="34" charset="0"/>
                    <a:cs typeface="Times New Roman" panose="02020603050405020304" pitchFamily="18" charset="0"/>
                  </a:rPr>
                  <a:t>)</a:t>
                </a:r>
                <a:r>
                  <a:rPr lang="ru-RU" sz="1800" dirty="0">
                    <a:effectLst/>
                    <a:latin typeface="Aptos" panose="020B0004020202020204" pitchFamily="34" charset="0"/>
                    <a:ea typeface="Aptos" panose="020B0004020202020204" pitchFamily="34" charset="0"/>
                    <a:cs typeface="Times New Roman" panose="02020603050405020304" pitchFamily="18" charset="0"/>
                  </a:rPr>
                  <a:t>. В нейронных сетях этот подход также известен как </a:t>
                </a:r>
                <a:r>
                  <a:rPr lang="ru-RU" sz="1800" i="1" dirty="0">
                    <a:latin typeface="Aptos" panose="020B0004020202020204" pitchFamily="34" charset="0"/>
                    <a:ea typeface="Aptos" panose="020B0004020202020204" pitchFamily="34" charset="0"/>
                    <a:cs typeface="Times New Roman" panose="02020603050405020304" pitchFamily="18" charset="0"/>
                  </a:rPr>
                  <a:t>редукция весов </a:t>
                </a:r>
                <a:r>
                  <a:rPr lang="ru-RU" sz="1800" dirty="0">
                    <a:latin typeface="Aptos" panose="020B0004020202020204" pitchFamily="34" charset="0"/>
                    <a:ea typeface="Aptos" panose="020B0004020202020204" pitchFamily="34" charset="0"/>
                    <a:cs typeface="Times New Roman" panose="02020603050405020304" pitchFamily="18" charset="0"/>
                  </a:rPr>
                  <a:t>(</a:t>
                </a:r>
                <a:r>
                  <a:rPr lang="en-US" sz="1800" dirty="0">
                    <a:latin typeface="Aptos" panose="020B0004020202020204" pitchFamily="34" charset="0"/>
                    <a:ea typeface="Aptos" panose="020B0004020202020204" pitchFamily="34" charset="0"/>
                    <a:cs typeface="Times New Roman" panose="02020603050405020304" pitchFamily="18" charset="0"/>
                  </a:rPr>
                  <a:t>weight decay</a:t>
                </a:r>
                <a:r>
                  <a:rPr lang="ru-RU" sz="1800" dirty="0">
                    <a:latin typeface="Aptos" panose="020B0004020202020204" pitchFamily="34" charset="0"/>
                    <a:ea typeface="Aptos" panose="020B0004020202020204" pitchFamily="34" charset="0"/>
                    <a:cs typeface="Times New Roman" panose="02020603050405020304" pitchFamily="18" charset="0"/>
                  </a:rPr>
                  <a:t>)</a:t>
                </a:r>
                <a:r>
                  <a:rPr lang="ru-RU" sz="1800" dirty="0">
                    <a:effectLst/>
                    <a:latin typeface="Aptos" panose="020B0004020202020204" pitchFamily="34" charset="0"/>
                    <a:ea typeface="Aptos" panose="020B0004020202020204" pitchFamily="34" charset="0"/>
                    <a:cs typeface="Times New Roman" panose="02020603050405020304" pitchFamily="18" charset="0"/>
                  </a:rPr>
                  <a:t>.</a:t>
                </a:r>
                <a:r>
                  <a:rPr lang="en-US" sz="1800" dirty="0">
                    <a:effectLst/>
                    <a:latin typeface="Aptos" panose="020B0004020202020204" pitchFamily="34" charset="0"/>
                    <a:ea typeface="Aptos" panose="020B0004020202020204" pitchFamily="34" charset="0"/>
                    <a:cs typeface="Times New Roman" panose="02020603050405020304" pitchFamily="18" charset="0"/>
                  </a:rPr>
                  <a:t> </a:t>
                </a: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en-US" sz="1800" dirty="0">
                    <a:latin typeface="Fd2116929-Identity-H"/>
                  </a:rPr>
                  <a:t>Ч</a:t>
                </a:r>
                <a:r>
                  <a:rPr lang="ru-RU" sz="1800" dirty="0" err="1">
                    <a:effectLst/>
                    <a:latin typeface="Fd2116929-Identity-H"/>
                  </a:rPr>
                  <a:t>асто</a:t>
                </a:r>
                <a:r>
                  <a:rPr lang="ru-RU" sz="1800" dirty="0">
                    <a:effectLst/>
                    <a:latin typeface="Fd2116929-Identity-H"/>
                  </a:rPr>
                  <a:t> коэффициент </a:t>
                </a:r>
                <a14:m>
                  <m:oMath xmlns:m="http://schemas.openxmlformats.org/officeDocument/2006/math">
                    <m:sSub>
                      <m:sSubPr>
                        <m:ctrlPr>
                          <a:rPr lang="ru-RU" sz="1800" i="1" smtClean="0">
                            <a:effectLst/>
                            <a:latin typeface="Cambria Math" panose="02040503050406030204" pitchFamily="18" charset="0"/>
                          </a:rPr>
                        </m:ctrlPr>
                      </m:sSubPr>
                      <m:e>
                        <m:r>
                          <a:rPr lang="ru-RU" sz="1800" b="0" i="1" smtClean="0">
                            <a:effectLst/>
                            <a:latin typeface="Cambria Math" panose="02040503050406030204" pitchFamily="18" charset="0"/>
                          </a:rPr>
                          <m:t>𝑤</m:t>
                        </m:r>
                      </m:e>
                      <m:sub>
                        <m:r>
                          <a:rPr lang="en-US" sz="1800" b="0" i="1" smtClean="0">
                            <a:effectLst/>
                            <a:latin typeface="Cambria Math" panose="02040503050406030204" pitchFamily="18" charset="0"/>
                          </a:rPr>
                          <m:t>0</m:t>
                        </m:r>
                      </m:sub>
                    </m:sSub>
                  </m:oMath>
                </a14:m>
                <a:r>
                  <a:rPr lang="en" sz="1800" dirty="0">
                    <a:effectLst/>
                    <a:latin typeface="Fd375676-Identity-H"/>
                  </a:rPr>
                  <a:t> </a:t>
                </a:r>
                <a:r>
                  <a:rPr lang="ru-RU" sz="1800" dirty="0">
                    <a:effectLst/>
                    <a:latin typeface="Fd2116929-Identity-H"/>
                  </a:rPr>
                  <a:t>исключается из </a:t>
                </a:r>
                <a:r>
                  <a:rPr lang="ru-RU" sz="1800" dirty="0" err="1">
                    <a:effectLst/>
                    <a:latin typeface="Fd2116929-Identity-H"/>
                  </a:rPr>
                  <a:t>регуляризатора</a:t>
                </a:r>
                <a:r>
                  <a:rPr lang="ru-RU" sz="1800" dirty="0">
                    <a:effectLst/>
                    <a:latin typeface="Fd2116929-Identity-H"/>
                  </a:rPr>
                  <a:t>, потому что из-за его включения результаты зависят от выбора начала координат </a:t>
                </a:r>
                <a:r>
                  <a:rPr lang="ru-RU" sz="1800" dirty="0">
                    <a:effectLst/>
                    <a:latin typeface="Fd1848805-Identity-H"/>
                  </a:rPr>
                  <a:t>для </a:t>
                </a:r>
                <a:r>
                  <a:rPr lang="ru-RU" sz="1800" dirty="0">
                    <a:effectLst/>
                    <a:latin typeface="Fd2116929-Identity-H"/>
                  </a:rPr>
                  <a:t>целевой пе­ременной </a:t>
                </a:r>
                <a:endParaRPr lang="ru-RU" dirty="0"/>
              </a:p>
              <a:p>
                <a:pPr marL="0" indent="0">
                  <a:buNone/>
                </a:pPr>
                <a:endParaRPr lang="ru-RU" dirty="0"/>
              </a:p>
            </p:txBody>
          </p:sp>
        </mc:Choice>
        <mc:Fallback xmlns="">
          <p:sp>
            <p:nvSpPr>
              <p:cNvPr id="3" name="Объект 2">
                <a:extLst>
                  <a:ext uri="{FF2B5EF4-FFF2-40B4-BE49-F238E27FC236}">
                    <a16:creationId xmlns:a16="http://schemas.microsoft.com/office/drawing/2014/main" id="{08D3B0AC-8924-E649-9D5F-CF158E0D9087}"/>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2"/>
                <a:stretch>
                  <a:fillRect l="-617" t="-76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CA8CEAF5-A7A7-324A-9450-BED78C3096F9}"/>
              </a:ext>
            </a:extLst>
          </p:cNvPr>
          <p:cNvSpPr>
            <a:spLocks noGrp="1"/>
          </p:cNvSpPr>
          <p:nvPr>
            <p:ph type="sldNum" sz="quarter" idx="12"/>
          </p:nvPr>
        </p:nvSpPr>
        <p:spPr/>
        <p:txBody>
          <a:bodyPr/>
          <a:lstStyle/>
          <a:p>
            <a:fld id="{38237106-F2ED-405E-BC33-CC3CF426205F}" type="slidenum">
              <a:rPr lang="en-US" smtClean="0"/>
              <a:pPr/>
              <a:t>29</a:t>
            </a:fld>
            <a:endParaRPr lang="en-US"/>
          </a:p>
        </p:txBody>
      </p:sp>
    </p:spTree>
    <p:extLst>
      <p:ext uri="{BB962C8B-B14F-4D97-AF65-F5344CB8AC3E}">
        <p14:creationId xmlns:p14="http://schemas.microsoft.com/office/powerpoint/2010/main" val="269305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042E04-D428-524F-AE5B-368BBB58D948}"/>
              </a:ext>
            </a:extLst>
          </p:cNvPr>
          <p:cNvSpPr>
            <a:spLocks noGrp="1"/>
          </p:cNvSpPr>
          <p:nvPr>
            <p:ph type="title"/>
          </p:nvPr>
        </p:nvSpPr>
        <p:spPr>
          <a:xfrm>
            <a:off x="457200" y="0"/>
            <a:ext cx="8229600" cy="1143000"/>
          </a:xfrm>
        </p:spPr>
        <p:txBody>
          <a:bodyPr/>
          <a:lstStyle/>
          <a:p>
            <a:r>
              <a:rPr lang="ru-RU" dirty="0"/>
              <a:t>Минимизация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C240618-CBD9-C349-BCCA-9DD046B5C328}"/>
                  </a:ext>
                </a:extLst>
              </p:cNvPr>
              <p:cNvSpPr>
                <a:spLocks noGrp="1"/>
              </p:cNvSpPr>
              <p:nvPr>
                <p:ph idx="1"/>
              </p:nvPr>
            </p:nvSpPr>
            <p:spPr>
              <a:xfrm>
                <a:off x="457200" y="949124"/>
                <a:ext cx="8229600" cy="5908876"/>
              </a:xfrm>
            </p:spPr>
            <p:txBody>
              <a:bodyPr>
                <a:normAutofit fontScale="775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Ф</a:t>
                </a:r>
                <a:r>
                  <a:rPr lang="ru-RU" sz="1800" dirty="0">
                    <a:effectLst/>
                    <a:latin typeface="Aptos" panose="020B0004020202020204" pitchFamily="34" charset="0"/>
                    <a:ea typeface="Aptos" panose="020B0004020202020204" pitchFamily="34" charset="0"/>
                    <a:cs typeface="Times New Roman" panose="02020603050405020304" pitchFamily="18" charset="0"/>
                  </a:rPr>
                  <a:t>ункцию ошибки гребня можно точно минимизировать 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den>
                          </m:f>
                          <m:r>
                            <a:rPr lang="ru-RU" sz="1800" i="1">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smtClean="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2</m:t>
                              </m:r>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b>
                              </m:sSub>
                            </m:e>
                          </m:nary>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𝑗</m:t>
                              </m:r>
                            </m:sup>
                          </m:sSub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𝑘𝑛</m:t>
                                  </m:r>
                                </m:sub>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bSup>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𝐗𝐰</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𝑤</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sub>
                          </m:sSub>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Используя частную производную для одного компонента, мы вычисляем вектор градиента, отбрасывая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𝑘</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нижний индекс. Тогда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должен удовлетворять</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𝐸</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𝑇</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Решение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дает единственное решение, которое минимизирует ошибку гребня</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𝐗</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5C240618-CBD9-C349-BCCA-9DD046B5C328}"/>
                  </a:ext>
                </a:extLst>
              </p:cNvPr>
              <p:cNvSpPr>
                <a:spLocks noGrp="1" noRot="1" noChangeAspect="1" noMove="1" noResize="1" noEditPoints="1" noAdjustHandles="1" noChangeArrowheads="1" noChangeShapeType="1" noTextEdit="1"/>
              </p:cNvSpPr>
              <p:nvPr>
                <p:ph idx="1"/>
              </p:nvPr>
            </p:nvSpPr>
            <p:spPr>
              <a:xfrm>
                <a:off x="457200" y="949124"/>
                <a:ext cx="8229600" cy="5908876"/>
              </a:xfrm>
              <a:blipFill>
                <a:blip r:embed="rId2"/>
                <a:stretch>
                  <a:fillRect l="-309" t="-64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1D4DF105-4FD6-684F-A97E-0E75915BC601}"/>
              </a:ext>
            </a:extLst>
          </p:cNvPr>
          <p:cNvSpPr>
            <a:spLocks noGrp="1"/>
          </p:cNvSpPr>
          <p:nvPr>
            <p:ph type="sldNum" sz="quarter" idx="12"/>
          </p:nvPr>
        </p:nvSpPr>
        <p:spPr/>
        <p:txBody>
          <a:bodyPr/>
          <a:lstStyle/>
          <a:p>
            <a:fld id="{38237106-F2ED-405E-BC33-CC3CF426205F}" type="slidenum">
              <a:rPr lang="en-US" smtClean="0"/>
              <a:pPr/>
              <a:t>30</a:t>
            </a:fld>
            <a:endParaRPr lang="en-US"/>
          </a:p>
        </p:txBody>
      </p:sp>
    </p:spTree>
    <p:extLst>
      <p:ext uri="{BB962C8B-B14F-4D97-AF65-F5344CB8AC3E}">
        <p14:creationId xmlns:p14="http://schemas.microsoft.com/office/powerpoint/2010/main" val="4730099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A55F7A7-CFAE-C643-B5FA-4DA707EA9DCD}"/>
              </a:ext>
            </a:extLst>
          </p:cNvPr>
          <p:cNvSpPr>
            <a:spLocks noGrp="1"/>
          </p:cNvSpPr>
          <p:nvPr>
            <p:ph type="title"/>
          </p:nvPr>
        </p:nvSpPr>
        <p:spPr/>
        <p:txBody>
          <a:bodyPr>
            <a:normAutofit/>
          </a:bodyPr>
          <a:lstStyle/>
          <a:p>
            <a:r>
              <a:rPr lang="ru-RU" dirty="0"/>
              <a:t>Результаты для полинома 𝑀=9</a:t>
            </a:r>
          </a:p>
        </p:txBody>
      </p:sp>
      <p:sp>
        <p:nvSpPr>
          <p:cNvPr id="4" name="Номер слайда 3">
            <a:extLst>
              <a:ext uri="{FF2B5EF4-FFF2-40B4-BE49-F238E27FC236}">
                <a16:creationId xmlns:a16="http://schemas.microsoft.com/office/drawing/2014/main" id="{23D1ED79-0D99-CC49-9806-D66CA82D0E42}"/>
              </a:ext>
            </a:extLst>
          </p:cNvPr>
          <p:cNvSpPr>
            <a:spLocks noGrp="1"/>
          </p:cNvSpPr>
          <p:nvPr>
            <p:ph type="sldNum" sz="quarter" idx="12"/>
          </p:nvPr>
        </p:nvSpPr>
        <p:spPr/>
        <p:txBody>
          <a:bodyPr/>
          <a:lstStyle/>
          <a:p>
            <a:fld id="{38237106-F2ED-405E-BC33-CC3CF426205F}" type="slidenum">
              <a:rPr lang="en-US" smtClean="0"/>
              <a:pPr/>
              <a:t>31</a:t>
            </a:fld>
            <a:endParaRPr lang="en-US"/>
          </a:p>
        </p:txBody>
      </p:sp>
      <p:pic>
        <p:nvPicPr>
          <p:cNvPr id="5" name="Picture" descr="png">
            <a:extLst>
              <a:ext uri="{FF2B5EF4-FFF2-40B4-BE49-F238E27FC236}">
                <a16:creationId xmlns:a16="http://schemas.microsoft.com/office/drawing/2014/main" id="{80FC0D8A-2070-4244-BEC5-8E774B967E90}"/>
              </a:ext>
            </a:extLst>
          </p:cNvPr>
          <p:cNvPicPr/>
          <p:nvPr/>
        </p:nvPicPr>
        <p:blipFill>
          <a:blip r:embed="rId2"/>
          <a:stretch>
            <a:fillRect/>
          </a:stretch>
        </p:blipFill>
        <p:spPr bwMode="auto">
          <a:xfrm>
            <a:off x="1" y="1478404"/>
            <a:ext cx="9144000" cy="4181615"/>
          </a:xfrm>
          <a:prstGeom prst="rect">
            <a:avLst/>
          </a:prstGeom>
          <a:noFill/>
          <a:ln w="9525">
            <a:noFill/>
            <a:headEnd/>
            <a:tailEnd/>
          </a:ln>
        </p:spPr>
      </p:pic>
    </p:spTree>
    <p:extLst>
      <p:ext uri="{BB962C8B-B14F-4D97-AF65-F5344CB8AC3E}">
        <p14:creationId xmlns:p14="http://schemas.microsoft.com/office/powerpoint/2010/main" val="9745752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C99B386-0B1B-0641-88EC-1B831D1092E3}"/>
              </a:ext>
            </a:extLst>
          </p:cNvPr>
          <p:cNvSpPr>
            <a:spLocks noGrp="1"/>
          </p:cNvSpPr>
          <p:nvPr>
            <p:ph type="title"/>
          </p:nvPr>
        </p:nvSpPr>
        <p:spPr/>
        <p:txBody>
          <a:bodyPr/>
          <a:lstStyle/>
          <a:p>
            <a:r>
              <a:rPr lang="ru-RU" dirty="0"/>
              <a:t>Таблица коэффициентов</a:t>
            </a:r>
          </a:p>
        </p:txBody>
      </p:sp>
      <mc:AlternateContent xmlns:mc="http://schemas.openxmlformats.org/markup-compatibility/2006" xmlns:a14="http://schemas.microsoft.com/office/drawing/2010/main">
        <mc:Choice Requires="a14">
          <p:graphicFrame>
            <p:nvGraphicFramePr>
              <p:cNvPr id="5" name="Объект 4">
                <a:extLst>
                  <a:ext uri="{FF2B5EF4-FFF2-40B4-BE49-F238E27FC236}">
                    <a16:creationId xmlns:a16="http://schemas.microsoft.com/office/drawing/2014/main" id="{0B50B0CA-8DB7-2740-AA02-4B1113A8FC6E}"/>
                  </a:ext>
                </a:extLst>
              </p:cNvPr>
              <p:cNvGraphicFramePr>
                <a:graphicFrameLocks noGrp="1"/>
              </p:cNvGraphicFramePr>
              <p:nvPr>
                <p:ph idx="1"/>
                <p:extLst>
                  <p:ext uri="{D42A27DB-BD31-4B8C-83A1-F6EECF244321}">
                    <p14:modId xmlns:p14="http://schemas.microsoft.com/office/powerpoint/2010/main" val="4241950109"/>
                  </p:ext>
                </p:extLst>
              </p:nvPr>
            </p:nvGraphicFramePr>
            <p:xfrm>
              <a:off x="457200" y="1736203"/>
              <a:ext cx="8229600" cy="4490981"/>
            </p:xfrm>
            <a:graphic>
              <a:graphicData uri="http://schemas.openxmlformats.org/drawingml/2006/table">
                <a:tbl>
                  <a:tblPr firstRow="1" bandRow="1" bandCol="1">
                    <a:tableStyleId>{5C22544A-7EE6-4342-B048-85BDC9FD1C3A}</a:tableStyleId>
                  </a:tblPr>
                  <a:tblGrid>
                    <a:gridCol w="2057400">
                      <a:extLst>
                        <a:ext uri="{9D8B030D-6E8A-4147-A177-3AD203B41FA5}">
                          <a16:colId xmlns:a16="http://schemas.microsoft.com/office/drawing/2014/main" val="3572221464"/>
                        </a:ext>
                      </a:extLst>
                    </a:gridCol>
                    <a:gridCol w="2057400">
                      <a:extLst>
                        <a:ext uri="{9D8B030D-6E8A-4147-A177-3AD203B41FA5}">
                          <a16:colId xmlns:a16="http://schemas.microsoft.com/office/drawing/2014/main" val="1386550942"/>
                        </a:ext>
                      </a:extLst>
                    </a:gridCol>
                    <a:gridCol w="2057400">
                      <a:extLst>
                        <a:ext uri="{9D8B030D-6E8A-4147-A177-3AD203B41FA5}">
                          <a16:colId xmlns:a16="http://schemas.microsoft.com/office/drawing/2014/main" val="3962224274"/>
                        </a:ext>
                      </a:extLst>
                    </a:gridCol>
                    <a:gridCol w="2057400">
                      <a:extLst>
                        <a:ext uri="{9D8B030D-6E8A-4147-A177-3AD203B41FA5}">
                          <a16:colId xmlns:a16="http://schemas.microsoft.com/office/drawing/2014/main" val="4192177932"/>
                        </a:ext>
                      </a:extLst>
                    </a:gridCol>
                  </a:tblGrid>
                  <a:tr h="408271">
                    <a:tc>
                      <a:txBody>
                        <a:bodyPr/>
                        <a:lstStyle/>
                        <a:p>
                          <a:pPr algn="ctr">
                            <a:spcBef>
                              <a:spcPts val="180"/>
                            </a:spcBef>
                            <a:spcAft>
                              <a:spcPts val="180"/>
                            </a:spcAft>
                          </a:pPr>
                          <a:endParaRPr lang="ru-RU" sz="1200" i="1" dirty="0">
                            <a:effectLst/>
                            <a:latin typeface="Cambria Math" panose="02040503050406030204" pitchFamily="18" charset="0"/>
                            <a:ea typeface="Cambria Math" panose="02040503050406030204" pitchFamily="18"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=−18</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spcBef>
                              <a:spcPts val="180"/>
                            </a:spcBef>
                            <a:spcAft>
                              <a:spcPts val="180"/>
                            </a:spcAft>
                          </a:pPr>
                          <a14:m>
                            <m:oMathPara xmlns:m="http://schemas.openxmlformats.org/officeDocument/2006/math">
                              <m:oMathParaPr>
                                <m:jc m:val="centerGroup"/>
                              </m:oMathParaPr>
                              <m:oMath xmlns:m="http://schemas.openxmlformats.org/officeDocument/2006/math">
                                <m:r>
                                  <m:rPr>
                                    <m:sty m:val="p"/>
                                  </m:rPr>
                                  <a:rPr lang="ru-RU" sz="1200">
                                    <a:effectLst/>
                                    <a:latin typeface="Cambria Math" panose="02040503050406030204" pitchFamily="18" charset="0"/>
                                  </a:rPr>
                                  <m:t>ln</m:t>
                                </m:r>
                                <m:r>
                                  <a:rPr lang="ru-RU" sz="1200">
                                    <a:effectLst/>
                                    <a:latin typeface="Cambria Math" panose="02040503050406030204" pitchFamily="18" charset="0"/>
                                  </a:rPr>
                                  <m:t>𝜆</m:t>
                                </m:r>
                                <m:r>
                                  <a:rPr lang="ru-RU" sz="1200">
                                    <a:effectLst/>
                                    <a:latin typeface="Cambria Math" panose="02040503050406030204" pitchFamily="18" charset="0"/>
                                  </a:rPr>
                                  <m:t>=0</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087518745"/>
                      </a:ext>
                    </a:extLst>
                  </a:tr>
                  <a:tr h="408271">
                    <a:tc>
                      <a:txBody>
                        <a:bodyPr/>
                        <a:lstStyle/>
                        <a:p>
                          <a:pPr algn="ctr">
                            <a:spcBef>
                              <a:spcPts val="180"/>
                            </a:spcBef>
                            <a:spcAft>
                              <a:spcPts val="180"/>
                            </a:spcAft>
                          </a:pPr>
                          <a:r>
                            <a:rPr lang="ru-RU" sz="1200" dirty="0" err="1">
                              <a:effectLst/>
                              <a:latin typeface="Aptos" panose="020B0004020202020204" pitchFamily="34" charset="0"/>
                              <a:ea typeface="Aptos" panose="020B0004020202020204" pitchFamily="34" charset="0"/>
                              <a:cs typeface="Times New Roman" panose="02020603050405020304" pitchFamily="18" charset="0"/>
                            </a:rPr>
                            <a:t>w</a:t>
                          </a:r>
                          <a:r>
                            <a:rPr lang="en-US" sz="1200" dirty="0">
                              <a:effectLst/>
                              <a:latin typeface="Aptos" panose="020B0004020202020204" pitchFamily="34" charset="0"/>
                              <a:ea typeface="Aptos" panose="020B0004020202020204" pitchFamily="34" charset="0"/>
                              <a:cs typeface="Times New Roman" panose="02020603050405020304" pitchFamily="18" charset="0"/>
                            </a:rPr>
                            <a:t>0</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0.36</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16245398"/>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w1</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−135.04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−2.14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−0.46</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604767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w2</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3206.76</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81,88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897748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w3</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−29215.92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−390.51</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−0.22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21635460"/>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w4</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139594.34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578.12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−0.05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1597476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w5</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−388863.80</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−31.48</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0.07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1622948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w6</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652373.24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−49.12</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0.17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928104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w7</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−648124.69</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−28.57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0.25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47965453"/>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w8</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350721.94</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540.17</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0.31</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7369761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w9</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−79556.29</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−255.65</m:t>
                                </m:r>
                              </m:oMath>
                            </m:oMathPara>
                          </a14:m>
                          <a:endParaRPr lang="ru-RU" sz="12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r">
                            <a:spcBef>
                              <a:spcPts val="180"/>
                            </a:spcBef>
                            <a:spcAft>
                              <a:spcPts val="180"/>
                            </a:spcAft>
                          </a:pPr>
                          <a14:m>
                            <m:oMathPara xmlns:m="http://schemas.openxmlformats.org/officeDocument/2006/math">
                              <m:oMathParaPr>
                                <m:jc m:val="centerGroup"/>
                              </m:oMathParaPr>
                              <m:oMath xmlns:m="http://schemas.openxmlformats.org/officeDocument/2006/math">
                                <m:r>
                                  <a:rPr lang="ru-RU" sz="1200">
                                    <a:effectLst/>
                                    <a:latin typeface="Cambria Math" panose="02040503050406030204" pitchFamily="18" charset="0"/>
                                  </a:rPr>
                                  <m:t>0.35</m:t>
                                </m:r>
                              </m:oMath>
                            </m:oMathPara>
                          </a14:m>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52366312"/>
                      </a:ext>
                    </a:extLst>
                  </a:tr>
                </a:tbl>
              </a:graphicData>
            </a:graphic>
          </p:graphicFrame>
        </mc:Choice>
        <mc:Fallback xmlns="">
          <p:graphicFrame>
            <p:nvGraphicFramePr>
              <p:cNvPr id="5" name="Объект 4">
                <a:extLst>
                  <a:ext uri="{FF2B5EF4-FFF2-40B4-BE49-F238E27FC236}">
                    <a16:creationId xmlns:a16="http://schemas.microsoft.com/office/drawing/2014/main" id="{0B50B0CA-8DB7-2740-AA02-4B1113A8FC6E}"/>
                  </a:ext>
                </a:extLst>
              </p:cNvPr>
              <p:cNvGraphicFramePr>
                <a:graphicFrameLocks noGrp="1"/>
              </p:cNvGraphicFramePr>
              <p:nvPr>
                <p:ph idx="1"/>
                <p:extLst>
                  <p:ext uri="{D42A27DB-BD31-4B8C-83A1-F6EECF244321}">
                    <p14:modId xmlns:p14="http://schemas.microsoft.com/office/powerpoint/2010/main" val="4241950109"/>
                  </p:ext>
                </p:extLst>
              </p:nvPr>
            </p:nvGraphicFramePr>
            <p:xfrm>
              <a:off x="457200" y="1736203"/>
              <a:ext cx="8229600" cy="4490981"/>
            </p:xfrm>
            <a:graphic>
              <a:graphicData uri="http://schemas.openxmlformats.org/drawingml/2006/table">
                <a:tbl>
                  <a:tblPr firstRow="1" bandRow="1" bandCol="1">
                    <a:tableStyleId>{5C22544A-7EE6-4342-B048-85BDC9FD1C3A}</a:tableStyleId>
                  </a:tblPr>
                  <a:tblGrid>
                    <a:gridCol w="2057400">
                      <a:extLst>
                        <a:ext uri="{9D8B030D-6E8A-4147-A177-3AD203B41FA5}">
                          <a16:colId xmlns:a16="http://schemas.microsoft.com/office/drawing/2014/main" val="3572221464"/>
                        </a:ext>
                      </a:extLst>
                    </a:gridCol>
                    <a:gridCol w="2057400">
                      <a:extLst>
                        <a:ext uri="{9D8B030D-6E8A-4147-A177-3AD203B41FA5}">
                          <a16:colId xmlns:a16="http://schemas.microsoft.com/office/drawing/2014/main" val="1386550942"/>
                        </a:ext>
                      </a:extLst>
                    </a:gridCol>
                    <a:gridCol w="2057400">
                      <a:extLst>
                        <a:ext uri="{9D8B030D-6E8A-4147-A177-3AD203B41FA5}">
                          <a16:colId xmlns:a16="http://schemas.microsoft.com/office/drawing/2014/main" val="3962224274"/>
                        </a:ext>
                      </a:extLst>
                    </a:gridCol>
                    <a:gridCol w="2057400">
                      <a:extLst>
                        <a:ext uri="{9D8B030D-6E8A-4147-A177-3AD203B41FA5}">
                          <a16:colId xmlns:a16="http://schemas.microsoft.com/office/drawing/2014/main" val="4192177932"/>
                        </a:ext>
                      </a:extLst>
                    </a:gridCol>
                  </a:tblGrid>
                  <a:tr h="408271">
                    <a:tc>
                      <a:txBody>
                        <a:bodyPr/>
                        <a:lstStyle/>
                        <a:p>
                          <a:pPr algn="ctr">
                            <a:spcBef>
                              <a:spcPts val="180"/>
                            </a:spcBef>
                            <a:spcAft>
                              <a:spcPts val="180"/>
                            </a:spcAft>
                          </a:pPr>
                          <a:endParaRPr lang="ru-RU" sz="1200" i="1" dirty="0">
                            <a:effectLst/>
                            <a:latin typeface="Cambria Math" panose="02040503050406030204" pitchFamily="18" charset="0"/>
                            <a:ea typeface="Cambria Math" panose="02040503050406030204" pitchFamily="18" charset="0"/>
                            <a:cs typeface="Times New Roman" panose="02020603050405020304" pitchFamily="18" charset="0"/>
                          </a:endParaRPr>
                        </a:p>
                      </a:txBody>
                      <a:tcPr marL="68580" marR="68580" marT="0" marB="0" anchor="ctr"/>
                    </a:tc>
                    <a:tc>
                      <a:txBody>
                        <a:bodyPr/>
                        <a:lstStyle/>
                        <a:p>
                          <a:endParaRPr lang="ru-RU"/>
                        </a:p>
                      </a:txBody>
                      <a:tcPr marL="68580" marR="68580" marT="0" marB="0" anchor="ctr">
                        <a:blipFill>
                          <a:blip r:embed="rId2"/>
                          <a:stretch>
                            <a:fillRect l="-100617" t="-3125" r="-201852" b="-1012500"/>
                          </a:stretch>
                        </a:blipFill>
                      </a:tcPr>
                    </a:tc>
                    <a:tc>
                      <a:txBody>
                        <a:bodyPr/>
                        <a:lstStyle/>
                        <a:p>
                          <a:endParaRPr lang="ru-RU"/>
                        </a:p>
                      </a:txBody>
                      <a:tcPr marL="68580" marR="68580" marT="0" marB="0" anchor="ctr">
                        <a:blipFill>
                          <a:blip r:embed="rId2"/>
                          <a:stretch>
                            <a:fillRect l="-200617" t="-3125" r="-101852" b="-1012500"/>
                          </a:stretch>
                        </a:blipFill>
                      </a:tcPr>
                    </a:tc>
                    <a:tc>
                      <a:txBody>
                        <a:bodyPr/>
                        <a:lstStyle/>
                        <a:p>
                          <a:endParaRPr lang="ru-RU"/>
                        </a:p>
                      </a:txBody>
                      <a:tcPr marL="68580" marR="68580" marT="0" marB="0" anchor="ctr">
                        <a:blipFill>
                          <a:blip r:embed="rId2"/>
                          <a:stretch>
                            <a:fillRect l="-300617" t="-3125" r="-1852" b="-1012500"/>
                          </a:stretch>
                        </a:blipFill>
                      </a:tcPr>
                    </a:tc>
                    <a:extLst>
                      <a:ext uri="{0D108BD9-81ED-4DB2-BD59-A6C34878D82A}">
                        <a16:rowId xmlns:a16="http://schemas.microsoft.com/office/drawing/2014/main" val="3087518745"/>
                      </a:ext>
                    </a:extLst>
                  </a:tr>
                  <a:tr h="408271">
                    <a:tc>
                      <a:txBody>
                        <a:bodyPr/>
                        <a:lstStyle/>
                        <a:p>
                          <a:pPr algn="ctr">
                            <a:spcBef>
                              <a:spcPts val="180"/>
                            </a:spcBef>
                            <a:spcAft>
                              <a:spcPts val="180"/>
                            </a:spcAft>
                          </a:pPr>
                          <a:r>
                            <a:rPr lang="ru-RU" sz="1200" dirty="0" err="1">
                              <a:effectLst/>
                              <a:latin typeface="Aptos" panose="020B0004020202020204" pitchFamily="34" charset="0"/>
                              <a:ea typeface="Aptos" panose="020B0004020202020204" pitchFamily="34" charset="0"/>
                              <a:cs typeface="Times New Roman" panose="02020603050405020304" pitchFamily="18" charset="0"/>
                            </a:rPr>
                            <a:t>w</a:t>
                          </a:r>
                          <a:r>
                            <a:rPr lang="en-US" sz="1200" dirty="0">
                              <a:effectLst/>
                              <a:latin typeface="Aptos" panose="020B0004020202020204" pitchFamily="34" charset="0"/>
                              <a:ea typeface="Aptos" panose="020B0004020202020204" pitchFamily="34" charset="0"/>
                              <a:cs typeface="Times New Roman" panose="02020603050405020304" pitchFamily="18" charset="0"/>
                            </a:rPr>
                            <a:t>0</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100000" r="-201852" b="-881818"/>
                          </a:stretch>
                        </a:blipFill>
                      </a:tcPr>
                    </a:tc>
                    <a:tc>
                      <a:txBody>
                        <a:bodyPr/>
                        <a:lstStyle/>
                        <a:p>
                          <a:endParaRPr lang="ru-RU"/>
                        </a:p>
                      </a:txBody>
                      <a:tcPr marL="68580" marR="68580" marT="0" marB="0">
                        <a:blipFill>
                          <a:blip r:embed="rId2"/>
                          <a:stretch>
                            <a:fillRect l="-200617" t="-100000" r="-101852" b="-881818"/>
                          </a:stretch>
                        </a:blipFill>
                      </a:tcPr>
                    </a:tc>
                    <a:tc>
                      <a:txBody>
                        <a:bodyPr/>
                        <a:lstStyle/>
                        <a:p>
                          <a:endParaRPr lang="ru-RU"/>
                        </a:p>
                      </a:txBody>
                      <a:tcPr marL="68580" marR="68580" marT="0" marB="0">
                        <a:blipFill>
                          <a:blip r:embed="rId2"/>
                          <a:stretch>
                            <a:fillRect l="-300617" t="-100000" r="-1852" b="-881818"/>
                          </a:stretch>
                        </a:blipFill>
                      </a:tcPr>
                    </a:tc>
                    <a:extLst>
                      <a:ext uri="{0D108BD9-81ED-4DB2-BD59-A6C34878D82A}">
                        <a16:rowId xmlns:a16="http://schemas.microsoft.com/office/drawing/2014/main" val="1316245398"/>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w1</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206250" r="-201852" b="-809375"/>
                          </a:stretch>
                        </a:blipFill>
                      </a:tcPr>
                    </a:tc>
                    <a:tc>
                      <a:txBody>
                        <a:bodyPr/>
                        <a:lstStyle/>
                        <a:p>
                          <a:endParaRPr lang="ru-RU"/>
                        </a:p>
                      </a:txBody>
                      <a:tcPr marL="68580" marR="68580" marT="0" marB="0">
                        <a:blipFill>
                          <a:blip r:embed="rId2"/>
                          <a:stretch>
                            <a:fillRect l="-200617" t="-206250" r="-101852" b="-809375"/>
                          </a:stretch>
                        </a:blipFill>
                      </a:tcPr>
                    </a:tc>
                    <a:tc>
                      <a:txBody>
                        <a:bodyPr/>
                        <a:lstStyle/>
                        <a:p>
                          <a:endParaRPr lang="ru-RU"/>
                        </a:p>
                      </a:txBody>
                      <a:tcPr marL="68580" marR="68580" marT="0" marB="0">
                        <a:blipFill>
                          <a:blip r:embed="rId2"/>
                          <a:stretch>
                            <a:fillRect l="-300617" t="-206250" r="-1852" b="-809375"/>
                          </a:stretch>
                        </a:blipFill>
                      </a:tcPr>
                    </a:tc>
                    <a:extLst>
                      <a:ext uri="{0D108BD9-81ED-4DB2-BD59-A6C34878D82A}">
                        <a16:rowId xmlns:a16="http://schemas.microsoft.com/office/drawing/2014/main" val="11604767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w2</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306250" r="-201852" b="-709375"/>
                          </a:stretch>
                        </a:blipFill>
                      </a:tcPr>
                    </a:tc>
                    <a:tc>
                      <a:txBody>
                        <a:bodyPr/>
                        <a:lstStyle/>
                        <a:p>
                          <a:endParaRPr lang="ru-RU"/>
                        </a:p>
                      </a:txBody>
                      <a:tcPr marL="68580" marR="68580" marT="0" marB="0">
                        <a:blipFill>
                          <a:blip r:embed="rId2"/>
                          <a:stretch>
                            <a:fillRect l="-200617" t="-306250" r="-101852" b="-709375"/>
                          </a:stretch>
                        </a:blipFill>
                      </a:tcPr>
                    </a:tc>
                    <a:tc>
                      <a:txBody>
                        <a:bodyPr/>
                        <a:lstStyle/>
                        <a:p>
                          <a:endParaRPr lang="ru-RU"/>
                        </a:p>
                      </a:txBody>
                      <a:tcPr marL="68580" marR="68580" marT="0" marB="0">
                        <a:blipFill>
                          <a:blip r:embed="rId2"/>
                          <a:stretch>
                            <a:fillRect l="-300617" t="-306250" r="-1852" b="-709375"/>
                          </a:stretch>
                        </a:blipFill>
                      </a:tcPr>
                    </a:tc>
                    <a:extLst>
                      <a:ext uri="{0D108BD9-81ED-4DB2-BD59-A6C34878D82A}">
                        <a16:rowId xmlns:a16="http://schemas.microsoft.com/office/drawing/2014/main" val="246897748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w3</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406250" r="-201852" b="-609375"/>
                          </a:stretch>
                        </a:blipFill>
                      </a:tcPr>
                    </a:tc>
                    <a:tc>
                      <a:txBody>
                        <a:bodyPr/>
                        <a:lstStyle/>
                        <a:p>
                          <a:endParaRPr lang="ru-RU"/>
                        </a:p>
                      </a:txBody>
                      <a:tcPr marL="68580" marR="68580" marT="0" marB="0">
                        <a:blipFill>
                          <a:blip r:embed="rId2"/>
                          <a:stretch>
                            <a:fillRect l="-200617" t="-406250" r="-101852" b="-609375"/>
                          </a:stretch>
                        </a:blipFill>
                      </a:tcPr>
                    </a:tc>
                    <a:tc>
                      <a:txBody>
                        <a:bodyPr/>
                        <a:lstStyle/>
                        <a:p>
                          <a:endParaRPr lang="ru-RU"/>
                        </a:p>
                      </a:txBody>
                      <a:tcPr marL="68580" marR="68580" marT="0" marB="0">
                        <a:blipFill>
                          <a:blip r:embed="rId2"/>
                          <a:stretch>
                            <a:fillRect l="-300617" t="-406250" r="-1852" b="-609375"/>
                          </a:stretch>
                        </a:blipFill>
                      </a:tcPr>
                    </a:tc>
                    <a:extLst>
                      <a:ext uri="{0D108BD9-81ED-4DB2-BD59-A6C34878D82A}">
                        <a16:rowId xmlns:a16="http://schemas.microsoft.com/office/drawing/2014/main" val="521635460"/>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w4</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490909" r="-201852" b="-490909"/>
                          </a:stretch>
                        </a:blipFill>
                      </a:tcPr>
                    </a:tc>
                    <a:tc>
                      <a:txBody>
                        <a:bodyPr/>
                        <a:lstStyle/>
                        <a:p>
                          <a:endParaRPr lang="ru-RU"/>
                        </a:p>
                      </a:txBody>
                      <a:tcPr marL="68580" marR="68580" marT="0" marB="0">
                        <a:blipFill>
                          <a:blip r:embed="rId2"/>
                          <a:stretch>
                            <a:fillRect l="-200617" t="-490909" r="-101852" b="-490909"/>
                          </a:stretch>
                        </a:blipFill>
                      </a:tcPr>
                    </a:tc>
                    <a:tc>
                      <a:txBody>
                        <a:bodyPr/>
                        <a:lstStyle/>
                        <a:p>
                          <a:endParaRPr lang="ru-RU"/>
                        </a:p>
                      </a:txBody>
                      <a:tcPr marL="68580" marR="68580" marT="0" marB="0">
                        <a:blipFill>
                          <a:blip r:embed="rId2"/>
                          <a:stretch>
                            <a:fillRect l="-300617" t="-490909" r="-1852" b="-490909"/>
                          </a:stretch>
                        </a:blipFill>
                      </a:tcPr>
                    </a:tc>
                    <a:extLst>
                      <a:ext uri="{0D108BD9-81ED-4DB2-BD59-A6C34878D82A}">
                        <a16:rowId xmlns:a16="http://schemas.microsoft.com/office/drawing/2014/main" val="191597476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w5</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609375" r="-201852" b="-406250"/>
                          </a:stretch>
                        </a:blipFill>
                      </a:tcPr>
                    </a:tc>
                    <a:tc>
                      <a:txBody>
                        <a:bodyPr/>
                        <a:lstStyle/>
                        <a:p>
                          <a:endParaRPr lang="ru-RU"/>
                        </a:p>
                      </a:txBody>
                      <a:tcPr marL="68580" marR="68580" marT="0" marB="0">
                        <a:blipFill>
                          <a:blip r:embed="rId2"/>
                          <a:stretch>
                            <a:fillRect l="-200617" t="-609375" r="-101852" b="-406250"/>
                          </a:stretch>
                        </a:blipFill>
                      </a:tcPr>
                    </a:tc>
                    <a:tc>
                      <a:txBody>
                        <a:bodyPr/>
                        <a:lstStyle/>
                        <a:p>
                          <a:endParaRPr lang="ru-RU"/>
                        </a:p>
                      </a:txBody>
                      <a:tcPr marL="68580" marR="68580" marT="0" marB="0">
                        <a:blipFill>
                          <a:blip r:embed="rId2"/>
                          <a:stretch>
                            <a:fillRect l="-300617" t="-609375" r="-1852" b="-406250"/>
                          </a:stretch>
                        </a:blipFill>
                      </a:tcPr>
                    </a:tc>
                    <a:extLst>
                      <a:ext uri="{0D108BD9-81ED-4DB2-BD59-A6C34878D82A}">
                        <a16:rowId xmlns:a16="http://schemas.microsoft.com/office/drawing/2014/main" val="171622948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w6</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709375" r="-201852" b="-306250"/>
                          </a:stretch>
                        </a:blipFill>
                      </a:tcPr>
                    </a:tc>
                    <a:tc>
                      <a:txBody>
                        <a:bodyPr/>
                        <a:lstStyle/>
                        <a:p>
                          <a:endParaRPr lang="ru-RU"/>
                        </a:p>
                      </a:txBody>
                      <a:tcPr marL="68580" marR="68580" marT="0" marB="0">
                        <a:blipFill>
                          <a:blip r:embed="rId2"/>
                          <a:stretch>
                            <a:fillRect l="-200617" t="-709375" r="-101852" b="-306250"/>
                          </a:stretch>
                        </a:blipFill>
                      </a:tcPr>
                    </a:tc>
                    <a:tc>
                      <a:txBody>
                        <a:bodyPr/>
                        <a:lstStyle/>
                        <a:p>
                          <a:endParaRPr lang="ru-RU"/>
                        </a:p>
                      </a:txBody>
                      <a:tcPr marL="68580" marR="68580" marT="0" marB="0">
                        <a:blipFill>
                          <a:blip r:embed="rId2"/>
                          <a:stretch>
                            <a:fillRect l="-300617" t="-709375" r="-1852" b="-306250"/>
                          </a:stretch>
                        </a:blipFill>
                      </a:tcPr>
                    </a:tc>
                    <a:extLst>
                      <a:ext uri="{0D108BD9-81ED-4DB2-BD59-A6C34878D82A}">
                        <a16:rowId xmlns:a16="http://schemas.microsoft.com/office/drawing/2014/main" val="2792810454"/>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w7</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809375" r="-201852" b="-206250"/>
                          </a:stretch>
                        </a:blipFill>
                      </a:tcPr>
                    </a:tc>
                    <a:tc>
                      <a:txBody>
                        <a:bodyPr/>
                        <a:lstStyle/>
                        <a:p>
                          <a:endParaRPr lang="ru-RU"/>
                        </a:p>
                      </a:txBody>
                      <a:tcPr marL="68580" marR="68580" marT="0" marB="0">
                        <a:blipFill>
                          <a:blip r:embed="rId2"/>
                          <a:stretch>
                            <a:fillRect l="-200617" t="-809375" r="-101852" b="-206250"/>
                          </a:stretch>
                        </a:blipFill>
                      </a:tcPr>
                    </a:tc>
                    <a:tc>
                      <a:txBody>
                        <a:bodyPr/>
                        <a:lstStyle/>
                        <a:p>
                          <a:endParaRPr lang="ru-RU"/>
                        </a:p>
                      </a:txBody>
                      <a:tcPr marL="68580" marR="68580" marT="0" marB="0">
                        <a:blipFill>
                          <a:blip r:embed="rId2"/>
                          <a:stretch>
                            <a:fillRect l="-300617" t="-809375" r="-1852" b="-206250"/>
                          </a:stretch>
                        </a:blipFill>
                      </a:tcPr>
                    </a:tc>
                    <a:extLst>
                      <a:ext uri="{0D108BD9-81ED-4DB2-BD59-A6C34878D82A}">
                        <a16:rowId xmlns:a16="http://schemas.microsoft.com/office/drawing/2014/main" val="1947965453"/>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w8</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881818" r="-201852" b="-100000"/>
                          </a:stretch>
                        </a:blipFill>
                      </a:tcPr>
                    </a:tc>
                    <a:tc>
                      <a:txBody>
                        <a:bodyPr/>
                        <a:lstStyle/>
                        <a:p>
                          <a:endParaRPr lang="ru-RU"/>
                        </a:p>
                      </a:txBody>
                      <a:tcPr marL="68580" marR="68580" marT="0" marB="0">
                        <a:blipFill>
                          <a:blip r:embed="rId2"/>
                          <a:stretch>
                            <a:fillRect l="-200617" t="-881818" r="-101852" b="-100000"/>
                          </a:stretch>
                        </a:blipFill>
                      </a:tcPr>
                    </a:tc>
                    <a:tc>
                      <a:txBody>
                        <a:bodyPr/>
                        <a:lstStyle/>
                        <a:p>
                          <a:endParaRPr lang="ru-RU"/>
                        </a:p>
                      </a:txBody>
                      <a:tcPr marL="68580" marR="68580" marT="0" marB="0">
                        <a:blipFill>
                          <a:blip r:embed="rId2"/>
                          <a:stretch>
                            <a:fillRect l="-300617" t="-881818" r="-1852" b="-100000"/>
                          </a:stretch>
                        </a:blipFill>
                      </a:tcPr>
                    </a:tc>
                    <a:extLst>
                      <a:ext uri="{0D108BD9-81ED-4DB2-BD59-A6C34878D82A}">
                        <a16:rowId xmlns:a16="http://schemas.microsoft.com/office/drawing/2014/main" val="4173697616"/>
                      </a:ext>
                    </a:extLst>
                  </a:tr>
                  <a:tr h="408271">
                    <a:tc>
                      <a:txBody>
                        <a:bodyPr/>
                        <a:lstStyle/>
                        <a:p>
                          <a:pPr algn="ctr">
                            <a:spcBef>
                              <a:spcPts val="180"/>
                            </a:spcBef>
                            <a:spcAft>
                              <a:spcPts val="18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w9</a:t>
                          </a:r>
                          <a:endParaRPr lang="ru-RU" sz="12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endParaRPr lang="ru-RU"/>
                        </a:p>
                      </a:txBody>
                      <a:tcPr marL="68580" marR="68580" marT="0" marB="0">
                        <a:blipFill>
                          <a:blip r:embed="rId2"/>
                          <a:stretch>
                            <a:fillRect l="-100617" t="-1012500" r="-201852" b="-3125"/>
                          </a:stretch>
                        </a:blipFill>
                      </a:tcPr>
                    </a:tc>
                    <a:tc>
                      <a:txBody>
                        <a:bodyPr/>
                        <a:lstStyle/>
                        <a:p>
                          <a:endParaRPr lang="ru-RU"/>
                        </a:p>
                      </a:txBody>
                      <a:tcPr marL="68580" marR="68580" marT="0" marB="0">
                        <a:blipFill>
                          <a:blip r:embed="rId2"/>
                          <a:stretch>
                            <a:fillRect l="-200617" t="-1012500" r="-101852" b="-3125"/>
                          </a:stretch>
                        </a:blipFill>
                      </a:tcPr>
                    </a:tc>
                    <a:tc>
                      <a:txBody>
                        <a:bodyPr/>
                        <a:lstStyle/>
                        <a:p>
                          <a:endParaRPr lang="ru-RU"/>
                        </a:p>
                      </a:txBody>
                      <a:tcPr marL="68580" marR="68580" marT="0" marB="0">
                        <a:blipFill>
                          <a:blip r:embed="rId2"/>
                          <a:stretch>
                            <a:fillRect l="-300617" t="-1012500" r="-1852" b="-3125"/>
                          </a:stretch>
                        </a:blipFill>
                      </a:tcPr>
                    </a:tc>
                    <a:extLst>
                      <a:ext uri="{0D108BD9-81ED-4DB2-BD59-A6C34878D82A}">
                        <a16:rowId xmlns:a16="http://schemas.microsoft.com/office/drawing/2014/main" val="3052366312"/>
                      </a:ext>
                    </a:extLst>
                  </a:tr>
                </a:tbl>
              </a:graphicData>
            </a:graphic>
          </p:graphicFrame>
        </mc:Fallback>
      </mc:AlternateContent>
      <p:sp>
        <p:nvSpPr>
          <p:cNvPr id="4" name="Номер слайда 3">
            <a:extLst>
              <a:ext uri="{FF2B5EF4-FFF2-40B4-BE49-F238E27FC236}">
                <a16:creationId xmlns:a16="http://schemas.microsoft.com/office/drawing/2014/main" id="{3218F98C-A14F-484A-8F7E-8A0299EF6E2C}"/>
              </a:ext>
            </a:extLst>
          </p:cNvPr>
          <p:cNvSpPr>
            <a:spLocks noGrp="1"/>
          </p:cNvSpPr>
          <p:nvPr>
            <p:ph type="sldNum" sz="quarter" idx="12"/>
          </p:nvPr>
        </p:nvSpPr>
        <p:spPr/>
        <p:txBody>
          <a:bodyPr/>
          <a:lstStyle/>
          <a:p>
            <a:fld id="{38237106-F2ED-405E-BC33-CC3CF426205F}" type="slidenum">
              <a:rPr lang="en-US" smtClean="0"/>
              <a:pPr/>
              <a:t>32</a:t>
            </a:fld>
            <a:endParaRPr lang="en-US"/>
          </a:p>
        </p:txBody>
      </p:sp>
    </p:spTree>
    <p:extLst>
      <p:ext uri="{BB962C8B-B14F-4D97-AF65-F5344CB8AC3E}">
        <p14:creationId xmlns:p14="http://schemas.microsoft.com/office/powerpoint/2010/main" val="16804367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16790CAF-D715-C844-8CE7-6DDD99900D9E}"/>
                  </a:ext>
                </a:extLst>
              </p:cNvPr>
              <p:cNvSpPr>
                <a:spLocks noGrp="1"/>
              </p:cNvSpPr>
              <p:nvPr>
                <p:ph type="title"/>
              </p:nvPr>
            </p:nvSpPr>
            <p:spPr/>
            <p:txBody>
              <a:bodyPr>
                <a:normAutofit/>
              </a:bodyPr>
              <a:lstStyle/>
              <a:p>
                <a:r>
                  <a:rPr lang="ru-RU" sz="1800" dirty="0">
                    <a:effectLst/>
                    <a:latin typeface="Fd2260317-Identity-H"/>
                  </a:rPr>
                  <a:t>График среднеквадратической ошибки в зависимости от l</a:t>
                </a:r>
                <a14:m>
                  <m:oMath xmlns:m="http://schemas.openxmlformats.org/officeDocument/2006/math">
                    <m:r>
                      <m:rPr>
                        <m:sty m:val="p"/>
                      </m:rPr>
                      <a:rPr lang="ru-RU" sz="1800" smtClean="0">
                        <a:effectLst/>
                        <a:latin typeface="Cambria Math" panose="02040503050406030204" pitchFamily="18" charset="0"/>
                      </a:rPr>
                      <m:t>n</m:t>
                    </m:r>
                    <m:r>
                      <a:rPr lang="ru-RU" sz="1800" smtClean="0">
                        <a:effectLst/>
                        <a:latin typeface="Cambria Math" panose="02040503050406030204" pitchFamily="18" charset="0"/>
                      </a:rPr>
                      <m:t>𝜆</m:t>
                    </m:r>
                    <m:r>
                      <a:rPr lang="ru-RU" sz="1800" i="1">
                        <a:effectLst/>
                        <a:latin typeface="Cambria Math" panose="02040503050406030204" pitchFamily="18" charset="0"/>
                      </a:rPr>
                      <m:t> </m:t>
                    </m:r>
                  </m:oMath>
                </a14:m>
                <a:r>
                  <a:rPr lang="ru-RU" sz="1800" dirty="0">
                    <a:effectLst/>
                    <a:latin typeface="Fd2260317-Identity-H"/>
                  </a:rPr>
                  <a:t>для полинома степени </a:t>
                </a:r>
                <a:r>
                  <a:rPr lang="ru-RU" sz="1800" dirty="0">
                    <a:effectLst/>
                    <a:latin typeface="Fd2558668-Identity-H"/>
                  </a:rPr>
                  <a:t>М </a:t>
                </a:r>
                <a:r>
                  <a:rPr lang="ru-RU" sz="1800" dirty="0">
                    <a:effectLst/>
                    <a:latin typeface="Fd2532549-Identity-H"/>
                  </a:rPr>
                  <a:t>= </a:t>
                </a:r>
                <a:r>
                  <a:rPr lang="ru-RU" sz="1800" dirty="0">
                    <a:effectLst/>
                    <a:latin typeface="Fd2558668-Identity-H"/>
                  </a:rPr>
                  <a:t>9 </a:t>
                </a:r>
                <a:endParaRPr lang="ru-RU" dirty="0"/>
              </a:p>
            </p:txBody>
          </p:sp>
        </mc:Choice>
        <mc:Fallback xmlns="">
          <p:sp>
            <p:nvSpPr>
              <p:cNvPr id="2" name="Заголовок 1">
                <a:extLst>
                  <a:ext uri="{FF2B5EF4-FFF2-40B4-BE49-F238E27FC236}">
                    <a16:creationId xmlns:a16="http://schemas.microsoft.com/office/drawing/2014/main" id="{16790CAF-D715-C844-8CE7-6DDD99900D9E}"/>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ru-RU">
                    <a:noFill/>
                  </a:rPr>
                  <a:t> </a:t>
                </a:r>
              </a:p>
            </p:txBody>
          </p:sp>
        </mc:Fallback>
      </mc:AlternateContent>
      <p:pic>
        <p:nvPicPr>
          <p:cNvPr id="5" name="Объект 4">
            <a:extLst>
              <a:ext uri="{FF2B5EF4-FFF2-40B4-BE49-F238E27FC236}">
                <a16:creationId xmlns:a16="http://schemas.microsoft.com/office/drawing/2014/main" id="{C86A1EF8-0F6E-9547-9357-F543A0E536DC}"/>
              </a:ext>
            </a:extLst>
          </p:cNvPr>
          <p:cNvPicPr>
            <a:picLocks noGrp="1" noChangeAspect="1"/>
          </p:cNvPicPr>
          <p:nvPr>
            <p:ph idx="1"/>
          </p:nvPr>
        </p:nvPicPr>
        <p:blipFill>
          <a:blip r:embed="rId4"/>
          <a:stretch>
            <a:fillRect/>
          </a:stretch>
        </p:blipFill>
        <p:spPr>
          <a:xfrm>
            <a:off x="1761040" y="1585973"/>
            <a:ext cx="5785654" cy="4318868"/>
          </a:xfrm>
          <a:prstGeom prst="rect">
            <a:avLst/>
          </a:prstGeom>
        </p:spPr>
      </p:pic>
      <p:sp>
        <p:nvSpPr>
          <p:cNvPr id="4" name="Номер слайда 3">
            <a:extLst>
              <a:ext uri="{FF2B5EF4-FFF2-40B4-BE49-F238E27FC236}">
                <a16:creationId xmlns:a16="http://schemas.microsoft.com/office/drawing/2014/main" id="{92568A38-57C5-F945-8C3C-9A225D228470}"/>
              </a:ext>
            </a:extLst>
          </p:cNvPr>
          <p:cNvSpPr>
            <a:spLocks noGrp="1"/>
          </p:cNvSpPr>
          <p:nvPr>
            <p:ph type="sldNum" sz="quarter" idx="12"/>
          </p:nvPr>
        </p:nvSpPr>
        <p:spPr/>
        <p:txBody>
          <a:bodyPr/>
          <a:lstStyle/>
          <a:p>
            <a:fld id="{38237106-F2ED-405E-BC33-CC3CF426205F}" type="slidenum">
              <a:rPr lang="en-US" smtClean="0"/>
              <a:pPr/>
              <a:t>33</a:t>
            </a:fld>
            <a:endParaRPr lang="en-US"/>
          </a:p>
        </p:txBody>
      </p:sp>
    </p:spTree>
    <p:extLst>
      <p:ext uri="{BB962C8B-B14F-4D97-AF65-F5344CB8AC3E}">
        <p14:creationId xmlns:p14="http://schemas.microsoft.com/office/powerpoint/2010/main" val="10626285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495BEF-D65E-6B4E-9989-2AC5CCC22F55}"/>
              </a:ext>
            </a:extLst>
          </p:cNvPr>
          <p:cNvSpPr>
            <a:spLocks noGrp="1"/>
          </p:cNvSpPr>
          <p:nvPr>
            <p:ph type="title"/>
          </p:nvPr>
        </p:nvSpPr>
        <p:spPr/>
        <p:txBody>
          <a:bodyPr/>
          <a:lstStyle/>
          <a:p>
            <a:r>
              <a:rPr lang="ru-RU" dirty="0"/>
              <a:t>Теорема Байеса</a:t>
            </a:r>
            <a:r>
              <a:rPr lang="en-US" dirty="0"/>
              <a:t> </a:t>
            </a:r>
            <a:r>
              <a:rPr lang="ru-RU" dirty="0"/>
              <a:t>в </a:t>
            </a:r>
            <a:r>
              <a:rPr lang="ru-RU" dirty="0" err="1"/>
              <a:t>M</a:t>
            </a:r>
            <a:r>
              <a:rPr lang="en-US" dirty="0"/>
              <a:t>L</a:t>
            </a:r>
            <a:endParaRPr lang="ru-RU" dirty="0"/>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CFB971F6-496A-2746-836D-AA4D4BDC3098}"/>
                  </a:ext>
                </a:extLst>
              </p:cNvPr>
              <p:cNvSpPr>
                <a:spLocks noGrp="1"/>
              </p:cNvSpPr>
              <p:nvPr>
                <p:ph idx="1"/>
              </p:nvPr>
            </p:nvSpPr>
            <p:spPr>
              <a:xfrm>
                <a:off x="457200" y="1600200"/>
                <a:ext cx="8229600" cy="4983162"/>
              </a:xfrm>
            </p:spPr>
            <p:txBody>
              <a:bodyPr>
                <a:normAutofit/>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Пусть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параметры 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данные. Теорема Байеса задаётся формулой: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posterior</m:t>
                      </m:r>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likelihood</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prior</m:t>
                          </m:r>
                        </m:num>
                        <m:den>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evidence</m:t>
                          </m:r>
                        </m:den>
                      </m:f>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Частотная парадигма обычно количественно оценивает свойства величин, определяемых данными, в свете фиксированных параметров модели, тогда как байесовская парадигма обычно количественно оценивает свойства неизвестных параметров модели в свете наблюдаемых данных.</a:t>
                </a:r>
                <a:endParaRPr lang="en-US" sz="1800" dirty="0">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smtClean="0">
                          <a:effectLst/>
                          <a:latin typeface="Cambria Math" panose="02040503050406030204" pitchFamily="18" charset="0"/>
                          <a:ea typeface="Aptos" panose="020B0004020202020204" pitchFamily="34" charset="0"/>
                          <a:cs typeface="Times New Roman" panose="02020603050405020304" pitchFamily="18" charset="0"/>
                        </a:rPr>
                        <m:t>posterior</m:t>
                      </m:r>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m:t>
                      </m:r>
                      <m:r>
                        <m:rPr>
                          <m:sty m:val="p"/>
                        </m:rPr>
                        <a:rPr lang="ru-RU" sz="1800">
                          <a:latin typeface="Cambria Math" panose="02040503050406030204" pitchFamily="18" charset="0"/>
                          <a:ea typeface="Aptos" panose="020B0004020202020204" pitchFamily="34" charset="0"/>
                          <a:cs typeface="Times New Roman" panose="02020603050405020304" pitchFamily="18" charset="0"/>
                        </a:rPr>
                        <m:t>likelihood</m:t>
                      </m:r>
                      <m:r>
                        <a:rPr lang="ru-RU" sz="1800" i="1">
                          <a:latin typeface="Cambria Math" panose="02040503050406030204" pitchFamily="18" charset="0"/>
                          <a:ea typeface="Aptos" panose="020B0004020202020204" pitchFamily="34" charset="0"/>
                          <a:cs typeface="Times New Roman" panose="02020603050405020304" pitchFamily="18" charset="0"/>
                        </a:rPr>
                        <m:t> </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 </m:t>
                      </m:r>
                      <m:r>
                        <m:rPr>
                          <m:sty m:val="p"/>
                        </m:rPr>
                        <a:rPr lang="ru-RU" sz="1800">
                          <a:latin typeface="Cambria Math" panose="02040503050406030204" pitchFamily="18" charset="0"/>
                          <a:ea typeface="Aptos" panose="020B0004020202020204" pitchFamily="34" charset="0"/>
                          <a:cs typeface="Times New Roman" panose="02020603050405020304" pitchFamily="18" charset="0"/>
                        </a:rPr>
                        <m:t>prior</m:t>
                      </m:r>
                    </m:oMath>
                  </m:oMathPara>
                </a14:m>
                <a:endParaRPr lang="en-US" sz="1800" dirty="0">
                  <a:solidFill>
                    <a:srgbClr val="FF0000"/>
                  </a:solidFill>
                  <a:latin typeface="Fd1785535-Identity-H"/>
                </a:endParaRPr>
              </a:p>
              <a:p>
                <a:pPr marL="0" indent="0">
                  <a:spcBef>
                    <a:spcPts val="900"/>
                  </a:spcBef>
                  <a:spcAft>
                    <a:spcPts val="900"/>
                  </a:spcAft>
                  <a:buNone/>
                </a:pPr>
                <a14:m>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e>
                    </m:d>
                  </m:oMath>
                </a14:m>
                <a:r>
                  <a:rPr lang="ru-RU" sz="1800" dirty="0">
                    <a:solidFill>
                      <a:srgbClr val="FF0000"/>
                    </a:solidFill>
                    <a:latin typeface="Fd1785535-Identity-H"/>
                  </a:rPr>
                  <a:t> </a:t>
                </a:r>
                <a:r>
                  <a:rPr lang="ru-RU" sz="1800" dirty="0">
                    <a:latin typeface="Fd1785535-Identity-H"/>
                  </a:rPr>
                  <a:t>можно найти из условия: </a:t>
                </a:r>
                <a14:m>
                  <m:oMath xmlns:m="http://schemas.openxmlformats.org/officeDocument/2006/math">
                    <m:nary>
                      <m:naryPr>
                        <m:limLoc m:val="undOvr"/>
                        <m:subHide m:val="on"/>
                        <m:supHide m:val="on"/>
                        <m:ctrlPr>
                          <a:rPr lang="ru-RU" sz="1800" i="1" smtClean="0">
                            <a:effectLst/>
                            <a:latin typeface="Cambria Math" panose="02040503050406030204" pitchFamily="18" charset="0"/>
                            <a:cs typeface="Times New Roman" panose="02020603050405020304" pitchFamily="18" charset="0"/>
                          </a:rPr>
                        </m:ctrlPr>
                      </m:naryPr>
                      <m:sub/>
                      <m:sup/>
                      <m:e>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e>
                            <m:r>
                              <a:rPr lang="ru-RU" sz="1800" i="1">
                                <a:latin typeface="Cambria Math" panose="02040503050406030204" pitchFamily="18" charset="0"/>
                                <a:ea typeface="Aptos" panose="020B0004020202020204" pitchFamily="34" charset="0"/>
                                <a:cs typeface="Times New Roman" panose="02020603050405020304" pitchFamily="18" charset="0"/>
                              </a:rPr>
                              <m:t>𝒟</m:t>
                            </m:r>
                          </m:e>
                        </m:d>
                        <m:r>
                          <a:rPr lang="en-US" sz="1800" i="1">
                            <a:latin typeface="Cambria Math" panose="02040503050406030204" pitchFamily="18" charset="0"/>
                            <a:ea typeface="Aptos" panose="020B0004020202020204" pitchFamily="34" charset="0"/>
                            <a:cs typeface="Times New Roman" panose="02020603050405020304" pitchFamily="18" charset="0"/>
                          </a:rPr>
                          <m:t>𝑑</m:t>
                        </m:r>
                        <m:r>
                          <a:rPr lang="ru-RU" sz="1800" b="1" i="1">
                            <a:latin typeface="Cambria Math" panose="02040503050406030204" pitchFamily="18" charset="0"/>
                            <a:ea typeface="Aptos" panose="020B0004020202020204" pitchFamily="34" charset="0"/>
                            <a:cs typeface="Times New Roman" panose="02020603050405020304" pitchFamily="18" charset="0"/>
                          </a:rPr>
                          <m:t>𝐰</m:t>
                        </m:r>
                        <m:r>
                          <a:rPr lang="ru-RU" sz="1800" b="1" i="1" smtClean="0">
                            <a:latin typeface="Cambria Math" panose="02040503050406030204" pitchFamily="18" charset="0"/>
                            <a:ea typeface="Aptos" panose="020B0004020202020204" pitchFamily="34" charset="0"/>
                            <a:cs typeface="Times New Roman" panose="02020603050405020304" pitchFamily="18" charset="0"/>
                          </a:rPr>
                          <m:t>=</m:t>
                        </m:r>
                        <m:r>
                          <a:rPr lang="ru-RU" sz="1800" b="0" i="1" smtClean="0">
                            <a:latin typeface="Cambria Math" panose="02040503050406030204" pitchFamily="18" charset="0"/>
                            <a:ea typeface="Aptos" panose="020B0004020202020204" pitchFamily="34" charset="0"/>
                            <a:cs typeface="Times New Roman" panose="02020603050405020304" pitchFamily="18" charset="0"/>
                          </a:rPr>
                          <m:t>1</m:t>
                        </m:r>
                      </m:e>
                    </m:nary>
                    <m:r>
                      <a:rPr lang="ru-RU" sz="1800" b="0" i="1" smtClean="0">
                        <a:effectLst/>
                        <a:latin typeface="Cambria Math" panose="02040503050406030204" pitchFamily="18" charset="0"/>
                        <a:cs typeface="Times New Roman" panose="02020603050405020304" pitchFamily="18" charset="0"/>
                      </a:rPr>
                      <m:t>⇒</m:t>
                    </m:r>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e>
                    </m:d>
                    <m:r>
                      <a:rPr lang="ru-RU" sz="1800" b="0" i="0" smtClean="0">
                        <a:effectLst/>
                        <a:latin typeface="Cambria Math" panose="02040503050406030204" pitchFamily="18" charset="0"/>
                        <a:ea typeface="Aptos" panose="020B0004020202020204" pitchFamily="34" charset="0"/>
                        <a:cs typeface="Times New Roman" panose="02020603050405020304" pitchFamily="18" charset="0"/>
                      </a:rPr>
                      <m:t>=</m:t>
                    </m:r>
                    <m:nary>
                      <m:naryPr>
                        <m:limLoc m:val="undOvr"/>
                        <m:subHide m:val="on"/>
                        <m:supHide m:val="on"/>
                        <m:ctrlPr>
                          <a:rPr lang="ru-RU" sz="1800" b="0" i="1" smtClean="0">
                            <a:effectLst/>
                            <a:latin typeface="Cambria Math" panose="02040503050406030204" pitchFamily="18" charset="0"/>
                            <a:cs typeface="Times New Roman" panose="02020603050405020304" pitchFamily="18" charset="0"/>
                          </a:rPr>
                        </m:ctrlPr>
                      </m:naryPr>
                      <m:sub/>
                      <m:sup/>
                      <m:e>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i="1">
                                <a:latin typeface="Cambria Math" panose="02040503050406030204" pitchFamily="18" charset="0"/>
                                <a:ea typeface="Aptos" panose="020B0004020202020204" pitchFamily="34" charset="0"/>
                                <a:cs typeface="Times New Roman" panose="02020603050405020304" pitchFamily="18" charset="0"/>
                              </a:rPr>
                              <m:t>𝒟</m:t>
                            </m:r>
                          </m:e>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d>
                        <m:r>
                          <a:rPr lang="en-US" sz="1800" b="0" i="1" smtClean="0">
                            <a:latin typeface="Cambria Math" panose="02040503050406030204" pitchFamily="18" charset="0"/>
                            <a:ea typeface="Aptos" panose="020B0004020202020204" pitchFamily="34" charset="0"/>
                            <a:cs typeface="Times New Roman" panose="02020603050405020304" pitchFamily="18" charset="0"/>
                          </a:rPr>
                          <m:t>𝑑</m:t>
                        </m:r>
                        <m:r>
                          <a:rPr lang="ru-RU" sz="1800" b="1" i="1">
                            <a:latin typeface="Cambria Math" panose="02040503050406030204" pitchFamily="18" charset="0"/>
                            <a:ea typeface="Aptos" panose="020B0004020202020204" pitchFamily="34" charset="0"/>
                            <a:cs typeface="Times New Roman" panose="02020603050405020304" pitchFamily="18" charset="0"/>
                          </a:rPr>
                          <m:t>𝐰</m:t>
                        </m:r>
                      </m:e>
                    </m:nary>
                  </m:oMath>
                </a14:m>
                <a:endParaRPr lang="ru-RU" sz="1800" dirty="0">
                  <a:solidFill>
                    <a:srgbClr val="FF0000"/>
                  </a:solidFill>
                  <a:latin typeface="Fd1785535-Identity-H"/>
                </a:endParaRPr>
              </a:p>
            </p:txBody>
          </p:sp>
        </mc:Choice>
        <mc:Fallback xmlns="">
          <p:sp>
            <p:nvSpPr>
              <p:cNvPr id="3" name="Объект 2">
                <a:extLst>
                  <a:ext uri="{FF2B5EF4-FFF2-40B4-BE49-F238E27FC236}">
                    <a16:creationId xmlns:a16="http://schemas.microsoft.com/office/drawing/2014/main" id="{CFB971F6-496A-2746-836D-AA4D4BDC3098}"/>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2"/>
                <a:stretch>
                  <a:fillRect l="-617" t="-76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BD00B58-C983-2A42-8DB3-3B0A16524452}"/>
              </a:ext>
            </a:extLst>
          </p:cNvPr>
          <p:cNvSpPr>
            <a:spLocks noGrp="1"/>
          </p:cNvSpPr>
          <p:nvPr>
            <p:ph type="sldNum" sz="quarter" idx="12"/>
          </p:nvPr>
        </p:nvSpPr>
        <p:spPr/>
        <p:txBody>
          <a:bodyPr/>
          <a:lstStyle/>
          <a:p>
            <a:fld id="{38237106-F2ED-405E-BC33-CC3CF426205F}" type="slidenum">
              <a:rPr lang="en-US" smtClean="0"/>
              <a:pPr/>
              <a:t>34</a:t>
            </a:fld>
            <a:endParaRPr lang="en-US"/>
          </a:p>
        </p:txBody>
      </p:sp>
    </p:spTree>
    <p:extLst>
      <p:ext uri="{BB962C8B-B14F-4D97-AF65-F5344CB8AC3E}">
        <p14:creationId xmlns:p14="http://schemas.microsoft.com/office/powerpoint/2010/main" val="6771691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C87AF81-968F-124B-B1E5-0BE0AE1CCB55}"/>
              </a:ext>
            </a:extLst>
          </p:cNvPr>
          <p:cNvSpPr>
            <a:spLocks noGrp="1"/>
          </p:cNvSpPr>
          <p:nvPr>
            <p:ph type="title"/>
          </p:nvPr>
        </p:nvSpPr>
        <p:spPr/>
        <p:txBody>
          <a:bodyPr/>
          <a:lstStyle/>
          <a:p>
            <a:r>
              <a:rPr lang="ru-RU" dirty="0"/>
              <a:t>Оценка правдоподобия</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CEEEF480-1B4B-3E41-90EF-E90636884C9D}"/>
                  </a:ext>
                </a:extLst>
              </p:cNvPr>
              <p:cNvSpPr>
                <a:spLocks noGrp="1"/>
              </p:cNvSpPr>
              <p:nvPr>
                <p:ph idx="1"/>
              </p:nvPr>
            </p:nvSpPr>
            <p:spPr/>
            <p:txBody>
              <a:bodyPr>
                <a:normAutofit fontScale="92500" lnSpcReduction="10000"/>
              </a:bodyPr>
              <a:lstStyle/>
              <a:p>
                <a:r>
                  <a:rPr lang="ru-RU" sz="1800" dirty="0">
                    <a:effectLst/>
                    <a:latin typeface="Fd1785535-Identity-H"/>
                  </a:rPr>
                  <a:t>Широко используемой частотной оценкой </a:t>
                </a:r>
                <a14:m>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𝒟</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800" dirty="0">
                    <a:effectLst/>
                    <a:latin typeface="Fd1785535-Identity-H"/>
                  </a:rPr>
                  <a:t>является </a:t>
                </a:r>
                <a:r>
                  <a:rPr lang="ru-RU" sz="1800" dirty="0">
                    <a:effectLst/>
                    <a:latin typeface="Fd2042035-Identity-H"/>
                  </a:rPr>
                  <a:t>оценка максимального правдоподобия, </a:t>
                </a:r>
                <a:r>
                  <a:rPr lang="ru-RU" sz="1800" dirty="0">
                    <a:effectLst/>
                    <a:latin typeface="Fd1785535-Identity-H"/>
                  </a:rPr>
                  <a:t>при котором значение </a:t>
                </a:r>
                <a14:m>
                  <m:oMath xmlns:m="http://schemas.openxmlformats.org/officeDocument/2006/math">
                    <m:r>
                      <a:rPr lang="ru-RU" sz="1800" b="1" i="1">
                        <a:latin typeface="Cambria Math" panose="02040503050406030204" pitchFamily="18" charset="0"/>
                        <a:ea typeface="Aptos" panose="020B0004020202020204" pitchFamily="34" charset="0"/>
                        <a:cs typeface="Times New Roman" panose="02020603050405020304" pitchFamily="18" charset="0"/>
                      </a:rPr>
                      <m:t>𝐰</m:t>
                    </m:r>
                  </m:oMath>
                </a14:m>
                <a:r>
                  <a:rPr lang="en" sz="1800" dirty="0">
                    <a:effectLst/>
                    <a:latin typeface="Fd1785535-Identity-H"/>
                  </a:rPr>
                  <a:t> </a:t>
                </a:r>
                <a:r>
                  <a:rPr lang="ru-RU" sz="1800" dirty="0">
                    <a:effectLst/>
                    <a:latin typeface="Fd1785535-Identity-H"/>
                  </a:rPr>
                  <a:t>максимизирует функцию правдоподо­бия </a:t>
                </a:r>
                <a14:m>
                  <m:oMath xmlns:m="http://schemas.openxmlformats.org/officeDocument/2006/math">
                    <m:r>
                      <a:rPr lang="ru-RU" sz="1800" i="1">
                        <a:latin typeface="Cambria Math" panose="02040503050406030204" pitchFamily="18" charset="0"/>
                        <a:ea typeface="Aptos" panose="020B0004020202020204" pitchFamily="34" charset="0"/>
                        <a:cs typeface="Times New Roman" panose="02020603050405020304" pitchFamily="18" charset="0"/>
                      </a:rPr>
                      <m:t>𝑝</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𝒟</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b="1" i="1">
                        <a:latin typeface="Cambria Math" panose="02040503050406030204" pitchFamily="18" charset="0"/>
                        <a:ea typeface="Aptos" panose="020B0004020202020204" pitchFamily="34" charset="0"/>
                        <a:cs typeface="Times New Roman" panose="02020603050405020304" pitchFamily="18" charset="0"/>
                      </a:rPr>
                      <m:t>𝐰</m:t>
                    </m:r>
                    <m:r>
                      <a:rPr lang="ru-RU" sz="1800">
                        <a:latin typeface="Cambria Math" panose="02040503050406030204" pitchFamily="18" charset="0"/>
                        <a:ea typeface="Aptos" panose="020B0004020202020204" pitchFamily="34" charset="0"/>
                        <a:cs typeface="Times New Roman" panose="02020603050405020304" pitchFamily="18" charset="0"/>
                      </a:rPr>
                      <m:t>)</m:t>
                    </m:r>
                  </m:oMath>
                </a14:m>
                <a:r>
                  <a:rPr lang="en" sz="1800" dirty="0">
                    <a:effectLst/>
                    <a:latin typeface="Fd1785535-Identity-H"/>
                  </a:rPr>
                  <a:t>. </a:t>
                </a:r>
                <a:r>
                  <a:rPr lang="ru-RU" sz="1800" dirty="0">
                    <a:effectLst/>
                    <a:latin typeface="Fd1785535-Identity-H"/>
                  </a:rPr>
                  <a:t>Это соответствует выбору значения </a:t>
                </a:r>
                <a:r>
                  <a:rPr lang="en" sz="1800" dirty="0">
                    <a:effectLst/>
                    <a:latin typeface="Fd1785535-Identity-H"/>
                  </a:rPr>
                  <a:t>w, </a:t>
                </a:r>
                <a:r>
                  <a:rPr lang="ru-RU" sz="1800" dirty="0">
                    <a:effectLst/>
                    <a:latin typeface="Fd1442277-Identity-H"/>
                  </a:rPr>
                  <a:t>для </a:t>
                </a:r>
                <a:r>
                  <a:rPr lang="ru-RU" sz="1800" dirty="0">
                    <a:effectLst/>
                    <a:latin typeface="Fd1785535-Identity-H"/>
                  </a:rPr>
                  <a:t>которого вероятность наблюдаемого набора данных </a:t>
                </a:r>
                <a:r>
                  <a:rPr lang="ru-RU" sz="1800" dirty="0" err="1">
                    <a:effectLst/>
                    <a:latin typeface="Fd1785535-Identity-H"/>
                  </a:rPr>
                  <a:t>максимизируется</a:t>
                </a:r>
                <a:r>
                  <a:rPr lang="ru-RU" sz="1800" dirty="0">
                    <a:effectLst/>
                    <a:latin typeface="Fd1785535-Identity-H"/>
                  </a:rPr>
                  <a:t>. В литературе по машинному обучению отрицательная логарифмическая функция правдоподобия называется </a:t>
                </a:r>
                <a:r>
                  <a:rPr lang="ru-RU" sz="1800" dirty="0">
                    <a:effectLst/>
                    <a:latin typeface="Fd2042035-Identity-H"/>
                  </a:rPr>
                  <a:t>функцией ошибок. </a:t>
                </a:r>
                <a:r>
                  <a:rPr lang="ru-RU" sz="1800" dirty="0">
                    <a:effectLst/>
                    <a:latin typeface="Fd1785535-Identity-H"/>
                  </a:rPr>
                  <a:t>Поскольку отрицательный логарифм является монотонно убывающей функцией, максимизация правдоподобия эквивалентна минимиза­</a:t>
                </a:r>
                <a:r>
                  <a:rPr lang="ru-RU" sz="1800" dirty="0">
                    <a:effectLst/>
                    <a:latin typeface="Fd837699-Identity-H"/>
                  </a:rPr>
                  <a:t>ции </a:t>
                </a:r>
                <a:r>
                  <a:rPr lang="ru-RU" sz="1800" dirty="0">
                    <a:effectLst/>
                    <a:latin typeface="Fd1785535-Identity-H"/>
                  </a:rPr>
                  <a:t>ошибки. </a:t>
                </a:r>
              </a:p>
              <a:p>
                <a:r>
                  <a:rPr lang="ru-RU" sz="1800" dirty="0">
                    <a:effectLst/>
                    <a:latin typeface="Fd1785535-Identity-H"/>
                  </a:rPr>
                  <a:t>Одним из подходов к определению частотной величины ошибки является </a:t>
                </a:r>
                <a:r>
                  <a:rPr lang="ru-RU" sz="1800" dirty="0" err="1">
                    <a:effectLst/>
                    <a:latin typeface="Fd2042035-Identity-H"/>
                  </a:rPr>
                  <a:t>бутстрэп</a:t>
                </a:r>
                <a:r>
                  <a:rPr lang="en" sz="1800" dirty="0">
                    <a:effectLst/>
                    <a:latin typeface="Fd2042035-Identity-H"/>
                  </a:rPr>
                  <a:t>, </a:t>
                </a:r>
                <a:r>
                  <a:rPr lang="ru-RU" sz="1800" dirty="0">
                    <a:effectLst/>
                    <a:latin typeface="Fd1785535-Identity-H"/>
                  </a:rPr>
                  <a:t>в котором несколько наборов данных создаются следующим образом. Предположим, наш исходный набор данных со­стоит из </a:t>
                </a:r>
                <a:r>
                  <a:rPr lang="en" sz="1800" i="1" dirty="0">
                    <a:effectLst/>
                    <a:latin typeface="Cambria Math" panose="02040503050406030204" pitchFamily="18" charset="0"/>
                    <a:ea typeface="Cambria Math" panose="02040503050406030204" pitchFamily="18" charset="0"/>
                  </a:rPr>
                  <a:t>N</a:t>
                </a:r>
                <a:r>
                  <a:rPr lang="ru-RU" sz="1800" dirty="0">
                    <a:effectLst/>
                    <a:latin typeface="Fd34424-Identity-H"/>
                  </a:rPr>
                  <a:t> </a:t>
                </a:r>
                <a:r>
                  <a:rPr lang="ru-RU" sz="1800" dirty="0">
                    <a:effectLst/>
                    <a:latin typeface="Fd1785535-Identity-H"/>
                  </a:rPr>
                  <a:t>точек данных </a:t>
                </a:r>
                <a:r>
                  <a:rPr lang="ru-RU" sz="1800" i="1" dirty="0">
                    <a:effectLst/>
                    <a:latin typeface="Cambria Math" panose="02040503050406030204" pitchFamily="18" charset="0"/>
                    <a:ea typeface="Cambria Math" panose="02040503050406030204" pitchFamily="18" charset="0"/>
                  </a:rPr>
                  <a:t>Х </a:t>
                </a:r>
                <a:r>
                  <a:rPr lang="ru-RU" sz="1800" dirty="0">
                    <a:effectLst/>
                    <a:latin typeface="Cambria Math" panose="02040503050406030204" pitchFamily="18" charset="0"/>
                    <a:ea typeface="Cambria Math" panose="02040503050406030204" pitchFamily="18" charset="0"/>
                  </a:rPr>
                  <a:t>=</a:t>
                </a:r>
                <a:r>
                  <a:rPr lang="ru-RU" sz="1800" i="1" dirty="0">
                    <a:effectLst/>
                    <a:latin typeface="Cambria Math" panose="02040503050406030204" pitchFamily="18" charset="0"/>
                    <a:ea typeface="Cambria Math" panose="02040503050406030204" pitchFamily="18" charset="0"/>
                  </a:rPr>
                  <a:t> </a:t>
                </a:r>
                <a:r>
                  <a:rPr lang="ru-RU" sz="1800" dirty="0">
                    <a:effectLst/>
                    <a:latin typeface="Cambria Math" panose="02040503050406030204" pitchFamily="18" charset="0"/>
                    <a:ea typeface="Cambria Math" panose="02040503050406030204" pitchFamily="18" charset="0"/>
                  </a:rPr>
                  <a:t>{</a:t>
                </a:r>
                <a:r>
                  <a:rPr lang="ru-RU" sz="1800" i="1" dirty="0">
                    <a:effectLst/>
                    <a:latin typeface="Cambria Math" panose="02040503050406030204" pitchFamily="18" charset="0"/>
                    <a:ea typeface="Cambria Math" panose="02040503050406030204" pitchFamily="18" charset="0"/>
                  </a:rPr>
                  <a:t>х</a:t>
                </a:r>
                <a:r>
                  <a:rPr lang="ru-RU" sz="1800" i="1" baseline="-25000" dirty="0">
                    <a:effectLst/>
                    <a:latin typeface="Cambria Math" panose="02040503050406030204" pitchFamily="18" charset="0"/>
                    <a:ea typeface="Cambria Math" panose="02040503050406030204" pitchFamily="18" charset="0"/>
                  </a:rPr>
                  <a:t>1</a:t>
                </a:r>
                <a:r>
                  <a:rPr lang="ru-RU" sz="1800" i="1" dirty="0">
                    <a:effectLst/>
                    <a:latin typeface="Cambria Math" panose="02040503050406030204" pitchFamily="18" charset="0"/>
                    <a:ea typeface="Cambria Math" panose="02040503050406030204" pitchFamily="18" charset="0"/>
                  </a:rPr>
                  <a:t>,</a:t>
                </a:r>
                <a:r>
                  <a:rPr lang="ru-RU" sz="1800" i="1" dirty="0">
                    <a:latin typeface="Cambria Math" panose="02040503050406030204" pitchFamily="18" charset="0"/>
                    <a:ea typeface="Cambria Math" panose="02040503050406030204" pitchFamily="18" charset="0"/>
                  </a:rPr>
                  <a:t> …</a:t>
                </a:r>
                <a:r>
                  <a:rPr lang="ru-RU" sz="1800" i="1" dirty="0">
                    <a:effectLst/>
                    <a:latin typeface="Cambria Math" panose="02040503050406030204" pitchFamily="18" charset="0"/>
                    <a:ea typeface="Cambria Math" panose="02040503050406030204" pitchFamily="18" charset="0"/>
                  </a:rPr>
                  <a:t>, </a:t>
                </a:r>
                <a:r>
                  <a:rPr lang="en" sz="1800" i="1" dirty="0" err="1">
                    <a:effectLst/>
                    <a:latin typeface="Cambria Math" panose="02040503050406030204" pitchFamily="18" charset="0"/>
                    <a:ea typeface="Cambria Math" panose="02040503050406030204" pitchFamily="18" charset="0"/>
                  </a:rPr>
                  <a:t>x</a:t>
                </a:r>
                <a:r>
                  <a:rPr lang="en" sz="1800" i="1" baseline="-25000" dirty="0" err="1">
                    <a:effectLst/>
                    <a:latin typeface="Cambria Math" panose="02040503050406030204" pitchFamily="18" charset="0"/>
                    <a:ea typeface="Cambria Math" panose="02040503050406030204" pitchFamily="18" charset="0"/>
                  </a:rPr>
                  <a:t>N</a:t>
                </a:r>
                <a:r>
                  <a:rPr lang="en" sz="1800" dirty="0">
                    <a:effectLst/>
                    <a:latin typeface="Cambria Math" panose="02040503050406030204" pitchFamily="18" charset="0"/>
                    <a:ea typeface="Cambria Math" panose="02040503050406030204" pitchFamily="18" charset="0"/>
                  </a:rPr>
                  <a:t>}</a:t>
                </a:r>
                <a:r>
                  <a:rPr lang="en" sz="1800" dirty="0">
                    <a:effectLst/>
                    <a:latin typeface="Fd1785535-Identity-H"/>
                  </a:rPr>
                  <a:t>· </a:t>
                </a:r>
                <a:r>
                  <a:rPr lang="ru-RU" sz="1800" dirty="0">
                    <a:effectLst/>
                    <a:latin typeface="Fd1785535-Identity-H"/>
                  </a:rPr>
                  <a:t>Мы можем создать новый набор дан­ных </a:t>
                </a:r>
                <a:r>
                  <a:rPr lang="ru-RU" sz="1800" i="1" dirty="0">
                    <a:effectLst/>
                    <a:latin typeface="Cambria Math" panose="02040503050406030204" pitchFamily="18" charset="0"/>
                    <a:ea typeface="Cambria Math" panose="02040503050406030204" pitchFamily="18" charset="0"/>
                  </a:rPr>
                  <a:t>Х</a:t>
                </a:r>
                <a:r>
                  <a:rPr lang="en-US" sz="1800" dirty="0" err="1">
                    <a:latin typeface="Fd2561963-Identity-H"/>
                  </a:rPr>
                  <a:t>в</a:t>
                </a:r>
                <a:r>
                  <a:rPr lang="ru-RU" sz="1800" dirty="0">
                    <a:effectLst/>
                    <a:latin typeface="Fd2561963-Identity-H"/>
                  </a:rPr>
                  <a:t>, </a:t>
                </a:r>
                <a:r>
                  <a:rPr lang="ru-RU" sz="1800" dirty="0">
                    <a:effectLst/>
                    <a:latin typeface="Fd1785535-Identity-H"/>
                  </a:rPr>
                  <a:t>извлекая </a:t>
                </a:r>
                <a:r>
                  <a:rPr lang="en" sz="1800" dirty="0">
                    <a:effectLst/>
                    <a:latin typeface="Fd34424-Identity-H"/>
                  </a:rPr>
                  <a:t>N </a:t>
                </a:r>
                <a:r>
                  <a:rPr lang="ru-RU" sz="1800" dirty="0">
                    <a:effectLst/>
                    <a:latin typeface="Fd1785535-Identity-H"/>
                  </a:rPr>
                  <a:t>точек случайным образом из набора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с возвращением, так что некоторые точки из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могут повторяться в </a:t>
                </a:r>
                <a:r>
                  <a:rPr lang="ru-RU" sz="1800" i="1" dirty="0" err="1">
                    <a:effectLst/>
                    <a:latin typeface="Cambria Math" panose="02040503050406030204" pitchFamily="18" charset="0"/>
                    <a:ea typeface="Cambria Math" panose="02040503050406030204" pitchFamily="18" charset="0"/>
                  </a:rPr>
                  <a:t>Х</a:t>
                </a:r>
                <a:r>
                  <a:rPr lang="ru-RU" sz="1800" dirty="0" err="1">
                    <a:effectLst/>
                    <a:latin typeface="Fd2561963-Identity-H"/>
                  </a:rPr>
                  <a:t>в</a:t>
                </a:r>
                <a:r>
                  <a:rPr lang="ru-RU" sz="1800" dirty="0">
                    <a:effectLst/>
                    <a:latin typeface="Fd2561963-Identity-H"/>
                  </a:rPr>
                  <a:t>, </a:t>
                </a:r>
                <a:r>
                  <a:rPr lang="ru-RU" sz="1800" dirty="0">
                    <a:effectLst/>
                    <a:latin typeface="Fd1785535-Identity-H"/>
                  </a:rPr>
                  <a:t>тогда как другие точки </a:t>
                </a:r>
                <a:r>
                  <a:rPr lang="ru-RU" sz="1800" dirty="0">
                    <a:effectLst/>
                    <a:latin typeface="Fd2558668-Identity-H"/>
                  </a:rPr>
                  <a:t>в </a:t>
                </a:r>
                <a:r>
                  <a:rPr lang="ru-RU" sz="1800" i="1" dirty="0">
                    <a:effectLst/>
                    <a:latin typeface="Cambria Math" panose="02040503050406030204" pitchFamily="18" charset="0"/>
                    <a:ea typeface="Cambria Math" panose="02040503050406030204" pitchFamily="18" charset="0"/>
                  </a:rPr>
                  <a:t>Х</a:t>
                </a:r>
                <a:r>
                  <a:rPr lang="ru-RU" sz="1800" dirty="0">
                    <a:effectLst/>
                    <a:latin typeface="Fd2561963-Identity-H"/>
                  </a:rPr>
                  <a:t> </a:t>
                </a:r>
                <a:r>
                  <a:rPr lang="ru-RU" sz="1800" dirty="0">
                    <a:effectLst/>
                    <a:latin typeface="Fd1785535-Identity-H"/>
                  </a:rPr>
                  <a:t>могут отсутствовать в </a:t>
                </a:r>
                <a:r>
                  <a:rPr lang="ru-RU" sz="1800" i="1" dirty="0" err="1">
                    <a:effectLst/>
                    <a:latin typeface="Cambria Math" panose="02040503050406030204" pitchFamily="18" charset="0"/>
                    <a:ea typeface="Cambria Math" panose="02040503050406030204" pitchFamily="18" charset="0"/>
                  </a:rPr>
                  <a:t>Х</a:t>
                </a:r>
                <a:r>
                  <a:rPr lang="ru-RU" sz="1800" dirty="0" err="1">
                    <a:effectLst/>
                    <a:latin typeface="Fd2561963-Identity-H"/>
                  </a:rPr>
                  <a:t>в</a:t>
                </a:r>
                <a:r>
                  <a:rPr lang="ru-RU" sz="1800" dirty="0">
                    <a:effectLst/>
                    <a:latin typeface="Fd2561963-Identity-H"/>
                  </a:rPr>
                  <a:t>. </a:t>
                </a:r>
                <a:r>
                  <a:rPr lang="ru-RU" sz="1800" dirty="0">
                    <a:effectLst/>
                    <a:latin typeface="Fd1785535-Identity-H"/>
                  </a:rPr>
                  <a:t>Этот процесс может быть повторен </a:t>
                </a:r>
                <a:r>
                  <a:rPr lang="en" sz="1800" dirty="0">
                    <a:effectLst/>
                    <a:latin typeface="Fd2561963-Identity-H"/>
                  </a:rPr>
                  <a:t>L </a:t>
                </a:r>
                <a:r>
                  <a:rPr lang="ru-RU" sz="1800" dirty="0">
                    <a:effectLst/>
                    <a:latin typeface="Fd1785535-Identity-H"/>
                  </a:rPr>
                  <a:t>раз для генера­ции </a:t>
                </a:r>
                <a:r>
                  <a:rPr lang="en" sz="1800" dirty="0">
                    <a:effectLst/>
                    <a:latin typeface="Fd2561963-Identity-H"/>
                  </a:rPr>
                  <a:t>L </a:t>
                </a:r>
                <a:r>
                  <a:rPr lang="ru-RU" sz="1800" dirty="0">
                    <a:effectLst/>
                    <a:latin typeface="Fd1785535-Identity-H"/>
                  </a:rPr>
                  <a:t>наборов данных, содержащих по </a:t>
                </a:r>
                <a:r>
                  <a:rPr lang="en" sz="1800" dirty="0">
                    <a:effectLst/>
                    <a:latin typeface="Fd34424-Identity-H"/>
                  </a:rPr>
                  <a:t>N</a:t>
                </a:r>
                <a:r>
                  <a:rPr lang="ru-RU" sz="1800" dirty="0">
                    <a:effectLst/>
                    <a:latin typeface="Fd34424-Identity-H"/>
                  </a:rPr>
                  <a:t> </a:t>
                </a:r>
                <a:r>
                  <a:rPr lang="ru-RU" sz="1800" dirty="0">
                    <a:effectLst/>
                    <a:latin typeface="Fd1785535-Identity-H"/>
                  </a:rPr>
                  <a:t>точек, и каждый из них получается пу­тем выбора из исходного набора данных</a:t>
                </a:r>
                <a:r>
                  <a:rPr lang="en-US" sz="1800">
                    <a:effectLst/>
                    <a:latin typeface="Fd1785535-Identity-H"/>
                  </a:rPr>
                  <a:t>. </a:t>
                </a:r>
                <a:r>
                  <a:rPr lang="ru-RU" sz="1800">
                    <a:effectLst/>
                    <a:latin typeface="Fd1785535-Identity-H"/>
                  </a:rPr>
                  <a:t>Статистическую </a:t>
                </a:r>
                <a:r>
                  <a:rPr lang="ru-RU" sz="1800" dirty="0">
                    <a:effectLst/>
                    <a:latin typeface="Fd1785535-Identity-H"/>
                  </a:rPr>
                  <a:t>точность оценок параметров можно определить, посмотрев на изменчивость предсказаний между различными наборами данными.</a:t>
                </a:r>
                <a:endParaRPr lang="ru-RU" dirty="0"/>
              </a:p>
              <a:p>
                <a:endParaRPr lang="ru-RU" dirty="0"/>
              </a:p>
              <a:p>
                <a:endParaRPr lang="ru-RU" dirty="0"/>
              </a:p>
            </p:txBody>
          </p:sp>
        </mc:Choice>
        <mc:Fallback xmlns="">
          <p:sp>
            <p:nvSpPr>
              <p:cNvPr id="3" name="Объект 2">
                <a:extLst>
                  <a:ext uri="{FF2B5EF4-FFF2-40B4-BE49-F238E27FC236}">
                    <a16:creationId xmlns:a16="http://schemas.microsoft.com/office/drawing/2014/main" id="{CEEEF480-1B4B-3E41-90EF-E90636884C9D}"/>
                  </a:ext>
                </a:extLst>
              </p:cNvPr>
              <p:cNvSpPr>
                <a:spLocks noGrp="1" noRot="1" noChangeAspect="1" noMove="1" noResize="1" noEditPoints="1" noAdjustHandles="1" noChangeArrowheads="1" noChangeShapeType="1" noTextEdit="1"/>
              </p:cNvSpPr>
              <p:nvPr>
                <p:ph idx="1"/>
              </p:nvPr>
            </p:nvSpPr>
            <p:spPr>
              <a:blipFill>
                <a:blip r:embed="rId2"/>
                <a:stretch>
                  <a:fillRect l="-463" t="-1120" r="-1080"/>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1B7502D-4BCF-8243-8F24-AD909FAF7101}"/>
              </a:ext>
            </a:extLst>
          </p:cNvPr>
          <p:cNvSpPr>
            <a:spLocks noGrp="1"/>
          </p:cNvSpPr>
          <p:nvPr>
            <p:ph type="sldNum" sz="quarter" idx="12"/>
          </p:nvPr>
        </p:nvSpPr>
        <p:spPr/>
        <p:txBody>
          <a:bodyPr/>
          <a:lstStyle/>
          <a:p>
            <a:fld id="{38237106-F2ED-405E-BC33-CC3CF426205F}" type="slidenum">
              <a:rPr lang="en-US" smtClean="0"/>
              <a:pPr/>
              <a:t>35</a:t>
            </a:fld>
            <a:endParaRPr lang="en-US"/>
          </a:p>
        </p:txBody>
      </p:sp>
    </p:spTree>
    <p:extLst>
      <p:ext uri="{BB962C8B-B14F-4D97-AF65-F5344CB8AC3E}">
        <p14:creationId xmlns:p14="http://schemas.microsoft.com/office/powerpoint/2010/main" val="38411191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565F59-9EFA-E34D-99D2-EAADFEEE459E}"/>
              </a:ext>
            </a:extLst>
          </p:cNvPr>
          <p:cNvSpPr>
            <a:spLocks noGrp="1"/>
          </p:cNvSpPr>
          <p:nvPr>
            <p:ph type="title"/>
          </p:nvPr>
        </p:nvSpPr>
        <p:spPr/>
        <p:txBody>
          <a:bodyPr/>
          <a:lstStyle/>
          <a:p>
            <a:r>
              <a:rPr lang="ru-RU" dirty="0"/>
              <a:t>Задача +1 балл</a:t>
            </a:r>
          </a:p>
        </p:txBody>
      </p:sp>
      <p:sp>
        <p:nvSpPr>
          <p:cNvPr id="3" name="Объект 2">
            <a:extLst>
              <a:ext uri="{FF2B5EF4-FFF2-40B4-BE49-F238E27FC236}">
                <a16:creationId xmlns:a16="http://schemas.microsoft.com/office/drawing/2014/main" id="{9163BAFC-9A61-894A-8C4B-439889FFF8A2}"/>
              </a:ext>
            </a:extLst>
          </p:cNvPr>
          <p:cNvSpPr>
            <a:spLocks noGrp="1"/>
          </p:cNvSpPr>
          <p:nvPr>
            <p:ph idx="1"/>
          </p:nvPr>
        </p:nvSpPr>
        <p:spPr/>
        <p:txBody>
          <a:bodyPr/>
          <a:lstStyle/>
          <a:p>
            <a:pPr marL="0" indent="0">
              <a:spcBef>
                <a:spcPts val="900"/>
              </a:spcBef>
              <a:spcAft>
                <a:spcPts val="900"/>
              </a:spcAft>
              <a:buNone/>
            </a:pPr>
            <a:r>
              <a:rPr lang="ru-RU" dirty="0">
                <a:latin typeface="Fd1785535-Identity-H"/>
              </a:rPr>
              <a:t>М</a:t>
            </a:r>
            <a:r>
              <a:rPr lang="ru-RU" sz="3200" dirty="0">
                <a:effectLst/>
                <a:latin typeface="Fd1785535-Identity-H"/>
              </a:rPr>
              <a:t>онета бросается три раза и каждый раз выпадает орел. Какова вероятность получить орла в четвертом броске? </a:t>
            </a:r>
          </a:p>
          <a:p>
            <a:pPr marL="0" indent="0">
              <a:spcBef>
                <a:spcPts val="900"/>
              </a:spcBef>
              <a:spcAft>
                <a:spcPts val="900"/>
              </a:spcAft>
              <a:buNone/>
            </a:pPr>
            <a:r>
              <a:rPr lang="ru-RU" sz="3200" b="1" dirty="0">
                <a:latin typeface="Fd1785535-Identity-H"/>
              </a:rPr>
              <a:t>Не стесняйтесь задавать уточняющие вопросы</a:t>
            </a:r>
            <a:r>
              <a:rPr lang="en-US" sz="3200" b="1" dirty="0">
                <a:latin typeface="Fd1785535-Identity-H"/>
              </a:rPr>
              <a:t> </a:t>
            </a:r>
            <a:r>
              <a:rPr lang="ru-RU" sz="3200" b="1" dirty="0">
                <a:latin typeface="Fd1785535-Identity-H"/>
              </a:rPr>
              <a:t>от них многое зависит. </a:t>
            </a:r>
            <a:endParaRPr lang="ru-RU" sz="3200" b="1" dirty="0">
              <a:effectLst/>
              <a:latin typeface="Fd1785535-Identity-H"/>
            </a:endParaRPr>
          </a:p>
          <a:p>
            <a:pPr marL="0" indent="0">
              <a:buNone/>
            </a:pPr>
            <a:endParaRPr lang="ru-RU" dirty="0"/>
          </a:p>
        </p:txBody>
      </p:sp>
      <p:sp>
        <p:nvSpPr>
          <p:cNvPr id="4" name="Номер слайда 3">
            <a:extLst>
              <a:ext uri="{FF2B5EF4-FFF2-40B4-BE49-F238E27FC236}">
                <a16:creationId xmlns:a16="http://schemas.microsoft.com/office/drawing/2014/main" id="{A7DA4CAB-49DD-F548-9ACD-6B9C086979B0}"/>
              </a:ext>
            </a:extLst>
          </p:cNvPr>
          <p:cNvSpPr>
            <a:spLocks noGrp="1"/>
          </p:cNvSpPr>
          <p:nvPr>
            <p:ph type="sldNum" sz="quarter" idx="12"/>
          </p:nvPr>
        </p:nvSpPr>
        <p:spPr/>
        <p:txBody>
          <a:bodyPr/>
          <a:lstStyle/>
          <a:p>
            <a:fld id="{38237106-F2ED-405E-BC33-CC3CF426205F}" type="slidenum">
              <a:rPr lang="en-US" smtClean="0"/>
              <a:pPr/>
              <a:t>36</a:t>
            </a:fld>
            <a:endParaRPr lang="en-US"/>
          </a:p>
        </p:txBody>
      </p:sp>
    </p:spTree>
    <p:extLst>
      <p:ext uri="{BB962C8B-B14F-4D97-AF65-F5344CB8AC3E}">
        <p14:creationId xmlns:p14="http://schemas.microsoft.com/office/powerpoint/2010/main" val="38668543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0BB49D9-F0F9-6B47-B299-F6A67A0C37EC}"/>
              </a:ext>
            </a:extLst>
          </p:cNvPr>
          <p:cNvSpPr>
            <a:spLocks noGrp="1"/>
          </p:cNvSpPr>
          <p:nvPr>
            <p:ph type="title"/>
          </p:nvPr>
        </p:nvSpPr>
        <p:spPr/>
        <p:txBody>
          <a:bodyPr/>
          <a:lstStyle/>
          <a:p>
            <a:r>
              <a:rPr lang="ru-RU" dirty="0"/>
              <a:t>Нормальное распределение</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FD0F3814-EA33-EA42-9DD9-12FA1C332FE3}"/>
                  </a:ext>
                </a:extLst>
              </p:cNvPr>
              <p:cNvSpPr>
                <a:spLocks noGrp="1"/>
              </p:cNvSpPr>
              <p:nvPr>
                <p:ph idx="1"/>
              </p:nvPr>
            </p:nvSpPr>
            <p:spPr>
              <a:xfrm>
                <a:off x="457200" y="1600200"/>
                <a:ext cx="4288420" cy="4525963"/>
              </a:xfrm>
            </p:spPr>
            <p:txBody>
              <a:bodyPr>
                <a:normAutofit fontScale="92500" lnSpcReduction="10000"/>
              </a:bodyPr>
              <a:lstStyle/>
              <a:p>
                <a:pPr marL="0" indent="0">
                  <a:buNone/>
                </a:pPr>
                <a14:m>
                  <m:oMathPara xmlns:m="http://schemas.openxmlformats.org/officeDocument/2006/math">
                    <m:oMathParaPr>
                      <m:jc m:val="centerGroup"/>
                    </m:oMathParaPr>
                    <m:oMath xmlns:m="http://schemas.openxmlformats.org/officeDocument/2006/math">
                      <m:r>
                        <a:rPr lang="ru-RU" sz="1800" i="1" smtClean="0">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oMath>
                  </m:oMathPara>
                </a14:m>
                <a:endParaRPr lang="ru-RU" sz="1800" dirty="0">
                  <a:effectLst/>
                  <a:ea typeface="Aptos" panose="020B0004020202020204" pitchFamily="34" charset="0"/>
                  <a:cs typeface="Times New Roman" panose="02020603050405020304" pitchFamily="18" charset="0"/>
                </a:endParaRPr>
              </a:p>
              <a:p>
                <a:pPr marL="0" indent="0">
                  <a:buNone/>
                </a:pPr>
                <a:r>
                  <a:rPr lang="ru-RU" sz="1800" dirty="0">
                    <a:effectLst/>
                    <a:ea typeface="Aptos" panose="020B0004020202020204" pitchFamily="34" charset="0"/>
                    <a:cs typeface="Times New Roman" panose="02020603050405020304" pitchFamily="18" charset="0"/>
                  </a:rPr>
                  <a:t>Предположим, у нас есть набор данных наблюдений,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i="1">
                            <a:effectLst/>
                            <a:latin typeface="Cambria Math" panose="020405030504060302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i="1">
                            <a:effectLst/>
                            <a:latin typeface="Cambria Math" panose="020405030504060302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b>
                    </m:sSub>
                    <m:sSup>
                      <m:sSupPr>
                        <m:ctrlPr>
                          <a:rPr lang="ru-RU" i="1">
                            <a:effectLst/>
                            <a:latin typeface="Cambria Math" panose="020405030504060302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m:rPr>
                            <m:nor/>
                          </m:rPr>
                          <a:rPr lang="ru-RU" sz="1800">
                            <a:effectLst/>
                            <a:ea typeface="Aptos" panose="020B0004020202020204" pitchFamily="34" charset="0"/>
                            <a:cs typeface="Times New Roman" panose="02020603050405020304" pitchFamily="18" charset="0"/>
                          </a:rPr>
                          <m:t>T</m:t>
                        </m:r>
                      </m:sup>
                    </m:sSup>
                  </m:oMath>
                </a14:m>
                <a:r>
                  <a:rPr lang="ru-RU" sz="1800" dirty="0">
                    <a:effectLst/>
                    <a:ea typeface="Aptos" panose="020B0004020202020204" pitchFamily="34" charset="0"/>
                    <a:cs typeface="Times New Roman" panose="02020603050405020304" pitchFamily="18" charset="0"/>
                  </a:rPr>
                  <a:t> полученных независимо из </a:t>
                </a:r>
                <a:r>
                  <a:rPr lang="ru-RU" sz="1800" dirty="0" err="1">
                    <a:effectLst/>
                    <a:ea typeface="Aptos" panose="020B0004020202020204" pitchFamily="34" charset="0"/>
                    <a:cs typeface="Times New Roman" panose="02020603050405020304" pitchFamily="18" charset="0"/>
                  </a:rPr>
                  <a:t>гауссовского</a:t>
                </a:r>
                <a:r>
                  <a:rPr lang="ru-RU" sz="1800" dirty="0">
                    <a:effectLst/>
                    <a:ea typeface="Aptos" panose="020B0004020202020204" pitchFamily="34" charset="0"/>
                    <a:cs typeface="Times New Roman" panose="02020603050405020304" pitchFamily="18" charset="0"/>
                  </a:rPr>
                  <a:t> распределения. Точки данных, полученные независимо из одного и того же распределения, </a:t>
                </a:r>
                <a:r>
                  <a:rPr lang="ru-RU" sz="1800" dirty="0">
                    <a:ea typeface="Aptos" panose="020B0004020202020204" pitchFamily="34" charset="0"/>
                    <a:cs typeface="Times New Roman" panose="02020603050405020304" pitchFamily="18" charset="0"/>
                  </a:rPr>
                  <a:t>называются независимыми и одинаково распределёнными.</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данные независимы, функция правдоподобия одномерного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выглядит следующим образом:</a:t>
                </a:r>
              </a:p>
              <a:p>
                <a:pPr marL="0" indent="0">
                  <a:buNone/>
                </a:pPr>
                <a14:m>
                  <m:oMathPara xmlns:m="http://schemas.openxmlformats.org/officeDocument/2006/math">
                    <m:oMathParaPr>
                      <m:jc m:val="centerGroup"/>
                    </m:oMathParaPr>
                    <m:oMath xmlns:m="http://schemas.openxmlformats.org/officeDocument/2006/math">
                      <m:r>
                        <a:rPr lang="ru-RU" sz="1500" i="1">
                          <a:effectLst/>
                          <a:latin typeface="Cambria Math" panose="02040503050406030204" pitchFamily="18" charset="0"/>
                          <a:ea typeface="Aptos" panose="020B0004020202020204" pitchFamily="34" charset="0"/>
                          <a:cs typeface="Times New Roman" panose="02020603050405020304" pitchFamily="18" charset="0"/>
                        </a:rPr>
                        <m:t>𝑝</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𝗑</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𝜇</m:t>
                      </m:r>
                      <m:r>
                        <a:rPr lang="ru-RU" sz="15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600" i="1">
                              <a:effectLst/>
                              <a:latin typeface="Cambria Math" panose="02040503050406030204" pitchFamily="18" charset="0"/>
                            </a:rPr>
                          </m:ctrlPr>
                        </m:sSupPr>
                        <m:e>
                          <m:r>
                            <a:rPr lang="ru-RU" sz="15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5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5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2600" i="1">
                              <a:effectLst/>
                              <a:latin typeface="Cambria Math" panose="02040503050406030204" pitchFamily="18" charset="0"/>
                            </a:rPr>
                          </m:ctrlPr>
                        </m:naryPr>
                        <m:sub>
                          <m:r>
                            <a:rPr lang="ru-RU" sz="1500" i="1">
                              <a:effectLst/>
                              <a:latin typeface="Cambria Math" panose="02040503050406030204" pitchFamily="18" charset="0"/>
                              <a:ea typeface="Aptos" panose="020B0004020202020204" pitchFamily="34" charset="0"/>
                              <a:cs typeface="Times New Roman" panose="02020603050405020304" pitchFamily="18" charset="0"/>
                            </a:rPr>
                            <m:t>𝑛</m:t>
                          </m:r>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5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500" i="1">
                              <a:effectLst/>
                              <a:latin typeface="Cambria Math" panose="02040503050406030204" pitchFamily="18" charset="0"/>
                              <a:ea typeface="Aptos" panose="020B0004020202020204" pitchFamily="34" charset="0"/>
                              <a:cs typeface="Times New Roman" panose="02020603050405020304" pitchFamily="18" charset="0"/>
                            </a:rPr>
                            <m:t>𝒩</m:t>
                          </m:r>
                        </m:e>
                      </m:nary>
                      <m:r>
                        <a:rPr lang="ru-RU" sz="15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2600" i="1">
                              <a:effectLst/>
                              <a:latin typeface="Cambria Math" panose="02040503050406030204" pitchFamily="18" charset="0"/>
                            </a:rPr>
                          </m:ctrlPr>
                        </m:sSubPr>
                        <m:e>
                          <m:r>
                            <a:rPr lang="ru-RU" sz="15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5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500">
                          <a:effectLst/>
                          <a:latin typeface="Cambria Math" panose="02040503050406030204" pitchFamily="18" charset="0"/>
                          <a:ea typeface="Aptos" panose="020B0004020202020204" pitchFamily="34" charset="0"/>
                          <a:cs typeface="Times New Roman" panose="02020603050405020304" pitchFamily="18" charset="0"/>
                        </a:rPr>
                        <m:t>|</m:t>
                      </m:r>
                      <m:r>
                        <a:rPr lang="ru-RU" sz="1500" i="1">
                          <a:effectLst/>
                          <a:latin typeface="Cambria Math" panose="02040503050406030204" pitchFamily="18" charset="0"/>
                          <a:ea typeface="Aptos" panose="020B0004020202020204" pitchFamily="34" charset="0"/>
                          <a:cs typeface="Times New Roman" panose="02020603050405020304" pitchFamily="18" charset="0"/>
                        </a:rPr>
                        <m:t>𝜇</m:t>
                      </m:r>
                      <m:r>
                        <a:rPr lang="ru-RU" sz="15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2600" i="1">
                              <a:effectLst/>
                              <a:latin typeface="Cambria Math" panose="02040503050406030204" pitchFamily="18" charset="0"/>
                            </a:rPr>
                          </m:ctrlPr>
                        </m:sSupPr>
                        <m:e>
                          <m:r>
                            <a:rPr lang="ru-RU" sz="15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5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5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4300" dirty="0"/>
              </a:p>
            </p:txBody>
          </p:sp>
        </mc:Choice>
        <mc:Fallback xmlns="">
          <p:sp>
            <p:nvSpPr>
              <p:cNvPr id="3" name="Объект 2">
                <a:extLst>
                  <a:ext uri="{FF2B5EF4-FFF2-40B4-BE49-F238E27FC236}">
                    <a16:creationId xmlns:a16="http://schemas.microsoft.com/office/drawing/2014/main" id="{FD0F3814-EA33-EA42-9DD9-12FA1C332FE3}"/>
                  </a:ext>
                </a:extLst>
              </p:cNvPr>
              <p:cNvSpPr>
                <a:spLocks noGrp="1" noRot="1" noChangeAspect="1" noMove="1" noResize="1" noEditPoints="1" noAdjustHandles="1" noChangeArrowheads="1" noChangeShapeType="1" noTextEdit="1"/>
              </p:cNvSpPr>
              <p:nvPr>
                <p:ph idx="1"/>
              </p:nvPr>
            </p:nvSpPr>
            <p:spPr>
              <a:xfrm>
                <a:off x="457200" y="1600200"/>
                <a:ext cx="4288420" cy="4525963"/>
              </a:xfrm>
              <a:blipFill>
                <a:blip r:embed="rId2"/>
                <a:stretch>
                  <a:fillRect l="-888" r="-1775" b="-3949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9499FF8-7A54-7A4D-B8F4-B632496196FC}"/>
              </a:ext>
            </a:extLst>
          </p:cNvPr>
          <p:cNvSpPr>
            <a:spLocks noGrp="1"/>
          </p:cNvSpPr>
          <p:nvPr>
            <p:ph type="sldNum" sz="quarter" idx="12"/>
          </p:nvPr>
        </p:nvSpPr>
        <p:spPr/>
        <p:txBody>
          <a:bodyPr/>
          <a:lstStyle/>
          <a:p>
            <a:fld id="{38237106-F2ED-405E-BC33-CC3CF426205F}" type="slidenum">
              <a:rPr lang="en-US" smtClean="0"/>
              <a:pPr/>
              <a:t>37</a:t>
            </a:fld>
            <a:endParaRPr lang="en-US"/>
          </a:p>
        </p:txBody>
      </p:sp>
      <p:pic>
        <p:nvPicPr>
          <p:cNvPr id="5" name="Picture" descr="png">
            <a:extLst>
              <a:ext uri="{FF2B5EF4-FFF2-40B4-BE49-F238E27FC236}">
                <a16:creationId xmlns:a16="http://schemas.microsoft.com/office/drawing/2014/main" id="{8557B8CC-A274-1C44-8FE4-D56196575F9F}"/>
              </a:ext>
            </a:extLst>
          </p:cNvPr>
          <p:cNvPicPr/>
          <p:nvPr/>
        </p:nvPicPr>
        <p:blipFill>
          <a:blip r:embed="rId3"/>
          <a:stretch>
            <a:fillRect/>
          </a:stretch>
        </p:blipFill>
        <p:spPr bwMode="auto">
          <a:xfrm>
            <a:off x="4898609" y="2743200"/>
            <a:ext cx="3922640" cy="2659284"/>
          </a:xfrm>
          <a:prstGeom prst="rect">
            <a:avLst/>
          </a:prstGeom>
          <a:noFill/>
          <a:ln w="9525">
            <a:noFill/>
            <a:headEnd/>
            <a:tailEnd/>
          </a:ln>
        </p:spPr>
      </p:pic>
    </p:spTree>
    <p:extLst>
      <p:ext uri="{BB962C8B-B14F-4D97-AF65-F5344CB8AC3E}">
        <p14:creationId xmlns:p14="http://schemas.microsoft.com/office/powerpoint/2010/main" val="36099920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C1A90E7C-8674-0C4E-9509-2E21E631FF83}"/>
                  </a:ext>
                </a:extLst>
              </p:cNvPr>
              <p:cNvSpPr>
                <a:spLocks noGrp="1"/>
              </p:cNvSpPr>
              <p:nvPr>
                <p:ph type="title"/>
              </p:nvPr>
            </p:nvSpPr>
            <p:spPr>
              <a:xfrm>
                <a:off x="457200" y="274638"/>
                <a:ext cx="8229600" cy="697635"/>
              </a:xfrm>
            </p:spPr>
            <p:txBody>
              <a:bodyPr>
                <a:normAutofit fontScale="90000"/>
              </a:bodyPr>
              <a:lstStyle/>
              <a:p>
                <a:r>
                  <a:rPr lang="ru-RU" dirty="0"/>
                  <a:t>Нахождение параметров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𝜇</m:t>
                    </m:r>
                    <m:r>
                      <a:rPr lang="ru-RU" sz="44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6600" i="1">
                            <a:effectLst/>
                            <a:latin typeface="Cambria Math" panose="02040503050406030204" pitchFamily="18" charset="0"/>
                          </a:rPr>
                        </m:ctrlPr>
                      </m:sSupPr>
                      <m:e>
                        <m:r>
                          <a:rPr lang="ru-RU" sz="44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44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dirty="0"/>
              </a:p>
            </p:txBody>
          </p:sp>
        </mc:Choice>
        <mc:Fallback xmlns="">
          <p:sp>
            <p:nvSpPr>
              <p:cNvPr id="2" name="Заголовок 1">
                <a:extLst>
                  <a:ext uri="{FF2B5EF4-FFF2-40B4-BE49-F238E27FC236}">
                    <a16:creationId xmlns:a16="http://schemas.microsoft.com/office/drawing/2014/main" id="{C1A90E7C-8674-0C4E-9509-2E21E631FF83}"/>
                  </a:ext>
                </a:extLst>
              </p:cNvPr>
              <p:cNvSpPr>
                <a:spLocks noGrp="1" noRot="1" noChangeAspect="1" noMove="1" noResize="1" noEditPoints="1" noAdjustHandles="1" noChangeArrowheads="1" noChangeShapeType="1" noTextEdit="1"/>
              </p:cNvSpPr>
              <p:nvPr>
                <p:ph type="title"/>
              </p:nvPr>
            </p:nvSpPr>
            <p:spPr>
              <a:xfrm>
                <a:off x="457200" y="274638"/>
                <a:ext cx="8229600" cy="697635"/>
              </a:xfrm>
              <a:blipFill>
                <a:blip r:embed="rId2"/>
                <a:stretch>
                  <a:fillRect t="-14286" b="-39286"/>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1EF09B1-069E-7442-B239-D54A0F9D9E0C}"/>
                  </a:ext>
                </a:extLst>
              </p:cNvPr>
              <p:cNvSpPr>
                <a:spLocks noGrp="1"/>
              </p:cNvSpPr>
              <p:nvPr>
                <p:ph idx="1"/>
              </p:nvPr>
            </p:nvSpPr>
            <p:spPr>
              <a:xfrm>
                <a:off x="457200" y="1111170"/>
                <a:ext cx="5862578" cy="5014993"/>
              </a:xfrm>
            </p:spPr>
            <p:txBody>
              <a:bodyPr>
                <a:normAutofit fontScale="70000" lnSpcReduction="200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Д</a:t>
                </a:r>
                <a:r>
                  <a:rPr lang="ru-RU" sz="1800" dirty="0">
                    <a:effectLst/>
                    <a:latin typeface="Aptos" panose="020B0004020202020204" pitchFamily="34" charset="0"/>
                    <a:ea typeface="Aptos" panose="020B0004020202020204" pitchFamily="34" charset="0"/>
                    <a:cs typeface="Times New Roman" panose="02020603050405020304" pitchFamily="18" charset="0"/>
                  </a:rPr>
                  <a:t>ля нахождения неизвестных параметров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 </a:t>
                </a:r>
                <a14:m>
                  <m:oMath xmlns:m="http://schemas.openxmlformats.org/officeDocument/2006/math">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необходимо использовать наблюдаемый набор данных и найти значения параметров, </a:t>
                </a:r>
                <a:r>
                  <a:rPr lang="ru-RU" sz="1800" dirty="0" err="1">
                    <a:effectLst/>
                    <a:latin typeface="Aptos" panose="020B0004020202020204" pitchFamily="34" charset="0"/>
                    <a:ea typeface="Aptos" panose="020B0004020202020204" pitchFamily="34" charset="0"/>
                    <a:cs typeface="Times New Roman" panose="02020603050405020304" pitchFamily="18" charset="0"/>
                  </a:rPr>
                  <a:t>максимизирующие</a:t>
                </a:r>
                <a:r>
                  <a:rPr lang="ru-RU" sz="1800" dirty="0">
                    <a:effectLst/>
                    <a:latin typeface="Aptos" panose="020B0004020202020204" pitchFamily="34" charset="0"/>
                    <a:ea typeface="Aptos" panose="020B0004020202020204" pitchFamily="34" charset="0"/>
                    <a:cs typeface="Times New Roman" panose="02020603050405020304" pitchFamily="18" charset="0"/>
                  </a:rPr>
                  <a:t> функцию правдоподобия. Логарифмическую функцию правдоподобия можно записать следующим образом:</a:t>
                </a:r>
              </a:p>
              <a:p>
                <a:pPr>
                  <a:spcBef>
                    <a:spcPts val="900"/>
                  </a:spcBef>
                  <a:spcAft>
                    <a:spcPts val="900"/>
                  </a:spcAft>
                </a:pPr>
                <a14:m>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sty m:val="p"/>
                          </m:rPr>
                          <a:rPr lang="ru-RU" sz="1800">
                            <a:latin typeface="Cambria Math" panose="02040503050406030204" pitchFamily="18" charset="0"/>
                            <a:ea typeface="Aptos" panose="020B0004020202020204" pitchFamily="34" charset="0"/>
                            <a:cs typeface="Times New Roman" panose="02020603050405020304" pitchFamily="18" charset="0"/>
                          </a:rPr>
                          <m:t>ln</m:t>
                        </m:r>
                        <m:r>
                          <a:rPr lang="ru-RU" sz="1800" i="1">
                            <a:latin typeface="Cambria Math" panose="02040503050406030204" pitchFamily="18" charset="0"/>
                            <a:ea typeface="Aptos" panose="020B0004020202020204" pitchFamily="34" charset="0"/>
                            <a:cs typeface="Times New Roman" panose="02020603050405020304" pitchFamily="18" charset="0"/>
                          </a:rPr>
                          <m:t>𝑝</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𝗑</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𝜇</m:t>
                        </m:r>
                        <m:r>
                          <a:rPr lang="ru-RU" sz="1800">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latin typeface="Cambria Math" panose="02040503050406030204" pitchFamily="18" charset="0"/>
                                <a:ea typeface="Aptos" panose="020B0004020202020204" pitchFamily="34" charset="0"/>
                                <a:cs typeface="Times New Roman" panose="02020603050405020304" pitchFamily="18" charset="0"/>
                              </a:rPr>
                            </m:ctrlPr>
                          </m:sSupPr>
                          <m:e>
                            <m:r>
                              <a:rPr lang="ru-RU" sz="1800" i="1">
                                <a:latin typeface="Cambria Math" panose="02040503050406030204" pitchFamily="18" charset="0"/>
                                <a:ea typeface="Aptos" panose="020B0004020202020204" pitchFamily="34" charset="0"/>
                                <a:cs typeface="Times New Roman" panose="02020603050405020304" pitchFamily="18" charset="0"/>
                              </a:rPr>
                              <m:t>𝜎</m:t>
                            </m:r>
                          </m:e>
                          <m:sup>
                            <m:r>
                              <a:rPr lang="ru-RU" sz="1800" i="1">
                                <a:latin typeface="Cambria Math" panose="02040503050406030204" pitchFamily="18" charset="0"/>
                                <a:ea typeface="Aptos" panose="020B0004020202020204" pitchFamily="34" charset="0"/>
                                <a:cs typeface="Times New Roman" panose="02020603050405020304" pitchFamily="18" charset="0"/>
                              </a:rPr>
                              <m:t>2</m:t>
                            </m:r>
                          </m:sup>
                        </m:sSup>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&amp;</m:t>
                        </m:r>
                        <m:r>
                          <a:rPr lang="ru-RU" sz="1800">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b="0" i="1" smtClean="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e>
                        </m:nary>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e>
                        </m:d>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d>
                        <m:r>
                          <a:rPr lang="ru-RU"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limUpp>
                          <m:limUp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limUp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li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lim>
                        </m:limUpp>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limUpp>
                          <m:limUp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limUp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lim>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lim>
                        </m:limUp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latin typeface="Aptos" panose="020B0004020202020204" pitchFamily="34" charset="0"/>
                    <a:ea typeface="Aptos" panose="020B0004020202020204" pitchFamily="34" charset="0"/>
                    <a:cs typeface="Times New Roman" panose="02020603050405020304" pitchFamily="18" charset="0"/>
                  </a:rPr>
                  <a:t>О</a:t>
                </a:r>
                <a:r>
                  <a:rPr lang="ru-RU" sz="1800" dirty="0">
                    <a:effectLst/>
                    <a:latin typeface="Aptos" panose="020B0004020202020204" pitchFamily="34" charset="0"/>
                    <a:ea typeface="Aptos" panose="020B0004020202020204" pitchFamily="34" charset="0"/>
                    <a:cs typeface="Times New Roman" panose="02020603050405020304" pitchFamily="18" charset="0"/>
                  </a:rPr>
                  <a:t>трицательный логарифм функции правдоподобия называется функцией ошибки. </a:t>
                </a: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отрицательный логарифм — монотонно убывающая функция, максимизация правдоподобия эквивалентна минимизации ошибки.</a:t>
                </a:r>
                <a:endParaRPr lang="ru-RU" dirty="0"/>
              </a:p>
            </p:txBody>
          </p:sp>
        </mc:Choice>
        <mc:Fallback xmlns="">
          <p:sp>
            <p:nvSpPr>
              <p:cNvPr id="3" name="Объект 2">
                <a:extLst>
                  <a:ext uri="{FF2B5EF4-FFF2-40B4-BE49-F238E27FC236}">
                    <a16:creationId xmlns:a16="http://schemas.microsoft.com/office/drawing/2014/main" id="{D1EF09B1-069E-7442-B239-D54A0F9D9E0C}"/>
                  </a:ext>
                </a:extLst>
              </p:cNvPr>
              <p:cNvSpPr>
                <a:spLocks noGrp="1" noRot="1" noChangeAspect="1" noMove="1" noResize="1" noEditPoints="1" noAdjustHandles="1" noChangeArrowheads="1" noChangeShapeType="1" noTextEdit="1"/>
              </p:cNvSpPr>
              <p:nvPr>
                <p:ph idx="1"/>
              </p:nvPr>
            </p:nvSpPr>
            <p:spPr>
              <a:xfrm>
                <a:off x="457200" y="1111170"/>
                <a:ext cx="5862578" cy="5014993"/>
              </a:xfrm>
              <a:blipFill>
                <a:blip r:embed="rId3"/>
                <a:stretch>
                  <a:fillRect l="-216" t="-758"/>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5CD5C69-4DB4-E449-A075-D98C239331A6}"/>
              </a:ext>
            </a:extLst>
          </p:cNvPr>
          <p:cNvSpPr>
            <a:spLocks noGrp="1"/>
          </p:cNvSpPr>
          <p:nvPr>
            <p:ph type="sldNum" sz="quarter" idx="12"/>
          </p:nvPr>
        </p:nvSpPr>
        <p:spPr/>
        <p:txBody>
          <a:bodyPr/>
          <a:lstStyle/>
          <a:p>
            <a:fld id="{38237106-F2ED-405E-BC33-CC3CF426205F}" type="slidenum">
              <a:rPr lang="en-US" smtClean="0"/>
              <a:pPr/>
              <a:t>38</a:t>
            </a:fld>
            <a:endParaRPr lang="en-US"/>
          </a:p>
        </p:txBody>
      </p:sp>
      <p:pic>
        <p:nvPicPr>
          <p:cNvPr id="5" name="Picture" descr="png">
            <a:extLst>
              <a:ext uri="{FF2B5EF4-FFF2-40B4-BE49-F238E27FC236}">
                <a16:creationId xmlns:a16="http://schemas.microsoft.com/office/drawing/2014/main" id="{398BEB8C-BCC3-2D4E-9246-9455C50F6BC3}"/>
              </a:ext>
            </a:extLst>
          </p:cNvPr>
          <p:cNvPicPr/>
          <p:nvPr/>
        </p:nvPicPr>
        <p:blipFill>
          <a:blip r:embed="rId4"/>
          <a:stretch>
            <a:fillRect/>
          </a:stretch>
        </p:blipFill>
        <p:spPr bwMode="auto">
          <a:xfrm>
            <a:off x="5862578" y="2103699"/>
            <a:ext cx="3281422" cy="2734519"/>
          </a:xfrm>
          <a:prstGeom prst="rect">
            <a:avLst/>
          </a:prstGeom>
          <a:noFill/>
          <a:ln w="9525">
            <a:noFill/>
            <a:headEnd/>
            <a:tailEnd/>
          </a:ln>
        </p:spPr>
      </p:pic>
    </p:spTree>
    <p:extLst>
      <p:ext uri="{BB962C8B-B14F-4D97-AF65-F5344CB8AC3E}">
        <p14:creationId xmlns:p14="http://schemas.microsoft.com/office/powerpoint/2010/main" val="19229866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666B3DA-0C14-A84E-AFCF-081004C7A28B}"/>
                  </a:ext>
                </a:extLst>
              </p:cNvPr>
              <p:cNvSpPr>
                <a:spLocks noGrp="1"/>
              </p:cNvSpPr>
              <p:nvPr>
                <p:ph idx="1"/>
              </p:nvPr>
            </p:nvSpPr>
            <p:spPr>
              <a:xfrm>
                <a:off x="457199" y="1600201"/>
                <a:ext cx="4114801" cy="4407060"/>
              </a:xfrm>
            </p:spPr>
            <p:txBody>
              <a:bodyPr>
                <a:normAutofit fontScale="70000" lnSpcReduction="20000"/>
              </a:bodyPr>
              <a:lstStyle/>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smtClean="0">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r>
                            <a:rPr lang="ru-RU" sz="1800">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e>
                          </m:nary>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a:spcBef>
                    <a:spcPts val="900"/>
                  </a:spcBef>
                  <a:spcAft>
                    <a:spcPts val="900"/>
                  </a:spcAft>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p:txBody>
          </p:sp>
        </mc:Choice>
        <mc:Fallback xmlns="">
          <p:sp>
            <p:nvSpPr>
              <p:cNvPr id="3" name="Объект 2">
                <a:extLst>
                  <a:ext uri="{FF2B5EF4-FFF2-40B4-BE49-F238E27FC236}">
                    <a16:creationId xmlns:a16="http://schemas.microsoft.com/office/drawing/2014/main" id="{D666B3DA-0C14-A84E-AFCF-081004C7A28B}"/>
                  </a:ext>
                </a:extLst>
              </p:cNvPr>
              <p:cNvSpPr>
                <a:spLocks noGrp="1" noRot="1" noChangeAspect="1" noMove="1" noResize="1" noEditPoints="1" noAdjustHandles="1" noChangeArrowheads="1" noChangeShapeType="1" noTextEdit="1"/>
              </p:cNvSpPr>
              <p:nvPr>
                <p:ph idx="1"/>
              </p:nvPr>
            </p:nvSpPr>
            <p:spPr>
              <a:xfrm>
                <a:off x="457199" y="1600201"/>
                <a:ext cx="4114801" cy="4407060"/>
              </a:xfrm>
              <a:blipFill>
                <a:blip r:embed="rId2"/>
                <a:stretch>
                  <a:fillRect l="-8333" t="-3458" b="-1383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EA230627-9B46-B74F-8659-DF4743E20FC4}"/>
              </a:ext>
            </a:extLst>
          </p:cNvPr>
          <p:cNvSpPr>
            <a:spLocks noGrp="1"/>
          </p:cNvSpPr>
          <p:nvPr>
            <p:ph type="sldNum" sz="quarter" idx="12"/>
          </p:nvPr>
        </p:nvSpPr>
        <p:spPr/>
        <p:txBody>
          <a:bodyPr/>
          <a:lstStyle/>
          <a:p>
            <a:fld id="{38237106-F2ED-405E-BC33-CC3CF426205F}" type="slidenum">
              <a:rPr lang="en-US" smtClean="0"/>
              <a:pPr/>
              <a:t>39</a:t>
            </a:fld>
            <a:endParaRPr lang="en-US" dirty="0"/>
          </a:p>
        </p:txBody>
      </p:sp>
      <mc:AlternateContent xmlns:mc="http://schemas.openxmlformats.org/markup-compatibility/2006" xmlns:a14="http://schemas.microsoft.com/office/drawing/2010/main">
        <mc:Choice Requires="a14">
          <p:sp>
            <p:nvSpPr>
              <p:cNvPr id="5" name="Заголовок 1">
                <a:extLst>
                  <a:ext uri="{FF2B5EF4-FFF2-40B4-BE49-F238E27FC236}">
                    <a16:creationId xmlns:a16="http://schemas.microsoft.com/office/drawing/2014/main" id="{79F8F430-6DBF-D841-97FB-7EDE9AE250BB}"/>
                  </a:ext>
                </a:extLst>
              </p:cNvPr>
              <p:cNvSpPr>
                <a:spLocks noGrp="1"/>
              </p:cNvSpPr>
              <p:nvPr>
                <p:ph type="title"/>
              </p:nvPr>
            </p:nvSpPr>
            <p:spPr/>
            <p:txBody>
              <a:bodyPr>
                <a:normAutofit/>
              </a:bodyPr>
              <a:lstStyle/>
              <a:p>
                <a:r>
                  <a:rPr lang="ru-RU" dirty="0"/>
                  <a:t>Нахождение параметров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𝜇</m:t>
                    </m:r>
                    <m:r>
                      <a:rPr lang="ru-RU" sz="44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6600" i="1">
                            <a:effectLst/>
                            <a:latin typeface="Cambria Math" panose="02040503050406030204" pitchFamily="18" charset="0"/>
                          </a:rPr>
                        </m:ctrlPr>
                      </m:sSupPr>
                      <m:e>
                        <m:r>
                          <a:rPr lang="ru-RU" sz="44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44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dirty="0"/>
              </a:p>
            </p:txBody>
          </p:sp>
        </mc:Choice>
        <mc:Fallback xmlns="">
          <p:sp>
            <p:nvSpPr>
              <p:cNvPr id="5" name="Заголовок 1">
                <a:extLst>
                  <a:ext uri="{FF2B5EF4-FFF2-40B4-BE49-F238E27FC236}">
                    <a16:creationId xmlns:a16="http://schemas.microsoft.com/office/drawing/2014/main" id="{79F8F430-6DBF-D841-97FB-7EDE9AE250BB}"/>
                  </a:ext>
                </a:extLst>
              </p:cNvPr>
              <p:cNvSpPr>
                <a:spLocks noGrp="1" noRot="1" noChangeAspect="1" noMove="1" noResize="1" noEditPoints="1" noAdjustHandles="1" noChangeArrowheads="1" noChangeShapeType="1" noTextEdit="1"/>
              </p:cNvSpPr>
              <p:nvPr>
                <p:ph type="title"/>
              </p:nvPr>
            </p:nvSpPr>
            <p:spPr>
              <a:blipFill>
                <a:blip r:embed="rId3"/>
                <a:stretch>
                  <a:fillRect b="-989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73208C6-BBC1-1340-A0BB-A50ECC6A6BDB}"/>
                  </a:ext>
                </a:extLst>
              </p:cNvPr>
              <p:cNvSpPr txBox="1"/>
              <p:nvPr/>
            </p:nvSpPr>
            <p:spPr>
              <a:xfrm>
                <a:off x="5266481" y="1600201"/>
                <a:ext cx="3206187" cy="428431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eqArr>
                        <m:eqArrPr>
                          <m:ctrlPr>
                            <a:rPr lang="ru-RU" sz="1200" i="1" smtClean="0">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r>
                                <a:rPr lang="ru-RU" sz="1200" i="1">
                                  <a:effectLst/>
                                  <a:latin typeface="Cambria Math" panose="02040503050406030204" pitchFamily="18" charset="0"/>
                                  <a:ea typeface="Aptos" panose="020B0004020202020204" pitchFamily="34" charset="0"/>
                                  <a:cs typeface="Times New Roman" panose="02020603050405020304" pitchFamily="18" charset="0"/>
                                </a:rPr>
                                <m:t>𝑝</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𝗑</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r>
                                <a:rPr lang="ru-RU" sz="1200" i="1">
                                  <a:effectLst/>
                                  <a:latin typeface="Cambria Math" panose="02040503050406030204" pitchFamily="18" charset="0"/>
                                  <a:ea typeface="Aptos" panose="020B0004020202020204" pitchFamily="34" charset="0"/>
                                  <a:cs typeface="Times New Roman" panose="02020603050405020304" pitchFamily="18" charset="0"/>
                                </a:rPr>
                                <m:t>2</m:t>
                              </m:r>
                              <m:r>
                                <a:rPr lang="ru-RU" sz="1200" i="1">
                                  <a:effectLst/>
                                  <a:latin typeface="Cambria Math" panose="02040503050406030204" pitchFamily="18" charset="0"/>
                                  <a:ea typeface="Aptos" panose="020B0004020202020204" pitchFamily="34" charset="0"/>
                                  <a:cs typeface="Times New Roman" panose="02020603050405020304" pitchFamily="18" charset="0"/>
                                </a:rPr>
                                <m:t>𝜋</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200">
                                  <a:effectLst/>
                                  <a:latin typeface="Cambria Math" panose="02040503050406030204" pitchFamily="18" charset="0"/>
                                  <a:ea typeface="Aptos" panose="020B0004020202020204" pitchFamily="34" charset="0"/>
                                  <a:cs typeface="Times New Roman" panose="02020603050405020304" pitchFamily="18" charset="0"/>
                                </a:rPr>
                                <m:t>ln</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d>
                            <m:d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p>
                              </m:sSup>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4</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4</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0</m:t>
                          </m:r>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4</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4</m:t>
                                  </m:r>
                                </m:sup>
                              </m:sSup>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2</m:t>
                              </m:r>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den>
                          </m:f>
                          <m:r>
                            <a:rPr lang="ru-RU" sz="1200">
                              <a:effectLst/>
                              <a:latin typeface="Cambria Math" panose="02040503050406030204" pitchFamily="18" charset="0"/>
                              <a:ea typeface="Aptos" panose="020B0004020202020204" pitchFamily="34" charset="0"/>
                              <a:cs typeface="Times New Roman" panose="02020603050405020304" pitchFamily="18" charset="0"/>
                            </a:rPr>
                            <m:t>⇔</m:t>
                          </m:r>
                        </m:e>
                        <m:e>
                          <m:r>
                            <a:rPr lang="ru-RU" sz="1200" i="1">
                              <a:effectLst/>
                              <a:latin typeface="Cambria Math" panose="02040503050406030204" pitchFamily="18" charset="0"/>
                              <a:ea typeface="Aptos" panose="020B0004020202020204" pitchFamily="34" charset="0"/>
                              <a:cs typeface="Times New Roman" panose="02020603050405020304" pitchFamily="18" charset="0"/>
                            </a:rPr>
                            <m:t>&amp;</m:t>
                          </m:r>
                          <m:sSubSup>
                            <m:sSub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200" i="1">
                                  <a:effectLst/>
                                  <a:latin typeface="Cambria Math" panose="02040503050406030204" pitchFamily="18" charset="0"/>
                                  <a:ea typeface="Aptos" panose="020B0004020202020204" pitchFamily="34" charset="0"/>
                                  <a:cs typeface="Times New Roman" panose="02020603050405020304" pitchFamily="18" charset="0"/>
                                </a:rPr>
                                <m:t>𝜎</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bSup>
                          <m:r>
                            <a:rPr lang="ru-RU" sz="12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2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r>
                                <a:rPr lang="ru-RU" sz="1200">
                                  <a:effectLst/>
                                  <a:latin typeface="Cambria Math" panose="02040503050406030204" pitchFamily="18" charset="0"/>
                                  <a:ea typeface="Aptos" panose="020B0004020202020204" pitchFamily="34" charset="0"/>
                                  <a:cs typeface="Times New Roman" panose="02020603050405020304" pitchFamily="18" charset="0"/>
                                </a:rPr>
                                <m:t>=</m:t>
                              </m:r>
                              <m:r>
                                <a:rPr lang="ru-RU" sz="12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2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2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2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200" i="1">
                                  <a:effectLst/>
                                  <a:latin typeface="Cambria Math" panose="02040503050406030204" pitchFamily="18" charset="0"/>
                                  <a:ea typeface="Aptos" panose="020B0004020202020204" pitchFamily="34" charset="0"/>
                                  <a:cs typeface="Times New Roman" panose="02020603050405020304" pitchFamily="18" charset="0"/>
                                </a:rPr>
                                <m:t>𝑀𝐿</m:t>
                              </m:r>
                            </m:sub>
                          </m:sSub>
                          <m:sSup>
                            <m:sSupPr>
                              <m:ctrlPr>
                                <a:rPr lang="ru-RU" sz="12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200">
                                  <a:effectLst/>
                                  <a:latin typeface="Cambria Math" panose="02040503050406030204" pitchFamily="18" charset="0"/>
                                  <a:ea typeface="Aptos" panose="020B0004020202020204" pitchFamily="34" charset="0"/>
                                  <a:cs typeface="Times New Roman" panose="02020603050405020304" pitchFamily="18" charset="0"/>
                                </a:rPr>
                                <m:t>)</m:t>
                              </m:r>
                            </m:e>
                            <m:sup>
                              <m:r>
                                <a:rPr lang="ru-RU" sz="12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m:oMathPara>
                </a14:m>
                <a:endParaRPr lang="ru-RU" sz="1200" dirty="0"/>
              </a:p>
            </p:txBody>
          </p:sp>
        </mc:Choice>
        <mc:Fallback xmlns="">
          <p:sp>
            <p:nvSpPr>
              <p:cNvPr id="6" name="TextBox 5">
                <a:extLst>
                  <a:ext uri="{FF2B5EF4-FFF2-40B4-BE49-F238E27FC236}">
                    <a16:creationId xmlns:a16="http://schemas.microsoft.com/office/drawing/2014/main" id="{373208C6-BBC1-1340-A0BB-A50ECC6A6BDB}"/>
                  </a:ext>
                </a:extLst>
              </p:cNvPr>
              <p:cNvSpPr txBox="1">
                <a:spLocks noRot="1" noChangeAspect="1" noMove="1" noResize="1" noEditPoints="1" noAdjustHandles="1" noChangeArrowheads="1" noChangeShapeType="1" noTextEdit="1"/>
              </p:cNvSpPr>
              <p:nvPr/>
            </p:nvSpPr>
            <p:spPr>
              <a:xfrm>
                <a:off x="5266481" y="1600201"/>
                <a:ext cx="3206187" cy="4284314"/>
              </a:xfrm>
              <a:prstGeom prst="rect">
                <a:avLst/>
              </a:prstGeom>
              <a:blipFill>
                <a:blip r:embed="rId4"/>
                <a:stretch>
                  <a:fillRect l="-6299" t="-3846" r="-11417" b="-19822"/>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D19DF93-585C-E94A-8EF1-A399FC92DA2F}"/>
                  </a:ext>
                </a:extLst>
              </p:cNvPr>
              <p:cNvSpPr txBox="1"/>
              <p:nvPr/>
            </p:nvSpPr>
            <p:spPr>
              <a:xfrm>
                <a:off x="243068" y="5796933"/>
                <a:ext cx="8229600" cy="1038169"/>
              </a:xfrm>
              <a:prstGeom prst="rect">
                <a:avLst/>
              </a:prstGeom>
              <a:noFill/>
            </p:spPr>
            <p:txBody>
              <a:bodyPr wrap="square" rtlCol="0">
                <a:spAutoFit/>
              </a:bodyPr>
              <a:lstStyle/>
              <a:p>
                <a:r>
                  <a:rPr lang="ru-RU" sz="1200" dirty="0">
                    <a:effectLst/>
                    <a:latin typeface="Aptos" panose="020B0004020202020204" pitchFamily="34" charset="0"/>
                    <a:ea typeface="Aptos" panose="020B0004020202020204" pitchFamily="34" charset="0"/>
                    <a:cs typeface="Times New Roman" panose="02020603050405020304" pitchFamily="18" charset="0"/>
                  </a:rPr>
                  <a:t>Проблема, возникающая в контексте наших решений для метода максимального правдоподобия, заключается в том, что он систематически недооценивает дисперсию </a:t>
                </a:r>
                <a:r>
                  <a:rPr lang="ru-RU" sz="12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200" dirty="0">
                    <a:effectLst/>
                    <a:latin typeface="Aptos" panose="020B0004020202020204" pitchFamily="34" charset="0"/>
                    <a:ea typeface="Aptos" panose="020B0004020202020204" pitchFamily="34" charset="0"/>
                    <a:cs typeface="Times New Roman" panose="02020603050405020304" pitchFamily="18" charset="0"/>
                  </a:rPr>
                  <a:t> распределения. Это пример явления, называемого смещением, и связано с проблемой переобучения, возникающей в контексте полиномиальной подгонки кривой. </a:t>
                </a:r>
                <a14:m>
                  <m:oMath xmlns:m="http://schemas.openxmlformats.org/officeDocument/2006/math">
                    <m:sSup>
                      <m:sSupPr>
                        <m:ctrlPr>
                          <a:rPr lang="ru-RU" sz="1800" i="1" smtClean="0">
                            <a:effectLst/>
                            <a:latin typeface="Cambria Math" panose="02040503050406030204" pitchFamily="18" charset="0"/>
                            <a:ea typeface="Aptos" panose="020B0004020202020204" pitchFamily="34" charset="0"/>
                            <a:cs typeface="Times New Roman" panose="02020603050405020304" pitchFamily="18" charset="0"/>
                          </a:rPr>
                        </m:ctrlPr>
                      </m:sSupPr>
                      <m:e>
                        <m:acc>
                          <m:accPr>
                            <m: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acc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acc>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den>
                    </m:f>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𝜎</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𝜇</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9D19DF93-585C-E94A-8EF1-A399FC92DA2F}"/>
                  </a:ext>
                </a:extLst>
              </p:cNvPr>
              <p:cNvSpPr txBox="1">
                <a:spLocks noRot="1" noChangeAspect="1" noMove="1" noResize="1" noEditPoints="1" noAdjustHandles="1" noChangeArrowheads="1" noChangeShapeType="1" noTextEdit="1"/>
              </p:cNvSpPr>
              <p:nvPr/>
            </p:nvSpPr>
            <p:spPr>
              <a:xfrm>
                <a:off x="243068" y="5796933"/>
                <a:ext cx="8229600" cy="1038169"/>
              </a:xfrm>
              <a:prstGeom prst="rect">
                <a:avLst/>
              </a:prstGeom>
              <a:blipFill>
                <a:blip r:embed="rId5"/>
                <a:stretch>
                  <a:fillRect b="-54217"/>
                </a:stretch>
              </a:blipFill>
            </p:spPr>
            <p:txBody>
              <a:bodyPr/>
              <a:lstStyle/>
              <a:p>
                <a:r>
                  <a:rPr lang="ru-RU">
                    <a:noFill/>
                  </a:rPr>
                  <a:t> </a:t>
                </a:r>
              </a:p>
            </p:txBody>
          </p:sp>
        </mc:Fallback>
      </mc:AlternateContent>
    </p:spTree>
    <p:extLst>
      <p:ext uri="{BB962C8B-B14F-4D97-AF65-F5344CB8AC3E}">
        <p14:creationId xmlns:p14="http://schemas.microsoft.com/office/powerpoint/2010/main" val="3075371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94372"/>
          </a:xfrm>
        </p:spPr>
        <p:txBody>
          <a:bodyPr>
            <a:normAutofit/>
          </a:bodyPr>
          <a:lstStyle/>
          <a:p>
            <a:r>
              <a:rPr lang="ru-RU" dirty="0"/>
              <a:t>Свойства</a:t>
            </a:r>
            <a:r>
              <a:rPr lang="en-GB" dirty="0"/>
              <a:t>          </a:t>
            </a:r>
            <a:r>
              <a:rPr lang="ru-RU" dirty="0"/>
              <a:t>и</a:t>
            </a:r>
            <a:r>
              <a:rPr lang="en-GB" dirty="0"/>
              <a:t> </a:t>
            </a:r>
          </a:p>
        </p:txBody>
      </p:sp>
      <p:pic>
        <p:nvPicPr>
          <p:cNvPr id="8" name="Picture 7"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bwMode="auto">
          <a:xfrm>
            <a:off x="5037668" y="598474"/>
            <a:ext cx="961140" cy="352824"/>
          </a:xfrm>
          <a:prstGeom prst="rect">
            <a:avLst/>
          </a:prstGeom>
          <a:noFill/>
          <a:ln/>
          <a:effectLst/>
        </p:spPr>
      </p:pic>
      <p:pic>
        <p:nvPicPr>
          <p:cNvPr id="10" name="Picture 9"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bwMode="auto">
          <a:xfrm>
            <a:off x="6683328" y="418306"/>
            <a:ext cx="959116" cy="607035"/>
          </a:xfrm>
          <a:prstGeom prst="rect">
            <a:avLst/>
          </a:prstGeom>
          <a:noFill/>
          <a:ln/>
          <a:effectLst/>
        </p:spPr>
      </p:pic>
      <p:pic>
        <p:nvPicPr>
          <p:cNvPr id="13" name="Picture 12"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766204" y="2133600"/>
            <a:ext cx="1295402" cy="280416"/>
          </a:xfrm>
          <a:prstGeom prst="rect">
            <a:avLst/>
          </a:prstGeom>
          <a:noFill/>
        </p:spPr>
      </p:pic>
      <p:pic>
        <p:nvPicPr>
          <p:cNvPr id="7" name="Picture 6"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766200" y="2871216"/>
            <a:ext cx="2514606" cy="633986"/>
          </a:xfrm>
          <a:prstGeom prst="rect">
            <a:avLst/>
          </a:prstGeom>
          <a:noFill/>
        </p:spPr>
      </p:pic>
      <p:pic>
        <p:nvPicPr>
          <p:cNvPr id="15" name="Picture 14"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bwMode="auto">
          <a:xfrm>
            <a:off x="762000" y="3895720"/>
            <a:ext cx="3480831" cy="1423421"/>
          </a:xfrm>
          <a:prstGeom prst="rect">
            <a:avLst/>
          </a:prstGeom>
          <a:noFill/>
          <a:ln/>
          <a:effectLst/>
        </p:spPr>
      </p:pic>
      <p:pic>
        <p:nvPicPr>
          <p:cNvPr id="12" name="Picture 11" descr="Figure1.15.jpg"/>
          <p:cNvPicPr>
            <a:picLocks noChangeAspect="1"/>
          </p:cNvPicPr>
          <p:nvPr/>
        </p:nvPicPr>
        <p:blipFill>
          <a:blip r:embed="rId12"/>
          <a:stretch>
            <a:fillRect/>
          </a:stretch>
        </p:blipFill>
        <p:spPr>
          <a:xfrm>
            <a:off x="5105400" y="2037588"/>
            <a:ext cx="3296412" cy="329641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5F9C1AB-06DD-EA43-978C-855039B2DEF5}"/>
              </a:ext>
            </a:extLst>
          </p:cNvPr>
          <p:cNvSpPr>
            <a:spLocks noGrp="1"/>
          </p:cNvSpPr>
          <p:nvPr>
            <p:ph type="title"/>
          </p:nvPr>
        </p:nvSpPr>
        <p:spPr/>
        <p:txBody>
          <a:bodyPr>
            <a:normAutofit/>
          </a:bodyPr>
          <a:lstStyle/>
          <a:p>
            <a:r>
              <a:rPr lang="ru-RU" dirty="0"/>
              <a:t>Аппроксимация кривой</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B3E205B-163B-0544-B2D0-55C5EFF2DF54}"/>
                  </a:ext>
                </a:extLst>
              </p:cNvPr>
              <p:cNvSpPr>
                <a:spLocks noGrp="1"/>
              </p:cNvSpPr>
              <p:nvPr>
                <p:ph idx="1"/>
              </p:nvPr>
            </p:nvSpPr>
            <p:spPr>
              <a:xfrm>
                <a:off x="457200" y="1600200"/>
                <a:ext cx="4251714" cy="4525963"/>
              </a:xfrm>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Предположим, что целевая переменная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имеет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гауссовское</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распределение со средним значением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r>
                      <a:rPr lang="ru-RU" sz="1800" b="0" i="0" smtClean="0">
                        <a:effectLst/>
                        <a:latin typeface="Cambria Math" panose="02040503050406030204" pitchFamily="18" charset="0"/>
                        <a:ea typeface="Aptos" panose="020B0004020202020204" pitchFamily="34" charset="0"/>
                        <a:cs typeface="Times New Roman" panose="02020603050405020304" pitchFamily="18" charset="0"/>
                      </a:rPr>
                      <m:t>:</m:t>
                    </m:r>
                  </m:oMath>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параметр, соответствующий обратной дисперсии.</a:t>
                </a:r>
              </a:p>
              <a:p>
                <a:pPr marL="0" indent="0">
                  <a:spcBef>
                    <a:spcPts val="900"/>
                  </a:spcBef>
                  <a:spcAft>
                    <a:spcPts val="900"/>
                  </a:spcAft>
                  <a:buNone/>
                </a:pP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endParaRPr lang="ru-RU" dirty="0"/>
              </a:p>
            </p:txBody>
          </p:sp>
        </mc:Choice>
        <mc:Fallback xmlns="">
          <p:sp>
            <p:nvSpPr>
              <p:cNvPr id="3" name="Объект 2">
                <a:extLst>
                  <a:ext uri="{FF2B5EF4-FFF2-40B4-BE49-F238E27FC236}">
                    <a16:creationId xmlns:a16="http://schemas.microsoft.com/office/drawing/2014/main" id="{DB3E205B-163B-0544-B2D0-55C5EFF2DF54}"/>
                  </a:ext>
                </a:extLst>
              </p:cNvPr>
              <p:cNvSpPr>
                <a:spLocks noGrp="1" noRot="1" noChangeAspect="1" noMove="1" noResize="1" noEditPoints="1" noAdjustHandles="1" noChangeArrowheads="1" noChangeShapeType="1" noTextEdit="1"/>
              </p:cNvSpPr>
              <p:nvPr>
                <p:ph idx="1"/>
              </p:nvPr>
            </p:nvSpPr>
            <p:spPr>
              <a:xfrm>
                <a:off x="457200" y="1600200"/>
                <a:ext cx="4251714" cy="4525963"/>
              </a:xfrm>
              <a:blipFill>
                <a:blip r:embed="rId2"/>
                <a:stretch>
                  <a:fillRect l="-1194" t="-840" r="-1791"/>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675290D9-DB10-D246-86F6-1A3D69FD0CCC}"/>
              </a:ext>
            </a:extLst>
          </p:cNvPr>
          <p:cNvSpPr>
            <a:spLocks noGrp="1"/>
          </p:cNvSpPr>
          <p:nvPr>
            <p:ph type="sldNum" sz="quarter" idx="12"/>
          </p:nvPr>
        </p:nvSpPr>
        <p:spPr/>
        <p:txBody>
          <a:bodyPr/>
          <a:lstStyle/>
          <a:p>
            <a:fld id="{38237106-F2ED-405E-BC33-CC3CF426205F}" type="slidenum">
              <a:rPr lang="en-US" smtClean="0"/>
              <a:pPr/>
              <a:t>41</a:t>
            </a:fld>
            <a:endParaRPr lang="en-US"/>
          </a:p>
        </p:txBody>
      </p:sp>
      <p:pic>
        <p:nvPicPr>
          <p:cNvPr id="5" name="Picture" descr="png">
            <a:extLst>
              <a:ext uri="{FF2B5EF4-FFF2-40B4-BE49-F238E27FC236}">
                <a16:creationId xmlns:a16="http://schemas.microsoft.com/office/drawing/2014/main" id="{E73BDF2A-8F7F-C245-B8A7-92C0E3CC14CC}"/>
              </a:ext>
            </a:extLst>
          </p:cNvPr>
          <p:cNvPicPr/>
          <p:nvPr/>
        </p:nvPicPr>
        <p:blipFill>
          <a:blip r:embed="rId3"/>
          <a:stretch>
            <a:fillRect/>
          </a:stretch>
        </p:blipFill>
        <p:spPr bwMode="auto">
          <a:xfrm>
            <a:off x="594624" y="3974588"/>
            <a:ext cx="3410217" cy="2883412"/>
          </a:xfrm>
          <a:prstGeom prst="rect">
            <a:avLst/>
          </a:prstGeom>
          <a:noFill/>
          <a:ln w="9525">
            <a:noFill/>
            <a:headEnd/>
            <a:tailEnd/>
          </a:ln>
        </p:spPr>
      </p:pic>
      <p:pic>
        <p:nvPicPr>
          <p:cNvPr id="6" name="Рисунок 5">
            <a:extLst>
              <a:ext uri="{FF2B5EF4-FFF2-40B4-BE49-F238E27FC236}">
                <a16:creationId xmlns:a16="http://schemas.microsoft.com/office/drawing/2014/main" id="{B08C2900-DC65-DF49-B0E6-161CB9FC7173}"/>
              </a:ext>
            </a:extLst>
          </p:cNvPr>
          <p:cNvPicPr>
            <a:picLocks noChangeAspect="1"/>
          </p:cNvPicPr>
          <p:nvPr/>
        </p:nvPicPr>
        <p:blipFill>
          <a:blip r:embed="rId4"/>
          <a:stretch>
            <a:fillRect/>
          </a:stretch>
        </p:blipFill>
        <p:spPr>
          <a:xfrm>
            <a:off x="4004841" y="2273233"/>
            <a:ext cx="4953964" cy="3143061"/>
          </a:xfrm>
          <a:prstGeom prst="rect">
            <a:avLst/>
          </a:prstGeom>
        </p:spPr>
      </p:pic>
    </p:spTree>
    <p:extLst>
      <p:ext uri="{BB962C8B-B14F-4D97-AF65-F5344CB8AC3E}">
        <p14:creationId xmlns:p14="http://schemas.microsoft.com/office/powerpoint/2010/main" val="34180109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66FCB6-C1A6-8940-96DF-A1274CCCC914}"/>
              </a:ext>
            </a:extLst>
          </p:cNvPr>
          <p:cNvSpPr>
            <a:spLocks noGrp="1"/>
          </p:cNvSpPr>
          <p:nvPr>
            <p:ph type="title"/>
          </p:nvPr>
        </p:nvSpPr>
        <p:spPr/>
        <p:txBody>
          <a:bodyPr/>
          <a:lstStyle/>
          <a:p>
            <a:r>
              <a:rPr lang="ru-RU" dirty="0"/>
              <a:t>Аппроксимация кривой</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A54A6F07-983D-2D49-9360-7AEFC31D17D9}"/>
                  </a:ext>
                </a:extLst>
              </p:cNvPr>
              <p:cNvSpPr>
                <a:spLocks noGrp="1"/>
              </p:cNvSpPr>
              <p:nvPr>
                <p:ph idx="1"/>
              </p:nvPr>
            </p:nvSpPr>
            <p:spPr>
              <a:xfrm>
                <a:off x="457200" y="1600200"/>
                <a:ext cx="8229600" cy="5113116"/>
              </a:xfrm>
            </p:spPr>
            <p:txBody>
              <a:bodyPr>
                <a:normAutofit fontScale="92500"/>
              </a:bodyPr>
              <a:lstStyle/>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И</a:t>
                </a:r>
                <a:r>
                  <a:rPr lang="ru-RU" sz="1800" dirty="0">
                    <a:effectLst/>
                    <a:latin typeface="Aptos" panose="020B0004020202020204" pitchFamily="34" charset="0"/>
                    <a:ea typeface="Aptos" panose="020B0004020202020204" pitchFamily="34" charset="0"/>
                    <a:cs typeface="Times New Roman" panose="02020603050405020304" pitchFamily="18" charset="0"/>
                  </a:rPr>
                  <a:t>спользуем обучающие данные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 </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для определения значений неизвестных параметров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методом максимального правдоподобия. Если данные являются независимыми, функция правдоподобия задаётся следующим образом:</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𝑝</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smtClean="0">
                          <a:effectLst/>
                          <a:latin typeface="Cambria Math" panose="02040503050406030204" pitchFamily="18" charset="0"/>
                          <a:ea typeface="Cambria Math" panose="02040503050406030204" pitchFamily="18" charset="0"/>
                          <a:cs typeface="Times New Roman" panose="02020603050405020304" pitchFamily="18" charset="0"/>
                        </a:rPr>
                        <m:t>𝘵</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latin typeface="Cambria Math" panose="02040503050406030204" pitchFamily="18" charset="0"/>
                          <a:ea typeface="Cambria Math" panose="02040503050406030204" pitchFamily="18" charset="0"/>
                          <a:cs typeface="Times New Roman" panose="02020603050405020304" pitchFamily="18" charset="0"/>
                        </a:rPr>
                        <m:t>𝑥</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b="1" i="1">
                          <a:effectLst/>
                          <a:latin typeface="Cambria Math" panose="02040503050406030204" pitchFamily="18" charset="0"/>
                          <a:ea typeface="Cambria Math" panose="02040503050406030204" pitchFamily="18" charset="0"/>
                          <a:cs typeface="Times New Roman" panose="02020603050405020304" pitchFamily="18" charset="0"/>
                        </a:rPr>
                        <m:t>𝐰</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𝛽</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nary>
                        <m:naryPr>
                          <m:chr m:val="∏"/>
                          <m:limLoc m:val="undOv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naryPr>
                        <m:sub>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𝑛</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1</m:t>
                          </m:r>
                        </m:sub>
                        <m:sup>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𝑁</m:t>
                          </m:r>
                        </m:sup>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𝒩</m:t>
                          </m:r>
                        </m:e>
                      </m:nary>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sSub>
                        <m:sSubP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sSubPr>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𝑡</m:t>
                          </m:r>
                        </m:e>
                        <m:sub>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𝑛</m:t>
                          </m:r>
                        </m:sub>
                      </m:sSub>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𝑦</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i="1">
                          <a:effectLst/>
                          <a:latin typeface="Cambria Math" panose="02040503050406030204" pitchFamily="18" charset="0"/>
                          <a:ea typeface="Cambria Math" panose="02040503050406030204" pitchFamily="18" charset="0"/>
                          <a:cs typeface="Times New Roman" panose="02020603050405020304" pitchFamily="18" charset="0"/>
                        </a:rPr>
                        <m:t>𝑥</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r>
                        <a:rPr lang="ru-RU" sz="1800" b="1" i="1">
                          <a:effectLst/>
                          <a:latin typeface="Cambria Math" panose="02040503050406030204" pitchFamily="18" charset="0"/>
                          <a:ea typeface="Cambria Math" panose="02040503050406030204" pitchFamily="18" charset="0"/>
                          <a:cs typeface="Times New Roman" panose="02020603050405020304" pitchFamily="18" charset="0"/>
                        </a:rPr>
                        <m:t>𝐰</m:t>
                      </m:r>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sSup>
                        <m:sSupPr>
                          <m:ctrlPr>
                            <a:rPr lang="ru-RU" sz="1800" i="1">
                              <a:effectLst/>
                              <a:latin typeface="Cambria Math" panose="02040503050406030204" pitchFamily="18" charset="0"/>
                              <a:ea typeface="Cambria Math" panose="02040503050406030204" pitchFamily="18" charset="0"/>
                              <a:cs typeface="Times New Roman" panose="02020603050405020304" pitchFamily="18" charset="0"/>
                            </a:rPr>
                          </m:ctrlPr>
                        </m:sSupPr>
                        <m:e>
                          <m:r>
                            <a:rPr lang="ru-RU" sz="1800" i="1">
                              <a:effectLst/>
                              <a:latin typeface="Cambria Math" panose="02040503050406030204" pitchFamily="18" charset="0"/>
                              <a:ea typeface="Cambria Math" panose="02040503050406030204" pitchFamily="18" charset="0"/>
                              <a:cs typeface="Times New Roman" panose="02020603050405020304" pitchFamily="18" charset="0"/>
                            </a:rPr>
                            <m:t>𝛽</m:t>
                          </m:r>
                        </m:e>
                        <m:sup>
                          <m:r>
                            <a:rPr lang="ru-RU" sz="1800" i="1">
                              <a:effectLst/>
                              <a:latin typeface="Cambria Math" panose="02040503050406030204" pitchFamily="18" charset="0"/>
                              <a:ea typeface="Cambria Math" panose="02040503050406030204" pitchFamily="18" charset="0"/>
                              <a:cs typeface="Times New Roman" panose="02020603050405020304" pitchFamily="18" charset="0"/>
                            </a:rPr>
                            <m:t>−1</m:t>
                          </m:r>
                        </m:sup>
                      </m:sSup>
                      <m:r>
                        <a:rPr lang="ru-RU" sz="1800">
                          <a:effectLst/>
                          <a:latin typeface="Cambria Math" panose="02040503050406030204" pitchFamily="18" charset="0"/>
                          <a:ea typeface="Cambria Math" panose="02040503050406030204" pitchFamily="18" charset="0"/>
                          <a:cs typeface="Times New Roman" panose="02020603050405020304" pitchFamily="18" charset="0"/>
                        </a:rPr>
                        <m:t>)</m:t>
                      </m:r>
                    </m:oMath>
                  </m:oMathPara>
                </a14:m>
                <a:endParaRPr lang="ru-RU" sz="1800" dirty="0">
                  <a:effectLst/>
                  <a:latin typeface="Cambria Math" panose="02040503050406030204" pitchFamily="18" charset="0"/>
                  <a:ea typeface="Cambria Math" panose="02040503050406030204" pitchFamily="18"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Подобно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гауссовскому</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распределению ранее, мы максимизируем логарифм функции правдоподобия в форме</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Д</a:t>
                </a:r>
                <a:r>
                  <a:rPr lang="ru-RU" sz="1800" dirty="0">
                    <a:effectLst/>
                    <a:latin typeface="Aptos" panose="020B0004020202020204" pitchFamily="34" charset="0"/>
                    <a:ea typeface="Aptos" panose="020B0004020202020204" pitchFamily="34" charset="0"/>
                    <a:cs typeface="Times New Roman" panose="02020603050405020304" pitchFamily="18" charset="0"/>
                  </a:rPr>
                  <a:t>ля коэффициентов полинома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можно опустить члены, не зависящие от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Поскольку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не меняет положения максимума функции, её можно заменить на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1</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Следовательно, максимизация эквивалентна минимизации </a:t>
                </a:r>
                <a:r>
                  <a:rPr lang="ru-RU" sz="1800" i="1" dirty="0">
                    <a:effectLst/>
                    <a:latin typeface="Aptos" panose="020B0004020202020204" pitchFamily="34" charset="0"/>
                    <a:ea typeface="Aptos" panose="020B0004020202020204" pitchFamily="34" charset="0"/>
                    <a:cs typeface="Times New Roman" panose="02020603050405020304" pitchFamily="18" charset="0"/>
                  </a:rPr>
                  <a:t>функции ошибки суммы квадратов </a:t>
                </a:r>
                <a:r>
                  <a:rPr lang="ru-RU" sz="1800" dirty="0">
                    <a:effectLst/>
                    <a:latin typeface="Aptos" panose="020B0004020202020204" pitchFamily="34" charset="0"/>
                    <a:ea typeface="Aptos" panose="020B0004020202020204" pitchFamily="34" charset="0"/>
                    <a:cs typeface="Times New Roman" panose="02020603050405020304" pitchFamily="18" charset="0"/>
                  </a:rPr>
                  <a:t>, как показано </a:t>
                </a:r>
                <a:r>
                  <a:rPr lang="ru-RU" sz="1800" dirty="0">
                    <a:latin typeface="Aptos" panose="020B0004020202020204" pitchFamily="34" charset="0"/>
                    <a:ea typeface="Aptos" panose="020B0004020202020204" pitchFamily="34" charset="0"/>
                    <a:cs typeface="Times New Roman" panose="02020603050405020304" pitchFamily="18" charset="0"/>
                  </a:rPr>
                  <a:t>в примере аппроксимации кривой полиномом. </a:t>
                </a:r>
                <a:r>
                  <a:rPr lang="ru-RU" sz="1800" dirty="0">
                    <a:effectLst/>
                    <a:latin typeface="Aptos" panose="020B0004020202020204" pitchFamily="34" charset="0"/>
                    <a:ea typeface="Aptos" panose="020B0004020202020204" pitchFamily="34" charset="0"/>
                    <a:cs typeface="Times New Roman" panose="02020603050405020304" pitchFamily="18" charset="0"/>
                  </a:rPr>
                  <a:t>Функция ошибки суммы квадратов возникла как следствие максимизации правдоподобия в предположении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шума.</a:t>
                </a:r>
              </a:p>
            </p:txBody>
          </p:sp>
        </mc:Choice>
        <mc:Fallback xmlns="">
          <p:sp>
            <p:nvSpPr>
              <p:cNvPr id="3" name="Объект 2">
                <a:extLst>
                  <a:ext uri="{FF2B5EF4-FFF2-40B4-BE49-F238E27FC236}">
                    <a16:creationId xmlns:a16="http://schemas.microsoft.com/office/drawing/2014/main" id="{A54A6F07-983D-2D49-9360-7AEFC31D17D9}"/>
                  </a:ext>
                </a:extLst>
              </p:cNvPr>
              <p:cNvSpPr>
                <a:spLocks noGrp="1" noRot="1" noChangeAspect="1" noMove="1" noResize="1" noEditPoints="1" noAdjustHandles="1" noChangeArrowheads="1" noChangeShapeType="1" noTextEdit="1"/>
              </p:cNvSpPr>
              <p:nvPr>
                <p:ph idx="1"/>
              </p:nvPr>
            </p:nvSpPr>
            <p:spPr>
              <a:xfrm>
                <a:off x="457200" y="1600200"/>
                <a:ext cx="8229600" cy="5113116"/>
              </a:xfrm>
              <a:blipFill>
                <a:blip r:embed="rId2"/>
                <a:stretch>
                  <a:fillRect l="-463" t="-496" b="-993"/>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E8FE321E-ECEB-D846-A1EE-D28572684209}"/>
              </a:ext>
            </a:extLst>
          </p:cNvPr>
          <p:cNvSpPr>
            <a:spLocks noGrp="1"/>
          </p:cNvSpPr>
          <p:nvPr>
            <p:ph type="sldNum" sz="quarter" idx="12"/>
          </p:nvPr>
        </p:nvSpPr>
        <p:spPr/>
        <p:txBody>
          <a:bodyPr/>
          <a:lstStyle/>
          <a:p>
            <a:fld id="{38237106-F2ED-405E-BC33-CC3CF426205F}" type="slidenum">
              <a:rPr lang="en-US" smtClean="0"/>
              <a:pPr/>
              <a:t>42</a:t>
            </a:fld>
            <a:endParaRPr lang="en-US"/>
          </a:p>
        </p:txBody>
      </p:sp>
    </p:spTree>
    <p:extLst>
      <p:ext uri="{BB962C8B-B14F-4D97-AF65-F5344CB8AC3E}">
        <p14:creationId xmlns:p14="http://schemas.microsoft.com/office/powerpoint/2010/main" val="13727652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Заголовок 1">
                <a:extLst>
                  <a:ext uri="{FF2B5EF4-FFF2-40B4-BE49-F238E27FC236}">
                    <a16:creationId xmlns:a16="http://schemas.microsoft.com/office/drawing/2014/main" id="{ACA85BF3-C149-C748-B9F0-0D3E5AE439ED}"/>
                  </a:ext>
                </a:extLst>
              </p:cNvPr>
              <p:cNvSpPr>
                <a:spLocks noGrp="1"/>
              </p:cNvSpPr>
              <p:nvPr>
                <p:ph type="title"/>
              </p:nvPr>
            </p:nvSpPr>
            <p:spPr/>
            <p:txBody>
              <a:bodyPr/>
              <a:lstStyle/>
              <a:p>
                <a:r>
                  <a:rPr lang="ru-RU" dirty="0"/>
                  <a:t>Определение</a:t>
                </a:r>
                <a:r>
                  <a:rPr lang="en-US" dirty="0"/>
                  <a:t> </a:t>
                </a:r>
                <a14:m>
                  <m:oMath xmlns:m="http://schemas.openxmlformats.org/officeDocument/2006/math">
                    <m:r>
                      <a:rPr lang="ru-RU" sz="4400" i="1" smtClean="0">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dirty="0"/>
                  <a:t> </a:t>
                </a:r>
              </a:p>
            </p:txBody>
          </p:sp>
        </mc:Choice>
        <mc:Fallback xmlns="">
          <p:sp>
            <p:nvSpPr>
              <p:cNvPr id="2" name="Заголовок 1">
                <a:extLst>
                  <a:ext uri="{FF2B5EF4-FFF2-40B4-BE49-F238E27FC236}">
                    <a16:creationId xmlns:a16="http://schemas.microsoft.com/office/drawing/2014/main" id="{ACA85BF3-C149-C748-B9F0-0D3E5AE439ED}"/>
                  </a:ext>
                </a:extLst>
              </p:cNvPr>
              <p:cNvSpPr>
                <a:spLocks noGrp="1" noRot="1" noChangeAspect="1" noMove="1" noResize="1" noEditPoints="1" noAdjustHandles="1" noChangeArrowheads="1" noChangeShapeType="1" noTextEdit="1"/>
              </p:cNvSpPr>
              <p:nvPr>
                <p:ph type="title"/>
              </p:nvPr>
            </p:nvSpPr>
            <p:spPr>
              <a:blipFill>
                <a:blip r:embed="rId2"/>
                <a:stretch>
                  <a:fillRect b="-9890"/>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6F1BF99D-C54B-C347-8BDB-56AE1EDC7B1A}"/>
                  </a:ext>
                </a:extLst>
              </p:cNvPr>
              <p:cNvSpPr>
                <a:spLocks noGrp="1"/>
              </p:cNvSpPr>
              <p:nvPr>
                <p:ph idx="1"/>
              </p:nvPr>
            </p:nvSpPr>
            <p:spPr>
              <a:xfrm>
                <a:off x="457200" y="1600200"/>
                <a:ext cx="8229600" cy="4983162"/>
              </a:xfrm>
            </p:spPr>
            <p:txBody>
              <a:bodyPr>
                <a:normAutofit fontScale="70000" lnSpcReduction="20000"/>
              </a:bodyPr>
              <a:lstStyle/>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a:effectLst/>
                                  <a:latin typeface="Cambria Math" panose="02040503050406030204" pitchFamily="18" charset="0"/>
                                  <a:ea typeface="Aptos" panose="020B0004020202020204" pitchFamily="34" charset="0"/>
                                  <a:cs typeface="Times New Roman" panose="02020603050405020304" pitchFamily="18" charset="0"/>
                                </a:rPr>
                                <m:t>𝜕</m:t>
                              </m:r>
                            </m:num>
                            <m:den>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d>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&amp;</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den>
                          </m:f>
                          <m:r>
                            <a:rPr lang="ru-RU"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1</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a:effectLst/>
                                  <a:latin typeface="Cambria Math" panose="02040503050406030204" pitchFamily="18" charset="0"/>
                                  <a:ea typeface="Aptos" panose="020B0004020202020204" pitchFamily="34" charset="0"/>
                                  <a:cs typeface="Times New Roman" panose="02020603050405020304" pitchFamily="18" charset="0"/>
                                </a:rPr>
                                <m:t>)</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Поскольку у нас есть вероятностная модель, мы можем использовать предсказательное распределение, которое дает распределение вероятностей по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а не простую точечную оценку.</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Sub>
                      <m:r>
                        <a:rPr lang="ru-RU" sz="1800">
                          <a:effectLst/>
                          <a:latin typeface="Cambria Math" panose="02040503050406030204" pitchFamily="18" charset="0"/>
                          <a:ea typeface="Aptos" panose="020B0004020202020204" pitchFamily="34" charset="0"/>
                          <a:cs typeface="Times New Roman" panose="02020603050405020304" pitchFamily="18" charset="0"/>
                        </a:rPr>
                        <m:t>),</m:t>
                      </m:r>
                      <m:sSubSup>
                        <m:sSub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𝑀𝐿</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bSup>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Можно дополнительно ввести априорное распределение для коэффициентов полинома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чтобы сделать шаг к более байесовскому подходу.</a:t>
                </a:r>
                <a:endParaRPr lang="ru-RU" dirty="0"/>
              </a:p>
            </p:txBody>
          </p:sp>
        </mc:Choice>
        <mc:Fallback xmlns="">
          <p:sp>
            <p:nvSpPr>
              <p:cNvPr id="3" name="Объект 2">
                <a:extLst>
                  <a:ext uri="{FF2B5EF4-FFF2-40B4-BE49-F238E27FC236}">
                    <a16:creationId xmlns:a16="http://schemas.microsoft.com/office/drawing/2014/main" id="{6F1BF99D-C54B-C347-8BDB-56AE1EDC7B1A}"/>
                  </a:ext>
                </a:extLst>
              </p:cNvPr>
              <p:cNvSpPr>
                <a:spLocks noGrp="1" noRot="1" noChangeAspect="1" noMove="1" noResize="1" noEditPoints="1" noAdjustHandles="1" noChangeArrowheads="1" noChangeShapeType="1" noTextEdit="1"/>
              </p:cNvSpPr>
              <p:nvPr>
                <p:ph idx="1"/>
              </p:nvPr>
            </p:nvSpPr>
            <p:spPr>
              <a:xfrm>
                <a:off x="457200" y="1600200"/>
                <a:ext cx="8229600" cy="4983162"/>
              </a:xfrm>
              <a:blipFill>
                <a:blip r:embed="rId3"/>
                <a:stretch>
                  <a:fillRect l="-154" t="-3562"/>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7EBB573-C1C4-2B47-AECE-5E06F7F9E8D8}"/>
              </a:ext>
            </a:extLst>
          </p:cNvPr>
          <p:cNvSpPr>
            <a:spLocks noGrp="1"/>
          </p:cNvSpPr>
          <p:nvPr>
            <p:ph type="sldNum" sz="quarter" idx="12"/>
          </p:nvPr>
        </p:nvSpPr>
        <p:spPr/>
        <p:txBody>
          <a:bodyPr/>
          <a:lstStyle/>
          <a:p>
            <a:fld id="{38237106-F2ED-405E-BC33-CC3CF426205F}" type="slidenum">
              <a:rPr lang="en-US" smtClean="0"/>
              <a:pPr/>
              <a:t>43</a:t>
            </a:fld>
            <a:endParaRPr lang="en-US"/>
          </a:p>
        </p:txBody>
      </p:sp>
    </p:spTree>
    <p:extLst>
      <p:ext uri="{BB962C8B-B14F-4D97-AF65-F5344CB8AC3E}">
        <p14:creationId xmlns:p14="http://schemas.microsoft.com/office/powerpoint/2010/main" val="290707111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A33D07-71E7-384A-A138-DDDD46EDC9D5}"/>
              </a:ext>
            </a:extLst>
          </p:cNvPr>
          <p:cNvSpPr>
            <a:spLocks noGrp="1"/>
          </p:cNvSpPr>
          <p:nvPr>
            <p:ph type="title"/>
          </p:nvPr>
        </p:nvSpPr>
        <p:spPr/>
        <p:txBody>
          <a:bodyPr>
            <a:normAutofit fontScale="90000"/>
          </a:bodyPr>
          <a:lstStyle/>
          <a:p>
            <a:r>
              <a:rPr lang="ru-RU" dirty="0"/>
              <a:t>Априорное распределение для коэффициентов полинома 𝐰</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594A7ACE-FD0A-5F45-8D21-E2A5DF0DF892}"/>
                  </a:ext>
                </a:extLst>
              </p:cNvPr>
              <p:cNvSpPr>
                <a:spLocks noGrp="1"/>
              </p:cNvSpPr>
              <p:nvPr>
                <p:ph idx="1"/>
              </p:nvPr>
            </p:nvSpPr>
            <p:spPr>
              <a:xfrm>
                <a:off x="457200" y="1600200"/>
                <a:ext cx="8229600" cy="4892675"/>
              </a:xfrm>
            </p:spPr>
            <p:txBody>
              <a:bodyPr>
                <a:normAutofit fontScale="85000" lnSpcReduction="10000"/>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Рассмотрим, например,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гауссовское</a:t>
                </a:r>
                <a:r>
                  <a:rPr lang="ru-RU" sz="1800" dirty="0">
                    <a:effectLst/>
                    <a:latin typeface="Aptos" panose="020B0004020202020204" pitchFamily="34" charset="0"/>
                    <a:ea typeface="Aptos" panose="020B0004020202020204" pitchFamily="34" charset="0"/>
                    <a:cs typeface="Times New Roman" panose="02020603050405020304" pitchFamily="18" charset="0"/>
                  </a:rPr>
                  <a:t> априорное распределение вида</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𝒩</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𝟎</m:t>
                      </m:r>
                      <m:r>
                        <a:rPr lang="ru-RU" sz="18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e>
                        <m:sup>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𝐈</m:t>
                      </m:r>
                      <m:r>
                        <a:rPr lang="ru-RU" sz="1800">
                          <a:effectLst/>
                          <a:latin typeface="Cambria Math" panose="02040503050406030204" pitchFamily="18" charset="0"/>
                          <a:ea typeface="Aptos" panose="020B0004020202020204" pitchFamily="34" charset="0"/>
                          <a:cs typeface="Times New Roman" panose="02020603050405020304" pitchFamily="18" charset="0"/>
                        </a:rPr>
                        <m:t>)=</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r>
                                    <a:rPr lang="ru-RU" sz="1800" i="1">
                                      <a:effectLst/>
                                      <a:latin typeface="Cambria Math" panose="02040503050406030204" pitchFamily="18" charset="0"/>
                                      <a:ea typeface="Aptos" panose="020B0004020202020204" pitchFamily="34" charset="0"/>
                                      <a:cs typeface="Times New Roman" panose="02020603050405020304" pitchFamily="18" charset="0"/>
                                    </a:rPr>
                                    <m:t>𝜋</m:t>
                                  </m:r>
                                </m:den>
                              </m:f>
                            </m:e>
                            <m:sup>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p>
                          </m:sSup>
                        </m:e>
                      </m:d>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exp</m:t>
                      </m:r>
                      <m:d>
                        <m:dPr>
                          <m:begChr m:val="{"/>
                          <m:endChr m:val="}"/>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ru-RU" sz="1800" i="1">
                                  <a:effectLst/>
                                  <a:latin typeface="Cambria Math" panose="02040503050406030204" pitchFamily="18" charset="0"/>
                                  <a:ea typeface="Aptos" panose="020B0004020202020204" pitchFamily="34" charset="0"/>
                                  <a:cs typeface="Times New Roman" panose="02020603050405020304" pitchFamily="18" charset="0"/>
                                </a:rPr>
                                <m:t>2</m:t>
                              </m:r>
                            </m:den>
                          </m:f>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m:rPr>
                                  <m:nor/>
                                </m:rPr>
                                <a:rPr lang="ru-RU"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d>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точность многомерного </a:t>
                </a:r>
                <a:r>
                  <a:rPr lang="ru-RU" sz="1800" dirty="0" err="1">
                    <a:effectLst/>
                    <a:latin typeface="Aptos" panose="020B0004020202020204" pitchFamily="34" charset="0"/>
                    <a:ea typeface="Aptos" panose="020B0004020202020204" pitchFamily="34" charset="0"/>
                    <a:cs typeface="Times New Roman" panose="02020603050405020304" pitchFamily="18" charset="0"/>
                  </a:rPr>
                  <a:t>гауссовского</a:t>
                </a:r>
                <a:r>
                  <a:rPr lang="ru-RU" sz="1800" dirty="0">
                    <a:effectLst/>
                    <a:latin typeface="Aptos" panose="020B0004020202020204" pitchFamily="34" charset="0"/>
                    <a:ea typeface="Aptos" panose="020B0004020202020204" pitchFamily="34" charset="0"/>
                    <a:cs typeface="Times New Roman" panose="02020603050405020304" pitchFamily="18" charset="0"/>
                  </a:rPr>
                  <a:t> распределения, а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𝑀</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порядок полинома, то есть размерность вектора параметров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Тогда из теоремы Байеса следует, что</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𝗍</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𝗑</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Следовательно, можно определить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err="1">
                    <a:effectLst/>
                    <a:latin typeface="Aptos" panose="020B0004020202020204" pitchFamily="34" charset="0"/>
                    <a:ea typeface="Aptos" panose="020B0004020202020204" pitchFamily="34" charset="0"/>
                    <a:cs typeface="Times New Roman" panose="02020603050405020304" pitchFamily="18" charset="0"/>
                  </a:rPr>
                  <a:t>максимизируя</a:t>
                </a:r>
                <a:r>
                  <a:rPr lang="ru-RU" sz="1800" dirty="0">
                    <a:effectLst/>
                    <a:latin typeface="Aptos" panose="020B0004020202020204" pitchFamily="34" charset="0"/>
                    <a:ea typeface="Aptos" panose="020B0004020202020204" pitchFamily="34" charset="0"/>
                    <a:cs typeface="Times New Roman" panose="02020603050405020304" pitchFamily="18" charset="0"/>
                  </a:rPr>
                  <a:t> апостериорное распределение. Этот метод известен как </a:t>
                </a:r>
                <a:r>
                  <a:rPr lang="ru-RU" sz="1800" i="1" dirty="0">
                    <a:effectLst/>
                    <a:latin typeface="Aptos" panose="020B0004020202020204" pitchFamily="34" charset="0"/>
                    <a:ea typeface="Aptos" panose="020B0004020202020204" pitchFamily="34" charset="0"/>
                    <a:cs typeface="Times New Roman" panose="02020603050405020304" pitchFamily="18" charset="0"/>
                  </a:rPr>
                  <a:t>метод максимального апостериорного распределения(</a:t>
                </a:r>
                <a:r>
                  <a:rPr lang="en-GB" sz="1800" dirty="0"/>
                  <a:t>MAP</a:t>
                </a:r>
                <a:r>
                  <a:rPr lang="ru-RU" sz="1800" i="1"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или MAP-вывод. Максимум апостериорного распределения определяется минимумом отрицательного логарифма от</a:t>
                </a:r>
                <a:r>
                  <a:rPr lang="en-US" sz="18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800" i="1">
                        <a:latin typeface="Cambria Math" panose="02040503050406030204" pitchFamily="18" charset="0"/>
                        <a:ea typeface="Aptos" panose="020B0004020202020204" pitchFamily="34" charset="0"/>
                        <a:cs typeface="Times New Roman" panose="02020603050405020304" pitchFamily="18" charset="0"/>
                      </a:rPr>
                      <m:t>𝑝</m:t>
                    </m:r>
                    <m:d>
                      <m:dPr>
                        <m:ctrlPr>
                          <a:rPr lang="ru-RU"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b="1" i="1">
                            <a:latin typeface="Cambria Math" panose="02040503050406030204" pitchFamily="18" charset="0"/>
                            <a:ea typeface="Aptos" panose="020B0004020202020204" pitchFamily="34" charset="0"/>
                            <a:cs typeface="Times New Roman" panose="02020603050405020304" pitchFamily="18" charset="0"/>
                          </a:rPr>
                          <m:t>𝐰</m:t>
                        </m:r>
                      </m:e>
                      <m:e>
                        <m:r>
                          <a:rPr lang="ru-RU" sz="1800" i="1">
                            <a:latin typeface="Cambria Math" panose="02040503050406030204" pitchFamily="18" charset="0"/>
                            <a:ea typeface="Aptos" panose="020B0004020202020204" pitchFamily="34" charset="0"/>
                            <a:cs typeface="Times New Roman" panose="02020603050405020304" pitchFamily="18" charset="0"/>
                          </a:rPr>
                          <m:t>𝗑</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𝗍</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𝛼</m:t>
                        </m:r>
                        <m:r>
                          <a:rPr lang="ru-RU" sz="1800">
                            <a:latin typeface="Cambria Math" panose="02040503050406030204" pitchFamily="18" charset="0"/>
                            <a:ea typeface="Aptos" panose="020B0004020202020204" pitchFamily="34" charset="0"/>
                            <a:cs typeface="Times New Roman" panose="02020603050405020304" pitchFamily="18" charset="0"/>
                          </a:rPr>
                          <m:t>,</m:t>
                        </m:r>
                        <m:r>
                          <a:rPr lang="ru-RU" sz="1800" i="1">
                            <a:latin typeface="Cambria Math" panose="02040503050406030204" pitchFamily="18" charset="0"/>
                            <a:ea typeface="Aptos" panose="020B0004020202020204" pitchFamily="34" charset="0"/>
                            <a:cs typeface="Times New Roman" panose="02020603050405020304" pitchFamily="18" charset="0"/>
                          </a:rPr>
                          <m:t>𝛽</m:t>
                        </m:r>
                      </m:e>
                    </m:d>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num>
                        <m:den>
                          <m:r>
                            <a:rPr lang="en-US" sz="1800" i="1">
                              <a:effectLst/>
                              <a:latin typeface="Cambria Math" panose="02040503050406030204" pitchFamily="18" charset="0"/>
                              <a:ea typeface="Aptos" panose="020B0004020202020204" pitchFamily="34" charset="0"/>
                              <a:cs typeface="Times New Roman" panose="02020603050405020304" pitchFamily="18" charset="0"/>
                            </a:rPr>
                            <m:t>2</m:t>
                          </m:r>
                        </m:den>
                      </m:f>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1</m:t>
                          </m:r>
                        </m:sub>
                        <m:sup>
                          <m:r>
                            <a:rPr lang="ru-RU" sz="1800" i="1">
                              <a:effectLst/>
                              <a:latin typeface="Cambria Math" panose="02040503050406030204" pitchFamily="18" charset="0"/>
                              <a:ea typeface="Aptos" panose="020B0004020202020204" pitchFamily="34" charset="0"/>
                              <a:cs typeface="Times New Roman" panose="02020603050405020304" pitchFamily="18" charset="0"/>
                            </a:rPr>
                            <m:t>𝑁</m:t>
                          </m:r>
                        </m:sup>
                        <m:e>
                          <m:r>
                            <a:rPr lang="en-US" sz="1800">
                              <a:effectLst/>
                              <a:latin typeface="Cambria Math" panose="02040503050406030204" pitchFamily="18" charset="0"/>
                              <a:ea typeface="Aptos" panose="020B0004020202020204" pitchFamily="34" charset="0"/>
                              <a:cs typeface="Times New Roman" panose="02020603050405020304" pitchFamily="18" charset="0"/>
                            </a:rPr>
                            <m:t>(</m:t>
                          </m:r>
                        </m:e>
                      </m:nary>
                      <m:r>
                        <a:rPr lang="ru-RU" sz="1800" i="1">
                          <a:effectLst/>
                          <a:latin typeface="Cambria Math" panose="02040503050406030204" pitchFamily="18" charset="0"/>
                          <a:ea typeface="Aptos" panose="020B0004020202020204" pitchFamily="34" charset="0"/>
                          <a:cs typeface="Times New Roman" panose="02020603050405020304" pitchFamily="18" charset="0"/>
                        </a:rPr>
                        <m:t>𝑦</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𝑛</m:t>
                          </m:r>
                        </m:sub>
                      </m:sSub>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1800">
                              <a:effectLst/>
                              <a:latin typeface="Cambria Math" panose="02040503050406030204" pitchFamily="18" charset="0"/>
                              <a:ea typeface="Aptos" panose="020B0004020202020204" pitchFamily="34" charset="0"/>
                              <a:cs typeface="Times New Roman" panose="02020603050405020304" pitchFamily="18" charset="0"/>
                            </a:rPr>
                            <m:t>)</m:t>
                          </m:r>
                        </m:e>
                        <m:sup>
                          <m:r>
                            <a:rPr lang="en-US" sz="1800" i="1">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1800">
                          <a:effectLst/>
                          <a:latin typeface="Cambria Math" panose="02040503050406030204" pitchFamily="18" charset="0"/>
                          <a:ea typeface="Aptos" panose="020B0004020202020204" pitchFamily="34" charset="0"/>
                          <a:cs typeface="Times New Roman" panose="02020603050405020304" pitchFamily="18" charset="0"/>
                        </a:rPr>
                        <m:t>+</m:t>
                      </m:r>
                      <m:f>
                        <m:f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fPr>
                        <m:num>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num>
                        <m:den>
                          <m:r>
                            <a:rPr lang="en-US" sz="1800" i="1">
                              <a:effectLst/>
                              <a:latin typeface="Cambria Math" panose="02040503050406030204" pitchFamily="18" charset="0"/>
                              <a:ea typeface="Aptos" panose="020B0004020202020204" pitchFamily="34" charset="0"/>
                              <a:cs typeface="Times New Roman" panose="02020603050405020304" pitchFamily="18" charset="0"/>
                            </a:rPr>
                            <m:t>2</m:t>
                          </m:r>
                        </m:den>
                      </m:f>
                      <m:sSup>
                        <m:sSup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pPr>
                        <m:e>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e>
                        <m:sup>
                          <m:r>
                            <m:rPr>
                              <m:nor/>
                            </m:rPr>
                            <a:rPr lang="en-US" sz="1800">
                              <a:effectLst/>
                              <a:latin typeface="Aptos" panose="020B0004020202020204" pitchFamily="34" charset="0"/>
                              <a:ea typeface="Aptos" panose="020B0004020202020204" pitchFamily="34" charset="0"/>
                              <a:cs typeface="Times New Roman" panose="02020603050405020304" pitchFamily="18" charset="0"/>
                            </a:rPr>
                            <m:t>T</m:t>
                          </m:r>
                        </m:sup>
                      </m:sSup>
                      <m:r>
                        <a:rPr lang="ru-RU" sz="1800" b="1" i="1">
                          <a:effectLst/>
                          <a:latin typeface="Cambria Math" panose="02040503050406030204" pitchFamily="18" charset="0"/>
                          <a:ea typeface="Aptos" panose="020B0004020202020204" pitchFamily="34" charset="0"/>
                          <a:cs typeface="Times New Roman" panose="02020603050405020304" pitchFamily="18" charset="0"/>
                        </a:rPr>
                        <m:t>𝐰</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Таким образом, мы видим, что максимизация апостериорного распределения эквивалентна минимизации </a:t>
                </a:r>
                <a:r>
                  <a:rPr lang="ru-RU" sz="1800" dirty="0" err="1">
                    <a:effectLst/>
                    <a:latin typeface="Aptos" panose="020B0004020202020204" pitchFamily="34" charset="0"/>
                    <a:ea typeface="Aptos" panose="020B0004020202020204" pitchFamily="34" charset="0"/>
                    <a:cs typeface="Times New Roman" panose="02020603050405020304" pitchFamily="18" charset="0"/>
                  </a:rPr>
                  <a:t>регуляризованной</a:t>
                </a:r>
                <a:r>
                  <a:rPr lang="ru-RU" sz="1800" dirty="0">
                    <a:effectLst/>
                    <a:latin typeface="Aptos" panose="020B0004020202020204" pitchFamily="34" charset="0"/>
                    <a:ea typeface="Aptos" panose="020B0004020202020204" pitchFamily="34" charset="0"/>
                    <a:cs typeface="Times New Roman" panose="02020603050405020304" pitchFamily="18" charset="0"/>
                  </a:rPr>
                  <a:t> суммы квадратов функции ошибок, встречающейся </a:t>
                </a:r>
                <a:r>
                  <a:rPr lang="ru-RU" sz="1800" dirty="0">
                    <a:latin typeface="Aptos" panose="020B0004020202020204" pitchFamily="34" charset="0"/>
                    <a:ea typeface="Aptos" panose="020B0004020202020204" pitchFamily="34" charset="0"/>
                    <a:cs typeface="Times New Roman" panose="02020603050405020304" pitchFamily="18" charset="0"/>
                  </a:rPr>
                  <a:t>при регуляризации, </a:t>
                </a:r>
                <a:r>
                  <a:rPr lang="ru-RU" sz="1800" dirty="0">
                    <a:effectLst/>
                    <a:latin typeface="Aptos" panose="020B0004020202020204" pitchFamily="34" charset="0"/>
                    <a:ea typeface="Aptos" panose="020B0004020202020204" pitchFamily="34" charset="0"/>
                    <a:cs typeface="Times New Roman" panose="02020603050405020304" pitchFamily="18" charset="0"/>
                  </a:rPr>
                  <a:t>где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𝜆</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𝛼</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𝛽</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endParaRPr lang="ru-RU" dirty="0"/>
              </a:p>
            </p:txBody>
          </p:sp>
        </mc:Choice>
        <mc:Fallback xmlns="">
          <p:sp>
            <p:nvSpPr>
              <p:cNvPr id="3" name="Объект 2">
                <a:extLst>
                  <a:ext uri="{FF2B5EF4-FFF2-40B4-BE49-F238E27FC236}">
                    <a16:creationId xmlns:a16="http://schemas.microsoft.com/office/drawing/2014/main" id="{594A7ACE-FD0A-5F45-8D21-E2A5DF0DF892}"/>
                  </a:ext>
                </a:extLst>
              </p:cNvPr>
              <p:cNvSpPr>
                <a:spLocks noGrp="1" noRot="1" noChangeAspect="1" noMove="1" noResize="1" noEditPoints="1" noAdjustHandles="1" noChangeArrowheads="1" noChangeShapeType="1" noTextEdit="1"/>
              </p:cNvSpPr>
              <p:nvPr>
                <p:ph idx="1"/>
              </p:nvPr>
            </p:nvSpPr>
            <p:spPr>
              <a:xfrm>
                <a:off x="457200" y="1600200"/>
                <a:ext cx="8229600" cy="4892675"/>
              </a:xfrm>
              <a:blipFill>
                <a:blip r:embed="rId2"/>
                <a:stretch>
                  <a:fillRect l="-309" t="-1036" r="-30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03E8A4F5-68B6-4248-B9C9-05B4EB8D0886}"/>
              </a:ext>
            </a:extLst>
          </p:cNvPr>
          <p:cNvSpPr>
            <a:spLocks noGrp="1"/>
          </p:cNvSpPr>
          <p:nvPr>
            <p:ph type="sldNum" sz="quarter" idx="12"/>
          </p:nvPr>
        </p:nvSpPr>
        <p:spPr/>
        <p:txBody>
          <a:bodyPr/>
          <a:lstStyle/>
          <a:p>
            <a:fld id="{38237106-F2ED-405E-BC33-CC3CF426205F}" type="slidenum">
              <a:rPr lang="en-US" smtClean="0"/>
              <a:pPr/>
              <a:t>44</a:t>
            </a:fld>
            <a:endParaRPr lang="en-US"/>
          </a:p>
        </p:txBody>
      </p:sp>
    </p:spTree>
    <p:extLst>
      <p:ext uri="{BB962C8B-B14F-4D97-AF65-F5344CB8AC3E}">
        <p14:creationId xmlns:p14="http://schemas.microsoft.com/office/powerpoint/2010/main" val="7428971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FC87ECB-625C-924F-9EC5-5E5223853AF0}"/>
              </a:ext>
            </a:extLst>
          </p:cNvPr>
          <p:cNvSpPr>
            <a:spLocks noGrp="1"/>
          </p:cNvSpPr>
          <p:nvPr>
            <p:ph type="title"/>
          </p:nvPr>
        </p:nvSpPr>
        <p:spPr/>
        <p:txBody>
          <a:bodyPr>
            <a:normAutofit fontScale="90000"/>
          </a:bodyPr>
          <a:lstStyle/>
          <a:p>
            <a:r>
              <a:rPr lang="ru-RU" dirty="0"/>
              <a:t>Байесовская аппроксимация кривой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A9F07056-F7F9-9B47-89FB-68B85D2C8504}"/>
                  </a:ext>
                </a:extLst>
              </p:cNvPr>
              <p:cNvSpPr>
                <a:spLocks noGrp="1"/>
              </p:cNvSpPr>
              <p:nvPr>
                <p:ph idx="1"/>
              </p:nvPr>
            </p:nvSpPr>
            <p:spPr>
              <a:xfrm>
                <a:off x="457200" y="1219200"/>
                <a:ext cx="4556955" cy="5498123"/>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en-US" sz="1800" b="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en-US" sz="18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𝑡</m:t>
                          </m:r>
                        </m:e>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b="1" i="0" smtClean="0">
                              <a:effectLst/>
                              <a:latin typeface="Cambria Math" panose="02040503050406030204" pitchFamily="18" charset="0"/>
                              <a:ea typeface="Aptos" panose="020B0004020202020204" pitchFamily="34" charset="0"/>
                              <a:cs typeface="Times New Roman" panose="02020603050405020304" pitchFamily="18" charset="0"/>
                            </a:rPr>
                            <m:t>𝐱</m:t>
                          </m:r>
                          <m:r>
                            <a:rPr lang="ru-RU" sz="1800" i="0">
                              <a:effectLst/>
                              <a:latin typeface="Cambria Math" panose="02040503050406030204" pitchFamily="18" charset="0"/>
                              <a:ea typeface="Aptos" panose="020B0004020202020204" pitchFamily="34" charset="0"/>
                              <a:cs typeface="Times New Roman" panose="02020603050405020304" pitchFamily="18" charset="0"/>
                            </a:rPr>
                            <m:t>,</m:t>
                          </m:r>
                          <m:r>
                            <a:rPr lang="en-US" sz="1800" b="1" i="0" smtClean="0">
                              <a:effectLst/>
                              <a:latin typeface="Cambria Math" panose="02040503050406030204" pitchFamily="18" charset="0"/>
                              <a:ea typeface="Aptos" panose="020B0004020202020204" pitchFamily="34" charset="0"/>
                              <a:cs typeface="Times New Roman" panose="02020603050405020304" pitchFamily="18" charset="0"/>
                            </a:rPr>
                            <m:t>𝐭</m:t>
                          </m:r>
                        </m:e>
                      </m:d>
                      <m:r>
                        <a:rPr lang="en-US" sz="1800" b="0" i="0" smtClean="0">
                          <a:effectLst/>
                          <a:latin typeface="Cambria Math" panose="02040503050406030204" pitchFamily="18" charset="0"/>
                          <a:ea typeface="Aptos" panose="020B0004020202020204" pitchFamily="34" charset="0"/>
                          <a:cs typeface="Times New Roman" panose="02020603050405020304" pitchFamily="18" charset="0"/>
                        </a:rPr>
                        <m:t>=</m:t>
                      </m:r>
                      <m:nary>
                        <m:naryPr>
                          <m:limLoc m:val="undOvr"/>
                          <m:subHide m:val="on"/>
                          <m:supHide m:val="on"/>
                          <m:ctrlPr>
                            <a:rPr lang="en-US" sz="1800" b="0" i="1" smtClean="0">
                              <a:effectLst/>
                              <a:latin typeface="Cambria Math" panose="02040503050406030204" pitchFamily="18" charset="0"/>
                              <a:cs typeface="Times New Roman" panose="02020603050405020304" pitchFamily="18" charset="0"/>
                            </a:rPr>
                          </m:ctrlPr>
                        </m:naryPr>
                        <m:sub/>
                        <m:sup/>
                        <m:e>
                          <m:r>
                            <a:rPr lang="en-US" sz="1800" b="0" i="1" smtClean="0">
                              <a:effectLst/>
                              <a:latin typeface="Cambria Math" panose="02040503050406030204" pitchFamily="18" charset="0"/>
                              <a:cs typeface="Times New Roman" panose="02020603050405020304" pitchFamily="18" charset="0"/>
                            </a:rPr>
                            <m:t>𝑝</m:t>
                          </m:r>
                          <m:d>
                            <m:dPr>
                              <m:ctrlPr>
                                <a:rPr lang="en-US" sz="1800" i="1">
                                  <a:latin typeface="Cambria Math" panose="02040503050406030204" pitchFamily="18" charset="0"/>
                                  <a:ea typeface="Aptos" panose="020B0004020202020204" pitchFamily="34" charset="0"/>
                                  <a:cs typeface="Times New Roman" panose="02020603050405020304" pitchFamily="18" charset="0"/>
                                </a:rPr>
                              </m:ctrlPr>
                            </m:dPr>
                            <m:e>
                              <m:r>
                                <a:rPr lang="ru-RU" sz="1800" i="1">
                                  <a:latin typeface="Cambria Math" panose="02040503050406030204" pitchFamily="18" charset="0"/>
                                  <a:ea typeface="Aptos" panose="020B0004020202020204" pitchFamily="34" charset="0"/>
                                  <a:cs typeface="Times New Roman" panose="02020603050405020304" pitchFamily="18" charset="0"/>
                                </a:rPr>
                                <m:t>𝑡</m:t>
                              </m:r>
                            </m:e>
                            <m:e>
                              <m:r>
                                <a:rPr lang="ru-RU" sz="1800" i="1">
                                  <a:latin typeface="Cambria Math" panose="02040503050406030204" pitchFamily="18" charset="0"/>
                                  <a:ea typeface="Aptos" panose="020B0004020202020204" pitchFamily="34" charset="0"/>
                                  <a:cs typeface="Times New Roman" panose="02020603050405020304" pitchFamily="18" charset="0"/>
                                </a:rPr>
                                <m:t>𝑥</m:t>
                              </m:r>
                              <m:r>
                                <a:rPr lang="ru-RU" sz="1800">
                                  <a:latin typeface="Cambria Math" panose="02040503050406030204" pitchFamily="18" charset="0"/>
                                  <a:ea typeface="Aptos" panose="020B0004020202020204" pitchFamily="34" charset="0"/>
                                  <a:cs typeface="Times New Roman" panose="02020603050405020304" pitchFamily="18" charset="0"/>
                                </a:rPr>
                                <m:t>,</m:t>
                              </m:r>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d>
                          <m:r>
                            <a:rPr lang="en-US" sz="1800" i="1">
                              <a:latin typeface="Cambria Math" panose="02040503050406030204" pitchFamily="18" charset="0"/>
                              <a:ea typeface="Aptos" panose="020B0004020202020204" pitchFamily="34" charset="0"/>
                              <a:cs typeface="Times New Roman" panose="02020603050405020304" pitchFamily="18" charset="0"/>
                            </a:rPr>
                            <m:t>𝑝</m:t>
                          </m:r>
                          <m:d>
                            <m:dPr>
                              <m:ctrlPr>
                                <a:rPr lang="en-US" sz="1800" b="0" i="1" smtClean="0">
                                  <a:latin typeface="Cambria Math" panose="02040503050406030204" pitchFamily="18" charset="0"/>
                                  <a:ea typeface="Aptos" panose="020B0004020202020204" pitchFamily="34" charset="0"/>
                                  <a:cs typeface="Times New Roman" panose="02020603050405020304" pitchFamily="18" charset="0"/>
                                </a:rPr>
                              </m:ctrlPr>
                            </m:dPr>
                            <m:e>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e>
                              <m:r>
                                <a:rPr lang="en-US" sz="1800" b="1" i="1">
                                  <a:latin typeface="Cambria Math" panose="02040503050406030204" pitchFamily="18" charset="0"/>
                                  <a:ea typeface="Aptos" panose="020B0004020202020204" pitchFamily="34" charset="0"/>
                                  <a:cs typeface="Times New Roman" panose="02020603050405020304" pitchFamily="18" charset="0"/>
                                </a:rPr>
                                <m:t>𝒙</m:t>
                              </m:r>
                              <m:r>
                                <a:rPr lang="ru-RU" sz="1800">
                                  <a:latin typeface="Cambria Math" panose="02040503050406030204" pitchFamily="18" charset="0"/>
                                  <a:ea typeface="Aptos" panose="020B0004020202020204" pitchFamily="34" charset="0"/>
                                  <a:cs typeface="Times New Roman" panose="02020603050405020304" pitchFamily="18" charset="0"/>
                                </a:rPr>
                                <m:t>,</m:t>
                              </m:r>
                              <m:r>
                                <a:rPr lang="en-US" sz="1800" b="1" i="1">
                                  <a:latin typeface="Cambria Math" panose="02040503050406030204" pitchFamily="18" charset="0"/>
                                  <a:ea typeface="Aptos" panose="020B0004020202020204" pitchFamily="34" charset="0"/>
                                  <a:cs typeface="Times New Roman" panose="02020603050405020304" pitchFamily="18" charset="0"/>
                                </a:rPr>
                                <m:t>𝒕</m:t>
                              </m:r>
                            </m:e>
                          </m:d>
                          <m:r>
                            <a:rPr lang="en-US" sz="1800" b="0" i="1" smtClean="0">
                              <a:latin typeface="Cambria Math" panose="02040503050406030204" pitchFamily="18" charset="0"/>
                              <a:ea typeface="Aptos" panose="020B0004020202020204" pitchFamily="34" charset="0"/>
                              <a:cs typeface="Times New Roman" panose="02020603050405020304" pitchFamily="18" charset="0"/>
                            </a:rPr>
                            <m:t>𝑑</m:t>
                          </m:r>
                          <m:r>
                            <a:rPr lang="en-US" sz="1800" b="1" i="0" smtClean="0">
                              <a:latin typeface="Cambria Math" panose="02040503050406030204" pitchFamily="18" charset="0"/>
                              <a:ea typeface="Aptos" panose="020B0004020202020204" pitchFamily="34" charset="0"/>
                              <a:cs typeface="Times New Roman" panose="02020603050405020304" pitchFamily="18" charset="0"/>
                            </a:rPr>
                            <m:t>𝐰</m:t>
                          </m:r>
                        </m:e>
                      </m:nary>
                    </m:oMath>
                  </m:oMathPara>
                </a14:m>
                <a:endParaRPr lang="ru-RU" dirty="0"/>
              </a:p>
              <a:p>
                <a:pPr marL="0" indent="0">
                  <a:buNone/>
                </a:pPr>
                <a:r>
                  <a:rPr lang="ru-RU" sz="1800" dirty="0">
                    <a:latin typeface="Fd261957-Identity-H"/>
                  </a:rPr>
                  <a:t>И</a:t>
                </a:r>
                <a:r>
                  <a:rPr lang="ru-RU" sz="1800" dirty="0">
                    <a:effectLst/>
                    <a:latin typeface="Fd261957-Identity-H"/>
                  </a:rPr>
                  <a:t>нтегрирование в данно</a:t>
                </a:r>
                <a:r>
                  <a:rPr lang="ru-RU" sz="1800" dirty="0">
                    <a:latin typeface="Fd261957-Identity-H"/>
                  </a:rPr>
                  <a:t>й </a:t>
                </a:r>
                <a:r>
                  <a:rPr lang="ru-RU" sz="1800" dirty="0">
                    <a:effectLst/>
                    <a:latin typeface="Fd261957-Identity-H"/>
                  </a:rPr>
                  <a:t>формуле можно выполнить аналитически, в результате чего прогностическое распределение принимает вид нормального распределения: </a:t>
                </a:r>
                <a:endParaRPr lang="en-US" sz="1800" dirty="0">
                  <a:effectLst/>
                  <a:latin typeface="Fd261957-Identity-H"/>
                </a:endParaRPr>
              </a:p>
              <a:p>
                <a:pPr marL="0" indent="0">
                  <a:buNone/>
                </a:pPr>
                <a:endParaRPr lang="ru-RU" sz="2000" dirty="0"/>
              </a:p>
              <a:p>
                <a:pPr marL="0" indent="0">
                  <a:buNone/>
                </a:pPr>
                <a14:m>
                  <m:oMathPara xmlns:m="http://schemas.openxmlformats.org/officeDocument/2006/math">
                    <m:oMathParaPr>
                      <m:jc m:val="centerGroup"/>
                    </m:oMathParaPr>
                    <m:oMath xmlns:m="http://schemas.openxmlformats.org/officeDocument/2006/math">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𝑝</m:t>
                      </m:r>
                      <m:d>
                        <m:dPr>
                          <m:ctrlP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ru-RU" sz="2000" i="1">
                              <a:effectLst/>
                              <a:latin typeface="Cambria Math" panose="02040503050406030204" pitchFamily="18" charset="0"/>
                              <a:ea typeface="Aptos" panose="020B0004020202020204" pitchFamily="34" charset="0"/>
                              <a:cs typeface="Times New Roman" panose="02020603050405020304" pitchFamily="18" charset="0"/>
                            </a:rPr>
                            <m:t>𝑡</m:t>
                          </m:r>
                        </m:e>
                        <m:e>
                          <m:r>
                            <a:rPr lang="ru-RU" sz="2000" i="1">
                              <a:effectLst/>
                              <a:latin typeface="Cambria Math" panose="02040503050406030204" pitchFamily="18" charset="0"/>
                              <a:ea typeface="Aptos" panose="020B0004020202020204" pitchFamily="34" charset="0"/>
                              <a:cs typeface="Times New Roman" panose="02020603050405020304" pitchFamily="18" charset="0"/>
                            </a:rPr>
                            <m:t>𝑥</m:t>
                          </m:r>
                          <m:r>
                            <a:rPr lang="ru-RU" sz="2000">
                              <a:effectLst/>
                              <a:latin typeface="Cambria Math" panose="02040503050406030204" pitchFamily="18" charset="0"/>
                              <a:ea typeface="Aptos" panose="020B0004020202020204" pitchFamily="34" charset="0"/>
                              <a:cs typeface="Times New Roman" panose="02020603050405020304" pitchFamily="18" charset="0"/>
                            </a:rPr>
                            <m:t>,</m:t>
                          </m:r>
                          <m:r>
                            <a:rPr lang="en-US" sz="2000" b="1" i="0" smtClean="0">
                              <a:effectLst/>
                              <a:latin typeface="Cambria Math" panose="02040503050406030204" pitchFamily="18" charset="0"/>
                              <a:ea typeface="Aptos" panose="020B0004020202020204" pitchFamily="34" charset="0"/>
                              <a:cs typeface="Times New Roman" panose="02020603050405020304" pitchFamily="18" charset="0"/>
                            </a:rPr>
                            <m:t>𝐱</m:t>
                          </m:r>
                          <m:r>
                            <a:rPr lang="ru-RU" sz="2000" i="0">
                              <a:effectLst/>
                              <a:latin typeface="Cambria Math" panose="02040503050406030204" pitchFamily="18" charset="0"/>
                              <a:ea typeface="Aptos" panose="020B0004020202020204" pitchFamily="34" charset="0"/>
                              <a:cs typeface="Times New Roman" panose="02020603050405020304" pitchFamily="18" charset="0"/>
                            </a:rPr>
                            <m:t>,</m:t>
                          </m:r>
                          <m:r>
                            <a:rPr lang="en-US" sz="2000" b="1" i="0" smtClean="0">
                              <a:effectLst/>
                              <a:latin typeface="Cambria Math" panose="02040503050406030204" pitchFamily="18" charset="0"/>
                              <a:ea typeface="Aptos" panose="020B0004020202020204" pitchFamily="34" charset="0"/>
                              <a:cs typeface="Times New Roman" panose="02020603050405020304" pitchFamily="18" charset="0"/>
                            </a:rPr>
                            <m:t>𝐭</m:t>
                          </m:r>
                        </m:e>
                      </m:d>
                      <m:r>
                        <a:rPr lang="en-US" sz="2000" b="0" i="0"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𝑁</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𝑡</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𝑚</m:t>
                      </m:r>
                      <m:d>
                        <m:dPr>
                          <m:ctrlP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𝑥</m:t>
                          </m:r>
                        </m:e>
                      </m:d>
                      <m:r>
                        <a:rPr lang="en-US" sz="2000" b="0" i="1" smtClean="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US" sz="2000" b="0" i="1" smtClean="0">
                              <a:effectLst/>
                              <a:latin typeface="Cambria Math" panose="02040503050406030204" pitchFamily="18" charset="0"/>
                              <a:cs typeface="Times New Roman" panose="02020603050405020304" pitchFamily="18" charset="0"/>
                            </a:rPr>
                          </m:ctrlPr>
                        </m:sSupPr>
                        <m:e>
                          <m:r>
                            <a:rPr lang="en-US" sz="2000" b="0" i="1" smtClean="0">
                              <a:effectLst/>
                              <a:latin typeface="Cambria Math" panose="02040503050406030204" pitchFamily="18" charset="0"/>
                              <a:cs typeface="Times New Roman" panose="02020603050405020304" pitchFamily="18" charset="0"/>
                            </a:rPr>
                            <m:t>𝑠</m:t>
                          </m:r>
                        </m:e>
                        <m:sup>
                          <m:r>
                            <a:rPr lang="en-US" sz="2000" b="0" i="1" smtClean="0">
                              <a:effectLst/>
                              <a:latin typeface="Cambria Math" panose="02040503050406030204" pitchFamily="18" charset="0"/>
                              <a:cs typeface="Times New Roman" panose="02020603050405020304" pitchFamily="18" charset="0"/>
                            </a:rPr>
                            <m:t>2</m:t>
                          </m:r>
                        </m:sup>
                      </m:sSup>
                      <m:d>
                        <m:dPr>
                          <m:ctrlPr>
                            <a:rPr lang="en-US" sz="2000" b="0" i="1" smtClean="0">
                              <a:effectLst/>
                              <a:latin typeface="Cambria Math" panose="02040503050406030204" pitchFamily="18" charset="0"/>
                              <a:cs typeface="Times New Roman" panose="02020603050405020304" pitchFamily="18" charset="0"/>
                            </a:rPr>
                          </m:ctrlPr>
                        </m:dPr>
                        <m:e>
                          <m:r>
                            <a:rPr lang="en-US" sz="2000" b="0" i="1" smtClean="0">
                              <a:effectLst/>
                              <a:latin typeface="Cambria Math" panose="02040503050406030204" pitchFamily="18" charset="0"/>
                              <a:cs typeface="Times New Roman" panose="02020603050405020304" pitchFamily="18" charset="0"/>
                            </a:rPr>
                            <m:t>𝑥</m:t>
                          </m:r>
                        </m:e>
                      </m:d>
                      <m:r>
                        <a:rPr lang="en-US" sz="2000" b="0" i="1" smtClean="0">
                          <a:effectLst/>
                          <a:latin typeface="Cambria Math" panose="02040503050406030204" pitchFamily="18" charset="0"/>
                          <a:cs typeface="Times New Roman" panose="02020603050405020304" pitchFamily="18" charset="0"/>
                        </a:rPr>
                        <m:t>)</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𝑚</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e>
                      </m:d>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𝛽</m:t>
                      </m:r>
                      <m:sSup>
                        <m:sSupPr>
                          <m:ctrlPr>
                            <a:rPr lang="en-US" sz="2000" b="0" i="1" smtClean="0">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e>
                        <m:sup>
                          <m:r>
                            <a:rPr lang="en-US" sz="2000" b="0" i="1" smtClean="0">
                              <a:latin typeface="Cambria Math" panose="02040503050406030204" pitchFamily="18" charset="0"/>
                              <a:ea typeface="Cambria Math" panose="02040503050406030204" pitchFamily="18" charset="0"/>
                            </a:rPr>
                            <m:t>𝑇</m:t>
                          </m:r>
                        </m:sup>
                      </m:sSup>
                      <m:r>
                        <a:rPr lang="en-US" sz="2000" b="0" i="1" smtClean="0">
                          <a:latin typeface="Cambria Math" panose="02040503050406030204" pitchFamily="18" charset="0"/>
                          <a:ea typeface="Cambria Math" panose="02040503050406030204" pitchFamily="18" charset="0"/>
                        </a:rPr>
                        <m:t>𝑆</m:t>
                      </m:r>
                      <m:nary>
                        <m:naryPr>
                          <m:chr m:val="∑"/>
                          <m:ctrlPr>
                            <a:rPr lang="en-US" sz="2000" b="0" i="1" smtClean="0">
                              <a:latin typeface="Cambria Math" panose="02040503050406030204" pitchFamily="18" charset="0"/>
                              <a:ea typeface="Cambria Math" panose="02040503050406030204" pitchFamily="18" charset="0"/>
                            </a:rPr>
                          </m:ctrlPr>
                        </m:naryPr>
                        <m:sub>
                          <m:r>
                            <m:rPr>
                              <m:brk m:alnAt="23"/>
                            </m:rPr>
                            <a:rPr lang="en-US" sz="2000" b="0" i="1" smtClean="0">
                              <a:latin typeface="Cambria Math" panose="02040503050406030204" pitchFamily="18" charset="0"/>
                              <a:ea typeface="Cambria Math" panose="02040503050406030204" pitchFamily="18" charset="0"/>
                            </a:rPr>
                            <m:t>𝑛</m:t>
                          </m:r>
                          <m:r>
                            <a:rPr lang="en-US" sz="2000" b="0" i="1" smtClean="0">
                              <a:latin typeface="Cambria Math" panose="02040503050406030204" pitchFamily="18" charset="0"/>
                              <a:ea typeface="Cambria Math" panose="02040503050406030204" pitchFamily="18" charset="0"/>
                            </a:rPr>
                            <m:t>=1</m:t>
                          </m:r>
                        </m:sub>
                        <m:sup>
                          <m:r>
                            <a:rPr lang="en-US" sz="2000" b="0" i="1" smtClean="0">
                              <a:latin typeface="Cambria Math" panose="02040503050406030204" pitchFamily="18" charset="0"/>
                              <a:ea typeface="Cambria Math" panose="02040503050406030204" pitchFamily="18" charset="0"/>
                            </a:rPr>
                            <m:t>𝑁</m:t>
                          </m:r>
                        </m:sup>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smtClean="0">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b="0" i="1" smtClean="0">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sSub>
                            <m:sSubPr>
                              <m:ctrlPr>
                                <a:rPr lang="en-US" sz="200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𝑡</m:t>
                              </m:r>
                            </m:e>
                            <m:sub>
                              <m:r>
                                <a:rPr lang="en-US" sz="2000" b="0" i="1" smtClean="0">
                                  <a:latin typeface="Cambria Math" panose="02040503050406030204" pitchFamily="18" charset="0"/>
                                  <a:ea typeface="Cambria Math" panose="02040503050406030204" pitchFamily="18" charset="0"/>
                                </a:rPr>
                                <m:t>𝑛</m:t>
                              </m:r>
                            </m:sub>
                          </m:sSub>
                        </m:e>
                      </m:nary>
                    </m:oMath>
                  </m:oMathPara>
                </a14:m>
                <a:endParaRPr lang="en-US" sz="2000" b="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000" i="1">
                              <a:latin typeface="Cambria Math" panose="02040503050406030204" pitchFamily="18" charset="0"/>
                              <a:cs typeface="Times New Roman" panose="02020603050405020304" pitchFamily="18" charset="0"/>
                            </a:rPr>
                          </m:ctrlPr>
                        </m:sSupPr>
                        <m:e>
                          <m:r>
                            <a:rPr lang="en-US" sz="2000" i="1">
                              <a:latin typeface="Cambria Math" panose="02040503050406030204" pitchFamily="18" charset="0"/>
                              <a:cs typeface="Times New Roman" panose="02020603050405020304" pitchFamily="18" charset="0"/>
                            </a:rPr>
                            <m:t>𝑠</m:t>
                          </m:r>
                        </m:e>
                        <m:sup>
                          <m:r>
                            <a:rPr lang="en-US" sz="2000" i="1">
                              <a:latin typeface="Cambria Math" panose="02040503050406030204" pitchFamily="18" charset="0"/>
                              <a:cs typeface="Times New Roman" panose="02020603050405020304" pitchFamily="18" charset="0"/>
                            </a:rPr>
                            <m:t>2</m:t>
                          </m:r>
                        </m:sup>
                      </m:sSup>
                      <m:d>
                        <m:dPr>
                          <m:ctrlPr>
                            <a:rPr lang="en-US" sz="2000" i="1">
                              <a:latin typeface="Cambria Math" panose="02040503050406030204" pitchFamily="18" charset="0"/>
                              <a:cs typeface="Times New Roman" panose="02020603050405020304" pitchFamily="18" charset="0"/>
                            </a:rPr>
                          </m:ctrlPr>
                        </m:dPr>
                        <m:e>
                          <m:r>
                            <a:rPr lang="en-US" sz="2000" i="1">
                              <a:latin typeface="Cambria Math" panose="02040503050406030204" pitchFamily="18" charset="0"/>
                              <a:cs typeface="Times New Roman" panose="02020603050405020304" pitchFamily="18" charset="0"/>
                            </a:rPr>
                            <m:t>𝑥</m:t>
                          </m:r>
                        </m:e>
                      </m:d>
                      <m:r>
                        <a:rPr lang="en-US" sz="2000" b="0" i="1" smtClean="0">
                          <a:latin typeface="Cambria Math" panose="02040503050406030204" pitchFamily="18" charset="0"/>
                          <a:cs typeface="Times New Roman" panose="02020603050405020304" pitchFamily="18" charset="0"/>
                        </a:rPr>
                        <m:t>=</m:t>
                      </m:r>
                      <m:sSup>
                        <m:sSupPr>
                          <m:ctrlPr>
                            <a:rPr lang="en-US" sz="2000" b="0" i="1" smtClean="0">
                              <a:latin typeface="Cambria Math" panose="02040503050406030204" pitchFamily="18" charset="0"/>
                              <a:cs typeface="Times New Roman" panose="02020603050405020304" pitchFamily="18" charset="0"/>
                            </a:rPr>
                          </m:ctrlPr>
                        </m:sSupPr>
                        <m:e>
                          <m:r>
                            <a:rPr lang="en-US" sz="2000" i="1">
                              <a:latin typeface="Cambria Math" panose="02040503050406030204" pitchFamily="18" charset="0"/>
                              <a:ea typeface="Cambria Math" panose="02040503050406030204" pitchFamily="18" charset="0"/>
                            </a:rPr>
                            <m:t>𝛽</m:t>
                          </m:r>
                        </m:e>
                        <m:sup>
                          <m:r>
                            <a:rPr lang="en-US" sz="2000" b="0" i="1" smtClean="0">
                              <a:latin typeface="Cambria Math" panose="02040503050406030204" pitchFamily="18" charset="0"/>
                              <a:cs typeface="Times New Roman" panose="02020603050405020304" pitchFamily="18" charset="0"/>
                            </a:rPr>
                            <m:t>−1</m:t>
                          </m:r>
                        </m:sup>
                      </m:sSup>
                      <m:r>
                        <a:rPr lang="en-US" sz="2000" b="0" i="1" smtClean="0">
                          <a:latin typeface="Cambria Math" panose="02040503050406030204" pitchFamily="18" charset="0"/>
                          <a:cs typeface="Times New Roman" panose="020206030504050203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𝑇</m:t>
                          </m:r>
                        </m:sup>
                      </m:sSup>
                      <m:r>
                        <a:rPr lang="en-US" sz="2000" i="1">
                          <a:latin typeface="Cambria Math" panose="02040503050406030204" pitchFamily="18" charset="0"/>
                          <a:ea typeface="Cambria Math" panose="02040503050406030204" pitchFamily="18" charset="0"/>
                        </a:rPr>
                        <m:t>𝑆</m:t>
                      </m:r>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oMath>
                  </m:oMathPara>
                </a14:m>
                <a:endParaRPr lang="en-US" sz="2000" dirty="0"/>
              </a:p>
              <a:p>
                <a:pPr marL="0" indent="0">
                  <a:buNone/>
                </a:pPr>
                <a14:m>
                  <m:oMathPara xmlns:m="http://schemas.openxmlformats.org/officeDocument/2006/math">
                    <m:oMathParaPr>
                      <m:jc m:val="centerGroup"/>
                    </m:oMathParaPr>
                    <m:oMath xmlns:m="http://schemas.openxmlformats.org/officeDocument/2006/math">
                      <m:sSup>
                        <m:sSupPr>
                          <m:ctrlPr>
                            <a:rPr lang="en-US" sz="2000" b="0" i="1" smtClean="0">
                              <a:effectLst/>
                              <a:latin typeface="Cambria Math" panose="02040503050406030204" pitchFamily="18" charset="0"/>
                              <a:cs typeface="Times New Roman" panose="02020603050405020304" pitchFamily="18" charset="0"/>
                            </a:rPr>
                          </m:ctrlPr>
                        </m:sSupPr>
                        <m:e>
                          <m:r>
                            <a:rPr lang="en-US" sz="2000" b="0" i="1" smtClean="0">
                              <a:effectLst/>
                              <a:latin typeface="Cambria Math" panose="02040503050406030204" pitchFamily="18" charset="0"/>
                              <a:cs typeface="Times New Roman" panose="02020603050405020304" pitchFamily="18" charset="0"/>
                            </a:rPr>
                            <m:t>𝑆</m:t>
                          </m:r>
                        </m:e>
                        <m:sup>
                          <m:r>
                            <a:rPr lang="en-US" sz="2000" b="0" i="1" smtClean="0">
                              <a:effectLst/>
                              <a:latin typeface="Cambria Math" panose="02040503050406030204" pitchFamily="18" charset="0"/>
                              <a:cs typeface="Times New Roman" panose="02020603050405020304" pitchFamily="18" charset="0"/>
                            </a:rPr>
                            <m:t>−1</m:t>
                          </m:r>
                        </m:sup>
                      </m:sSup>
                      <m:r>
                        <a:rPr lang="en-US" sz="2000" b="0" i="1" smtClean="0">
                          <a:effectLst/>
                          <a:latin typeface="Cambria Math" panose="02040503050406030204" pitchFamily="18" charset="0"/>
                          <a:cs typeface="Times New Roman" panose="02020603050405020304" pitchFamily="18" charset="0"/>
                        </a:rPr>
                        <m:t>=</m:t>
                      </m:r>
                      <m:r>
                        <a:rPr lang="en-US" sz="2000" b="0" i="1" smtClean="0">
                          <a:effectLst/>
                          <a:latin typeface="Cambria Math" panose="02040503050406030204" pitchFamily="18" charset="0"/>
                          <a:ea typeface="Cambria Math" panose="02040503050406030204" pitchFamily="18" charset="0"/>
                          <a:cs typeface="Times New Roman" panose="02020603050405020304" pitchFamily="18" charset="0"/>
                        </a:rPr>
                        <m:t>𝛼</m:t>
                      </m:r>
                      <m:r>
                        <a:rPr lang="en-US" sz="2000" b="1" i="0" smtClean="0">
                          <a:effectLst/>
                          <a:latin typeface="Cambria Math" panose="02040503050406030204" pitchFamily="18" charset="0"/>
                          <a:ea typeface="Cambria Math" panose="02040503050406030204" pitchFamily="18" charset="0"/>
                          <a:cs typeface="Times New Roman" panose="02020603050405020304" pitchFamily="18" charset="0"/>
                        </a:rPr>
                        <m:t>𝐈</m:t>
                      </m:r>
                      <m:r>
                        <a:rPr lang="en-US" sz="2000" b="1" i="0" smtClean="0">
                          <a:effectLst/>
                          <a:latin typeface="Cambria Math" panose="02040503050406030204" pitchFamily="18" charset="0"/>
                          <a:ea typeface="Cambria Math" panose="02040503050406030204" pitchFamily="18" charset="0"/>
                          <a:cs typeface="Times New Roman" panose="02020603050405020304" pitchFamily="18" charset="0"/>
                        </a:rPr>
                        <m:t>+</m:t>
                      </m:r>
                      <m:r>
                        <a:rPr lang="en-US" sz="2000" i="1">
                          <a:latin typeface="Cambria Math" panose="02040503050406030204" pitchFamily="18" charset="0"/>
                          <a:ea typeface="Cambria Math" panose="02040503050406030204" pitchFamily="18" charset="0"/>
                        </a:rPr>
                        <m:t>𝛽</m:t>
                      </m:r>
                      <m:nary>
                        <m:naryPr>
                          <m:chr m:val="∑"/>
                          <m:ctrlPr>
                            <a:rPr lang="en-US" sz="2000" i="1">
                              <a:latin typeface="Cambria Math" panose="02040503050406030204" pitchFamily="18" charset="0"/>
                              <a:ea typeface="Cambria Math" panose="02040503050406030204" pitchFamily="18" charset="0"/>
                            </a:rPr>
                          </m:ctrlPr>
                        </m:naryPr>
                        <m:sub>
                          <m:r>
                            <m:rPr>
                              <m:brk m:alnAt="23"/>
                            </m:rPr>
                            <a:rPr lang="en-US" sz="2000" i="1">
                              <a:latin typeface="Cambria Math" panose="02040503050406030204" pitchFamily="18" charset="0"/>
                              <a:ea typeface="Cambria Math" panose="02040503050406030204" pitchFamily="18" charset="0"/>
                            </a:rPr>
                            <m:t>𝑛</m:t>
                          </m:r>
                          <m:r>
                            <a:rPr lang="en-US" sz="2000" i="1">
                              <a:latin typeface="Cambria Math" panose="02040503050406030204" pitchFamily="18" charset="0"/>
                              <a:ea typeface="Cambria Math" panose="02040503050406030204" pitchFamily="18" charset="0"/>
                            </a:rPr>
                            <m:t>=1</m:t>
                          </m:r>
                        </m:sub>
                        <m:sup>
                          <m:r>
                            <a:rPr lang="en-US" sz="2000" i="1">
                              <a:latin typeface="Cambria Math" panose="02040503050406030204" pitchFamily="18" charset="0"/>
                              <a:ea typeface="Cambria Math" panose="02040503050406030204" pitchFamily="18" charset="0"/>
                            </a:rPr>
                            <m:t>𝑁</m:t>
                          </m:r>
                        </m:sup>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i="1">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i="1">
                                      <a:latin typeface="Cambria Math" panose="02040503050406030204" pitchFamily="18" charset="0"/>
                                      <a:ea typeface="Cambria Math" panose="02040503050406030204" pitchFamily="18" charset="0"/>
                                    </a:rPr>
                                    <m:t>𝑛</m:t>
                                  </m:r>
                                </m:sub>
                              </m:sSub>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𝑇</m:t>
                              </m:r>
                            </m:sup>
                          </m:sSup>
                        </m:e>
                      </m:nary>
                    </m:oMath>
                  </m:oMathPara>
                </a14:m>
                <a:endParaRPr lang="en-US" sz="2000" b="1" dirty="0"/>
              </a:p>
              <a:p>
                <a:pPr marL="0" indent="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d>
                        <m:dPr>
                          <m:ctrlPr>
                            <a:rPr lang="en-US" sz="200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𝑥</m:t>
                          </m:r>
                        </m:e>
                      </m:d>
                      <m:r>
                        <a:rPr lang="en-US" sz="2000" b="0" i="1" smtClean="0">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𝑥</m:t>
                          </m:r>
                        </m:e>
                        <m:sup>
                          <m:r>
                            <a:rPr lang="en-US" sz="2000" b="0" i="1" smtClean="0">
                              <a:latin typeface="Cambria Math" panose="02040503050406030204" pitchFamily="18" charset="0"/>
                              <a:ea typeface="Cambria Math" panose="02040503050406030204" pitchFamily="18" charset="0"/>
                            </a:rPr>
                            <m:t>𝑖</m:t>
                          </m:r>
                        </m:sup>
                      </m:sSup>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𝑖</m:t>
                      </m:r>
                      <m:r>
                        <a:rPr lang="en-US" sz="2000" b="0" i="1" smtClean="0">
                          <a:latin typeface="Cambria Math" panose="02040503050406030204" pitchFamily="18" charset="0"/>
                          <a:ea typeface="Cambria Math" panose="02040503050406030204" pitchFamily="18" charset="0"/>
                        </a:rPr>
                        <m:t>=</m:t>
                      </m:r>
                      <m:acc>
                        <m:accPr>
                          <m:chr m:val="̅"/>
                          <m:ctrlPr>
                            <a:rPr lang="en-US" sz="2000" b="0" i="1" smtClean="0">
                              <a:latin typeface="Cambria Math" panose="02040503050406030204" pitchFamily="18" charset="0"/>
                              <a:ea typeface="Cambria Math" panose="02040503050406030204" pitchFamily="18" charset="0"/>
                            </a:rPr>
                          </m:ctrlPr>
                        </m:accPr>
                        <m:e>
                          <m:r>
                            <a:rPr lang="en-US" sz="2000" b="0" i="1" smtClean="0">
                              <a:latin typeface="Cambria Math" panose="02040503050406030204" pitchFamily="18" charset="0"/>
                              <a:ea typeface="Cambria Math" panose="02040503050406030204" pitchFamily="18" charset="0"/>
                            </a:rPr>
                            <m:t>0,</m:t>
                          </m:r>
                          <m:r>
                            <a:rPr lang="en-US" sz="2000" b="0" i="1" smtClean="0">
                              <a:latin typeface="Cambria Math" panose="02040503050406030204" pitchFamily="18" charset="0"/>
                              <a:ea typeface="Cambria Math" panose="02040503050406030204" pitchFamily="18" charset="0"/>
                            </a:rPr>
                            <m:t>𝑀</m:t>
                          </m:r>
                        </m:e>
                      </m:acc>
                      <m:r>
                        <a:rPr lang="en-US" sz="2000" b="0" i="1" smtClean="0">
                          <a:latin typeface="Cambria Math" panose="02040503050406030204" pitchFamily="18" charset="0"/>
                          <a:ea typeface="Cambria Math" panose="02040503050406030204" pitchFamily="18" charset="0"/>
                        </a:rPr>
                        <m:t>)</m:t>
                      </m:r>
                    </m:oMath>
                  </m:oMathPara>
                </a14:m>
                <a:endParaRPr lang="ru-RU" sz="2000" b="1" dirty="0"/>
              </a:p>
            </p:txBody>
          </p:sp>
        </mc:Choice>
        <mc:Fallback xmlns="">
          <p:sp>
            <p:nvSpPr>
              <p:cNvPr id="3" name="Объект 2">
                <a:extLst>
                  <a:ext uri="{FF2B5EF4-FFF2-40B4-BE49-F238E27FC236}">
                    <a16:creationId xmlns:a16="http://schemas.microsoft.com/office/drawing/2014/main" id="{A9F07056-F7F9-9B47-89FB-68B85D2C8504}"/>
                  </a:ext>
                </a:extLst>
              </p:cNvPr>
              <p:cNvSpPr>
                <a:spLocks noGrp="1" noRot="1" noChangeAspect="1" noMove="1" noResize="1" noEditPoints="1" noAdjustHandles="1" noChangeArrowheads="1" noChangeShapeType="1" noTextEdit="1"/>
              </p:cNvSpPr>
              <p:nvPr>
                <p:ph idx="1"/>
              </p:nvPr>
            </p:nvSpPr>
            <p:spPr>
              <a:xfrm>
                <a:off x="457200" y="1219200"/>
                <a:ext cx="4556955" cy="5498123"/>
              </a:xfrm>
              <a:blipFill>
                <a:blip r:embed="rId2"/>
                <a:stretch>
                  <a:fillRect l="-1111" t="-19861" r="-1111" b="-11778"/>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8295BF10-7C15-8E4F-82CC-8096D0EC6894}"/>
              </a:ext>
            </a:extLst>
          </p:cNvPr>
          <p:cNvSpPr>
            <a:spLocks noGrp="1"/>
          </p:cNvSpPr>
          <p:nvPr>
            <p:ph type="sldNum" sz="quarter" idx="12"/>
          </p:nvPr>
        </p:nvSpPr>
        <p:spPr/>
        <p:txBody>
          <a:bodyPr/>
          <a:lstStyle/>
          <a:p>
            <a:fld id="{38237106-F2ED-405E-BC33-CC3CF426205F}" type="slidenum">
              <a:rPr lang="en-US" smtClean="0"/>
              <a:pPr/>
              <a:t>45</a:t>
            </a:fld>
            <a:endParaRPr lang="en-US"/>
          </a:p>
        </p:txBody>
      </p:sp>
      <p:pic>
        <p:nvPicPr>
          <p:cNvPr id="5" name="Рисунок 4">
            <a:extLst>
              <a:ext uri="{FF2B5EF4-FFF2-40B4-BE49-F238E27FC236}">
                <a16:creationId xmlns:a16="http://schemas.microsoft.com/office/drawing/2014/main" id="{915A6EFB-3F50-C646-A671-A5E6435B4B92}"/>
              </a:ext>
            </a:extLst>
          </p:cNvPr>
          <p:cNvPicPr>
            <a:picLocks noChangeAspect="1"/>
          </p:cNvPicPr>
          <p:nvPr/>
        </p:nvPicPr>
        <p:blipFill>
          <a:blip r:embed="rId3"/>
          <a:stretch>
            <a:fillRect/>
          </a:stretch>
        </p:blipFill>
        <p:spPr>
          <a:xfrm>
            <a:off x="5014155" y="3566258"/>
            <a:ext cx="3672645" cy="2741552"/>
          </a:xfrm>
          <a:prstGeom prst="rect">
            <a:avLst/>
          </a:prstGeom>
        </p:spPr>
      </p:pic>
    </p:spTree>
    <p:extLst>
      <p:ext uri="{BB962C8B-B14F-4D97-AF65-F5344CB8AC3E}">
        <p14:creationId xmlns:p14="http://schemas.microsoft.com/office/powerpoint/2010/main" val="25361691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C475B6-B7C2-854C-99A4-FFF4AE5D3A15}"/>
              </a:ext>
            </a:extLst>
          </p:cNvPr>
          <p:cNvSpPr>
            <a:spLocks noGrp="1"/>
          </p:cNvSpPr>
          <p:nvPr>
            <p:ph type="title"/>
          </p:nvPr>
        </p:nvSpPr>
        <p:spPr/>
        <p:txBody>
          <a:bodyPr>
            <a:normAutofit/>
          </a:bodyPr>
          <a:lstStyle/>
          <a:p>
            <a:r>
              <a:rPr lang="ru-RU" dirty="0"/>
              <a:t>Выбор модели </a:t>
            </a:r>
          </a:p>
        </p:txBody>
      </p:sp>
      <p:graphicFrame>
        <p:nvGraphicFramePr>
          <p:cNvPr id="5" name="Объект 4">
            <a:extLst>
              <a:ext uri="{FF2B5EF4-FFF2-40B4-BE49-F238E27FC236}">
                <a16:creationId xmlns:a16="http://schemas.microsoft.com/office/drawing/2014/main" id="{358D9797-6D7E-F04D-90E1-41C1554A1757}"/>
              </a:ext>
            </a:extLst>
          </p:cNvPr>
          <p:cNvGraphicFramePr>
            <a:graphicFrameLocks noGrp="1"/>
          </p:cNvGraphicFramePr>
          <p:nvPr>
            <p:ph idx="1"/>
            <p:extLst>
              <p:ext uri="{D42A27DB-BD31-4B8C-83A1-F6EECF244321}">
                <p14:modId xmlns:p14="http://schemas.microsoft.com/office/powerpoint/2010/main" val="112861420"/>
              </p:ext>
            </p:extLst>
          </p:nvPr>
        </p:nvGraphicFramePr>
        <p:xfrm>
          <a:off x="457200" y="1210235"/>
          <a:ext cx="8229600" cy="52826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Номер слайда 3">
            <a:extLst>
              <a:ext uri="{FF2B5EF4-FFF2-40B4-BE49-F238E27FC236}">
                <a16:creationId xmlns:a16="http://schemas.microsoft.com/office/drawing/2014/main" id="{C3985BA7-E185-264F-802D-03DA64C9F078}"/>
              </a:ext>
            </a:extLst>
          </p:cNvPr>
          <p:cNvSpPr>
            <a:spLocks noGrp="1"/>
          </p:cNvSpPr>
          <p:nvPr>
            <p:ph type="sldNum" sz="quarter" idx="12"/>
          </p:nvPr>
        </p:nvSpPr>
        <p:spPr/>
        <p:txBody>
          <a:bodyPr/>
          <a:lstStyle/>
          <a:p>
            <a:fld id="{38237106-F2ED-405E-BC33-CC3CF426205F}" type="slidenum">
              <a:rPr lang="en-US" smtClean="0"/>
              <a:pPr/>
              <a:t>46</a:t>
            </a:fld>
            <a:endParaRPr lang="en-US"/>
          </a:p>
        </p:txBody>
      </p:sp>
    </p:spTree>
    <p:extLst>
      <p:ext uri="{BB962C8B-B14F-4D97-AF65-F5344CB8AC3E}">
        <p14:creationId xmlns:p14="http://schemas.microsoft.com/office/powerpoint/2010/main" val="1972169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3A53C0-3786-9F4F-9077-84B639A3D404}"/>
              </a:ext>
            </a:extLst>
          </p:cNvPr>
          <p:cNvSpPr>
            <a:spLocks noGrp="1"/>
          </p:cNvSpPr>
          <p:nvPr>
            <p:ph type="title"/>
          </p:nvPr>
        </p:nvSpPr>
        <p:spPr/>
        <p:txBody>
          <a:bodyPr/>
          <a:lstStyle/>
          <a:p>
            <a:r>
              <a:rPr lang="en" dirty="0"/>
              <a:t>No free lunch theorem</a:t>
            </a:r>
            <a:endParaRPr lang="ru-RU" dirty="0"/>
          </a:p>
        </p:txBody>
      </p:sp>
      <p:sp>
        <p:nvSpPr>
          <p:cNvPr id="3" name="Объект 2">
            <a:extLst>
              <a:ext uri="{FF2B5EF4-FFF2-40B4-BE49-F238E27FC236}">
                <a16:creationId xmlns:a16="http://schemas.microsoft.com/office/drawing/2014/main" id="{F03817DF-AA9D-494B-B19C-2D23B90C32BB}"/>
              </a:ext>
            </a:extLst>
          </p:cNvPr>
          <p:cNvSpPr>
            <a:spLocks noGrp="1"/>
          </p:cNvSpPr>
          <p:nvPr>
            <p:ph idx="1"/>
          </p:nvPr>
        </p:nvSpPr>
        <p:spPr/>
        <p:txBody>
          <a:bodyPr/>
          <a:lstStyle/>
          <a:p>
            <a:pPr marL="0" indent="0" algn="r">
              <a:buNone/>
            </a:pPr>
            <a:r>
              <a:rPr lang="ru-RU" sz="1800" i="1" dirty="0">
                <a:effectLst/>
                <a:latin typeface="PTSerif" panose="020A0603040505020204" pitchFamily="18" charset="0"/>
              </a:rPr>
              <a:t>Все модели неверны, но некоторые из них полезны</a:t>
            </a:r>
            <a:r>
              <a:rPr lang="ru-RU" sz="1800" dirty="0">
                <a:effectLst/>
                <a:latin typeface="PTSerif" panose="020A0603040505020204" pitchFamily="18" charset="0"/>
              </a:rPr>
              <a:t>. — Джордж Бокс </a:t>
            </a:r>
            <a:endParaRPr lang="ru-RU" dirty="0"/>
          </a:p>
          <a:p>
            <a:pPr marL="0" indent="0">
              <a:buNone/>
            </a:pPr>
            <a:endParaRPr lang="ru-RU" sz="1800" dirty="0">
              <a:effectLst/>
              <a:latin typeface="PTSerif" panose="020A0603040505020204" pitchFamily="18" charset="0"/>
            </a:endParaRPr>
          </a:p>
          <a:p>
            <a:pPr marL="0" indent="0">
              <a:buNone/>
            </a:pPr>
            <a:r>
              <a:rPr lang="ru-RU" sz="1800" dirty="0">
                <a:effectLst/>
                <a:latin typeface="PTSerif" panose="020A0603040505020204" pitchFamily="18" charset="0"/>
              </a:rPr>
              <a:t>В литературе описано множество самых разных моделей, поэтому естественно спросить, какая их них наилучшая. К сожалению, не существует одной модели, которая была бы оптимальна для всех задач, – иногда этот факт называют </a:t>
            </a:r>
            <a:r>
              <a:rPr lang="ru-RU" sz="1800" b="1" dirty="0">
                <a:effectLst/>
                <a:latin typeface="PTSerif" panose="020A0603040505020204" pitchFamily="18" charset="0"/>
              </a:rPr>
              <a:t>теоремой об отсутствии бесплатных завтраков</a:t>
            </a:r>
            <a:r>
              <a:rPr lang="en" sz="1800" dirty="0">
                <a:effectLst/>
                <a:latin typeface="PTSerif" panose="020A0603040505020204" pitchFamily="18" charset="0"/>
              </a:rPr>
              <a:t>. </a:t>
            </a:r>
            <a:r>
              <a:rPr lang="ru-RU" sz="1800" dirty="0">
                <a:effectLst/>
                <a:latin typeface="PTSerif" panose="020A0603040505020204" pitchFamily="18" charset="0"/>
              </a:rPr>
              <a:t>Причина в том, что набор допущений (иногда называемый </a:t>
            </a:r>
            <a:r>
              <a:rPr lang="ru-RU" sz="1800" b="1" dirty="0">
                <a:effectLst/>
                <a:latin typeface="PTSerif" panose="020A0603040505020204" pitchFamily="18" charset="0"/>
              </a:rPr>
              <a:t>индуктивным смещением</a:t>
            </a:r>
            <a:r>
              <a:rPr lang="ru-RU" sz="1800" dirty="0">
                <a:effectLst/>
                <a:latin typeface="PTSerif" panose="020A0603040505020204" pitchFamily="18" charset="0"/>
              </a:rPr>
              <a:t>), который хорошо работает в одной предметной области, может давать никуда не годные результаты в другой. При выборе подходящей модели лучше всего опираться на знание предметной области и (или) на метод проб и ошибок (т. е. применять такие способы выбора модели, как перекрестная проверка или байесовские методы. Поэтому так важно иметь в своем арсенале много моделей и алгоритмических методов. </a:t>
            </a:r>
            <a:endParaRPr lang="ru-RU" dirty="0"/>
          </a:p>
          <a:p>
            <a:endParaRPr lang="ru-RU" dirty="0"/>
          </a:p>
        </p:txBody>
      </p:sp>
      <p:sp>
        <p:nvSpPr>
          <p:cNvPr id="4" name="Номер слайда 3">
            <a:extLst>
              <a:ext uri="{FF2B5EF4-FFF2-40B4-BE49-F238E27FC236}">
                <a16:creationId xmlns:a16="http://schemas.microsoft.com/office/drawing/2014/main" id="{E6E76D0D-BC3B-8F46-A428-2A0A80812EF4}"/>
              </a:ext>
            </a:extLst>
          </p:cNvPr>
          <p:cNvSpPr>
            <a:spLocks noGrp="1"/>
          </p:cNvSpPr>
          <p:nvPr>
            <p:ph type="sldNum" sz="quarter" idx="12"/>
          </p:nvPr>
        </p:nvSpPr>
        <p:spPr/>
        <p:txBody>
          <a:bodyPr/>
          <a:lstStyle/>
          <a:p>
            <a:fld id="{38237106-F2ED-405E-BC33-CC3CF426205F}" type="slidenum">
              <a:rPr lang="en-US" smtClean="0"/>
              <a:pPr/>
              <a:t>47</a:t>
            </a:fld>
            <a:endParaRPr lang="en-US"/>
          </a:p>
        </p:txBody>
      </p:sp>
    </p:spTree>
    <p:extLst>
      <p:ext uri="{BB962C8B-B14F-4D97-AF65-F5344CB8AC3E}">
        <p14:creationId xmlns:p14="http://schemas.microsoft.com/office/powerpoint/2010/main" val="12977755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132544-B276-9243-B0CF-88F978C3F1EF}"/>
              </a:ext>
            </a:extLst>
          </p:cNvPr>
          <p:cNvSpPr>
            <a:spLocks noGrp="1"/>
          </p:cNvSpPr>
          <p:nvPr>
            <p:ph type="title"/>
          </p:nvPr>
        </p:nvSpPr>
        <p:spPr/>
        <p:txBody>
          <a:bodyPr/>
          <a:lstStyle/>
          <a:p>
            <a:r>
              <a:rPr lang="ru-RU" dirty="0"/>
              <a:t>Перекрёстная проверка</a:t>
            </a:r>
          </a:p>
        </p:txBody>
      </p:sp>
      <p:sp>
        <p:nvSpPr>
          <p:cNvPr id="3" name="Объект 2">
            <a:extLst>
              <a:ext uri="{FF2B5EF4-FFF2-40B4-BE49-F238E27FC236}">
                <a16:creationId xmlns:a16="http://schemas.microsoft.com/office/drawing/2014/main" id="{DF88D02B-1695-3743-A80D-8F323F48CFC2}"/>
              </a:ext>
            </a:extLst>
          </p:cNvPr>
          <p:cNvSpPr>
            <a:spLocks noGrp="1"/>
          </p:cNvSpPr>
          <p:nvPr>
            <p:ph idx="1"/>
          </p:nvPr>
        </p:nvSpPr>
        <p:spPr>
          <a:xfrm>
            <a:off x="457200" y="3429000"/>
            <a:ext cx="8229600" cy="2697163"/>
          </a:xfrm>
        </p:spPr>
        <p:txBody>
          <a:bodyPr>
            <a:normAutofit fontScale="92500" lnSpcReduction="20000"/>
          </a:bodyPr>
          <a:lstStyle/>
          <a:p>
            <a:r>
              <a:rPr lang="ru-RU" sz="1800" dirty="0">
                <a:effectLst/>
                <a:latin typeface="Fd467651-Identity-H"/>
              </a:rPr>
              <a:t>Метод </a:t>
            </a:r>
            <a:r>
              <a:rPr lang="en" sz="1800" i="1" dirty="0">
                <a:effectLst/>
                <a:latin typeface="Fd467651-Identity-H"/>
              </a:rPr>
              <a:t>S</a:t>
            </a:r>
            <a:r>
              <a:rPr lang="en" sz="1800" dirty="0">
                <a:effectLst/>
                <a:latin typeface="Fd467651-Identity-H"/>
              </a:rPr>
              <a:t>-</a:t>
            </a:r>
            <a:r>
              <a:rPr lang="ru-RU" sz="1800" dirty="0">
                <a:effectLst/>
                <a:latin typeface="Fd467651-Identity-H"/>
              </a:rPr>
              <a:t>групповой перекрестной проверки, проиллюстрированный здесь для случая </a:t>
            </a:r>
            <a:r>
              <a:rPr lang="en" sz="1800" i="1" dirty="0">
                <a:effectLst/>
                <a:latin typeface="Fd467651-Identity-H"/>
              </a:rPr>
              <a:t>S</a:t>
            </a:r>
            <a:r>
              <a:rPr lang="en" sz="1800" dirty="0">
                <a:effectLst/>
                <a:latin typeface="Fd467651-Identity-H"/>
              </a:rPr>
              <a:t> </a:t>
            </a:r>
            <a:r>
              <a:rPr lang="en" sz="1800" dirty="0">
                <a:effectLst/>
                <a:latin typeface="Fd2532549-Identity-H"/>
              </a:rPr>
              <a:t>= </a:t>
            </a:r>
            <a:r>
              <a:rPr lang="en" sz="1800" dirty="0">
                <a:effectLst/>
                <a:latin typeface="Fd2260317-Identity-H"/>
              </a:rPr>
              <a:t>4, </a:t>
            </a:r>
            <a:r>
              <a:rPr lang="ru-RU" sz="1800" dirty="0">
                <a:effectLst/>
                <a:latin typeface="Fd467651-Identity-H"/>
              </a:rPr>
              <a:t>включает в себя получение доступных данных </a:t>
            </a:r>
            <a:r>
              <a:rPr lang="ru-RU" sz="1800" dirty="0">
                <a:effectLst/>
                <a:latin typeface="Fd2558666-Identity-H"/>
              </a:rPr>
              <a:t>и </a:t>
            </a:r>
            <a:r>
              <a:rPr lang="ru-RU" sz="1800" dirty="0">
                <a:effectLst/>
                <a:latin typeface="Fd467651-Identity-H"/>
              </a:rPr>
              <a:t>разбиение их на </a:t>
            </a:r>
            <a:r>
              <a:rPr lang="en" sz="1800" i="1" dirty="0">
                <a:effectLst/>
                <a:latin typeface="Fd467651-Identity-H"/>
              </a:rPr>
              <a:t>S</a:t>
            </a:r>
            <a:r>
              <a:rPr lang="en" sz="1800" dirty="0">
                <a:effectLst/>
                <a:latin typeface="Fd467651-Identity-H"/>
              </a:rPr>
              <a:t> </a:t>
            </a:r>
            <a:r>
              <a:rPr lang="ru-RU" sz="1800" dirty="0">
                <a:effectLst/>
                <a:latin typeface="Fd467651-Identity-H"/>
              </a:rPr>
              <a:t>групп (в простейшем случае они имеют одинаковый размер). Затем </a:t>
            </a:r>
            <a:r>
              <a:rPr lang="en" sz="1800" i="1" dirty="0">
                <a:effectLst/>
                <a:latin typeface="Fd2561963-Identity-H"/>
              </a:rPr>
              <a:t>S</a:t>
            </a:r>
            <a:r>
              <a:rPr lang="en" sz="1800" dirty="0">
                <a:effectLst/>
                <a:latin typeface="Fd2561963-Identity-H"/>
              </a:rPr>
              <a:t> </a:t>
            </a:r>
            <a:r>
              <a:rPr lang="en" sz="1800" dirty="0">
                <a:effectLst/>
                <a:latin typeface="Fd2532549-Identity-H"/>
              </a:rPr>
              <a:t>- </a:t>
            </a:r>
            <a:r>
              <a:rPr lang="en" sz="1800" dirty="0">
                <a:effectLst/>
                <a:latin typeface="Fd2260317-Identity-H"/>
              </a:rPr>
              <a:t>1 </a:t>
            </a:r>
            <a:r>
              <a:rPr lang="ru-RU" sz="1800" dirty="0">
                <a:effectLst/>
                <a:latin typeface="Fd467651-Identity-H"/>
              </a:rPr>
              <a:t>групп используются для обучения набора моделей, а оценка точности осуществляется на оставшейся группе. После этого описанная процедура повторяется для всех возможных вариантов выбора </a:t>
            </a:r>
            <a:r>
              <a:rPr lang="en" sz="1800" i="1" dirty="0">
                <a:effectLst/>
                <a:latin typeface="Fd467651-Identity-H"/>
              </a:rPr>
              <a:t>S</a:t>
            </a:r>
            <a:r>
              <a:rPr lang="en" sz="1800" dirty="0">
                <a:effectLst/>
                <a:latin typeface="Fd467651-Identity-H"/>
              </a:rPr>
              <a:t> </a:t>
            </a:r>
            <a:r>
              <a:rPr lang="ru-RU" sz="1800" dirty="0">
                <a:effectLst/>
                <a:latin typeface="Fd467651-Identity-H"/>
              </a:rPr>
              <a:t>групп, обозначенных здесь красным цветом, а показатели точности, полученные</a:t>
            </a:r>
            <a:br>
              <a:rPr lang="ru-RU" sz="1800" dirty="0">
                <a:effectLst/>
                <a:latin typeface="Fd467651-Identity-H"/>
              </a:rPr>
            </a:br>
            <a:r>
              <a:rPr lang="ru-RU" sz="1800" dirty="0">
                <a:effectLst/>
                <a:latin typeface="Fd467651-Identity-H"/>
              </a:rPr>
              <a:t>в результате </a:t>
            </a:r>
            <a:r>
              <a:rPr lang="en" sz="1800" i="1" dirty="0">
                <a:effectLst/>
                <a:latin typeface="Fd467651-Identity-H"/>
              </a:rPr>
              <a:t>S</a:t>
            </a:r>
            <a:r>
              <a:rPr lang="en" sz="1800" dirty="0">
                <a:effectLst/>
                <a:latin typeface="Fd467651-Identity-H"/>
              </a:rPr>
              <a:t> </a:t>
            </a:r>
            <a:r>
              <a:rPr lang="ru-RU" sz="1800" dirty="0">
                <a:effectLst/>
                <a:latin typeface="Fd467651-Identity-H"/>
              </a:rPr>
              <a:t>сеансов обучения, усредняются </a:t>
            </a:r>
          </a:p>
          <a:p>
            <a:r>
              <a:rPr lang="ru-RU" sz="1800" dirty="0">
                <a:latin typeface="Fd467651-Identity-H"/>
              </a:rPr>
              <a:t>Если данных мало то можно взять </a:t>
            </a:r>
            <a:r>
              <a:rPr lang="en-US" sz="1800" i="1" dirty="0">
                <a:latin typeface="Fd467651-Identity-H"/>
              </a:rPr>
              <a:t>S</a:t>
            </a:r>
            <a:r>
              <a:rPr lang="en-US" sz="1800" dirty="0">
                <a:latin typeface="Fd467651-Identity-H"/>
              </a:rPr>
              <a:t>=</a:t>
            </a:r>
            <a:r>
              <a:rPr lang="en-US" sz="1800" i="1" dirty="0">
                <a:latin typeface="Fd467651-Identity-H"/>
              </a:rPr>
              <a:t>N</a:t>
            </a:r>
            <a:endParaRPr lang="ru-RU" sz="1800" i="1" dirty="0">
              <a:latin typeface="Fd467651-Identity-H"/>
            </a:endParaRPr>
          </a:p>
          <a:p>
            <a:r>
              <a:rPr lang="ru-RU" sz="1800" dirty="0">
                <a:latin typeface="Fd467651-Identity-H"/>
              </a:rPr>
              <a:t>Если параметров много, то </a:t>
            </a:r>
            <a:r>
              <a:rPr lang="ru-RU" sz="1800" dirty="0">
                <a:latin typeface="Fd261957-Identity-H"/>
              </a:rPr>
              <a:t>и</a:t>
            </a:r>
            <a:r>
              <a:rPr lang="ru-RU" sz="1800" dirty="0">
                <a:effectLst/>
                <a:latin typeface="Fd261957-Identity-H"/>
              </a:rPr>
              <a:t>зучение комбинаций таких параметров могло бы в худшем случае потребовать нескольких сеансов обучения, количество которых экспоненциально растет при увеличении количества парамет­ров. </a:t>
            </a:r>
            <a:endParaRPr lang="ru-RU" dirty="0"/>
          </a:p>
          <a:p>
            <a:endParaRPr lang="ru-RU" i="1" dirty="0"/>
          </a:p>
        </p:txBody>
      </p:sp>
      <p:sp>
        <p:nvSpPr>
          <p:cNvPr id="4" name="Номер слайда 3">
            <a:extLst>
              <a:ext uri="{FF2B5EF4-FFF2-40B4-BE49-F238E27FC236}">
                <a16:creationId xmlns:a16="http://schemas.microsoft.com/office/drawing/2014/main" id="{38C37DED-9220-B64C-8E72-A898EB214952}"/>
              </a:ext>
            </a:extLst>
          </p:cNvPr>
          <p:cNvSpPr>
            <a:spLocks noGrp="1"/>
          </p:cNvSpPr>
          <p:nvPr>
            <p:ph type="sldNum" sz="quarter" idx="12"/>
          </p:nvPr>
        </p:nvSpPr>
        <p:spPr/>
        <p:txBody>
          <a:bodyPr/>
          <a:lstStyle/>
          <a:p>
            <a:fld id="{38237106-F2ED-405E-BC33-CC3CF426205F}" type="slidenum">
              <a:rPr lang="en-US" smtClean="0"/>
              <a:pPr/>
              <a:t>48</a:t>
            </a:fld>
            <a:endParaRPr lang="en-US"/>
          </a:p>
        </p:txBody>
      </p:sp>
      <p:pic>
        <p:nvPicPr>
          <p:cNvPr id="5" name="Рисунок 4">
            <a:extLst>
              <a:ext uri="{FF2B5EF4-FFF2-40B4-BE49-F238E27FC236}">
                <a16:creationId xmlns:a16="http://schemas.microsoft.com/office/drawing/2014/main" id="{D0EBB6A0-60EC-C84E-9F8A-3922341D7820}"/>
              </a:ext>
            </a:extLst>
          </p:cNvPr>
          <p:cNvPicPr>
            <a:picLocks noChangeAspect="1"/>
          </p:cNvPicPr>
          <p:nvPr/>
        </p:nvPicPr>
        <p:blipFill>
          <a:blip r:embed="rId2"/>
          <a:stretch>
            <a:fillRect/>
          </a:stretch>
        </p:blipFill>
        <p:spPr>
          <a:xfrm>
            <a:off x="2916619" y="1417149"/>
            <a:ext cx="3310762" cy="1869342"/>
          </a:xfrm>
          <a:prstGeom prst="rect">
            <a:avLst/>
          </a:prstGeom>
        </p:spPr>
      </p:pic>
    </p:spTree>
    <p:extLst>
      <p:ext uri="{BB962C8B-B14F-4D97-AF65-F5344CB8AC3E}">
        <p14:creationId xmlns:p14="http://schemas.microsoft.com/office/powerpoint/2010/main" val="23335305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0065ED5-5D8A-7049-A9DF-153C181795D2}"/>
              </a:ext>
            </a:extLst>
          </p:cNvPr>
          <p:cNvSpPr>
            <a:spLocks noGrp="1"/>
          </p:cNvSpPr>
          <p:nvPr>
            <p:ph type="title"/>
          </p:nvPr>
        </p:nvSpPr>
        <p:spPr/>
        <p:txBody>
          <a:bodyPr/>
          <a:lstStyle/>
          <a:p>
            <a:r>
              <a:rPr lang="ru-RU" dirty="0"/>
              <a:t>Штраф за сложность</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D4DA1240-001D-1E4B-8BE3-2F6D9B8B099B}"/>
                  </a:ext>
                </a:extLst>
              </p:cNvPr>
              <p:cNvSpPr>
                <a:spLocks noGrp="1"/>
              </p:cNvSpPr>
              <p:nvPr>
                <p:ph idx="1"/>
              </p:nvPr>
            </p:nvSpPr>
            <p:spPr/>
            <p:txBody>
              <a:bodyPr>
                <a:normAutofit/>
              </a:bodyPr>
              <a:lstStyle/>
              <a:p>
                <a:pPr marL="0" indent="0">
                  <a:buNone/>
                </a:pPr>
                <a:r>
                  <a:rPr lang="en-US" sz="1800" dirty="0" err="1">
                    <a:latin typeface="Fd2042035-Identity-H"/>
                  </a:rPr>
                  <a:t>И</a:t>
                </a:r>
                <a:r>
                  <a:rPr lang="ru-RU" sz="1800" dirty="0" err="1">
                    <a:effectLst/>
                    <a:latin typeface="Fd2042035-Identity-H"/>
                  </a:rPr>
                  <a:t>нформационный</a:t>
                </a:r>
                <a:r>
                  <a:rPr lang="ru-RU" sz="1800" dirty="0">
                    <a:effectLst/>
                    <a:latin typeface="Fd2042035-Identity-H"/>
                  </a:rPr>
                  <a:t> критерий </a:t>
                </a:r>
                <a:r>
                  <a:rPr lang="ru-RU" sz="1800" dirty="0" err="1">
                    <a:effectLst/>
                    <a:latin typeface="Fd2042035-Identity-H"/>
                  </a:rPr>
                  <a:t>Акаике</a:t>
                </a:r>
                <a:r>
                  <a:rPr lang="ru-RU" sz="1800" dirty="0">
                    <a:effectLst/>
                    <a:latin typeface="Fd2042035-Identity-H"/>
                  </a:rPr>
                  <a:t>, </a:t>
                </a:r>
                <a:r>
                  <a:rPr lang="ru-RU" sz="1800" dirty="0">
                    <a:effectLst/>
                    <a:latin typeface="Fd1161503-Identity-H"/>
                  </a:rPr>
                  <a:t>или </a:t>
                </a:r>
                <a:r>
                  <a:rPr lang="ru-RU" sz="1800" dirty="0">
                    <a:effectLst/>
                    <a:latin typeface="Fd1785535-Identity-H"/>
                  </a:rPr>
                  <a:t>(</a:t>
                </a:r>
                <a:r>
                  <a:rPr lang="en" sz="1800" dirty="0">
                    <a:effectLst/>
                    <a:latin typeface="Fd1785535-Identity-H"/>
                  </a:rPr>
                  <a:t>Akaike, </a:t>
                </a:r>
                <a:r>
                  <a:rPr lang="en" sz="1800" dirty="0">
                    <a:effectLst/>
                    <a:latin typeface="Fd261957-Identity-H"/>
                  </a:rPr>
                  <a:t>AIC</a:t>
                </a:r>
                <a:r>
                  <a:rPr lang="ru-RU" sz="1800" dirty="0">
                    <a:latin typeface="Fd261957-Identity-H"/>
                  </a:rPr>
                  <a:t>)</a:t>
                </a:r>
                <a:r>
                  <a:rPr lang="ru-RU" sz="1800" dirty="0">
                    <a:effectLst/>
                    <a:latin typeface="Fd261957-Identity-H"/>
                  </a:rPr>
                  <a:t>:</a:t>
                </a:r>
              </a:p>
              <a:p>
                <a:pPr marL="0" indent="0">
                  <a:buNone/>
                </a:pPr>
                <a:endParaRPr lang="ru-RU" sz="1800" dirty="0">
                  <a:effectLst/>
                  <a:latin typeface="Fd261957-Identity-H"/>
                </a:endParaRPr>
              </a:p>
              <a:p>
                <a:pPr marL="0" indent="0">
                  <a:buNone/>
                </a:pPr>
                <a14:m>
                  <m:oMathPara xmlns:m="http://schemas.openxmlformats.org/officeDocument/2006/math">
                    <m:oMathParaPr>
                      <m:jc m:val="centerGroup"/>
                    </m:oMathParaPr>
                    <m:oMath xmlns:m="http://schemas.openxmlformats.org/officeDocument/2006/math">
                      <m:func>
                        <m:funcPr>
                          <m:ctrlPr>
                            <a:rPr lang="en" sz="1800" i="1" smtClean="0">
                              <a:effectLst/>
                              <a:latin typeface="Cambria Math" panose="02040503050406030204" pitchFamily="18" charset="0"/>
                            </a:rPr>
                          </m:ctrlPr>
                        </m:funcPr>
                        <m:fName>
                          <m:r>
                            <m:rPr>
                              <m:sty m:val="p"/>
                            </m:rPr>
                            <a:rPr lang="en" sz="1800" i="0" smtClean="0">
                              <a:effectLst/>
                              <a:latin typeface="Cambria Math" panose="02040503050406030204" pitchFamily="18" charset="0"/>
                            </a:rPr>
                            <m:t>ln</m:t>
                          </m:r>
                        </m:fName>
                        <m:e>
                          <m:r>
                            <a:rPr lang="ru-RU" sz="1800" b="0" i="1" smtClean="0">
                              <a:effectLst/>
                              <a:latin typeface="Cambria Math" panose="02040503050406030204" pitchFamily="18" charset="0"/>
                            </a:rPr>
                            <m:t>𝑝</m:t>
                          </m:r>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𝐷</m:t>
                          </m:r>
                          <m:r>
                            <a:rPr lang="en-US" sz="1800" b="0" i="1" smtClean="0">
                              <a:effectLst/>
                              <a:latin typeface="Cambria Math" panose="02040503050406030204" pitchFamily="18" charset="0"/>
                            </a:rPr>
                            <m:t>|</m:t>
                          </m:r>
                          <m:sSub>
                            <m:sSubPr>
                              <m:ctrlPr>
                                <a:rPr lang="en-US" sz="1800" b="0" i="1" smtClean="0">
                                  <a:effectLst/>
                                  <a:latin typeface="Cambria Math" panose="02040503050406030204" pitchFamily="18" charset="0"/>
                                </a:rPr>
                              </m:ctrlPr>
                            </m:sSubPr>
                            <m:e>
                              <m:r>
                                <a:rPr lang="en-US" sz="1800" b="0" i="1" smtClean="0">
                                  <a:effectLst/>
                                  <a:latin typeface="Cambria Math" panose="02040503050406030204" pitchFamily="18" charset="0"/>
                                </a:rPr>
                                <m:t>𝑤</m:t>
                              </m:r>
                            </m:e>
                            <m:sub>
                              <m:r>
                                <a:rPr lang="en-US" sz="1800" b="0" i="1" smtClean="0">
                                  <a:effectLst/>
                                  <a:latin typeface="Cambria Math" panose="02040503050406030204" pitchFamily="18" charset="0"/>
                                </a:rPr>
                                <m:t>𝑀𝐿</m:t>
                              </m:r>
                            </m:sub>
                          </m:sSub>
                          <m:r>
                            <a:rPr lang="en-US" sz="1800" b="0" i="1" smtClean="0">
                              <a:effectLst/>
                              <a:latin typeface="Cambria Math" panose="02040503050406030204" pitchFamily="18" charset="0"/>
                            </a:rPr>
                            <m:t>)</m:t>
                          </m:r>
                        </m:e>
                      </m:func>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𝑀</m:t>
                      </m:r>
                    </m:oMath>
                  </m:oMathPara>
                </a14:m>
                <a:endParaRPr lang="ru-RU" sz="1800" dirty="0">
                  <a:effectLst/>
                  <a:latin typeface="Fd261957-Identity-H"/>
                </a:endParaRPr>
              </a:p>
              <a:p>
                <a:pPr marL="0" indent="0">
                  <a:buNone/>
                </a:pPr>
                <a14:m>
                  <m:oMath xmlns:m="http://schemas.openxmlformats.org/officeDocument/2006/math">
                    <m:func>
                      <m:funcPr>
                        <m:ctrlPr>
                          <a:rPr lang="en" sz="1800" i="1" smtClean="0">
                            <a:effectLst/>
                            <a:latin typeface="Cambria Math" panose="02040503050406030204" pitchFamily="18" charset="0"/>
                          </a:rPr>
                        </m:ctrlPr>
                      </m:funcPr>
                      <m:fName>
                        <m:r>
                          <m:rPr>
                            <m:sty m:val="p"/>
                          </m:rPr>
                          <a:rPr lang="en" sz="1800" i="0" smtClean="0">
                            <a:effectLst/>
                            <a:latin typeface="Cambria Math" panose="02040503050406030204" pitchFamily="18" charset="0"/>
                          </a:rPr>
                          <m:t>ln</m:t>
                        </m:r>
                      </m:fName>
                      <m:e>
                        <m:r>
                          <a:rPr lang="ru-RU" sz="1800" b="0" i="1" smtClean="0">
                            <a:effectLst/>
                            <a:latin typeface="Cambria Math" panose="02040503050406030204" pitchFamily="18" charset="0"/>
                          </a:rPr>
                          <m:t>𝑝</m:t>
                        </m:r>
                        <m:r>
                          <a:rPr lang="en-US" sz="1800" b="0" i="1" smtClean="0">
                            <a:effectLst/>
                            <a:latin typeface="Cambria Math" panose="02040503050406030204" pitchFamily="18" charset="0"/>
                          </a:rPr>
                          <m:t>(</m:t>
                        </m:r>
                        <m:r>
                          <a:rPr lang="en-US" sz="1800" b="0" i="1" smtClean="0">
                            <a:effectLst/>
                            <a:latin typeface="Cambria Math" panose="02040503050406030204" pitchFamily="18" charset="0"/>
                          </a:rPr>
                          <m:t>𝐷</m:t>
                        </m:r>
                        <m:r>
                          <a:rPr lang="en-US" sz="1800" b="0" i="1" smtClean="0">
                            <a:effectLst/>
                            <a:latin typeface="Cambria Math" panose="02040503050406030204" pitchFamily="18" charset="0"/>
                          </a:rPr>
                          <m:t>|</m:t>
                        </m:r>
                        <m:sSub>
                          <m:sSubPr>
                            <m:ctrlPr>
                              <a:rPr lang="en-US" sz="1800" b="0" i="1" smtClean="0">
                                <a:effectLst/>
                                <a:latin typeface="Cambria Math" panose="02040503050406030204" pitchFamily="18" charset="0"/>
                              </a:rPr>
                            </m:ctrlPr>
                          </m:sSubPr>
                          <m:e>
                            <m:r>
                              <a:rPr lang="en-US" sz="1800" b="0" i="1" smtClean="0">
                                <a:effectLst/>
                                <a:latin typeface="Cambria Math" panose="02040503050406030204" pitchFamily="18" charset="0"/>
                              </a:rPr>
                              <m:t>𝑤</m:t>
                            </m:r>
                          </m:e>
                          <m:sub>
                            <m:r>
                              <a:rPr lang="en-US" sz="1800" b="0" i="1" smtClean="0">
                                <a:effectLst/>
                                <a:latin typeface="Cambria Math" panose="02040503050406030204" pitchFamily="18" charset="0"/>
                              </a:rPr>
                              <m:t>𝑀𝐿</m:t>
                            </m:r>
                          </m:sub>
                        </m:sSub>
                        <m:r>
                          <a:rPr lang="en-US" sz="1800" b="0" i="1" smtClean="0">
                            <a:effectLst/>
                            <a:latin typeface="Cambria Math" panose="02040503050406030204" pitchFamily="18" charset="0"/>
                          </a:rPr>
                          <m:t>)</m:t>
                        </m:r>
                      </m:e>
                    </m:func>
                  </m:oMath>
                </a14:m>
                <a:r>
                  <a:rPr lang="ru-RU" sz="1800" dirty="0">
                    <a:effectLst/>
                    <a:latin typeface="Fd261957-Identity-H"/>
                  </a:rPr>
                  <a:t> - максимум логарифмической функции правдоподобия.</a:t>
                </a:r>
              </a:p>
              <a:p>
                <a:pPr marL="0" indent="0">
                  <a:buNone/>
                </a:pPr>
                <a14:m>
                  <m:oMath xmlns:m="http://schemas.openxmlformats.org/officeDocument/2006/math">
                    <m:r>
                      <a:rPr lang="en-US" sz="1800" b="0" i="1" smtClean="0">
                        <a:effectLst/>
                        <a:latin typeface="Cambria Math" panose="02040503050406030204" pitchFamily="18" charset="0"/>
                      </a:rPr>
                      <m:t>𝑀</m:t>
                    </m:r>
                  </m:oMath>
                </a14:m>
                <a:r>
                  <a:rPr lang="ru-RU" sz="1800" dirty="0">
                    <a:effectLst/>
                    <a:latin typeface="Fd261957-Identity-H"/>
                  </a:rPr>
                  <a:t> – число параметров модели. </a:t>
                </a:r>
              </a:p>
              <a:p>
                <a:pPr marL="0" indent="0">
                  <a:buNone/>
                </a:pPr>
                <a:r>
                  <a:rPr lang="ru-RU" sz="1800" dirty="0">
                    <a:effectLst/>
                    <a:latin typeface="Fd261957-Identity-H"/>
                  </a:rPr>
                  <a:t>Однако такие критерии не учитывают неопределенность в параметрах модели, и на практике они, как правило, пред­почитают слишком простые модели.</a:t>
                </a:r>
                <a:endParaRPr lang="ru-RU" dirty="0"/>
              </a:p>
            </p:txBody>
          </p:sp>
        </mc:Choice>
        <mc:Fallback xmlns="">
          <p:sp>
            <p:nvSpPr>
              <p:cNvPr id="3" name="Объект 2">
                <a:extLst>
                  <a:ext uri="{FF2B5EF4-FFF2-40B4-BE49-F238E27FC236}">
                    <a16:creationId xmlns:a16="http://schemas.microsoft.com/office/drawing/2014/main" id="{D4DA1240-001D-1E4B-8BE3-2F6D9B8B099B}"/>
                  </a:ext>
                </a:extLst>
              </p:cNvPr>
              <p:cNvSpPr>
                <a:spLocks noGrp="1" noRot="1" noChangeAspect="1" noMove="1" noResize="1" noEditPoints="1" noAdjustHandles="1" noChangeArrowheads="1" noChangeShapeType="1" noTextEdit="1"/>
              </p:cNvSpPr>
              <p:nvPr>
                <p:ph idx="1"/>
              </p:nvPr>
            </p:nvSpPr>
            <p:spPr>
              <a:blipFill>
                <a:blip r:embed="rId2"/>
                <a:stretch>
                  <a:fillRect l="-617" t="-840" r="-154"/>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3D276C8-6FD7-2F45-B54A-1FEB950641BC}"/>
              </a:ext>
            </a:extLst>
          </p:cNvPr>
          <p:cNvSpPr>
            <a:spLocks noGrp="1"/>
          </p:cNvSpPr>
          <p:nvPr>
            <p:ph type="sldNum" sz="quarter" idx="12"/>
          </p:nvPr>
        </p:nvSpPr>
        <p:spPr/>
        <p:txBody>
          <a:bodyPr/>
          <a:lstStyle/>
          <a:p>
            <a:fld id="{38237106-F2ED-405E-BC33-CC3CF426205F}" type="slidenum">
              <a:rPr lang="en-US" smtClean="0"/>
              <a:pPr/>
              <a:t>49</a:t>
            </a:fld>
            <a:endParaRPr lang="en-US"/>
          </a:p>
        </p:txBody>
      </p:sp>
    </p:spTree>
    <p:extLst>
      <p:ext uri="{BB962C8B-B14F-4D97-AF65-F5344CB8AC3E}">
        <p14:creationId xmlns:p14="http://schemas.microsoft.com/office/powerpoint/2010/main" val="2828495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AC882E0-CCBD-4B47-B0A2-EEFF77911DF4}"/>
              </a:ext>
            </a:extLst>
          </p:cNvPr>
          <p:cNvSpPr>
            <a:spLocks noGrp="1"/>
          </p:cNvSpPr>
          <p:nvPr>
            <p:ph type="title"/>
          </p:nvPr>
        </p:nvSpPr>
        <p:spPr/>
        <p:txBody>
          <a:bodyPr/>
          <a:lstStyle/>
          <a:p>
            <a:r>
              <a:rPr lang="ru-RU" dirty="0"/>
              <a:t>Пример выбора модели</a:t>
            </a:r>
          </a:p>
        </p:txBody>
      </p:sp>
      <p:pic>
        <p:nvPicPr>
          <p:cNvPr id="6" name="Объект 5">
            <a:extLst>
              <a:ext uri="{FF2B5EF4-FFF2-40B4-BE49-F238E27FC236}">
                <a16:creationId xmlns:a16="http://schemas.microsoft.com/office/drawing/2014/main" id="{97203434-156E-0C43-A9D7-6C6364453A17}"/>
              </a:ext>
            </a:extLst>
          </p:cNvPr>
          <p:cNvPicPr>
            <a:picLocks noGrp="1" noChangeAspect="1"/>
          </p:cNvPicPr>
          <p:nvPr>
            <p:ph idx="1"/>
          </p:nvPr>
        </p:nvPicPr>
        <p:blipFill>
          <a:blip r:embed="rId2"/>
          <a:stretch>
            <a:fillRect/>
          </a:stretch>
        </p:blipFill>
        <p:spPr>
          <a:xfrm>
            <a:off x="1673383" y="1600200"/>
            <a:ext cx="5797234" cy="4525963"/>
          </a:xfrm>
          <a:prstGeom prst="rect">
            <a:avLst/>
          </a:prstGeom>
        </p:spPr>
      </p:pic>
      <p:sp>
        <p:nvSpPr>
          <p:cNvPr id="4" name="Номер слайда 3">
            <a:extLst>
              <a:ext uri="{FF2B5EF4-FFF2-40B4-BE49-F238E27FC236}">
                <a16:creationId xmlns:a16="http://schemas.microsoft.com/office/drawing/2014/main" id="{321F93C0-A61B-3E48-9C3B-7363E2904C36}"/>
              </a:ext>
            </a:extLst>
          </p:cNvPr>
          <p:cNvSpPr>
            <a:spLocks noGrp="1"/>
          </p:cNvSpPr>
          <p:nvPr>
            <p:ph type="sldNum" sz="quarter" idx="12"/>
          </p:nvPr>
        </p:nvSpPr>
        <p:spPr/>
        <p:txBody>
          <a:bodyPr/>
          <a:lstStyle/>
          <a:p>
            <a:fld id="{38237106-F2ED-405E-BC33-CC3CF426205F}" type="slidenum">
              <a:rPr lang="en-US" smtClean="0"/>
              <a:pPr/>
              <a:t>50</a:t>
            </a:fld>
            <a:endParaRPr lang="en-US"/>
          </a:p>
        </p:txBody>
      </p:sp>
    </p:spTree>
    <p:extLst>
      <p:ext uri="{BB962C8B-B14F-4D97-AF65-F5344CB8AC3E}">
        <p14:creationId xmlns:p14="http://schemas.microsoft.com/office/powerpoint/2010/main" val="30119216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C218D04-10E9-0C4B-A0AF-5F2FEAFA287C}"/>
              </a:ext>
            </a:extLst>
          </p:cNvPr>
          <p:cNvSpPr>
            <a:spLocks noGrp="1"/>
          </p:cNvSpPr>
          <p:nvPr>
            <p:ph type="title"/>
          </p:nvPr>
        </p:nvSpPr>
        <p:spPr/>
        <p:txBody>
          <a:bodyPr/>
          <a:lstStyle/>
          <a:p>
            <a:r>
              <a:rPr lang="ru-RU" dirty="0"/>
              <a:t>Пример выбора модели</a:t>
            </a:r>
          </a:p>
        </p:txBody>
      </p:sp>
      <p:pic>
        <p:nvPicPr>
          <p:cNvPr id="5" name="Объект 4">
            <a:extLst>
              <a:ext uri="{FF2B5EF4-FFF2-40B4-BE49-F238E27FC236}">
                <a16:creationId xmlns:a16="http://schemas.microsoft.com/office/drawing/2014/main" id="{42805D12-5B59-0A41-A50F-DFA3898F7BE5}"/>
              </a:ext>
            </a:extLst>
          </p:cNvPr>
          <p:cNvPicPr>
            <a:picLocks noGrp="1" noChangeAspect="1"/>
          </p:cNvPicPr>
          <p:nvPr>
            <p:ph idx="1"/>
          </p:nvPr>
        </p:nvPicPr>
        <p:blipFill>
          <a:blip r:embed="rId2"/>
          <a:stretch>
            <a:fillRect/>
          </a:stretch>
        </p:blipFill>
        <p:spPr>
          <a:xfrm>
            <a:off x="902380" y="1600200"/>
            <a:ext cx="7339240" cy="4525963"/>
          </a:xfrm>
          <a:prstGeom prst="rect">
            <a:avLst/>
          </a:prstGeom>
        </p:spPr>
      </p:pic>
      <p:sp>
        <p:nvSpPr>
          <p:cNvPr id="4" name="Номер слайда 3">
            <a:extLst>
              <a:ext uri="{FF2B5EF4-FFF2-40B4-BE49-F238E27FC236}">
                <a16:creationId xmlns:a16="http://schemas.microsoft.com/office/drawing/2014/main" id="{C7FB06B8-049B-484F-BC15-1D736061310A}"/>
              </a:ext>
            </a:extLst>
          </p:cNvPr>
          <p:cNvSpPr>
            <a:spLocks noGrp="1"/>
          </p:cNvSpPr>
          <p:nvPr>
            <p:ph type="sldNum" sz="quarter" idx="12"/>
          </p:nvPr>
        </p:nvSpPr>
        <p:spPr/>
        <p:txBody>
          <a:bodyPr/>
          <a:lstStyle/>
          <a:p>
            <a:fld id="{38237106-F2ED-405E-BC33-CC3CF426205F}" type="slidenum">
              <a:rPr lang="en-US" smtClean="0"/>
              <a:pPr/>
              <a:t>51</a:t>
            </a:fld>
            <a:endParaRPr lang="en-US"/>
          </a:p>
        </p:txBody>
      </p:sp>
    </p:spTree>
    <p:extLst>
      <p:ext uri="{BB962C8B-B14F-4D97-AF65-F5344CB8AC3E}">
        <p14:creationId xmlns:p14="http://schemas.microsoft.com/office/powerpoint/2010/main" val="26215695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FBCD1B-D52B-D249-A9CC-D6D450950B63}"/>
              </a:ext>
            </a:extLst>
          </p:cNvPr>
          <p:cNvSpPr>
            <a:spLocks noGrp="1"/>
          </p:cNvSpPr>
          <p:nvPr>
            <p:ph type="title"/>
          </p:nvPr>
        </p:nvSpPr>
        <p:spPr/>
        <p:txBody>
          <a:bodyPr/>
          <a:lstStyle/>
          <a:p>
            <a:r>
              <a:rPr lang="ru-RU" dirty="0"/>
              <a:t>Пример выбора модели</a:t>
            </a:r>
          </a:p>
        </p:txBody>
      </p:sp>
      <p:pic>
        <p:nvPicPr>
          <p:cNvPr id="5" name="Объект 4">
            <a:extLst>
              <a:ext uri="{FF2B5EF4-FFF2-40B4-BE49-F238E27FC236}">
                <a16:creationId xmlns:a16="http://schemas.microsoft.com/office/drawing/2014/main" id="{36782648-E42B-3A43-8C39-F7170A66D733}"/>
              </a:ext>
            </a:extLst>
          </p:cNvPr>
          <p:cNvPicPr>
            <a:picLocks noGrp="1" noChangeAspect="1"/>
          </p:cNvPicPr>
          <p:nvPr>
            <p:ph idx="1"/>
          </p:nvPr>
        </p:nvPicPr>
        <p:blipFill>
          <a:blip r:embed="rId2"/>
          <a:stretch>
            <a:fillRect/>
          </a:stretch>
        </p:blipFill>
        <p:spPr>
          <a:xfrm>
            <a:off x="515815" y="1325562"/>
            <a:ext cx="7635037" cy="5257800"/>
          </a:xfrm>
          <a:prstGeom prst="rect">
            <a:avLst/>
          </a:prstGeom>
        </p:spPr>
      </p:pic>
      <p:sp>
        <p:nvSpPr>
          <p:cNvPr id="4" name="Номер слайда 3">
            <a:extLst>
              <a:ext uri="{FF2B5EF4-FFF2-40B4-BE49-F238E27FC236}">
                <a16:creationId xmlns:a16="http://schemas.microsoft.com/office/drawing/2014/main" id="{13F43595-501E-5E4D-8D9B-A15977DF96FF}"/>
              </a:ext>
            </a:extLst>
          </p:cNvPr>
          <p:cNvSpPr>
            <a:spLocks noGrp="1"/>
          </p:cNvSpPr>
          <p:nvPr>
            <p:ph type="sldNum" sz="quarter" idx="12"/>
          </p:nvPr>
        </p:nvSpPr>
        <p:spPr/>
        <p:txBody>
          <a:bodyPr/>
          <a:lstStyle/>
          <a:p>
            <a:fld id="{38237106-F2ED-405E-BC33-CC3CF426205F}" type="slidenum">
              <a:rPr lang="en-US" smtClean="0"/>
              <a:pPr/>
              <a:t>52</a:t>
            </a:fld>
            <a:endParaRPr lang="en-US"/>
          </a:p>
        </p:txBody>
      </p:sp>
    </p:spTree>
    <p:extLst>
      <p:ext uri="{BB962C8B-B14F-4D97-AF65-F5344CB8AC3E}">
        <p14:creationId xmlns:p14="http://schemas.microsoft.com/office/powerpoint/2010/main" val="6472966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0746AD-C006-884E-AD9D-7382A3C55099}"/>
              </a:ext>
            </a:extLst>
          </p:cNvPr>
          <p:cNvSpPr>
            <a:spLocks noGrp="1"/>
          </p:cNvSpPr>
          <p:nvPr>
            <p:ph type="title"/>
          </p:nvPr>
        </p:nvSpPr>
        <p:spPr/>
        <p:txBody>
          <a:bodyPr/>
          <a:lstStyle/>
          <a:p>
            <a:r>
              <a:rPr lang="ru-RU" dirty="0"/>
              <a:t>Проклятие размерности</a:t>
            </a:r>
          </a:p>
        </p:txBody>
      </p:sp>
      <p:sp>
        <p:nvSpPr>
          <p:cNvPr id="3" name="Объект 2">
            <a:extLst>
              <a:ext uri="{FF2B5EF4-FFF2-40B4-BE49-F238E27FC236}">
                <a16:creationId xmlns:a16="http://schemas.microsoft.com/office/drawing/2014/main" id="{262C627F-A487-F841-BBCD-C8319D23C435}"/>
              </a:ext>
            </a:extLst>
          </p:cNvPr>
          <p:cNvSpPr>
            <a:spLocks noGrp="1"/>
          </p:cNvSpPr>
          <p:nvPr>
            <p:ph idx="1"/>
          </p:nvPr>
        </p:nvSpPr>
        <p:spPr/>
        <p:txBody>
          <a:bodyPr/>
          <a:lstStyle/>
          <a:p>
            <a:pPr marL="0" indent="0">
              <a:buNone/>
            </a:pPr>
            <a:r>
              <a:rPr lang="ru-RU" sz="1800" dirty="0">
                <a:effectLst/>
                <a:latin typeface="Fd34424-Identity-H"/>
              </a:rPr>
              <a:t>На </a:t>
            </a:r>
            <a:r>
              <a:rPr lang="ru-RU" sz="1800" dirty="0">
                <a:effectLst/>
                <a:latin typeface="Fd837699-Identity-H"/>
              </a:rPr>
              <a:t>рисунке </a:t>
            </a:r>
            <a:r>
              <a:rPr lang="ru-RU" sz="1800" dirty="0">
                <a:effectLst/>
                <a:latin typeface="Fd34424-Identity-H"/>
              </a:rPr>
              <a:t>показаны 100 точек из набора данных в виде диаграммы рассеяния, показывающей 2 из 12 измерений, </a:t>
            </a:r>
            <a:r>
              <a:rPr lang="ru-RU" sz="1800" dirty="0">
                <a:effectLst/>
                <a:latin typeface="Fd2561963-Identity-H"/>
              </a:rPr>
              <a:t>х6 </a:t>
            </a:r>
            <a:r>
              <a:rPr lang="ru-RU" sz="1800" dirty="0">
                <a:effectLst/>
                <a:latin typeface="Fd34424-Identity-H"/>
              </a:rPr>
              <a:t>и </a:t>
            </a:r>
            <a:r>
              <a:rPr lang="ru-RU" sz="1800" dirty="0">
                <a:effectLst/>
                <a:latin typeface="Fd2561963-Identity-H"/>
              </a:rPr>
              <a:t>х7 </a:t>
            </a:r>
            <a:r>
              <a:rPr lang="ru-RU" sz="1800" dirty="0">
                <a:effectLst/>
                <a:latin typeface="Fd34424-Identity-H"/>
              </a:rPr>
              <a:t>(остальные десять входных значений не указаны, чтобы не усло</a:t>
            </a:r>
            <a:r>
              <a:rPr lang="ru-RU" sz="1800" dirty="0">
                <a:effectLst/>
                <a:latin typeface="Fd2558668-Identity-H"/>
              </a:rPr>
              <a:t>жнять </a:t>
            </a:r>
            <a:r>
              <a:rPr lang="ru-RU" sz="1800" dirty="0">
                <a:effectLst/>
                <a:latin typeface="Fd34424-Identity-H"/>
              </a:rPr>
              <a:t>рисунок). </a:t>
            </a:r>
            <a:r>
              <a:rPr lang="ru-RU" sz="1800" dirty="0">
                <a:effectLst/>
                <a:latin typeface="Fd2449472-Identity-H"/>
              </a:rPr>
              <a:t>Каждая </a:t>
            </a:r>
            <a:r>
              <a:rPr lang="ru-RU" sz="1800" dirty="0">
                <a:effectLst/>
                <a:latin typeface="Fd34424-Identity-H"/>
              </a:rPr>
              <a:t>точка да</a:t>
            </a:r>
            <a:r>
              <a:rPr lang="ru-RU" sz="1800" dirty="0">
                <a:effectLst/>
                <a:latin typeface="Fd848363-Identity-H"/>
              </a:rPr>
              <a:t>нных </a:t>
            </a:r>
            <a:r>
              <a:rPr lang="ru-RU" sz="1800" dirty="0">
                <a:effectLst/>
                <a:latin typeface="Fd34424-Identity-H"/>
              </a:rPr>
              <a:t>помечена в соответ</a:t>
            </a:r>
            <a:r>
              <a:rPr lang="ru-RU" sz="1800" dirty="0">
                <a:effectLst/>
                <a:latin typeface="Fd2558668-Identity-H"/>
              </a:rPr>
              <a:t>ствии </a:t>
            </a:r>
            <a:r>
              <a:rPr lang="ru-RU" sz="1800" dirty="0">
                <a:effectLst/>
                <a:latin typeface="Fd34424-Identity-H"/>
              </a:rPr>
              <a:t>с тем, какому из трех геометрических классов она принадлежит. Наша цель состоит в том, чтобы использовать эти данные в качестве обучающего множества </a:t>
            </a:r>
            <a:r>
              <a:rPr lang="ru-RU" sz="1800" dirty="0">
                <a:effectLst/>
                <a:latin typeface="Fd837699-Identity-H"/>
              </a:rPr>
              <a:t>и </a:t>
            </a:r>
            <a:r>
              <a:rPr lang="ru-RU" sz="1800" dirty="0">
                <a:effectLst/>
                <a:latin typeface="Fd34424-Identity-H"/>
              </a:rPr>
              <a:t>получить возможность классифицировать новое наблюдение </a:t>
            </a:r>
            <a:r>
              <a:rPr lang="ru-RU" sz="1800" dirty="0">
                <a:effectLst/>
                <a:latin typeface="Fd2560914-Identity-H"/>
              </a:rPr>
              <a:t>(</a:t>
            </a:r>
            <a:r>
              <a:rPr lang="ru-RU" sz="1800" dirty="0">
                <a:effectLst/>
                <a:latin typeface="Fd2561963-Identity-H"/>
              </a:rPr>
              <a:t>х6, х7</a:t>
            </a:r>
            <a:r>
              <a:rPr lang="ru-RU" sz="1800" dirty="0">
                <a:effectLst/>
                <a:latin typeface="Fd2560914-Identity-H"/>
              </a:rPr>
              <a:t>)</a:t>
            </a:r>
            <a:r>
              <a:rPr lang="ru-RU" sz="1800" dirty="0">
                <a:effectLst/>
                <a:latin typeface="Fd2561963-Identity-H"/>
              </a:rPr>
              <a:t>, </a:t>
            </a:r>
            <a:r>
              <a:rPr lang="ru-RU" sz="1800" dirty="0">
                <a:effectLst/>
                <a:latin typeface="Fd34424-Identity-H"/>
              </a:rPr>
              <a:t>обозначен­ крестиком. </a:t>
            </a:r>
            <a:endParaRPr lang="ru-RU" dirty="0"/>
          </a:p>
          <a:p>
            <a:endParaRPr lang="ru-RU" dirty="0"/>
          </a:p>
        </p:txBody>
      </p:sp>
      <p:sp>
        <p:nvSpPr>
          <p:cNvPr id="4" name="Номер слайда 3">
            <a:extLst>
              <a:ext uri="{FF2B5EF4-FFF2-40B4-BE49-F238E27FC236}">
                <a16:creationId xmlns:a16="http://schemas.microsoft.com/office/drawing/2014/main" id="{A1DBCA24-E7AE-1B47-B99C-4E8418EE7807}"/>
              </a:ext>
            </a:extLst>
          </p:cNvPr>
          <p:cNvSpPr>
            <a:spLocks noGrp="1"/>
          </p:cNvSpPr>
          <p:nvPr>
            <p:ph type="sldNum" sz="quarter" idx="12"/>
          </p:nvPr>
        </p:nvSpPr>
        <p:spPr/>
        <p:txBody>
          <a:bodyPr/>
          <a:lstStyle/>
          <a:p>
            <a:fld id="{38237106-F2ED-405E-BC33-CC3CF426205F}" type="slidenum">
              <a:rPr lang="en-US" smtClean="0"/>
              <a:pPr/>
              <a:t>53</a:t>
            </a:fld>
            <a:endParaRPr lang="en-US"/>
          </a:p>
        </p:txBody>
      </p:sp>
      <p:pic>
        <p:nvPicPr>
          <p:cNvPr id="6" name="Рисунок 5">
            <a:extLst>
              <a:ext uri="{FF2B5EF4-FFF2-40B4-BE49-F238E27FC236}">
                <a16:creationId xmlns:a16="http://schemas.microsoft.com/office/drawing/2014/main" id="{699A8C59-44FB-9B42-B4C6-4E2EF5207FB9}"/>
              </a:ext>
            </a:extLst>
          </p:cNvPr>
          <p:cNvPicPr>
            <a:picLocks noChangeAspect="1"/>
          </p:cNvPicPr>
          <p:nvPr/>
        </p:nvPicPr>
        <p:blipFill>
          <a:blip r:embed="rId2"/>
          <a:stretch>
            <a:fillRect/>
          </a:stretch>
        </p:blipFill>
        <p:spPr>
          <a:xfrm>
            <a:off x="2633295" y="3505200"/>
            <a:ext cx="3286858" cy="3286858"/>
          </a:xfrm>
          <a:prstGeom prst="rect">
            <a:avLst/>
          </a:prstGeom>
        </p:spPr>
      </p:pic>
    </p:spTree>
    <p:extLst>
      <p:ext uri="{BB962C8B-B14F-4D97-AF65-F5344CB8AC3E}">
        <p14:creationId xmlns:p14="http://schemas.microsoft.com/office/powerpoint/2010/main" val="4141126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A5572E4-19BC-8D43-AEF3-5B826B27A3D8}"/>
              </a:ext>
            </a:extLst>
          </p:cNvPr>
          <p:cNvSpPr>
            <a:spLocks noGrp="1"/>
          </p:cNvSpPr>
          <p:nvPr>
            <p:ph type="title"/>
          </p:nvPr>
        </p:nvSpPr>
        <p:spPr/>
        <p:txBody>
          <a:bodyPr/>
          <a:lstStyle/>
          <a:p>
            <a:r>
              <a:rPr lang="ru-RU" dirty="0"/>
              <a:t>Проклятие размерности</a:t>
            </a:r>
          </a:p>
        </p:txBody>
      </p:sp>
      <p:pic>
        <p:nvPicPr>
          <p:cNvPr id="5" name="Объект 4">
            <a:extLst>
              <a:ext uri="{FF2B5EF4-FFF2-40B4-BE49-F238E27FC236}">
                <a16:creationId xmlns:a16="http://schemas.microsoft.com/office/drawing/2014/main" id="{34F55AF2-EE0B-4A4C-8023-1FF7D697BE0B}"/>
              </a:ext>
            </a:extLst>
          </p:cNvPr>
          <p:cNvPicPr>
            <a:picLocks noGrp="1" noChangeAspect="1"/>
          </p:cNvPicPr>
          <p:nvPr>
            <p:ph idx="1"/>
          </p:nvPr>
        </p:nvPicPr>
        <p:blipFill>
          <a:blip r:embed="rId2"/>
          <a:stretch>
            <a:fillRect/>
          </a:stretch>
        </p:blipFill>
        <p:spPr>
          <a:xfrm>
            <a:off x="663819" y="1830692"/>
            <a:ext cx="3790950" cy="3790950"/>
          </a:xfrm>
          <a:prstGeom prst="rect">
            <a:avLst/>
          </a:prstGeom>
        </p:spPr>
      </p:pic>
      <p:sp>
        <p:nvSpPr>
          <p:cNvPr id="4" name="Номер слайда 3">
            <a:extLst>
              <a:ext uri="{FF2B5EF4-FFF2-40B4-BE49-F238E27FC236}">
                <a16:creationId xmlns:a16="http://schemas.microsoft.com/office/drawing/2014/main" id="{614FA2C9-1AD1-A741-9BC6-A2BE07B7A635}"/>
              </a:ext>
            </a:extLst>
          </p:cNvPr>
          <p:cNvSpPr>
            <a:spLocks noGrp="1"/>
          </p:cNvSpPr>
          <p:nvPr>
            <p:ph type="sldNum" sz="quarter" idx="12"/>
          </p:nvPr>
        </p:nvSpPr>
        <p:spPr/>
        <p:txBody>
          <a:bodyPr/>
          <a:lstStyle/>
          <a:p>
            <a:fld id="{38237106-F2ED-405E-BC33-CC3CF426205F}" type="slidenum">
              <a:rPr lang="en-US" smtClean="0"/>
              <a:pPr/>
              <a:t>54</a:t>
            </a:fld>
            <a:endParaRPr lang="en-US"/>
          </a:p>
        </p:txBody>
      </p:sp>
      <p:pic>
        <p:nvPicPr>
          <p:cNvPr id="7" name="Рисунок 6">
            <a:extLst>
              <a:ext uri="{FF2B5EF4-FFF2-40B4-BE49-F238E27FC236}">
                <a16:creationId xmlns:a16="http://schemas.microsoft.com/office/drawing/2014/main" id="{50188554-287B-C54C-8A8C-1063FFA1A07E}"/>
              </a:ext>
            </a:extLst>
          </p:cNvPr>
          <p:cNvPicPr>
            <a:picLocks noChangeAspect="1"/>
          </p:cNvPicPr>
          <p:nvPr/>
        </p:nvPicPr>
        <p:blipFill>
          <a:blip r:embed="rId3"/>
          <a:stretch>
            <a:fillRect/>
          </a:stretch>
        </p:blipFill>
        <p:spPr>
          <a:xfrm>
            <a:off x="4761644" y="1680933"/>
            <a:ext cx="2058500" cy="628986"/>
          </a:xfrm>
          <a:prstGeom prst="rect">
            <a:avLst/>
          </a:prstGeom>
        </p:spPr>
      </p:pic>
      <p:pic>
        <p:nvPicPr>
          <p:cNvPr id="9" name="Рисунок 8">
            <a:extLst>
              <a:ext uri="{FF2B5EF4-FFF2-40B4-BE49-F238E27FC236}">
                <a16:creationId xmlns:a16="http://schemas.microsoft.com/office/drawing/2014/main" id="{F44A9DCB-A109-844A-8962-FCEA923A11C3}"/>
              </a:ext>
            </a:extLst>
          </p:cNvPr>
          <p:cNvPicPr>
            <a:picLocks noChangeAspect="1"/>
          </p:cNvPicPr>
          <p:nvPr/>
        </p:nvPicPr>
        <p:blipFill>
          <a:blip r:embed="rId4"/>
          <a:stretch>
            <a:fillRect/>
          </a:stretch>
        </p:blipFill>
        <p:spPr>
          <a:xfrm>
            <a:off x="6896343" y="2381928"/>
            <a:ext cx="1699847" cy="1801028"/>
          </a:xfrm>
          <a:prstGeom prst="rect">
            <a:avLst/>
          </a:prstGeom>
        </p:spPr>
      </p:pic>
      <p:pic>
        <p:nvPicPr>
          <p:cNvPr id="11" name="Рисунок 10">
            <a:extLst>
              <a:ext uri="{FF2B5EF4-FFF2-40B4-BE49-F238E27FC236}">
                <a16:creationId xmlns:a16="http://schemas.microsoft.com/office/drawing/2014/main" id="{0F23FE25-A608-A043-B1FE-9FC46FCA1DE0}"/>
              </a:ext>
            </a:extLst>
          </p:cNvPr>
          <p:cNvPicPr>
            <a:picLocks noChangeAspect="1"/>
          </p:cNvPicPr>
          <p:nvPr/>
        </p:nvPicPr>
        <p:blipFill>
          <a:blip r:embed="rId5"/>
          <a:stretch>
            <a:fillRect/>
          </a:stretch>
        </p:blipFill>
        <p:spPr>
          <a:xfrm>
            <a:off x="5232155" y="3666045"/>
            <a:ext cx="2514111" cy="2917317"/>
          </a:xfrm>
          <a:prstGeom prst="rect">
            <a:avLst/>
          </a:prstGeom>
        </p:spPr>
      </p:pic>
    </p:spTree>
    <p:extLst>
      <p:ext uri="{BB962C8B-B14F-4D97-AF65-F5344CB8AC3E}">
        <p14:creationId xmlns:p14="http://schemas.microsoft.com/office/powerpoint/2010/main" val="2609050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Теория принятия решений</a:t>
            </a:r>
            <a:endParaRPr lang="en-GB" dirty="0"/>
          </a:p>
        </p:txBody>
      </p:sp>
      <p:sp>
        <p:nvSpPr>
          <p:cNvPr id="3" name="Content Placeholder 2"/>
          <p:cNvSpPr>
            <a:spLocks noGrp="1"/>
          </p:cNvSpPr>
          <p:nvPr>
            <p:ph idx="1"/>
          </p:nvPr>
        </p:nvSpPr>
        <p:spPr/>
        <p:txBody>
          <a:bodyPr>
            <a:normAutofit/>
          </a:bodyPr>
          <a:lstStyle/>
          <a:p>
            <a:pPr marL="0" indent="0">
              <a:buNone/>
            </a:pPr>
            <a:r>
              <a:rPr lang="ru-RU" sz="2400" dirty="0"/>
              <a:t>Шаг вывода</a:t>
            </a:r>
            <a:endParaRPr lang="en-GB" sz="2400" dirty="0"/>
          </a:p>
          <a:p>
            <a:r>
              <a:rPr lang="en-GB" sz="2400" dirty="0"/>
              <a:t>	</a:t>
            </a:r>
            <a:r>
              <a:rPr lang="ru-RU" sz="2400" dirty="0"/>
              <a:t>Определите </a:t>
            </a:r>
            <a:r>
              <a:rPr lang="en-GB" sz="2400" dirty="0"/>
              <a:t>            </a:t>
            </a:r>
            <a:r>
              <a:rPr lang="ru-RU" sz="2400" dirty="0"/>
              <a:t>или</a:t>
            </a:r>
            <a:r>
              <a:rPr lang="en-GB" sz="2400" dirty="0"/>
              <a:t>           .</a:t>
            </a:r>
          </a:p>
          <a:p>
            <a:endParaRPr lang="en-GB" sz="2400" dirty="0"/>
          </a:p>
          <a:p>
            <a:pPr marL="0" indent="0">
              <a:buNone/>
            </a:pPr>
            <a:r>
              <a:rPr lang="ru-RU" sz="2400" dirty="0"/>
              <a:t>Шаг принятия решений</a:t>
            </a:r>
            <a:endParaRPr lang="en-GB" sz="2400" dirty="0"/>
          </a:p>
          <a:p>
            <a:r>
              <a:rPr lang="en-GB" sz="2400" dirty="0"/>
              <a:t>	</a:t>
            </a:r>
            <a:r>
              <a:rPr lang="ru-RU" sz="2400" dirty="0"/>
              <a:t>Для заданного </a:t>
            </a:r>
            <a:r>
              <a:rPr lang="en-GB" sz="2400" dirty="0">
                <a:latin typeface="cmbx10" pitchFamily="34" charset="0"/>
                <a:cs typeface="AngsanaUPC" pitchFamily="18" charset="-34"/>
              </a:rPr>
              <a:t>x</a:t>
            </a:r>
            <a:r>
              <a:rPr lang="en-GB" sz="2400" dirty="0">
                <a:latin typeface="+mj-lt"/>
              </a:rPr>
              <a:t>, </a:t>
            </a:r>
            <a:r>
              <a:rPr lang="ru-RU" sz="2400" dirty="0">
                <a:latin typeface="+mj-lt"/>
              </a:rPr>
              <a:t>определите оптимальное </a:t>
            </a:r>
            <a:r>
              <a:rPr lang="en-GB" sz="2400" dirty="0">
                <a:latin typeface="cmti10" pitchFamily="34" charset="0"/>
              </a:rPr>
              <a:t>t</a:t>
            </a:r>
            <a:r>
              <a:rPr lang="en-GB" sz="2400" dirty="0">
                <a:latin typeface="+mj-lt"/>
              </a:rPr>
              <a:t>.</a:t>
            </a:r>
          </a:p>
        </p:txBody>
      </p:sp>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3994923" y="2167509"/>
            <a:ext cx="710186" cy="28041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725115" y="2167909"/>
            <a:ext cx="660474" cy="280016"/>
          </a:xfrm>
          <a:prstGeom prst="rect">
            <a:avLst/>
          </a:prstGeom>
          <a:noFill/>
          <a:ln/>
          <a:effec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Минимальная частота ошибочной классификации</a:t>
            </a:r>
            <a:endParaRPr lang="en-GB" dirty="0"/>
          </a:p>
        </p:txBody>
      </p:sp>
      <p:pic>
        <p:nvPicPr>
          <p:cNvPr id="4" name="Content Placeholder 3" descr="Figure1.24.jpg"/>
          <p:cNvPicPr>
            <a:picLocks noGrp="1" noChangeAspect="1"/>
          </p:cNvPicPr>
          <p:nvPr>
            <p:ph idx="1"/>
          </p:nvPr>
        </p:nvPicPr>
        <p:blipFill>
          <a:blip r:embed="rId3"/>
          <a:stretch>
            <a:fillRect/>
          </a:stretch>
        </p:blipFill>
        <p:spPr>
          <a:xfrm>
            <a:off x="1905000" y="1447801"/>
            <a:ext cx="5301082" cy="3272333"/>
          </a:xfrm>
        </p:spPr>
      </p:pic>
      <p:pic>
        <p:nvPicPr>
          <p:cNvPr id="7" name="Picture 6"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802886" y="5105400"/>
            <a:ext cx="5538227" cy="966218"/>
          </a:xfrm>
          <a:prstGeom prst="rect">
            <a:avLst/>
          </a:prstGeom>
          <a:noFill/>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Минимальные ожидаемые потери</a:t>
            </a:r>
            <a:endParaRPr lang="en-GB" dirty="0"/>
          </a:p>
        </p:txBody>
      </p:sp>
      <p:sp>
        <p:nvSpPr>
          <p:cNvPr id="3" name="Content Placeholder 2"/>
          <p:cNvSpPr>
            <a:spLocks noGrp="1"/>
          </p:cNvSpPr>
          <p:nvPr>
            <p:ph idx="1"/>
          </p:nvPr>
        </p:nvSpPr>
        <p:spPr>
          <a:xfrm>
            <a:off x="533400" y="1600200"/>
            <a:ext cx="7924800" cy="4525963"/>
          </a:xfrm>
        </p:spPr>
        <p:txBody>
          <a:bodyPr>
            <a:normAutofit/>
          </a:bodyPr>
          <a:lstStyle/>
          <a:p>
            <a:pPr marL="0" indent="0">
              <a:buNone/>
            </a:pPr>
            <a:r>
              <a:rPr lang="ru" sz="2400" dirty="0"/>
              <a:t>Пример: классифицировать медицинские изображения как «рак»(c</a:t>
            </a:r>
            <a:r>
              <a:rPr lang="en-US" sz="2400" dirty="0" err="1"/>
              <a:t>ancer</a:t>
            </a:r>
            <a:r>
              <a:rPr lang="ru" sz="2400" dirty="0"/>
              <a:t>) или «норма».</a:t>
            </a:r>
          </a:p>
          <a:p>
            <a:endParaRPr lang="en-GB" sz="2400" dirty="0"/>
          </a:p>
        </p:txBody>
      </p:sp>
      <p:grpSp>
        <p:nvGrpSpPr>
          <p:cNvPr id="8" name="Group 7"/>
          <p:cNvGrpSpPr/>
          <p:nvPr/>
        </p:nvGrpSpPr>
        <p:grpSpPr>
          <a:xfrm>
            <a:off x="2302996" y="2509801"/>
            <a:ext cx="3412004" cy="1376399"/>
            <a:chOff x="2221468" y="2286000"/>
            <a:chExt cx="3412004" cy="1376399"/>
          </a:xfrm>
        </p:grpSpPr>
        <p:pic>
          <p:nvPicPr>
            <p:cNvPr id="6" name="Picture 5"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2609850" y="2667000"/>
              <a:ext cx="3023622" cy="938786"/>
            </a:xfrm>
            <a:prstGeom prst="rect">
              <a:avLst/>
            </a:prstGeom>
            <a:noFill/>
          </p:spPr>
        </p:pic>
        <p:sp>
          <p:nvSpPr>
            <p:cNvPr id="5" name="TextBox 4"/>
            <p:cNvSpPr txBox="1"/>
            <p:nvPr/>
          </p:nvSpPr>
          <p:spPr>
            <a:xfrm>
              <a:off x="4038600" y="2286000"/>
              <a:ext cx="990600" cy="369332"/>
            </a:xfrm>
            <a:prstGeom prst="rect">
              <a:avLst/>
            </a:prstGeom>
            <a:noFill/>
          </p:spPr>
          <p:txBody>
            <a:bodyPr wrap="square" rtlCol="0">
              <a:spAutoFit/>
            </a:bodyPr>
            <a:lstStyle/>
            <a:p>
              <a:r>
                <a:rPr lang="en-GB" dirty="0"/>
                <a:t>Decision</a:t>
              </a:r>
            </a:p>
          </p:txBody>
        </p:sp>
        <p:sp>
          <p:nvSpPr>
            <p:cNvPr id="7" name="TextBox 6"/>
            <p:cNvSpPr txBox="1"/>
            <p:nvPr/>
          </p:nvSpPr>
          <p:spPr>
            <a:xfrm rot="16200000">
              <a:off x="2063234" y="3134833"/>
              <a:ext cx="685800" cy="369332"/>
            </a:xfrm>
            <a:prstGeom prst="rect">
              <a:avLst/>
            </a:prstGeom>
            <a:noFill/>
          </p:spPr>
          <p:txBody>
            <a:bodyPr wrap="square" rtlCol="0">
              <a:spAutoFit/>
            </a:bodyPr>
            <a:lstStyle/>
            <a:p>
              <a:r>
                <a:rPr lang="en-GB" dirty="0"/>
                <a:t>Truth</a:t>
              </a: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Минимальные ожидаемые потери</a:t>
            </a:r>
            <a:endParaRPr lang="en-GB" dirty="0"/>
          </a:p>
        </p:txBody>
      </p:sp>
      <p:pic>
        <p:nvPicPr>
          <p:cNvPr id="4" name="Picture 3"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718809" y="2057400"/>
            <a:ext cx="3681991" cy="710186"/>
          </a:xfrm>
          <a:prstGeom prst="rect">
            <a:avLst/>
          </a:prstGeom>
          <a:noFill/>
        </p:spPr>
      </p:pic>
      <p:pic>
        <p:nvPicPr>
          <p:cNvPr id="11" name="Picture 10"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3364989" y="4419600"/>
            <a:ext cx="2414024" cy="557787"/>
          </a:xfrm>
          <a:prstGeom prst="rect">
            <a:avLst/>
          </a:prstGeom>
          <a:noFill/>
          <a:ln/>
          <a:effectLst/>
        </p:spPr>
      </p:pic>
      <p:grpSp>
        <p:nvGrpSpPr>
          <p:cNvPr id="9" name="Group 8"/>
          <p:cNvGrpSpPr/>
          <p:nvPr/>
        </p:nvGrpSpPr>
        <p:grpSpPr>
          <a:xfrm>
            <a:off x="2273804" y="3259418"/>
            <a:ext cx="4572000" cy="830997"/>
            <a:chOff x="1066800" y="3348335"/>
            <a:chExt cx="4572000" cy="830997"/>
          </a:xfrm>
        </p:grpSpPr>
        <p:sp>
          <p:nvSpPr>
            <p:cNvPr id="6" name="TextBox 5"/>
            <p:cNvSpPr txBox="1"/>
            <p:nvPr/>
          </p:nvSpPr>
          <p:spPr>
            <a:xfrm>
              <a:off x="1066800" y="3348335"/>
              <a:ext cx="4572000" cy="830997"/>
            </a:xfrm>
            <a:prstGeom prst="rect">
              <a:avLst/>
            </a:prstGeom>
            <a:noFill/>
          </p:spPr>
          <p:txBody>
            <a:bodyPr wrap="square" rtlCol="0">
              <a:spAutoFit/>
            </a:bodyPr>
            <a:lstStyle/>
            <a:p>
              <a:r>
                <a:rPr lang="ru" sz="2400" dirty="0"/>
                <a:t>Регионы</a:t>
              </a:r>
              <a:r>
                <a:rPr lang="en-US" sz="2400" dirty="0"/>
                <a:t>  </a:t>
              </a:r>
              <a:r>
                <a:rPr lang="ru" sz="2400" dirty="0"/>
                <a:t> </a:t>
              </a:r>
              <a:r>
                <a:rPr lang="en-US" sz="2400" dirty="0"/>
                <a:t>   </a:t>
              </a:r>
              <a:r>
                <a:rPr lang="ru" sz="2400" dirty="0"/>
                <a:t>выбираются так, чтобы минимизировать</a:t>
              </a:r>
              <a:endParaRPr lang="en-GB" sz="2400" dirty="0"/>
            </a:p>
          </p:txBody>
        </p:sp>
        <p:pic>
          <p:nvPicPr>
            <p:cNvPr id="8" name="Picture 7"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a:xfrm>
              <a:off x="2325547" y="3483417"/>
              <a:ext cx="304800" cy="280416"/>
            </a:xfrm>
            <a:prstGeom prst="rect">
              <a:avLst/>
            </a:prstGeom>
            <a:noFill/>
          </p:spPr>
        </p:pic>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Опция «не принимать решение»</a:t>
            </a:r>
            <a:endParaRPr lang="en-GB" dirty="0"/>
          </a:p>
        </p:txBody>
      </p:sp>
      <p:pic>
        <p:nvPicPr>
          <p:cNvPr id="4" name="Content Placeholder 3" descr="Figure1.26.jpg"/>
          <p:cNvPicPr>
            <a:picLocks noGrp="1" noChangeAspect="1"/>
          </p:cNvPicPr>
          <p:nvPr>
            <p:ph idx="1"/>
          </p:nvPr>
        </p:nvPicPr>
        <p:blipFill>
          <a:blip r:embed="rId2"/>
          <a:stretch>
            <a:fillRect/>
          </a:stretch>
        </p:blipFill>
        <p:spPr>
          <a:xfrm>
            <a:off x="2182368" y="2057400"/>
            <a:ext cx="4828032" cy="3706368"/>
          </a:xfr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A44AB6E-4610-394E-979F-8E1DD6F80187}"/>
              </a:ext>
            </a:extLst>
          </p:cNvPr>
          <p:cNvSpPr>
            <a:spLocks noGrp="1"/>
          </p:cNvSpPr>
          <p:nvPr>
            <p:ph type="title"/>
          </p:nvPr>
        </p:nvSpPr>
        <p:spPr/>
        <p:txBody>
          <a:bodyPr>
            <a:normAutofit/>
          </a:bodyPr>
          <a:lstStyle/>
          <a:p>
            <a:r>
              <a:rPr lang="ru-RU" dirty="0"/>
              <a:t>3 подхода к принятию решений</a:t>
            </a:r>
          </a:p>
        </p:txBody>
      </p:sp>
      <mc:AlternateContent xmlns:mc="http://schemas.openxmlformats.org/markup-compatibility/2006" xmlns:a14="http://schemas.microsoft.com/office/drawing/2010/main">
        <mc:Choice Requires="a14">
          <p:graphicFrame>
            <p:nvGraphicFramePr>
              <p:cNvPr id="5" name="Объект 4">
                <a:extLst>
                  <a:ext uri="{FF2B5EF4-FFF2-40B4-BE49-F238E27FC236}">
                    <a16:creationId xmlns:a16="http://schemas.microsoft.com/office/drawing/2014/main" id="{7A8159CC-CE80-514B-A86A-109826EC9D5E}"/>
                  </a:ext>
                </a:extLst>
              </p:cNvPr>
              <p:cNvGraphicFramePr>
                <a:graphicFrameLocks noGrp="1"/>
              </p:cNvGraphicFramePr>
              <p:nvPr>
                <p:ph idx="1"/>
                <p:extLst>
                  <p:ext uri="{D42A27DB-BD31-4B8C-83A1-F6EECF244321}">
                    <p14:modId xmlns:p14="http://schemas.microsoft.com/office/powerpoint/2010/main" val="1976810718"/>
                  </p:ext>
                </p:extLst>
              </p:nvPr>
            </p:nvGraphicFramePr>
            <p:xfrm>
              <a:off x="457200" y="1600200"/>
              <a:ext cx="8229600" cy="49831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mc:Choice>
        <mc:Fallback xmlns="">
          <p:graphicFrame>
            <p:nvGraphicFramePr>
              <p:cNvPr id="5" name="Объект 4">
                <a:extLst>
                  <a:ext uri="{FF2B5EF4-FFF2-40B4-BE49-F238E27FC236}">
                    <a16:creationId xmlns:a16="http://schemas.microsoft.com/office/drawing/2014/main" id="{7A8159CC-CE80-514B-A86A-109826EC9D5E}"/>
                  </a:ext>
                </a:extLst>
              </p:cNvPr>
              <p:cNvGraphicFramePr>
                <a:graphicFrameLocks noGrp="1"/>
              </p:cNvGraphicFramePr>
              <p:nvPr>
                <p:ph idx="1"/>
                <p:extLst>
                  <p:ext uri="{D42A27DB-BD31-4B8C-83A1-F6EECF244321}">
                    <p14:modId xmlns:p14="http://schemas.microsoft.com/office/powerpoint/2010/main" val="1976810718"/>
                  </p:ext>
                </p:extLst>
              </p:nvPr>
            </p:nvGraphicFramePr>
            <p:xfrm>
              <a:off x="457200" y="1600200"/>
              <a:ext cx="8229600" cy="498316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mc:Fallback>
      </mc:AlternateContent>
      <p:sp>
        <p:nvSpPr>
          <p:cNvPr id="4" name="Номер слайда 3">
            <a:extLst>
              <a:ext uri="{FF2B5EF4-FFF2-40B4-BE49-F238E27FC236}">
                <a16:creationId xmlns:a16="http://schemas.microsoft.com/office/drawing/2014/main" id="{CA783C7C-4B71-EA44-A77E-4C2EE19DEC13}"/>
              </a:ext>
            </a:extLst>
          </p:cNvPr>
          <p:cNvSpPr>
            <a:spLocks noGrp="1"/>
          </p:cNvSpPr>
          <p:nvPr>
            <p:ph type="sldNum" sz="quarter" idx="12"/>
          </p:nvPr>
        </p:nvSpPr>
        <p:spPr/>
        <p:txBody>
          <a:bodyPr/>
          <a:lstStyle/>
          <a:p>
            <a:fld id="{38237106-F2ED-405E-BC33-CC3CF426205F}" type="slidenum">
              <a:rPr lang="en-US" smtClean="0"/>
              <a:pPr/>
              <a:t>60</a:t>
            </a:fld>
            <a:endParaRPr lang="en-US"/>
          </a:p>
        </p:txBody>
      </p:sp>
    </p:spTree>
    <p:extLst>
      <p:ext uri="{BB962C8B-B14F-4D97-AF65-F5344CB8AC3E}">
        <p14:creationId xmlns:p14="http://schemas.microsoft.com/office/powerpoint/2010/main" val="566128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8E51FC-A601-5C49-8878-04ED6F2AF1B4}"/>
              </a:ext>
            </a:extLst>
          </p:cNvPr>
          <p:cNvSpPr>
            <a:spLocks noGrp="1"/>
          </p:cNvSpPr>
          <p:nvPr>
            <p:ph type="title"/>
          </p:nvPr>
        </p:nvSpPr>
        <p:spPr/>
        <p:txBody>
          <a:bodyPr>
            <a:normAutofit/>
          </a:bodyPr>
          <a:lstStyle/>
          <a:p>
            <a:r>
              <a:rPr lang="ru-RU" dirty="0"/>
              <a:t>Преимущества и недостатки</a:t>
            </a:r>
          </a:p>
        </p:txBody>
      </p:sp>
      <p:sp>
        <p:nvSpPr>
          <p:cNvPr id="3" name="Объект 2">
            <a:extLst>
              <a:ext uri="{FF2B5EF4-FFF2-40B4-BE49-F238E27FC236}">
                <a16:creationId xmlns:a16="http://schemas.microsoft.com/office/drawing/2014/main" id="{623DF259-F40B-BB42-A3F4-3E706AAD18D9}"/>
              </a:ext>
            </a:extLst>
          </p:cNvPr>
          <p:cNvSpPr>
            <a:spLocks noGrp="1"/>
          </p:cNvSpPr>
          <p:nvPr>
            <p:ph idx="1"/>
          </p:nvPr>
        </p:nvSpPr>
        <p:spPr/>
        <p:txBody>
          <a:bodyPr>
            <a:normAutofit/>
          </a:bodyPr>
          <a:lstStyle/>
          <a:p>
            <a:r>
              <a:rPr lang="ru-RU" sz="1800" dirty="0">
                <a:effectLst/>
                <a:latin typeface="Fd279932-Identity-H"/>
              </a:rPr>
              <a:t>Первый подход является наиболее требовательным, поскольку предполагает поиск совместного распределения по </a:t>
            </a:r>
            <a:r>
              <a:rPr lang="ru-RU" sz="1800" dirty="0">
                <a:effectLst/>
                <a:latin typeface="Fd2561963-Identity-H"/>
              </a:rPr>
              <a:t>х </a:t>
            </a:r>
            <a:r>
              <a:rPr lang="ru-RU" sz="1800" dirty="0">
                <a:effectLst/>
                <a:latin typeface="Fd279932-Identity-H"/>
              </a:rPr>
              <a:t>и </a:t>
            </a:r>
            <a:r>
              <a:rPr lang="en" sz="1800" dirty="0">
                <a:effectLst/>
                <a:latin typeface="Fd1244226-Identity-H"/>
              </a:rPr>
              <a:t>C</a:t>
            </a:r>
            <a:r>
              <a:rPr lang="en" sz="1800" baseline="-25000" dirty="0">
                <a:effectLst/>
                <a:latin typeface="Fd1244226-Identity-H"/>
              </a:rPr>
              <a:t>k</a:t>
            </a:r>
            <a:r>
              <a:rPr lang="en" sz="1800" dirty="0">
                <a:effectLst/>
                <a:latin typeface="Fd1244226-Identity-H"/>
              </a:rPr>
              <a:t>. </a:t>
            </a:r>
            <a:r>
              <a:rPr lang="ru-RU" sz="1800" dirty="0">
                <a:effectLst/>
                <a:latin typeface="Fd279932-Identity-H"/>
              </a:rPr>
              <a:t>Во многих приложениях вектор </a:t>
            </a:r>
            <a:r>
              <a:rPr lang="ru-RU" sz="1800" dirty="0">
                <a:effectLst/>
                <a:latin typeface="Fd2042035-Identity-H"/>
              </a:rPr>
              <a:t>х </a:t>
            </a:r>
            <a:r>
              <a:rPr lang="ru-RU" sz="1800" dirty="0">
                <a:effectLst/>
                <a:latin typeface="Fd279932-Identity-H"/>
              </a:rPr>
              <a:t>будет иметь большую размерность, и, следовательно, нам может понадобиться большой набор обучаю­</a:t>
            </a:r>
            <a:r>
              <a:rPr lang="ru-RU" sz="1800" dirty="0">
                <a:effectLst/>
                <a:latin typeface="Fd780097-Identity-H"/>
              </a:rPr>
              <a:t>щих </a:t>
            </a:r>
            <a:r>
              <a:rPr lang="ru-RU" sz="1800" dirty="0">
                <a:effectLst/>
                <a:latin typeface="Fd279932-Identity-H"/>
              </a:rPr>
              <a:t>данных, чтобы иметь возможность определять условные по классу плотности (</a:t>
            </a:r>
            <a:r>
              <a:rPr lang="en" sz="1800" dirty="0">
                <a:effectLst/>
                <a:latin typeface="Fd279932-Identity-H"/>
              </a:rPr>
              <a:t>class-conditional densities) </a:t>
            </a:r>
            <a:r>
              <a:rPr lang="ru-RU" sz="1800" dirty="0">
                <a:effectLst/>
                <a:latin typeface="Fd279932-Identity-H"/>
              </a:rPr>
              <a:t>с разумной точностью. </a:t>
            </a:r>
          </a:p>
          <a:p>
            <a:r>
              <a:rPr lang="ru-RU" sz="1800" dirty="0">
                <a:latin typeface="Fd279932-Identity-H"/>
              </a:rPr>
              <a:t>А</a:t>
            </a:r>
            <a:r>
              <a:rPr lang="ru-RU" sz="1800" dirty="0">
                <a:effectLst/>
                <a:latin typeface="Fd279932-Identity-H"/>
              </a:rPr>
              <a:t>приор­ные вероятности классов </a:t>
            </a:r>
            <a:r>
              <a:rPr lang="ru-RU" sz="1800" dirty="0">
                <a:effectLst/>
                <a:latin typeface="Fd2042035-Identity-H"/>
              </a:rPr>
              <a:t>р(</a:t>
            </a:r>
            <a:r>
              <a:rPr lang="en" sz="1800" dirty="0">
                <a:effectLst/>
                <a:latin typeface="Fd1244226-Identity-H"/>
              </a:rPr>
              <a:t>C</a:t>
            </a:r>
            <a:r>
              <a:rPr lang="en" sz="1800" baseline="-25000" dirty="0">
                <a:effectLst/>
                <a:latin typeface="Fd1244226-Identity-H"/>
              </a:rPr>
              <a:t>k</a:t>
            </a:r>
            <a:r>
              <a:rPr lang="en" sz="1800" dirty="0">
                <a:effectLst/>
                <a:latin typeface="Fd1244226-Identity-H"/>
              </a:rPr>
              <a:t>) </a:t>
            </a:r>
            <a:r>
              <a:rPr lang="ru-RU" sz="1800" dirty="0">
                <a:effectLst/>
                <a:latin typeface="Fd279932-Identity-H"/>
              </a:rPr>
              <a:t>часто можно вычислить просто как долю точек из </a:t>
            </a:r>
            <a:r>
              <a:rPr lang="ru-RU" sz="1800" dirty="0">
                <a:effectLst/>
                <a:latin typeface="Fd261957-Identity-H"/>
              </a:rPr>
              <a:t>множества обучающих данных, принадлежащих каждому из классов. </a:t>
            </a:r>
          </a:p>
          <a:p>
            <a:r>
              <a:rPr lang="ru-RU" sz="1800" dirty="0">
                <a:latin typeface="Fd261957-Identity-H"/>
              </a:rPr>
              <a:t>О</a:t>
            </a:r>
            <a:r>
              <a:rPr lang="ru-RU" sz="1800" dirty="0">
                <a:effectLst/>
                <a:latin typeface="Fd261957-Identity-H"/>
              </a:rPr>
              <a:t>дним из преимуществ первого подхода является то, что он также позволяет опреде</a:t>
            </a:r>
            <a:r>
              <a:rPr lang="ru-RU" sz="1800" dirty="0">
                <a:effectLst/>
                <a:latin typeface="Fd2449472-Identity-H"/>
              </a:rPr>
              <a:t>лить </a:t>
            </a:r>
            <a:r>
              <a:rPr lang="ru-RU" sz="1800" dirty="0">
                <a:effectLst/>
                <a:latin typeface="Fd261957-Identity-H"/>
              </a:rPr>
              <a:t>­ маргинальную </a:t>
            </a:r>
            <a:r>
              <a:rPr lang="ru-RU" sz="1800" dirty="0">
                <a:latin typeface="Fd261957-Identity-H"/>
              </a:rPr>
              <a:t>пло</a:t>
            </a:r>
            <a:r>
              <a:rPr lang="ru-RU" sz="1800" dirty="0">
                <a:effectLst/>
                <a:latin typeface="Fd261957-Identity-H"/>
              </a:rPr>
              <a:t>тность данных </a:t>
            </a:r>
            <a:r>
              <a:rPr lang="ru-RU" sz="1800" dirty="0">
                <a:effectLst/>
                <a:latin typeface="Fd2042035-Identity-H"/>
              </a:rPr>
              <a:t>р(х)</a:t>
            </a:r>
            <a:r>
              <a:rPr lang="ru-RU" sz="1800" dirty="0">
                <a:latin typeface="Fd261957-Identity-H"/>
              </a:rPr>
              <a:t> для </a:t>
            </a:r>
            <a:r>
              <a:rPr lang="ru-RU" sz="1800" dirty="0">
                <a:effectLst/>
                <a:latin typeface="Fd261957-Identity-H"/>
              </a:rPr>
              <a:t>обнаружения по модели новых точек с низкой вероятностью и точек, прогнозы которых могут иметь низкую точность. Это явление назы</a:t>
            </a:r>
            <a:r>
              <a:rPr lang="ru-RU" sz="1800" dirty="0">
                <a:latin typeface="Fd261957-Identity-H"/>
              </a:rPr>
              <a:t>в</a:t>
            </a:r>
            <a:r>
              <a:rPr lang="ru-RU" sz="1800" dirty="0">
                <a:effectLst/>
                <a:latin typeface="Fd261957-Identity-H"/>
              </a:rPr>
              <a:t>ается обнаружением выбросов или </a:t>
            </a:r>
            <a:r>
              <a:rPr lang="ru-RU" sz="1800" dirty="0">
                <a:effectLst/>
                <a:latin typeface="Fd2042035-Identity-H"/>
              </a:rPr>
              <a:t>обнаружением новизны. </a:t>
            </a:r>
          </a:p>
          <a:p>
            <a:endParaRPr lang="ru-RU" sz="1800" dirty="0">
              <a:effectLst/>
              <a:latin typeface="Fd2042035-Identity-H"/>
            </a:endParaRPr>
          </a:p>
          <a:p>
            <a:endParaRPr lang="ru-RU" dirty="0"/>
          </a:p>
          <a:p>
            <a:endParaRPr lang="ru-RU" dirty="0"/>
          </a:p>
          <a:p>
            <a:endParaRPr lang="ru-RU" dirty="0"/>
          </a:p>
        </p:txBody>
      </p:sp>
      <p:sp>
        <p:nvSpPr>
          <p:cNvPr id="4" name="Номер слайда 3">
            <a:extLst>
              <a:ext uri="{FF2B5EF4-FFF2-40B4-BE49-F238E27FC236}">
                <a16:creationId xmlns:a16="http://schemas.microsoft.com/office/drawing/2014/main" id="{2C8998D6-62ED-D94F-ADAD-E310A0E3C715}"/>
              </a:ext>
            </a:extLst>
          </p:cNvPr>
          <p:cNvSpPr>
            <a:spLocks noGrp="1"/>
          </p:cNvSpPr>
          <p:nvPr>
            <p:ph type="sldNum" sz="quarter" idx="12"/>
          </p:nvPr>
        </p:nvSpPr>
        <p:spPr/>
        <p:txBody>
          <a:bodyPr/>
          <a:lstStyle/>
          <a:p>
            <a:fld id="{38237106-F2ED-405E-BC33-CC3CF426205F}" type="slidenum">
              <a:rPr lang="en-US" smtClean="0"/>
              <a:pPr/>
              <a:t>61</a:t>
            </a:fld>
            <a:endParaRPr lang="en-US"/>
          </a:p>
        </p:txBody>
      </p:sp>
    </p:spTree>
    <p:extLst>
      <p:ext uri="{BB962C8B-B14F-4D97-AF65-F5344CB8AC3E}">
        <p14:creationId xmlns:p14="http://schemas.microsoft.com/office/powerpoint/2010/main" val="70790940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6258"/>
            <a:ext cx="8229600" cy="432498"/>
          </a:xfrm>
        </p:spPr>
        <p:txBody>
          <a:bodyPr>
            <a:normAutofit fontScale="90000"/>
          </a:bodyPr>
          <a:lstStyle/>
          <a:p>
            <a:r>
              <a:rPr lang="ru" dirty="0"/>
              <a:t>Зачем разделять вывод и решение?</a:t>
            </a:r>
            <a:endParaRPr lang="en-GB" dirty="0"/>
          </a:p>
        </p:txBody>
      </p:sp>
      <p:graphicFrame>
        <p:nvGraphicFramePr>
          <p:cNvPr id="4" name="Объект 3">
            <a:extLst>
              <a:ext uri="{FF2B5EF4-FFF2-40B4-BE49-F238E27FC236}">
                <a16:creationId xmlns:a16="http://schemas.microsoft.com/office/drawing/2014/main" id="{AC4C8EA5-0D6B-3249-A381-5FF11B97E977}"/>
              </a:ext>
            </a:extLst>
          </p:cNvPr>
          <p:cNvGraphicFramePr>
            <a:graphicFrameLocks noGrp="1"/>
          </p:cNvGraphicFramePr>
          <p:nvPr>
            <p:ph idx="1"/>
            <p:extLst>
              <p:ext uri="{D42A27DB-BD31-4B8C-83A1-F6EECF244321}">
                <p14:modId xmlns:p14="http://schemas.microsoft.com/office/powerpoint/2010/main" val="2686942626"/>
              </p:ext>
            </p:extLst>
          </p:nvPr>
        </p:nvGraphicFramePr>
        <p:xfrm>
          <a:off x="457200" y="694944"/>
          <a:ext cx="8229600" cy="60067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973312" cy="1143000"/>
          </a:xfrm>
        </p:spPr>
        <p:txBody>
          <a:bodyPr>
            <a:normAutofit fontScale="90000"/>
          </a:bodyPr>
          <a:lstStyle/>
          <a:p>
            <a:r>
              <a:rPr lang="ru" dirty="0"/>
              <a:t>Зачем разделять вывод и решение? (2)</a:t>
            </a:r>
            <a:endParaRPr lang="en-GB" dirty="0"/>
          </a:p>
        </p:txBody>
      </p:sp>
      <p:graphicFrame>
        <p:nvGraphicFramePr>
          <p:cNvPr id="4" name="Объект 3">
            <a:extLst>
              <a:ext uri="{FF2B5EF4-FFF2-40B4-BE49-F238E27FC236}">
                <a16:creationId xmlns:a16="http://schemas.microsoft.com/office/drawing/2014/main" id="{AC4C8EA5-0D6B-3249-A381-5FF11B97E977}"/>
              </a:ext>
            </a:extLst>
          </p:cNvPr>
          <p:cNvGraphicFramePr>
            <a:graphicFrameLocks noGrp="1"/>
          </p:cNvGraphicFramePr>
          <p:nvPr>
            <p:ph idx="1"/>
            <p:extLst>
              <p:ext uri="{D42A27DB-BD31-4B8C-83A1-F6EECF244321}">
                <p14:modId xmlns:p14="http://schemas.microsoft.com/office/powerpoint/2010/main" val="8556391"/>
              </p:ext>
            </p:extLst>
          </p:nvPr>
        </p:nvGraphicFramePr>
        <p:xfrm>
          <a:off x="457200" y="877824"/>
          <a:ext cx="8229600" cy="34503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Рисунок 2">
            <a:extLst>
              <a:ext uri="{FF2B5EF4-FFF2-40B4-BE49-F238E27FC236}">
                <a16:creationId xmlns:a16="http://schemas.microsoft.com/office/drawing/2014/main" id="{80A8FD55-27B5-4B49-83F0-C56025BD20D0}"/>
              </a:ext>
            </a:extLst>
          </p:cNvPr>
          <p:cNvPicPr>
            <a:picLocks noChangeAspect="1"/>
          </p:cNvPicPr>
          <p:nvPr/>
        </p:nvPicPr>
        <p:blipFill>
          <a:blip r:embed="rId7"/>
          <a:stretch>
            <a:fillRect/>
          </a:stretch>
        </p:blipFill>
        <p:spPr>
          <a:xfrm>
            <a:off x="2448306" y="4328160"/>
            <a:ext cx="4940046" cy="2176970"/>
          </a:xfrm>
          <a:prstGeom prst="rect">
            <a:avLst/>
          </a:prstGeom>
        </p:spPr>
      </p:pic>
    </p:spTree>
    <p:extLst>
      <p:ext uri="{BB962C8B-B14F-4D97-AF65-F5344CB8AC3E}">
        <p14:creationId xmlns:p14="http://schemas.microsoft.com/office/powerpoint/2010/main" val="15579769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Теория принятия решений для регрессии</a:t>
            </a:r>
            <a:endParaRPr lang="en-GB" dirty="0"/>
          </a:p>
        </p:txBody>
      </p:sp>
      <p:sp>
        <p:nvSpPr>
          <p:cNvPr id="3" name="Content Placeholder 2"/>
          <p:cNvSpPr>
            <a:spLocks noGrp="1"/>
          </p:cNvSpPr>
          <p:nvPr>
            <p:ph idx="1"/>
          </p:nvPr>
        </p:nvSpPr>
        <p:spPr>
          <a:xfrm>
            <a:off x="457201" y="1600200"/>
            <a:ext cx="5029200" cy="4525963"/>
          </a:xfrm>
        </p:spPr>
        <p:txBody>
          <a:bodyPr>
            <a:normAutofit/>
          </a:bodyPr>
          <a:lstStyle/>
          <a:p>
            <a:pPr marL="0" indent="0">
              <a:buNone/>
            </a:pPr>
            <a:r>
              <a:rPr lang="ru-RU" sz="2400" dirty="0"/>
              <a:t>Шаг вывода</a:t>
            </a:r>
            <a:endParaRPr lang="en-GB" sz="2400" dirty="0"/>
          </a:p>
          <a:p>
            <a:r>
              <a:rPr lang="en-GB" sz="2400" dirty="0"/>
              <a:t>	</a:t>
            </a:r>
            <a:r>
              <a:rPr lang="ru-RU" sz="2400" dirty="0"/>
              <a:t>Определить</a:t>
            </a:r>
            <a:r>
              <a:rPr lang="en-GB" sz="2400" dirty="0"/>
              <a:t>            .</a:t>
            </a:r>
          </a:p>
          <a:p>
            <a:pPr marL="0" indent="0">
              <a:buNone/>
            </a:pPr>
            <a:r>
              <a:rPr lang="ru-RU" sz="2400" dirty="0"/>
              <a:t>Шаг решения</a:t>
            </a:r>
            <a:endParaRPr lang="en-GB" sz="2400" dirty="0"/>
          </a:p>
          <a:p>
            <a:r>
              <a:rPr lang="ru-RU" sz="2400" dirty="0"/>
              <a:t>Для заданного </a:t>
            </a:r>
            <a:r>
              <a:rPr lang="en-GB" sz="2400" dirty="0">
                <a:latin typeface="cmbx10" pitchFamily="34" charset="0"/>
                <a:cs typeface="AngsanaUPC" pitchFamily="18" charset="-34"/>
              </a:rPr>
              <a:t>x</a:t>
            </a:r>
            <a:r>
              <a:rPr lang="en-GB" sz="2400" dirty="0">
                <a:latin typeface="+mj-lt"/>
              </a:rPr>
              <a:t>, </a:t>
            </a:r>
            <a:r>
              <a:rPr lang="ru-RU" sz="2400" dirty="0">
                <a:latin typeface="+mj-lt"/>
              </a:rPr>
              <a:t>построить оптимальный прогноз</a:t>
            </a:r>
            <a:r>
              <a:rPr lang="en-GB" sz="2400" dirty="0">
                <a:latin typeface="+mj-lt"/>
              </a:rPr>
              <a:t> </a:t>
            </a:r>
            <a:r>
              <a:rPr lang="en-GB" sz="2400" dirty="0">
                <a:latin typeface="cmti10" pitchFamily="34" charset="0"/>
              </a:rPr>
              <a:t>y</a:t>
            </a:r>
            <a:r>
              <a:rPr lang="en-GB" sz="2400" dirty="0">
                <a:latin typeface="cmr10" pitchFamily="34" charset="0"/>
              </a:rPr>
              <a:t>(</a:t>
            </a:r>
            <a:r>
              <a:rPr lang="en-GB" sz="2400" dirty="0">
                <a:latin typeface="cmbx10" pitchFamily="34" charset="0"/>
                <a:cs typeface="AngsanaUPC" pitchFamily="18" charset="-34"/>
              </a:rPr>
              <a:t>x</a:t>
            </a:r>
            <a:r>
              <a:rPr lang="en-GB" sz="2400" dirty="0">
                <a:latin typeface="cmr10" pitchFamily="34" charset="0"/>
              </a:rPr>
              <a:t>)</a:t>
            </a:r>
            <a:r>
              <a:rPr lang="ru-RU" sz="2400" dirty="0">
                <a:latin typeface="cmr10" pitchFamily="34" charset="0"/>
              </a:rPr>
              <a:t> для </a:t>
            </a:r>
            <a:r>
              <a:rPr lang="en-GB" sz="2400" dirty="0">
                <a:latin typeface="cmti10" pitchFamily="34" charset="0"/>
              </a:rPr>
              <a:t>t</a:t>
            </a:r>
            <a:r>
              <a:rPr lang="en-GB" sz="2400" dirty="0">
                <a:latin typeface="+mj-lt"/>
              </a:rPr>
              <a:t>.</a:t>
            </a:r>
          </a:p>
          <a:p>
            <a:r>
              <a:rPr lang="ru-RU" sz="2400" dirty="0">
                <a:latin typeface="+mj-lt"/>
              </a:rPr>
              <a:t>Функция потерь</a:t>
            </a:r>
            <a:r>
              <a:rPr lang="en-GB" sz="2400" dirty="0">
                <a:latin typeface="+mj-lt"/>
              </a:rPr>
              <a:t>:</a:t>
            </a:r>
          </a:p>
        </p:txBody>
      </p:sp>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590197" y="2126742"/>
            <a:ext cx="710186" cy="28041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697989" y="4146042"/>
            <a:ext cx="3633223" cy="609602"/>
          </a:xfrm>
          <a:prstGeom prst="rect">
            <a:avLst/>
          </a:prstGeom>
          <a:noFill/>
        </p:spPr>
      </p:pic>
      <p:pic>
        <p:nvPicPr>
          <p:cNvPr id="4" name="Рисунок 3">
            <a:extLst>
              <a:ext uri="{FF2B5EF4-FFF2-40B4-BE49-F238E27FC236}">
                <a16:creationId xmlns:a16="http://schemas.microsoft.com/office/drawing/2014/main" id="{FD49593C-F130-D04B-AF21-61C5DE960D3C}"/>
              </a:ext>
            </a:extLst>
          </p:cNvPr>
          <p:cNvPicPr>
            <a:picLocks noChangeAspect="1"/>
          </p:cNvPicPr>
          <p:nvPr/>
        </p:nvPicPr>
        <p:blipFill>
          <a:blip r:embed="rId6"/>
          <a:stretch>
            <a:fillRect/>
          </a:stretch>
        </p:blipFill>
        <p:spPr>
          <a:xfrm>
            <a:off x="4264534" y="3773884"/>
            <a:ext cx="4422265" cy="2967831"/>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Квадратичная функция потерь</a:t>
            </a:r>
            <a:endParaRPr lang="en-GB" dirty="0"/>
          </a:p>
        </p:txBody>
      </p:sp>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800091" y="1746820"/>
            <a:ext cx="3785623" cy="609602"/>
          </a:xfrm>
          <a:prstGeom prst="rect">
            <a:avLst/>
          </a:prstGeo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800091" y="2971798"/>
            <a:ext cx="7543816" cy="6858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1536186" y="4038600"/>
            <a:ext cx="6071627" cy="609602"/>
          </a:xfrm>
          <a:prstGeom prst="rect">
            <a:avLst/>
          </a:prstGeom>
          <a:noFill/>
        </p:spPr>
      </p:pic>
      <p:pic>
        <p:nvPicPr>
          <p:cNvPr id="8" name="Picture 7"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3860291" y="4977384"/>
            <a:ext cx="1423417" cy="280416"/>
          </a:xfrm>
          <a:prstGeom prst="rect">
            <a:avLst/>
          </a:prstGeom>
          <a:noFill/>
        </p:spPr>
      </p:pic>
      <p:sp>
        <p:nvSpPr>
          <p:cNvPr id="6" name="TextBox 5">
            <a:extLst>
              <a:ext uri="{FF2B5EF4-FFF2-40B4-BE49-F238E27FC236}">
                <a16:creationId xmlns:a16="http://schemas.microsoft.com/office/drawing/2014/main" id="{C48573A6-B70D-684B-A823-DB5841F1AA91}"/>
              </a:ext>
            </a:extLst>
          </p:cNvPr>
          <p:cNvSpPr txBox="1"/>
          <p:nvPr/>
        </p:nvSpPr>
        <p:spPr>
          <a:xfrm>
            <a:off x="4585714" y="3617450"/>
            <a:ext cx="1834900" cy="369332"/>
          </a:xfrm>
          <a:prstGeom prst="rect">
            <a:avLst/>
          </a:prstGeom>
          <a:noFill/>
        </p:spPr>
        <p:txBody>
          <a:bodyPr wrap="square" rtlCol="0">
            <a:spAutoFit/>
          </a:bodyPr>
          <a:lstStyle/>
          <a:p>
            <a:r>
              <a:rPr lang="ru-RU" dirty="0">
                <a:solidFill>
                  <a:srgbClr val="FF0000"/>
                </a:solidFill>
              </a:rPr>
              <a:t>Куда пропало?</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3ED00B-E047-EF45-B1EE-91B59D4938B3}"/>
              </a:ext>
            </a:extLst>
          </p:cNvPr>
          <p:cNvSpPr>
            <a:spLocks noGrp="1"/>
          </p:cNvSpPr>
          <p:nvPr>
            <p:ph type="title"/>
          </p:nvPr>
        </p:nvSpPr>
        <p:spPr/>
        <p:txBody>
          <a:bodyPr>
            <a:normAutofit/>
          </a:bodyPr>
          <a:lstStyle/>
          <a:p>
            <a:r>
              <a:rPr lang="ru-RU" dirty="0"/>
              <a:t>Функция потерь </a:t>
            </a:r>
            <a:r>
              <a:rPr lang="ru-RU" dirty="0" err="1"/>
              <a:t>Минковского</a:t>
            </a:r>
            <a:r>
              <a:rPr lang="ru-RU" dirty="0"/>
              <a:t>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158617E1-CF0F-354E-A36F-498D65C3AABB}"/>
                  </a:ext>
                </a:extLst>
              </p:cNvPr>
              <p:cNvSpPr>
                <a:spLocks noGrp="1"/>
              </p:cNvSpPr>
              <p:nvPr>
                <p:ph idx="1"/>
              </p:nvPr>
            </p:nvSpPr>
            <p:spPr>
              <a:xfrm>
                <a:off x="457200" y="1215342"/>
                <a:ext cx="8229600" cy="4910821"/>
              </a:xfrm>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𝑞</m:t>
                              </m:r>
                            </m:sub>
                          </m:sSub>
                        </m:e>
                      </m:d>
                      <m:r>
                        <a:rPr lang="en-US" b="0" i="1" smtClean="0">
                          <a:latin typeface="Cambria Math" panose="02040503050406030204" pitchFamily="18" charset="0"/>
                        </a:rPr>
                        <m:t>=</m:t>
                      </m:r>
                      <m:nary>
                        <m:naryPr>
                          <m:chr m:val="∬"/>
                          <m:limLoc m:val="undOvr"/>
                          <m:subHide m:val="on"/>
                          <m:supHide m:val="on"/>
                          <m:ctrlPr>
                            <a:rPr lang="en-US" b="0" i="1" smtClean="0">
                              <a:latin typeface="Cambria Math" panose="02040503050406030204" pitchFamily="18" charset="0"/>
                            </a:rPr>
                          </m:ctrlPr>
                        </m:naryPr>
                        <m:sub/>
                        <m:sup/>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𝑦</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𝑡</m:t>
                                  </m:r>
                                </m:e>
                              </m:d>
                            </m:e>
                            <m:sup>
                              <m:r>
                                <a:rPr lang="en-US" b="0" i="1" smtClean="0">
                                  <a:latin typeface="Cambria Math" panose="02040503050406030204" pitchFamily="18" charset="0"/>
                                </a:rPr>
                                <m:t>𝑞</m:t>
                              </m:r>
                            </m:sup>
                          </m:sSup>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𝑑𝑥𝑑𝑡</m:t>
                          </m:r>
                        </m:e>
                      </m:nary>
                    </m:oMath>
                  </m:oMathPara>
                </a14:m>
                <a:endParaRPr lang="en-US" dirty="0"/>
              </a:p>
              <a:p>
                <a:pPr marL="0" indent="0">
                  <a:buNone/>
                </a:pPr>
                <a:endParaRPr lang="ru-RU" dirty="0"/>
              </a:p>
            </p:txBody>
          </p:sp>
        </mc:Choice>
        <mc:Fallback xmlns="">
          <p:sp>
            <p:nvSpPr>
              <p:cNvPr id="3" name="Объект 2">
                <a:extLst>
                  <a:ext uri="{FF2B5EF4-FFF2-40B4-BE49-F238E27FC236}">
                    <a16:creationId xmlns:a16="http://schemas.microsoft.com/office/drawing/2014/main" id="{158617E1-CF0F-354E-A36F-498D65C3AABB}"/>
                  </a:ext>
                </a:extLst>
              </p:cNvPr>
              <p:cNvSpPr>
                <a:spLocks noGrp="1" noRot="1" noChangeAspect="1" noMove="1" noResize="1" noEditPoints="1" noAdjustHandles="1" noChangeArrowheads="1" noChangeShapeType="1" noTextEdit="1"/>
              </p:cNvSpPr>
              <p:nvPr>
                <p:ph idx="1"/>
              </p:nvPr>
            </p:nvSpPr>
            <p:spPr>
              <a:xfrm>
                <a:off x="457200" y="1215342"/>
                <a:ext cx="8229600" cy="4910821"/>
              </a:xfrm>
              <a:blipFill>
                <a:blip r:embed="rId2"/>
                <a:stretch>
                  <a:fillRect t="-4020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740CF437-E53C-474C-94DF-EBDA9DC96C9F}"/>
              </a:ext>
            </a:extLst>
          </p:cNvPr>
          <p:cNvSpPr>
            <a:spLocks noGrp="1"/>
          </p:cNvSpPr>
          <p:nvPr>
            <p:ph type="sldNum" sz="quarter" idx="12"/>
          </p:nvPr>
        </p:nvSpPr>
        <p:spPr/>
        <p:txBody>
          <a:bodyPr/>
          <a:lstStyle/>
          <a:p>
            <a:fld id="{38237106-F2ED-405E-BC33-CC3CF426205F}" type="slidenum">
              <a:rPr lang="en-US" smtClean="0"/>
              <a:pPr/>
              <a:t>66</a:t>
            </a:fld>
            <a:endParaRPr lang="en-US"/>
          </a:p>
        </p:txBody>
      </p:sp>
      <p:pic>
        <p:nvPicPr>
          <p:cNvPr id="7" name="Рисунок 6">
            <a:extLst>
              <a:ext uri="{FF2B5EF4-FFF2-40B4-BE49-F238E27FC236}">
                <a16:creationId xmlns:a16="http://schemas.microsoft.com/office/drawing/2014/main" id="{A939CC6F-AAEA-544E-A22E-1E123A8B3D12}"/>
              </a:ext>
            </a:extLst>
          </p:cNvPr>
          <p:cNvPicPr>
            <a:picLocks noChangeAspect="1"/>
          </p:cNvPicPr>
          <p:nvPr/>
        </p:nvPicPr>
        <p:blipFill>
          <a:blip r:embed="rId3"/>
          <a:stretch>
            <a:fillRect/>
          </a:stretch>
        </p:blipFill>
        <p:spPr>
          <a:xfrm>
            <a:off x="1359664" y="2419350"/>
            <a:ext cx="2705100" cy="2019300"/>
          </a:xfrm>
          <a:prstGeom prst="rect">
            <a:avLst/>
          </a:prstGeom>
        </p:spPr>
      </p:pic>
      <p:pic>
        <p:nvPicPr>
          <p:cNvPr id="9" name="Рисунок 8">
            <a:extLst>
              <a:ext uri="{FF2B5EF4-FFF2-40B4-BE49-F238E27FC236}">
                <a16:creationId xmlns:a16="http://schemas.microsoft.com/office/drawing/2014/main" id="{68492806-E664-344D-ABB2-BFB9A66C91F4}"/>
              </a:ext>
            </a:extLst>
          </p:cNvPr>
          <p:cNvPicPr>
            <a:picLocks noChangeAspect="1"/>
          </p:cNvPicPr>
          <p:nvPr/>
        </p:nvPicPr>
        <p:blipFill>
          <a:blip r:embed="rId4"/>
          <a:stretch>
            <a:fillRect/>
          </a:stretch>
        </p:blipFill>
        <p:spPr>
          <a:xfrm>
            <a:off x="4457942" y="2395960"/>
            <a:ext cx="2705100" cy="2019300"/>
          </a:xfrm>
          <a:prstGeom prst="rect">
            <a:avLst/>
          </a:prstGeom>
        </p:spPr>
      </p:pic>
      <p:pic>
        <p:nvPicPr>
          <p:cNvPr id="11" name="Рисунок 10">
            <a:extLst>
              <a:ext uri="{FF2B5EF4-FFF2-40B4-BE49-F238E27FC236}">
                <a16:creationId xmlns:a16="http://schemas.microsoft.com/office/drawing/2014/main" id="{B6B4045B-8994-6841-AC6D-03A689E111DE}"/>
              </a:ext>
            </a:extLst>
          </p:cNvPr>
          <p:cNvPicPr>
            <a:picLocks noChangeAspect="1"/>
          </p:cNvPicPr>
          <p:nvPr/>
        </p:nvPicPr>
        <p:blipFill>
          <a:blip r:embed="rId5"/>
          <a:stretch>
            <a:fillRect/>
          </a:stretch>
        </p:blipFill>
        <p:spPr>
          <a:xfrm>
            <a:off x="1359664" y="4633008"/>
            <a:ext cx="2705100" cy="2019300"/>
          </a:xfrm>
          <a:prstGeom prst="rect">
            <a:avLst/>
          </a:prstGeom>
        </p:spPr>
      </p:pic>
      <p:pic>
        <p:nvPicPr>
          <p:cNvPr id="13" name="Рисунок 12">
            <a:extLst>
              <a:ext uri="{FF2B5EF4-FFF2-40B4-BE49-F238E27FC236}">
                <a16:creationId xmlns:a16="http://schemas.microsoft.com/office/drawing/2014/main" id="{07AD6CCE-7180-ED45-B76C-40F7899871E0}"/>
              </a:ext>
            </a:extLst>
          </p:cNvPr>
          <p:cNvPicPr>
            <a:picLocks noChangeAspect="1"/>
          </p:cNvPicPr>
          <p:nvPr/>
        </p:nvPicPr>
        <p:blipFill>
          <a:blip r:embed="rId6"/>
          <a:stretch>
            <a:fillRect/>
          </a:stretch>
        </p:blipFill>
        <p:spPr>
          <a:xfrm>
            <a:off x="4457942" y="4473575"/>
            <a:ext cx="2705100" cy="2019300"/>
          </a:xfrm>
          <a:prstGeom prst="rect">
            <a:avLst/>
          </a:prstGeom>
        </p:spPr>
      </p:pic>
    </p:spTree>
    <p:extLst>
      <p:ext uri="{BB962C8B-B14F-4D97-AF65-F5344CB8AC3E}">
        <p14:creationId xmlns:p14="http://schemas.microsoft.com/office/powerpoint/2010/main" val="5696741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2B78738-5861-0844-B57B-B23A5DBA2C98}"/>
              </a:ext>
            </a:extLst>
          </p:cNvPr>
          <p:cNvSpPr>
            <a:spLocks noGrp="1"/>
          </p:cNvSpPr>
          <p:nvPr>
            <p:ph type="title"/>
          </p:nvPr>
        </p:nvSpPr>
        <p:spPr/>
        <p:txBody>
          <a:bodyPr/>
          <a:lstStyle/>
          <a:p>
            <a:r>
              <a:rPr lang="ru-RU" dirty="0"/>
              <a:t>Теория информации</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18A51051-EEB8-0B45-A983-E284F516FAB5}"/>
                  </a:ext>
                </a:extLst>
              </p:cNvPr>
              <p:cNvSpPr>
                <a:spLocks noGrp="1"/>
              </p:cNvSpPr>
              <p:nvPr>
                <p:ph idx="1"/>
              </p:nvPr>
            </p:nvSpPr>
            <p:spPr>
              <a:xfrm>
                <a:off x="457200" y="1600200"/>
                <a:ext cx="4700954" cy="5105400"/>
              </a:xfrm>
            </p:spPr>
            <p:txBody>
              <a:bodyPr>
                <a:normAutofit fontScale="92500" lnSpcReduction="10000"/>
              </a:bodyPr>
              <a:lstStyle/>
              <a:p>
                <a:pPr marL="0" indent="0">
                  <a:spcBef>
                    <a:spcPts val="900"/>
                  </a:spcBef>
                  <a:spcAft>
                    <a:spcPts val="900"/>
                  </a:spcAft>
                  <a:buNone/>
                </a:pPr>
                <a:r>
                  <a:rPr lang="ru-RU" sz="1800" i="1" dirty="0">
                    <a:effectLst/>
                    <a:latin typeface="Aptos" panose="020B0004020202020204" pitchFamily="34" charset="0"/>
                    <a:ea typeface="Aptos" panose="020B0004020202020204" pitchFamily="34" charset="0"/>
                    <a:cs typeface="Times New Roman" panose="02020603050405020304" pitchFamily="18" charset="0"/>
                  </a:rPr>
                  <a:t>Сколько информации мы получаем, когда наблюдаем определенную переменную?</a:t>
                </a:r>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Рассмотрим, например, событие появления в небе инопланетного космического корабля. Мы никогда его не видели и были бы крайне удивлены, если бы такое событие когда-нибудь произошло, поскольку это неожиданно с учетом наших текущих знаний. Следовательно, количество информации можно рассматривать как степень </a:t>
                </a:r>
                <a:r>
                  <a:rPr lang="ru-RU" sz="1800" i="1" dirty="0">
                    <a:effectLst/>
                    <a:latin typeface="Aptos" panose="020B0004020202020204" pitchFamily="34" charset="0"/>
                    <a:ea typeface="Aptos" panose="020B0004020202020204" pitchFamily="34" charset="0"/>
                    <a:cs typeface="Times New Roman" panose="02020603050405020304" pitchFamily="18" charset="0"/>
                  </a:rPr>
                  <a:t>удивления </a:t>
                </a:r>
                <a:r>
                  <a:rPr lang="ru-RU" sz="1800" dirty="0">
                    <a:effectLst/>
                    <a:latin typeface="Aptos" panose="020B0004020202020204" pitchFamily="34" charset="0"/>
                    <a:ea typeface="Aptos" panose="020B0004020202020204" pitchFamily="34" charset="0"/>
                    <a:cs typeface="Times New Roman" panose="02020603050405020304" pitchFamily="18" charset="0"/>
                  </a:rPr>
                  <a:t>при получении значения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Мера информационного содержания, зависит от распределения вероятностей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dirty="0">
                    <a:effectLst/>
                    <a:latin typeface="Aptos" panose="020B0004020202020204" pitchFamily="34" charset="0"/>
                    <a:ea typeface="Aptos" panose="020B0004020202020204" pitchFamily="34" charset="0"/>
                    <a:cs typeface="Times New Roman" panose="02020603050405020304" pitchFamily="18" charset="0"/>
                  </a:rPr>
                  <a:t>и, в частности, определяется логарифмом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ru-RU" sz="1800">
                          <a:effectLst/>
                          <a:latin typeface="Aptos" panose="020B0004020202020204" pitchFamily="34"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m:rPr>
                              <m:sty m:val="p"/>
                            </m:rPr>
                            <a:rPr lang="ru-RU" sz="1800">
                              <a:effectLst/>
                              <a:latin typeface="Cambria Math" panose="02040503050406030204" pitchFamily="18" charset="0"/>
                              <a:ea typeface="Aptos" panose="020B0004020202020204" pitchFamily="34" charset="0"/>
                              <a:cs typeface="Times New Roman" panose="02020603050405020304" pitchFamily="18" charset="0"/>
                            </a:rPr>
                            <m:t>log</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где знак «минус» гарантирует, что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0</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Если основание логарифма равно </a:t>
                </a:r>
                <a:r>
                  <a:rPr lang="en-US" sz="1800" dirty="0">
                    <a:effectLst/>
                    <a:latin typeface="Aptos" panose="020B0004020202020204" pitchFamily="34" charset="0"/>
                    <a:ea typeface="Aptos" panose="020B0004020202020204" pitchFamily="34" charset="0"/>
                    <a:cs typeface="Times New Roman" panose="02020603050405020304" pitchFamily="18" charset="0"/>
                  </a:rPr>
                  <a:t>2,</a:t>
                </a:r>
                <a:r>
                  <a:rPr lang="ru-RU" sz="1800" dirty="0">
                    <a:effectLst/>
                    <a:latin typeface="Aptos" panose="020B0004020202020204" pitchFamily="34" charset="0"/>
                    <a:ea typeface="Aptos" panose="020B0004020202020204" pitchFamily="34" charset="0"/>
                    <a:cs typeface="Times New Roman" panose="02020603050405020304" pitchFamily="18" charset="0"/>
                  </a:rPr>
                  <a:t> то единицы измерения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h</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r>
                  <a:rPr lang="ru-RU" sz="1800" b="1" dirty="0">
                    <a:effectLst/>
                    <a:latin typeface="Aptos" panose="020B0004020202020204" pitchFamily="34" charset="0"/>
                    <a:ea typeface="Aptos" panose="020B0004020202020204" pitchFamily="34" charset="0"/>
                    <a:cs typeface="Times New Roman" panose="02020603050405020304" pitchFamily="18" charset="0"/>
                  </a:rPr>
                  <a:t>биты</a:t>
                </a:r>
                <a:r>
                  <a:rPr lang="ru-RU" sz="1800" dirty="0">
                    <a:effectLst/>
                    <a:latin typeface="Aptos" panose="020B0004020202020204" pitchFamily="34" charset="0"/>
                    <a:ea typeface="Aptos" panose="020B0004020202020204" pitchFamily="34" charset="0"/>
                    <a:cs typeface="Times New Roman" panose="02020603050405020304" pitchFamily="18" charset="0"/>
                  </a:rPr>
                  <a:t>.</a:t>
                </a:r>
              </a:p>
            </p:txBody>
          </p:sp>
        </mc:Choice>
        <mc:Fallback xmlns="">
          <p:sp>
            <p:nvSpPr>
              <p:cNvPr id="3" name="Объект 2">
                <a:extLst>
                  <a:ext uri="{FF2B5EF4-FFF2-40B4-BE49-F238E27FC236}">
                    <a16:creationId xmlns:a16="http://schemas.microsoft.com/office/drawing/2014/main" id="{18A51051-EEB8-0B45-A983-E284F516FAB5}"/>
                  </a:ext>
                </a:extLst>
              </p:cNvPr>
              <p:cNvSpPr>
                <a:spLocks noGrp="1" noRot="1" noChangeAspect="1" noMove="1" noResize="1" noEditPoints="1" noAdjustHandles="1" noChangeArrowheads="1" noChangeShapeType="1" noTextEdit="1"/>
              </p:cNvSpPr>
              <p:nvPr>
                <p:ph idx="1"/>
              </p:nvPr>
            </p:nvSpPr>
            <p:spPr>
              <a:xfrm>
                <a:off x="457200" y="1600200"/>
                <a:ext cx="4700954" cy="5105400"/>
              </a:xfrm>
              <a:blipFill>
                <a:blip r:embed="rId2"/>
                <a:stretch>
                  <a:fillRect l="-809" t="-995" r="-539"/>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B4C856B5-A985-804F-8945-6AD4869C5D04}"/>
              </a:ext>
            </a:extLst>
          </p:cNvPr>
          <p:cNvSpPr>
            <a:spLocks noGrp="1"/>
          </p:cNvSpPr>
          <p:nvPr>
            <p:ph type="sldNum" sz="quarter" idx="12"/>
          </p:nvPr>
        </p:nvSpPr>
        <p:spPr/>
        <p:txBody>
          <a:bodyPr/>
          <a:lstStyle/>
          <a:p>
            <a:fld id="{38237106-F2ED-405E-BC33-CC3CF426205F}" type="slidenum">
              <a:rPr lang="en-US" smtClean="0"/>
              <a:pPr/>
              <a:t>67</a:t>
            </a:fld>
            <a:endParaRPr lang="en-US"/>
          </a:p>
        </p:txBody>
      </p:sp>
      <p:pic>
        <p:nvPicPr>
          <p:cNvPr id="5" name="Picture" descr="png">
            <a:extLst>
              <a:ext uri="{FF2B5EF4-FFF2-40B4-BE49-F238E27FC236}">
                <a16:creationId xmlns:a16="http://schemas.microsoft.com/office/drawing/2014/main" id="{BD468DDB-4919-394A-8C68-689D2F457A4C}"/>
              </a:ext>
            </a:extLst>
          </p:cNvPr>
          <p:cNvPicPr/>
          <p:nvPr/>
        </p:nvPicPr>
        <p:blipFill>
          <a:blip r:embed="rId3"/>
          <a:stretch>
            <a:fillRect/>
          </a:stretch>
        </p:blipFill>
        <p:spPr bwMode="auto">
          <a:xfrm>
            <a:off x="5158154" y="1894963"/>
            <a:ext cx="3729160" cy="3362837"/>
          </a:xfrm>
          <a:prstGeom prst="rect">
            <a:avLst/>
          </a:prstGeom>
          <a:noFill/>
          <a:ln w="9525">
            <a:noFill/>
            <a:headEnd/>
            <a:tailEnd/>
          </a:ln>
        </p:spPr>
      </p:pic>
    </p:spTree>
    <p:extLst>
      <p:ext uri="{BB962C8B-B14F-4D97-AF65-F5344CB8AC3E}">
        <p14:creationId xmlns:p14="http://schemas.microsoft.com/office/powerpoint/2010/main" val="13436156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AC0D4DE-B2FD-A240-964E-DEC5490E3381}"/>
              </a:ext>
            </a:extLst>
          </p:cNvPr>
          <p:cNvSpPr>
            <a:spLocks noGrp="1"/>
          </p:cNvSpPr>
          <p:nvPr>
            <p:ph type="title"/>
          </p:nvPr>
        </p:nvSpPr>
        <p:spPr>
          <a:xfrm>
            <a:off x="457200" y="274638"/>
            <a:ext cx="8229600" cy="578802"/>
          </a:xfrm>
        </p:spPr>
        <p:txBody>
          <a:bodyPr>
            <a:normAutofit fontScale="90000"/>
          </a:bodyPr>
          <a:lstStyle/>
          <a:p>
            <a:r>
              <a:rPr lang="ru-RU" dirty="0"/>
              <a:t>Энтропия</a:t>
            </a:r>
          </a:p>
        </p:txBody>
      </p:sp>
      <mc:AlternateContent xmlns:mc="http://schemas.openxmlformats.org/markup-compatibility/2006">
        <mc:Choice xmlns:a14="http://schemas.microsoft.com/office/drawing/2010/main" Requires="a14">
          <p:sp>
            <p:nvSpPr>
              <p:cNvPr id="3" name="Объект 2">
                <a:extLst>
                  <a:ext uri="{FF2B5EF4-FFF2-40B4-BE49-F238E27FC236}">
                    <a16:creationId xmlns:a16="http://schemas.microsoft.com/office/drawing/2014/main" id="{CA6B9F21-4A1E-6A46-90EB-6CCD5B01B6D3}"/>
                  </a:ext>
                </a:extLst>
              </p:cNvPr>
              <p:cNvSpPr>
                <a:spLocks noGrp="1"/>
              </p:cNvSpPr>
              <p:nvPr>
                <p:ph idx="1"/>
              </p:nvPr>
            </p:nvSpPr>
            <p:spPr>
              <a:xfrm>
                <a:off x="457200" y="1018361"/>
                <a:ext cx="8229600" cy="4525963"/>
              </a:xfrm>
            </p:spPr>
            <p:txBody>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Средний объем информации получается путем умножения ожидаемого значения на содержание информации, заданное формулой:</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sub>
                        <m:sup>
                          <m:r>
                            <a:rPr lang="en-US" sz="1800" i="1">
                              <a:effectLst/>
                              <a:latin typeface="Cambria Math" panose="02040503050406030204" pitchFamily="18" charset="0"/>
                              <a:ea typeface="Aptos" panose="020B0004020202020204" pitchFamily="34" charset="0"/>
                              <a:cs typeface="Times New Roman" panose="02020603050405020304" pitchFamily="18" charset="0"/>
                            </a:rPr>
                            <m:t>​</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e>
                      </m:nary>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nary>
                        <m:naryPr>
                          <m:chr m:val="∑"/>
                          <m:limLoc m:val="undOv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naryPr>
                        <m:sub>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sub>
                        <m:sup>
                          <m:r>
                            <a:rPr lang="en-US" sz="1800" i="1">
                              <a:effectLst/>
                              <a:latin typeface="Cambria Math" panose="02040503050406030204" pitchFamily="18" charset="0"/>
                              <a:ea typeface="Aptos" panose="020B0004020202020204" pitchFamily="34" charset="0"/>
                              <a:cs typeface="Times New Roman" panose="02020603050405020304" pitchFamily="18" charset="0"/>
                            </a:rPr>
                            <m:t>​</m:t>
                          </m:r>
                        </m:sup>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e>
                      </m:nary>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log</m:t>
                          </m:r>
                        </m:e>
                        <m:sub>
                          <m:r>
                            <a:rPr lang="en-US" sz="1800" i="1">
                              <a:effectLst/>
                              <a:latin typeface="Cambria Math" panose="02040503050406030204" pitchFamily="18" charset="0"/>
                              <a:ea typeface="Aptos" panose="020B0004020202020204" pitchFamily="34" charset="0"/>
                              <a:cs typeface="Times New Roman" panose="02020603050405020304" pitchFamily="18" charset="0"/>
                            </a:rPr>
                            <m:t>2</m:t>
                          </m:r>
                        </m:sub>
                      </m:sSub>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r>
                        <a:rPr lang="en-US" sz="1800">
                          <a:effectLst/>
                          <a:latin typeface="Cambria Math" panose="02040503050406030204" pitchFamily="18" charset="0"/>
                          <a:ea typeface="Aptos" panose="020B0004020202020204" pitchFamily="34" charset="0"/>
                          <a:cs typeface="Times New Roman" panose="02020603050405020304" pitchFamily="18" charset="0"/>
                        </a:rPr>
                        <m:t>)</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Эта важная величина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энтропией </a:t>
                </a:r>
                <a:r>
                  <a:rPr lang="ru-RU" sz="1800" dirty="0">
                    <a:effectLst/>
                    <a:latin typeface="Aptos" panose="020B0004020202020204" pitchFamily="34" charset="0"/>
                    <a:ea typeface="Aptos" panose="020B0004020202020204" pitchFamily="34" charset="0"/>
                    <a:cs typeface="Times New Roman" panose="02020603050405020304" pitchFamily="18" charset="0"/>
                  </a:rPr>
                  <a:t>случайной величины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𝑋</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Рассмотрим дискретную случайную величину,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𝑋</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имеющую два возможных значения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1</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с </a:t>
                </a:r>
                <a14:m>
                  <m:oMath xmlns:m="http://schemas.openxmlformats.org/officeDocument/2006/math">
                    <m:sSub>
                      <m:sSub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sSubPr>
                      <m:e>
                        <m:r>
                          <a:rPr lang="ru-RU" sz="1800" i="1">
                            <a:effectLst/>
                            <a:latin typeface="Cambria Math" panose="02040503050406030204" pitchFamily="18" charset="0"/>
                            <a:ea typeface="Aptos" panose="020B0004020202020204" pitchFamily="34" charset="0"/>
                            <a:cs typeface="Times New Roman" panose="02020603050405020304" pitchFamily="18" charset="0"/>
                          </a:rPr>
                          <m:t>𝑥</m:t>
                        </m:r>
                      </m:e>
                      <m:sub>
                        <m:r>
                          <a:rPr lang="ru-RU" sz="1800" i="1">
                            <a:effectLst/>
                            <a:latin typeface="Cambria Math" panose="02040503050406030204" pitchFamily="18" charset="0"/>
                            <a:ea typeface="Aptos" panose="020B0004020202020204" pitchFamily="34" charset="0"/>
                            <a:cs typeface="Times New Roman" panose="02020603050405020304" pitchFamily="18" charset="0"/>
                          </a:rPr>
                          <m:t>2</m:t>
                        </m:r>
                      </m:sub>
                    </m:sSub>
                  </m:oMath>
                </a14:m>
                <a:r>
                  <a:rPr lang="ru-RU" sz="1800" dirty="0">
                    <a:effectLst/>
                    <a:latin typeface="Aptos" panose="020B0004020202020204" pitchFamily="34" charset="0"/>
                    <a:ea typeface="Aptos" panose="020B0004020202020204" pitchFamily="34" charset="0"/>
                    <a:cs typeface="Times New Roman" panose="02020603050405020304" pitchFamily="18" charset="0"/>
                  </a:rPr>
                  <a:t>вероятностями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и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1−</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buNone/>
                </a:pPr>
                <a:endParaRPr lang="ru-RU" dirty="0"/>
              </a:p>
            </p:txBody>
          </p:sp>
        </mc:Choice>
        <mc:Fallback>
          <p:sp>
            <p:nvSpPr>
              <p:cNvPr id="3" name="Объект 2">
                <a:extLst>
                  <a:ext uri="{FF2B5EF4-FFF2-40B4-BE49-F238E27FC236}">
                    <a16:creationId xmlns:a16="http://schemas.microsoft.com/office/drawing/2014/main" id="{CA6B9F21-4A1E-6A46-90EB-6CCD5B01B6D3}"/>
                  </a:ext>
                </a:extLst>
              </p:cNvPr>
              <p:cNvSpPr>
                <a:spLocks noGrp="1" noRot="1" noChangeAspect="1" noMove="1" noResize="1" noEditPoints="1" noAdjustHandles="1" noChangeArrowheads="1" noChangeShapeType="1" noTextEdit="1"/>
              </p:cNvSpPr>
              <p:nvPr>
                <p:ph idx="1"/>
              </p:nvPr>
            </p:nvSpPr>
            <p:spPr>
              <a:xfrm>
                <a:off x="457200" y="1018361"/>
                <a:ext cx="8229600" cy="4525963"/>
              </a:xfrm>
              <a:blipFill>
                <a:blip r:embed="rId2"/>
                <a:stretch>
                  <a:fillRect l="-617" t="-6162"/>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39968430-4BC7-A341-990A-D49A91F52CCE}"/>
              </a:ext>
            </a:extLst>
          </p:cNvPr>
          <p:cNvSpPr>
            <a:spLocks noGrp="1"/>
          </p:cNvSpPr>
          <p:nvPr>
            <p:ph type="sldNum" sz="quarter" idx="12"/>
          </p:nvPr>
        </p:nvSpPr>
        <p:spPr/>
        <p:txBody>
          <a:bodyPr/>
          <a:lstStyle/>
          <a:p>
            <a:fld id="{38237106-F2ED-405E-BC33-CC3CF426205F}" type="slidenum">
              <a:rPr lang="en-US" smtClean="0"/>
              <a:pPr/>
              <a:t>68</a:t>
            </a:fld>
            <a:endParaRPr lang="en-US"/>
          </a:p>
        </p:txBody>
      </p:sp>
      <p:pic>
        <p:nvPicPr>
          <p:cNvPr id="5" name="Picture" descr="png">
            <a:extLst>
              <a:ext uri="{FF2B5EF4-FFF2-40B4-BE49-F238E27FC236}">
                <a16:creationId xmlns:a16="http://schemas.microsoft.com/office/drawing/2014/main" id="{D03568A7-4A66-0144-846C-91412FA02C11}"/>
              </a:ext>
            </a:extLst>
          </p:cNvPr>
          <p:cNvPicPr/>
          <p:nvPr/>
        </p:nvPicPr>
        <p:blipFill>
          <a:blip r:embed="rId3"/>
          <a:stretch>
            <a:fillRect/>
          </a:stretch>
        </p:blipFill>
        <p:spPr bwMode="auto">
          <a:xfrm>
            <a:off x="4862781" y="3795346"/>
            <a:ext cx="3355096" cy="2924908"/>
          </a:xfrm>
          <a:prstGeom prst="rect">
            <a:avLst/>
          </a:prstGeom>
          <a:noFill/>
          <a:ln w="9525">
            <a:noFill/>
            <a:headEnd/>
            <a:tailEnd/>
          </a:ln>
        </p:spPr>
      </p:pic>
      <p:sp>
        <p:nvSpPr>
          <p:cNvPr id="6" name="TextBox 5">
            <a:extLst>
              <a:ext uri="{FF2B5EF4-FFF2-40B4-BE49-F238E27FC236}">
                <a16:creationId xmlns:a16="http://schemas.microsoft.com/office/drawing/2014/main" id="{9EBF9A85-68F8-2147-8D8F-1BB8C7ED2E7B}"/>
              </a:ext>
            </a:extLst>
          </p:cNvPr>
          <p:cNvSpPr txBox="1"/>
          <p:nvPr/>
        </p:nvSpPr>
        <p:spPr>
          <a:xfrm>
            <a:off x="457200" y="5418435"/>
            <a:ext cx="4070770" cy="1200329"/>
          </a:xfrm>
          <a:prstGeom prst="rect">
            <a:avLst/>
          </a:prstGeom>
          <a:noFill/>
        </p:spPr>
        <p:txBody>
          <a:bodyPr wrap="square" rtlCol="0">
            <a:spAutoFit/>
          </a:bodyPr>
          <a:lstStyle/>
          <a:p>
            <a:r>
              <a:rPr lang="ru-RU" sz="1200" dirty="0">
                <a:solidFill>
                  <a:srgbClr val="000000"/>
                </a:solidFill>
                <a:effectLst/>
                <a:latin typeface="Helvetica" pitchFamily="2" charset="0"/>
              </a:rPr>
              <a:t>Говорят, что фон </a:t>
            </a:r>
            <a:r>
              <a:rPr lang="ru-RU" sz="1200" dirty="0" err="1">
                <a:solidFill>
                  <a:srgbClr val="000000"/>
                </a:solidFill>
                <a:effectLst/>
                <a:latin typeface="Helvetica" pitchFamily="2" charset="0"/>
              </a:rPr>
              <a:t>Нейманн</a:t>
            </a:r>
            <a:r>
              <a:rPr lang="ru-RU" sz="1200" dirty="0">
                <a:solidFill>
                  <a:srgbClr val="000000"/>
                </a:solidFill>
                <a:effectLst/>
                <a:latin typeface="Helvetica" pitchFamily="2" charset="0"/>
              </a:rPr>
              <a:t> рекомендовал Шеннону использовать термин "энтропия" не только из-за его сходства с величиной, используемым в физике, но также и потому, что "никто не знает, что такое энтропия, поэтому в любом обсуждении вы всегда будете иметь преимущество".</a:t>
            </a:r>
          </a:p>
        </p:txBody>
      </p:sp>
      <p:pic>
        <p:nvPicPr>
          <p:cNvPr id="8" name="Рисунок 7">
            <a:extLst>
              <a:ext uri="{FF2B5EF4-FFF2-40B4-BE49-F238E27FC236}">
                <a16:creationId xmlns:a16="http://schemas.microsoft.com/office/drawing/2014/main" id="{D9A83430-4459-7E4D-ADE8-2268BAC51BAF}"/>
              </a:ext>
            </a:extLst>
          </p:cNvPr>
          <p:cNvPicPr>
            <a:picLocks noChangeAspect="1"/>
          </p:cNvPicPr>
          <p:nvPr/>
        </p:nvPicPr>
        <p:blipFill>
          <a:blip r:embed="rId4"/>
          <a:stretch>
            <a:fillRect/>
          </a:stretch>
        </p:blipFill>
        <p:spPr>
          <a:xfrm>
            <a:off x="1426323" y="3795346"/>
            <a:ext cx="2042441" cy="1496056"/>
          </a:xfrm>
          <a:prstGeom prst="rect">
            <a:avLst/>
          </a:prstGeom>
        </p:spPr>
      </p:pic>
    </p:spTree>
    <p:extLst>
      <p:ext uri="{BB962C8B-B14F-4D97-AF65-F5344CB8AC3E}">
        <p14:creationId xmlns:p14="http://schemas.microsoft.com/office/powerpoint/2010/main" val="7476929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Пример</a:t>
            </a:r>
            <a:endParaRPr lang="en-GB" dirty="0"/>
          </a:p>
        </p:txBody>
      </p:sp>
      <p:sp>
        <p:nvSpPr>
          <p:cNvPr id="3" name="Content Placeholder 2"/>
          <p:cNvSpPr>
            <a:spLocks noGrp="1"/>
          </p:cNvSpPr>
          <p:nvPr>
            <p:ph idx="1"/>
          </p:nvPr>
        </p:nvSpPr>
        <p:spPr/>
        <p:txBody>
          <a:bodyPr>
            <a:normAutofit/>
          </a:bodyPr>
          <a:lstStyle/>
          <a:p>
            <a:r>
              <a:rPr lang="ru" sz="2400" dirty="0"/>
              <a:t>Теория кодирования: </a:t>
            </a:r>
            <a:r>
              <a:rPr lang="ru" sz="2400" dirty="0">
                <a:latin typeface="cmti10" pitchFamily="34" charset="0"/>
              </a:rPr>
              <a:t>x </a:t>
            </a:r>
            <a:r>
              <a:rPr lang="ru" sz="2400" dirty="0"/>
              <a:t>дискретен с 8 возможными состояниями. </a:t>
            </a:r>
          </a:p>
          <a:p>
            <a:r>
              <a:rPr lang="ru" sz="2400" dirty="0"/>
              <a:t>Сколько бит нужно для передачи состояния </a:t>
            </a:r>
            <a:r>
              <a:rPr lang="ru" sz="2400" dirty="0">
                <a:latin typeface="cmti10" pitchFamily="34" charset="0"/>
              </a:rPr>
              <a:t>x</a:t>
            </a:r>
            <a:r>
              <a:rPr lang="ru" sz="2400" dirty="0"/>
              <a:t>?</a:t>
            </a:r>
            <a:endParaRPr lang="en-GB" sz="2400" dirty="0"/>
          </a:p>
          <a:p>
            <a:r>
              <a:rPr lang="ru" sz="2400" dirty="0"/>
              <a:t>Все состояния одинаково вероятны</a:t>
            </a:r>
            <a:endParaRPr lang="en-GB" sz="2400" dirty="0"/>
          </a:p>
        </p:txBody>
      </p:sp>
      <p:pic>
        <p:nvPicPr>
          <p:cNvPr id="5" name="Picture 4"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2883405" y="4483608"/>
            <a:ext cx="3377189" cy="557786"/>
          </a:xfrm>
          <a:prstGeom prst="rect">
            <a:avLst/>
          </a:prstGeom>
          <a:noFill/>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p:pic>
        <p:nvPicPr>
          <p:cNvPr id="18" name="Picture 17"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bwMode="auto">
          <a:xfrm>
            <a:off x="724632" y="1600200"/>
            <a:ext cx="7694727" cy="1118402"/>
          </a:xfrm>
          <a:prstGeom prst="rect">
            <a:avLst/>
          </a:prstGeom>
          <a:noFill/>
          <a:ln/>
          <a:effectLst/>
        </p:spPr>
      </p:pic>
      <p:pic>
        <p:nvPicPr>
          <p:cNvPr id="23" name="Picture 22"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762000" y="3429000"/>
            <a:ext cx="7596585" cy="813920"/>
          </a:xfrm>
          <a:prstGeom prst="rect">
            <a:avLst/>
          </a:prstGeom>
          <a:noFill/>
          <a:ln/>
          <a:effectLst/>
        </p:spPr>
      </p:pic>
      <p:pic>
        <p:nvPicPr>
          <p:cNvPr id="24" name="Picture 23"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609600" y="4748683"/>
            <a:ext cx="7925779" cy="813917"/>
          </a:xfrm>
          <a:prstGeom prst="rect">
            <a:avLst/>
          </a:prstGeom>
          <a:noFill/>
          <a:ln/>
          <a:effectLst/>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5760720" cy="1143000"/>
          </a:xfrm>
        </p:spPr>
        <p:txBody>
          <a:bodyPr/>
          <a:lstStyle/>
          <a:p>
            <a:r>
              <a:rPr lang="ru" dirty="0"/>
              <a:t>Энтропия</a:t>
            </a:r>
            <a:endParaRPr lang="en-GB" dirty="0"/>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1600200"/>
                <a:ext cx="5760720" cy="4525963"/>
              </a:xfrm>
            </p:spPr>
            <p:txBody>
              <a:bodyPr>
                <a:normAutofit lnSpcReduction="10000"/>
              </a:bodyPr>
              <a:lstStyle/>
              <a:p>
                <a:pPr marL="0" indent="0">
                  <a:buNone/>
                </a:pPr>
                <a:r>
                  <a:rPr lang="ru" sz="2400" dirty="0"/>
                  <a:t>Сколькими способами можно разместить </a:t>
                </a:r>
                <a:r>
                  <a:rPr lang="ru" sz="2400" i="1" dirty="0">
                    <a:latin typeface="Times New Roman" panose="02020603050405020304" pitchFamily="18" charset="0"/>
                    <a:cs typeface="Times New Roman" panose="02020603050405020304" pitchFamily="18" charset="0"/>
                  </a:rPr>
                  <a:t>N</a:t>
                </a:r>
                <a:r>
                  <a:rPr lang="ru" sz="2400" dirty="0">
                    <a:latin typeface="cmti10" pitchFamily="34" charset="0"/>
                  </a:rPr>
                  <a:t> объектов в </a:t>
                </a:r>
                <a:r>
                  <a:rPr lang="ru" sz="2400" i="1" dirty="0">
                    <a:latin typeface="Times New Roman" panose="02020603050405020304" pitchFamily="18" charset="0"/>
                    <a:cs typeface="Times New Roman" panose="02020603050405020304" pitchFamily="18" charset="0"/>
                  </a:rPr>
                  <a:t>M</a:t>
                </a:r>
                <a:r>
                  <a:rPr lang="ru" sz="2400" dirty="0">
                    <a:latin typeface="cmti10" pitchFamily="34" charset="0"/>
                  </a:rPr>
                  <a:t> </a:t>
                </a:r>
                <a:r>
                  <a:rPr lang="ru" sz="2400" dirty="0"/>
                  <a:t>ячейках</a:t>
                </a:r>
                <a:r>
                  <a:rPr lang="en-US" sz="2400" dirty="0"/>
                  <a:t>, </a:t>
                </a:r>
                <a:r>
                  <a:rPr lang="en-US" sz="2400" dirty="0" err="1"/>
                  <a:t>чт</a:t>
                </a:r>
                <a:r>
                  <a:rPr lang="ru-RU" sz="2400" dirty="0" err="1"/>
                  <a:t>обы</a:t>
                </a:r>
                <a:r>
                  <a:rPr lang="ru-RU" sz="2400" dirty="0"/>
                  <a:t> в ячейке </a:t>
                </a:r>
                <a:r>
                  <a:rPr lang="en-US" sz="2400" i="1" dirty="0" err="1">
                    <a:latin typeface="Times New Roman" panose="02020603050405020304" pitchFamily="18" charset="0"/>
                    <a:cs typeface="Times New Roman" panose="02020603050405020304" pitchFamily="18" charset="0"/>
                  </a:rPr>
                  <a:t>i</a:t>
                </a:r>
                <a:r>
                  <a:rPr lang="en-US" sz="2400" dirty="0"/>
                  <a:t> </a:t>
                </a:r>
                <a:r>
                  <a:rPr lang="en-US" sz="2400" dirty="0" err="1"/>
                  <a:t>и</a:t>
                </a:r>
                <a:r>
                  <a:rPr lang="ru-RU" sz="2400" dirty="0"/>
                  <a:t>х было </a:t>
                </a:r>
                <a:r>
                  <a:rPr lang="en-US" sz="2400" i="1" dirty="0" err="1">
                    <a:latin typeface="Times New Roman" panose="02020603050405020304" pitchFamily="18" charset="0"/>
                    <a:cs typeface="Times New Roman" panose="02020603050405020304" pitchFamily="18" charset="0"/>
                  </a:rPr>
                  <a:t>n</a:t>
                </a:r>
                <a:r>
                  <a:rPr lang="en-US" sz="2400" i="1" baseline="-25000" dirty="0" err="1">
                    <a:latin typeface="Times New Roman" panose="02020603050405020304" pitchFamily="18" charset="0"/>
                    <a:cs typeface="Times New Roman" panose="02020603050405020304" pitchFamily="18" charset="0"/>
                  </a:rPr>
                  <a:t>i</a:t>
                </a:r>
                <a:r>
                  <a:rPr lang="ru" sz="2400" dirty="0"/>
                  <a:t>?</a:t>
                </a:r>
              </a:p>
              <a:p>
                <a:pPr marL="0" indent="0">
                  <a:buNone/>
                </a:pPr>
                <a:endParaRPr lang="en-GB" sz="2400" dirty="0"/>
              </a:p>
              <a:p>
                <a:pPr marL="0" indent="0">
                  <a:buNone/>
                </a:pPr>
                <a:r>
                  <a:rPr lang="en-GB" sz="2400" dirty="0"/>
                  <a:t>W – </a:t>
                </a:r>
                <a:r>
                  <a:rPr lang="en-GB" sz="2400" dirty="0" err="1"/>
                  <a:t>к</a:t>
                </a:r>
                <a:r>
                  <a:rPr lang="ru-RU" sz="2400" dirty="0" err="1"/>
                  <a:t>ратность</a:t>
                </a:r>
                <a:r>
                  <a:rPr lang="ru-RU" sz="2400" dirty="0"/>
                  <a:t>. </a:t>
                </a:r>
                <a:endParaRPr lang="en-GB" sz="2400" dirty="0"/>
              </a:p>
              <a:p>
                <a:endParaRPr lang="en-GB" sz="2400" dirty="0"/>
              </a:p>
              <a:p>
                <a:endParaRPr lang="en-GB" sz="2400" dirty="0"/>
              </a:p>
              <a:p>
                <a:pPr marL="0" indent="0">
                  <a:buNone/>
                </a:pPr>
                <a:r>
                  <a:rPr lang="ru" sz="2400" dirty="0"/>
                  <a:t>В выводе использовано </a:t>
                </a:r>
                <a:r>
                  <a:rPr lang="ru-RU" sz="2400" dirty="0"/>
                  <a:t>приближение</a:t>
                </a:r>
                <a:r>
                  <a:rPr lang="ru" sz="2400" dirty="0"/>
                  <a:t> Стирлинга: </a:t>
                </a:r>
              </a:p>
              <a:p>
                <a:pPr marL="0" indent="0">
                  <a:buNone/>
                </a:pPr>
                <a14:m>
                  <m:oMathPara xmlns:m="http://schemas.openxmlformats.org/officeDocument/2006/math">
                    <m:oMathParaPr>
                      <m:jc m:val="centerGroup"/>
                    </m:oMathParaPr>
                    <m:oMath xmlns:m="http://schemas.openxmlformats.org/officeDocument/2006/math">
                      <m:func>
                        <m:funcPr>
                          <m:ctrlPr>
                            <a:rPr lang="en" sz="2400" i="1" smtClean="0">
                              <a:latin typeface="Cambria Math" panose="02040503050406030204" pitchFamily="18" charset="0"/>
                            </a:rPr>
                          </m:ctrlPr>
                        </m:funcPr>
                        <m:fName>
                          <m:r>
                            <m:rPr>
                              <m:sty m:val="p"/>
                            </m:rPr>
                            <a:rPr lang="en" sz="2400" i="0" smtClean="0">
                              <a:latin typeface="Cambria Math" panose="02040503050406030204" pitchFamily="18" charset="0"/>
                            </a:rPr>
                            <m:t>ln</m:t>
                          </m:r>
                        </m:fName>
                        <m:e>
                          <m:r>
                            <a:rPr lang="ru-RU" sz="2400" b="0" i="1" smtClean="0">
                              <a:latin typeface="Cambria Math" panose="02040503050406030204" pitchFamily="18" charset="0"/>
                            </a:rPr>
                            <m:t>𝑁</m:t>
                          </m:r>
                          <m:r>
                            <a:rPr lang="en-US" sz="2400" b="0" i="1" smtClean="0">
                              <a:latin typeface="Cambria Math" panose="02040503050406030204" pitchFamily="18" charset="0"/>
                            </a:rPr>
                            <m:t>!=</m:t>
                          </m:r>
                          <m:r>
                            <a:rPr lang="en-US" sz="2400" b="0" i="1" smtClean="0">
                              <a:latin typeface="Cambria Math" panose="02040503050406030204" pitchFamily="18" charset="0"/>
                            </a:rPr>
                            <m:t>𝑁</m:t>
                          </m:r>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ln</m:t>
                              </m:r>
                            </m:fName>
                            <m:e>
                              <m:r>
                                <a:rPr lang="en-US" sz="2400" b="0" i="1" smtClean="0">
                                  <a:latin typeface="Cambria Math" panose="02040503050406030204" pitchFamily="18" charset="0"/>
                                </a:rPr>
                                <m:t>𝑁</m:t>
                              </m:r>
                              <m:r>
                                <a:rPr lang="en-US" sz="2400" b="0" i="1" smtClean="0">
                                  <a:latin typeface="Cambria Math" panose="02040503050406030204" pitchFamily="18" charset="0"/>
                                </a:rPr>
                                <m:t>−</m:t>
                              </m:r>
                              <m:r>
                                <a:rPr lang="en-US" sz="2400" b="0" i="1" smtClean="0">
                                  <a:latin typeface="Cambria Math" panose="02040503050406030204" pitchFamily="18" charset="0"/>
                                </a:rPr>
                                <m:t>𝑁</m:t>
                              </m:r>
                            </m:e>
                          </m:func>
                        </m:e>
                      </m:func>
                    </m:oMath>
                  </m:oMathPara>
                </a14:m>
                <a:endParaRPr lang="ru" sz="2400" dirty="0"/>
              </a:p>
              <a:p>
                <a:pPr marL="0" indent="0">
                  <a:buNone/>
                </a:pPr>
                <a:r>
                  <a:rPr lang="ru" sz="2400" dirty="0"/>
                  <a:t>Энтропия максимизируется, когда</a:t>
                </a:r>
                <a:endParaRPr lang="en-GB" sz="240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1600200"/>
                <a:ext cx="5760720" cy="4525963"/>
              </a:xfrm>
              <a:blipFill>
                <a:blip r:embed="rId5"/>
                <a:stretch>
                  <a:fillRect l="-1762" t="-1681"/>
                </a:stretch>
              </a:blipFill>
            </p:spPr>
            <p:txBody>
              <a:bodyPr/>
              <a:lstStyle/>
              <a:p>
                <a:r>
                  <a:rPr lang="ru-RU">
                    <a:noFill/>
                  </a:rPr>
                  <a:t> </a:t>
                </a:r>
              </a:p>
            </p:txBody>
          </p:sp>
        </mc:Fallback>
      </mc:AlternateContent>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2804159" y="2520368"/>
            <a:ext cx="1347217" cy="633986"/>
          </a:xfrm>
          <a:prstGeom prst="rect">
            <a:avLst/>
          </a:prstGeom>
          <a:noFill/>
        </p:spPr>
      </p:pic>
      <p:pic>
        <p:nvPicPr>
          <p:cNvPr id="11" name="Picture 10"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bwMode="auto">
          <a:xfrm>
            <a:off x="560250" y="3627127"/>
            <a:ext cx="6147780" cy="658800"/>
          </a:xfrm>
          <a:prstGeom prst="rect">
            <a:avLst/>
          </a:prstGeom>
          <a:noFill/>
          <a:ln/>
          <a:effectLst/>
        </p:spPr>
      </p:pic>
      <p:pic>
        <p:nvPicPr>
          <p:cNvPr id="13" name="Picture 12"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2559738" y="5836290"/>
            <a:ext cx="1319786" cy="533402"/>
          </a:xfrm>
          <a:prstGeom prst="rect">
            <a:avLst/>
          </a:prstGeom>
          <a:noFill/>
        </p:spPr>
      </p:pic>
      <p:pic>
        <p:nvPicPr>
          <p:cNvPr id="6" name="Рисунок 5">
            <a:extLst>
              <a:ext uri="{FF2B5EF4-FFF2-40B4-BE49-F238E27FC236}">
                <a16:creationId xmlns:a16="http://schemas.microsoft.com/office/drawing/2014/main" id="{5D16DF12-46A6-0548-BF25-C972749EBBB3}"/>
              </a:ext>
            </a:extLst>
          </p:cNvPr>
          <p:cNvPicPr>
            <a:picLocks noChangeAspect="1"/>
          </p:cNvPicPr>
          <p:nvPr/>
        </p:nvPicPr>
        <p:blipFill>
          <a:blip r:embed="rId9"/>
          <a:stretch>
            <a:fillRect/>
          </a:stretch>
        </p:blipFill>
        <p:spPr>
          <a:xfrm>
            <a:off x="6319266" y="411798"/>
            <a:ext cx="2705100" cy="2971800"/>
          </a:xfrm>
          <a:prstGeom prst="rect">
            <a:avLst/>
          </a:prstGeom>
        </p:spPr>
      </p:pic>
      <p:sp>
        <p:nvSpPr>
          <p:cNvPr id="4" name="TextBox 3">
            <a:extLst>
              <a:ext uri="{FF2B5EF4-FFF2-40B4-BE49-F238E27FC236}">
                <a16:creationId xmlns:a16="http://schemas.microsoft.com/office/drawing/2014/main" id="{8AD68084-B42A-0748-8DF3-D0976519E38A}"/>
              </a:ext>
            </a:extLst>
          </p:cNvPr>
          <p:cNvSpPr txBox="1"/>
          <p:nvPr/>
        </p:nvSpPr>
        <p:spPr>
          <a:xfrm>
            <a:off x="7230438" y="3310196"/>
            <a:ext cx="1169850" cy="646331"/>
          </a:xfrm>
          <a:prstGeom prst="rect">
            <a:avLst/>
          </a:prstGeom>
          <a:noFill/>
        </p:spPr>
        <p:txBody>
          <a:bodyPr wrap="square" rtlCol="0">
            <a:spAutoFit/>
          </a:bodyPr>
          <a:lstStyle/>
          <a:p>
            <a:r>
              <a:rPr lang="ru-RU" b="0" i="0" u="none" strike="noStrike" dirty="0">
                <a:solidFill>
                  <a:srgbClr val="1F1F1F"/>
                </a:solidFill>
                <a:effectLst/>
                <a:latin typeface="Google Sans"/>
              </a:rPr>
              <a:t>Людвиг Больцман</a:t>
            </a:r>
            <a:endParaRPr lang="ru-RU"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Энтропия</a:t>
            </a:r>
            <a:endParaRPr lang="en-GB" dirty="0"/>
          </a:p>
        </p:txBody>
      </p:sp>
      <p:pic>
        <p:nvPicPr>
          <p:cNvPr id="4" name="Content Placeholder 3" descr="Figure1.30a.jpg"/>
          <p:cNvPicPr>
            <a:picLocks noGrp="1" noChangeAspect="1"/>
          </p:cNvPicPr>
          <p:nvPr>
            <p:ph idx="1"/>
          </p:nvPr>
        </p:nvPicPr>
        <p:blipFill>
          <a:blip r:embed="rId2"/>
          <a:stretch>
            <a:fillRect/>
          </a:stretch>
        </p:blipFill>
        <p:spPr>
          <a:xfrm>
            <a:off x="609600" y="2133600"/>
            <a:ext cx="3678326" cy="3166262"/>
          </a:xfrm>
        </p:spPr>
      </p:pic>
      <p:pic>
        <p:nvPicPr>
          <p:cNvPr id="5" name="Picture 4" descr="Figure1.30b.jpg"/>
          <p:cNvPicPr>
            <a:picLocks noChangeAspect="1"/>
          </p:cNvPicPr>
          <p:nvPr/>
        </p:nvPicPr>
        <p:blipFill>
          <a:blip r:embed="rId3"/>
          <a:stretch>
            <a:fillRect/>
          </a:stretch>
        </p:blipFill>
        <p:spPr>
          <a:xfrm>
            <a:off x="4724400" y="2133600"/>
            <a:ext cx="3678326" cy="3166262"/>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Дифференциальная энтропия</a:t>
            </a:r>
            <a:endParaRPr lang="en-GB"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ru-RU" sz="2400" dirty="0">
                    <a:latin typeface="cmr10"/>
                  </a:rPr>
                  <a:t>Разбейте на отрезки длиной </a:t>
                </a:r>
                <a14:m>
                  <m:oMath xmlns:m="http://schemas.openxmlformats.org/officeDocument/2006/math">
                    <m:r>
                      <m:rPr>
                        <m:sty m:val="p"/>
                      </m:rPr>
                      <a:rPr lang="el-GR" sz="2400" i="1" smtClean="0">
                        <a:latin typeface="Cambria Math" panose="02040503050406030204" pitchFamily="18" charset="0"/>
                        <a:ea typeface="Cambria Math" panose="02040503050406030204" pitchFamily="18" charset="0"/>
                      </a:rPr>
                      <m:t>Δ</m:t>
                    </m:r>
                    <m:r>
                      <a:rPr lang="ru-RU" sz="2400" b="0" i="1" smtClean="0">
                        <a:latin typeface="Cambria Math" panose="02040503050406030204" pitchFamily="18" charset="0"/>
                        <a:ea typeface="Cambria Math" panose="02040503050406030204" pitchFamily="18" charset="0"/>
                      </a:rPr>
                      <m:t> </m:t>
                    </m:r>
                  </m:oMath>
                </a14:m>
                <a:r>
                  <a:rPr lang="ru-RU" sz="2400" dirty="0">
                    <a:latin typeface="cmr10"/>
                  </a:rPr>
                  <a:t>вещественную ось:</a:t>
                </a:r>
                <a:endParaRPr lang="en-GB" sz="2400" dirty="0"/>
              </a:p>
              <a:p>
                <a:endParaRPr lang="en-GB" sz="2400" dirty="0"/>
              </a:p>
              <a:p>
                <a:endParaRPr lang="en-GB" sz="2400" dirty="0"/>
              </a:p>
              <a:p>
                <a:endParaRPr lang="en-GB" sz="2400" dirty="0"/>
              </a:p>
              <a:p>
                <a:r>
                  <a:rPr lang="ru-RU" sz="2400" dirty="0"/>
                  <a:t>Максимум дифференциальной энтропии на неограниченной вещественной оси </a:t>
                </a:r>
                <a:r>
                  <a:rPr lang="en-GB" sz="2400" dirty="0"/>
                  <a:t>(</a:t>
                </a:r>
                <a:r>
                  <a:rPr lang="ru-RU" sz="2400" dirty="0"/>
                  <a:t>для фикс.</a:t>
                </a:r>
                <a:r>
                  <a:rPr lang="el-GR" sz="1400" b="0" i="0" u="none" strike="noStrike" dirty="0">
                    <a:solidFill>
                      <a:srgbClr val="000000"/>
                    </a:solidFill>
                    <a:effectLst/>
                    <a:latin typeface="-webkit-standard"/>
                  </a:rPr>
                  <a:t> μ </a:t>
                </a:r>
                <a:r>
                  <a:rPr lang="ru-RU" sz="1400" b="0" i="0" u="none" strike="noStrike" dirty="0">
                    <a:solidFill>
                      <a:srgbClr val="000000"/>
                    </a:solidFill>
                    <a:effectLst/>
                    <a:latin typeface="-webkit-standard"/>
                  </a:rPr>
                  <a:t>,</a:t>
                </a:r>
                <a:r>
                  <a:rPr lang="ru-RU" sz="2400" dirty="0"/>
                  <a:t>      </a:t>
                </a:r>
                <a:r>
                  <a:rPr lang="en-GB" sz="2400" dirty="0"/>
                  <a:t>)</a:t>
                </a:r>
              </a:p>
              <a:p>
                <a:endParaRPr lang="en-GB" sz="2400" dirty="0"/>
              </a:p>
              <a:p>
                <a:r>
                  <a:rPr lang="ru-RU" sz="2400" dirty="0"/>
                  <a:t>равен</a:t>
                </a:r>
                <a:endParaRPr lang="en-GB"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6"/>
                <a:stretch>
                  <a:fillRect l="-1080" t="-1120"/>
                </a:stretch>
              </a:blipFill>
            </p:spPr>
            <p:txBody>
              <a:bodyPr/>
              <a:lstStyle/>
              <a:p>
                <a:r>
                  <a:rPr lang="ru-RU">
                    <a:noFill/>
                  </a:rPr>
                  <a:t> </a:t>
                </a:r>
              </a:p>
            </p:txBody>
          </p:sp>
        </mc:Fallback>
      </mc:AlternateContent>
      <p:pic>
        <p:nvPicPr>
          <p:cNvPr id="5" name="Picture 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1764786" y="2209800"/>
            <a:ext cx="5614427" cy="786386"/>
          </a:xfrm>
          <a:prstGeom prst="rect">
            <a:avLst/>
          </a:prstGeom>
          <a:noFill/>
        </p:spPr>
      </p:pic>
      <p:pic>
        <p:nvPicPr>
          <p:cNvPr id="11" name="Picture 10"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bwMode="auto">
          <a:xfrm>
            <a:off x="3569901" y="4256586"/>
            <a:ext cx="2004194" cy="304588"/>
          </a:xfrm>
          <a:prstGeom prst="rect">
            <a:avLst/>
          </a:prstGeom>
          <a:noFill/>
          <a:ln/>
          <a:effectLst/>
        </p:spPr>
      </p:pic>
      <p:pic>
        <p:nvPicPr>
          <p:cNvPr id="14" name="Picture 13"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bwMode="auto">
          <a:xfrm>
            <a:off x="3161765" y="4800600"/>
            <a:ext cx="2820466" cy="533603"/>
          </a:xfrm>
          <a:prstGeom prst="rect">
            <a:avLst/>
          </a:prstGeom>
          <a:noFill/>
          <a:ln/>
          <a:effectLst/>
        </p:spPr>
      </p:pic>
      <p:pic>
        <p:nvPicPr>
          <p:cNvPr id="8" name="Picture 7"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7167406" y="3814380"/>
            <a:ext cx="280415" cy="228599"/>
          </a:xfrm>
          <a:prstGeom prst="rect">
            <a:avLst/>
          </a:prstGeom>
          <a:noFill/>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09DA86-32AD-944B-BFA3-36F9E5BDBA22}"/>
              </a:ext>
            </a:extLst>
          </p:cNvPr>
          <p:cNvSpPr>
            <a:spLocks noGrp="1"/>
          </p:cNvSpPr>
          <p:nvPr>
            <p:ph type="title"/>
          </p:nvPr>
        </p:nvSpPr>
        <p:spPr/>
        <p:txBody>
          <a:bodyPr/>
          <a:lstStyle/>
          <a:p>
            <a:r>
              <a:rPr lang="ru-RU" dirty="0"/>
              <a:t>Условная энтропия </a:t>
            </a:r>
          </a:p>
        </p:txBody>
      </p:sp>
      <mc:AlternateContent xmlns:mc="http://schemas.openxmlformats.org/markup-compatibility/2006" xmlns:a14="http://schemas.microsoft.com/office/drawing/2010/main">
        <mc:Choice Requires="a14">
          <p:sp>
            <p:nvSpPr>
              <p:cNvPr id="3" name="Объект 2">
                <a:extLst>
                  <a:ext uri="{FF2B5EF4-FFF2-40B4-BE49-F238E27FC236}">
                    <a16:creationId xmlns:a16="http://schemas.microsoft.com/office/drawing/2014/main" id="{9820514C-A86F-E542-8216-95202E0924E7}"/>
                  </a:ext>
                </a:extLst>
              </p:cNvPr>
              <p:cNvSpPr>
                <a:spLocks noGrp="1"/>
              </p:cNvSpPr>
              <p:nvPr>
                <p:ph idx="1"/>
              </p:nvPr>
            </p:nvSpPr>
            <p:spPr>
              <a:xfrm>
                <a:off x="457200" y="1600200"/>
                <a:ext cx="8229600" cy="5081954"/>
              </a:xfrm>
            </p:spPr>
            <p:txBody>
              <a:bodyPr>
                <a:normAutofit fontScale="92500" lnSpcReduction="20000"/>
              </a:bodyPr>
              <a:lstStyle/>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В случае совместного распределения </a:t>
                </a:r>
                <a14:m>
                  <m:oMath xmlns:m="http://schemas.openxmlformats.org/officeDocument/2006/math">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ru-RU"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ru-RU" sz="1800">
                        <a:effectLst/>
                        <a:latin typeface="Cambria Math" panose="02040503050406030204" pitchFamily="18" charset="0"/>
                        <a:ea typeface="Aptos" panose="020B0004020202020204" pitchFamily="34" charset="0"/>
                        <a:cs typeface="Times New Roman" panose="02020603050405020304" pitchFamily="18" charset="0"/>
                      </a:rPr>
                      <m:t>)</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средняя дополнительная информация, необходимая для указания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при том что значение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уже известно, называется </a:t>
                </a:r>
                <a:r>
                  <a:rPr lang="ru-RU" sz="1800" i="1" dirty="0">
                    <a:effectLst/>
                    <a:latin typeface="Aptos" panose="020B0004020202020204" pitchFamily="34" charset="0"/>
                    <a:ea typeface="Aptos" panose="020B0004020202020204" pitchFamily="34" charset="0"/>
                    <a:cs typeface="Times New Roman" panose="02020603050405020304" pitchFamily="18" charset="0"/>
                  </a:rPr>
                  <a:t>условной энтропией </a:t>
                </a:r>
                <a:r>
                  <a:rPr lang="ru-RU" sz="1800" dirty="0">
                    <a:effectLst/>
                    <a:latin typeface="Aptos" panose="020B0004020202020204" pitchFamily="34" charset="0"/>
                    <a:ea typeface="Aptos" panose="020B0004020202020204" pitchFamily="34" charset="0"/>
                    <a:cs typeface="Times New Roman" panose="02020603050405020304" pitchFamily="18" charset="0"/>
                  </a:rPr>
                  <a:t>и определяется как</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effectLst/>
                    <a:latin typeface="Aptos" panose="020B0004020202020204" pitchFamily="34" charset="0"/>
                    <a:ea typeface="Aptos" panose="020B0004020202020204" pitchFamily="34" charset="0"/>
                    <a:cs typeface="Times New Roman" panose="02020603050405020304" pitchFamily="18" charset="0"/>
                  </a:rPr>
                  <a:t>Более того, используя правило произведения, легко видеть, что условная энтропия удовлетворяет соотношению:</a:t>
                </a:r>
              </a:p>
              <a:p>
                <a:pPr marL="0" indent="0">
                  <a:spcBef>
                    <a:spcPts val="900"/>
                  </a:spcBef>
                  <a:spcAft>
                    <a:spcPts val="900"/>
                  </a:spcAft>
                  <a:buNone/>
                </a:pPr>
                <a14:m>
                  <m:oMathPara xmlns:m="http://schemas.openxmlformats.org/officeDocument/2006/math">
                    <m:oMathParaPr>
                      <m:jc m:val="centerGroup"/>
                    </m:oMathParaPr>
                    <m:oMath xmlns:m="http://schemas.openxmlformats.org/officeDocument/2006/math">
                      <m:eqArr>
                        <m:eqArr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eqArrPr>
                        <m:e>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d>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d>
                            <m:dPr>
                              <m:ctrlPr>
                                <a:rPr lang="ru-RU" sz="1800" i="1">
                                  <a:effectLst/>
                                  <a:latin typeface="Cambria Math" panose="02040503050406030204" pitchFamily="18" charset="0"/>
                                  <a:ea typeface="Aptos" panose="020B0004020202020204" pitchFamily="34" charset="0"/>
                                  <a:cs typeface="Times New Roman" panose="02020603050405020304" pitchFamily="18" charset="0"/>
                                </a:rPr>
                              </m:ctrlPr>
                            </m:dPr>
                            <m:e>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d>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i="1">
                              <a:effectLst/>
                              <a:latin typeface="Cambria Math" panose="02040503050406030204" pitchFamily="18" charset="0"/>
                              <a:ea typeface="Aptos" panose="020B0004020202020204" pitchFamily="34" charset="0"/>
                              <a:cs typeface="Times New Roman" panose="02020603050405020304" pitchFamily="18" charset="0"/>
                            </a:rPr>
                            <m:t>−</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1800">
                              <a:effectLst/>
                              <a:latin typeface="Cambria Math" panose="02040503050406030204" pitchFamily="18" charset="0"/>
                              <a:ea typeface="Aptos" panose="020B0004020202020204" pitchFamily="34" charset="0"/>
                              <a:cs typeface="Times New Roman" panose="02020603050405020304" pitchFamily="18" charset="0"/>
                            </a:rPr>
                            <m:t>ln</m:t>
                          </m:r>
                          <m:r>
                            <a:rPr lang="ru-RU" sz="1800" i="1">
                              <a:effectLst/>
                              <a:latin typeface="Cambria Math" panose="02040503050406030204" pitchFamily="18" charset="0"/>
                              <a:ea typeface="Aptos" panose="020B0004020202020204" pitchFamily="34" charset="0"/>
                              <a:cs typeface="Times New Roman" panose="02020603050405020304" pitchFamily="18" charset="0"/>
                            </a:rPr>
                            <m:t>𝑝</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d</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e>
                        <m:e>
                          <m:r>
                            <a:rPr lang="en-US" sz="1800" i="1">
                              <a:effectLst/>
                              <a:latin typeface="Cambria Math" panose="02040503050406030204" pitchFamily="18" charset="0"/>
                              <a:ea typeface="Aptos" panose="020B0004020202020204" pitchFamily="34" charset="0"/>
                              <a:cs typeface="Times New Roman" panose="02020603050405020304" pitchFamily="18" charset="0"/>
                            </a:rPr>
                            <m:t>&amp;</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m:rPr>
                              <m:nor/>
                            </m:rPr>
                            <a:rPr lang="en-US" sz="1800">
                              <a:effectLst/>
                              <a:latin typeface="Aptos" panose="020B0004020202020204" pitchFamily="34" charset="0"/>
                              <a:ea typeface="Aptos" panose="020B0004020202020204" pitchFamily="34" charset="0"/>
                              <a:cs typeface="Times New Roman" panose="02020603050405020304" pitchFamily="18" charset="0"/>
                            </a:rPr>
                            <m:t>H</m:t>
                          </m:r>
                          <m:r>
                            <a:rPr lang="en-US" sz="1800">
                              <a:effectLst/>
                              <a:latin typeface="Cambria Math" panose="02040503050406030204" pitchFamily="18" charset="0"/>
                              <a:ea typeface="Aptos" panose="020B0004020202020204" pitchFamily="34" charset="0"/>
                              <a:cs typeface="Times New Roman" panose="02020603050405020304" pitchFamily="18" charset="0"/>
                            </a:rPr>
                            <m:t>[</m:t>
                          </m:r>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r>
                            <a:rPr lang="en-US" sz="1800">
                              <a:effectLst/>
                              <a:latin typeface="Cambria Math" panose="02040503050406030204" pitchFamily="18" charset="0"/>
                              <a:ea typeface="Aptos" panose="020B0004020202020204" pitchFamily="34" charset="0"/>
                              <a:cs typeface="Times New Roman" panose="02020603050405020304" pitchFamily="18" charset="0"/>
                            </a:rPr>
                            <m:t>]</m:t>
                          </m:r>
                        </m:e>
                      </m:eqArr>
                    </m:oMath>
                  </m:oMathPara>
                </a14:m>
                <a:endParaRPr lang="ru-RU" sz="1800" dirty="0">
                  <a:effectLst/>
                  <a:latin typeface="Aptos" panose="020B0004020202020204" pitchFamily="34" charset="0"/>
                  <a:ea typeface="Aptos" panose="020B0004020202020204" pitchFamily="34" charset="0"/>
                  <a:cs typeface="Times New Roman" panose="02020603050405020304" pitchFamily="18" charset="0"/>
                </a:endParaRPr>
              </a:p>
              <a:p>
                <a:pPr marL="0" indent="0">
                  <a:spcBef>
                    <a:spcPts val="900"/>
                  </a:spcBef>
                  <a:spcAft>
                    <a:spcPts val="900"/>
                  </a:spcAft>
                  <a:buNone/>
                </a:pPr>
                <a:r>
                  <a:rPr lang="ru-RU" sz="1800" dirty="0">
                    <a:latin typeface="Aptos" panose="020B0004020202020204" pitchFamily="34" charset="0"/>
                    <a:ea typeface="Aptos" panose="020B0004020202020204" pitchFamily="34" charset="0"/>
                    <a:cs typeface="Times New Roman" panose="02020603050405020304" pitchFamily="18" charset="0"/>
                  </a:rPr>
                  <a:t>И</a:t>
                </a:r>
                <a:r>
                  <a:rPr lang="ru-RU" sz="1800" dirty="0">
                    <a:effectLst/>
                    <a:latin typeface="Aptos" panose="020B0004020202020204" pitchFamily="34" charset="0"/>
                    <a:ea typeface="Aptos" panose="020B0004020202020204" pitchFamily="34" charset="0"/>
                    <a:cs typeface="Times New Roman" panose="02020603050405020304" pitchFamily="18" charset="0"/>
                  </a:rPr>
                  <a:t>нформация, необходимая для описания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представлена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𝐱</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 только информацией, необходимой для его описания, и дополнительной информацией, необходимой для уточнения </a:t>
                </a:r>
                <a14:m>
                  <m:oMath xmlns:m="http://schemas.openxmlformats.org/officeDocument/2006/math">
                    <m:r>
                      <a:rPr lang="ru-RU" sz="1800" b="1" i="1">
                        <a:effectLst/>
                        <a:latin typeface="Cambria Math" panose="02040503050406030204" pitchFamily="18" charset="0"/>
                        <a:ea typeface="Aptos" panose="020B0004020202020204" pitchFamily="34" charset="0"/>
                        <a:cs typeface="Times New Roman" panose="02020603050405020304" pitchFamily="18" charset="0"/>
                      </a:rPr>
                      <m:t>𝐲</m:t>
                    </m:r>
                  </m:oMath>
                </a14:m>
                <a:r>
                  <a:rPr lang="ru-RU" sz="1800" dirty="0">
                    <a:effectLst/>
                    <a:latin typeface="Aptos" panose="020B0004020202020204" pitchFamily="34" charset="0"/>
                    <a:ea typeface="Aptos" panose="020B0004020202020204" pitchFamily="34" charset="0"/>
                    <a:cs typeface="Times New Roman" panose="02020603050405020304" pitchFamily="18" charset="0"/>
                  </a:rPr>
                  <a:t>.</a:t>
                </a:r>
              </a:p>
              <a:p>
                <a:pPr marL="0" indent="0">
                  <a:buNone/>
                </a:pPr>
                <a:endParaRPr lang="ru-RU" dirty="0"/>
              </a:p>
            </p:txBody>
          </p:sp>
        </mc:Choice>
        <mc:Fallback xmlns="">
          <p:sp>
            <p:nvSpPr>
              <p:cNvPr id="3" name="Объект 2">
                <a:extLst>
                  <a:ext uri="{FF2B5EF4-FFF2-40B4-BE49-F238E27FC236}">
                    <a16:creationId xmlns:a16="http://schemas.microsoft.com/office/drawing/2014/main" id="{9820514C-A86F-E542-8216-95202E0924E7}"/>
                  </a:ext>
                </a:extLst>
              </p:cNvPr>
              <p:cNvSpPr>
                <a:spLocks noGrp="1" noRot="1" noChangeAspect="1" noMove="1" noResize="1" noEditPoints="1" noAdjustHandles="1" noChangeArrowheads="1" noChangeShapeType="1" noTextEdit="1"/>
              </p:cNvSpPr>
              <p:nvPr>
                <p:ph idx="1"/>
              </p:nvPr>
            </p:nvSpPr>
            <p:spPr>
              <a:xfrm>
                <a:off x="457200" y="1600200"/>
                <a:ext cx="8229600" cy="5081954"/>
              </a:xfrm>
              <a:blipFill>
                <a:blip r:embed="rId2"/>
                <a:stretch>
                  <a:fillRect l="-463" t="-1496"/>
                </a:stretch>
              </a:blipFill>
            </p:spPr>
            <p:txBody>
              <a:bodyPr/>
              <a:lstStyle/>
              <a:p>
                <a:r>
                  <a:rPr lang="ru-RU">
                    <a:noFill/>
                  </a:rPr>
                  <a:t> </a:t>
                </a:r>
              </a:p>
            </p:txBody>
          </p:sp>
        </mc:Fallback>
      </mc:AlternateContent>
      <p:sp>
        <p:nvSpPr>
          <p:cNvPr id="4" name="Номер слайда 3">
            <a:extLst>
              <a:ext uri="{FF2B5EF4-FFF2-40B4-BE49-F238E27FC236}">
                <a16:creationId xmlns:a16="http://schemas.microsoft.com/office/drawing/2014/main" id="{531E6899-A67B-4C46-A1D6-618F48646747}"/>
              </a:ext>
            </a:extLst>
          </p:cNvPr>
          <p:cNvSpPr>
            <a:spLocks noGrp="1"/>
          </p:cNvSpPr>
          <p:nvPr>
            <p:ph type="sldNum" sz="quarter" idx="12"/>
          </p:nvPr>
        </p:nvSpPr>
        <p:spPr/>
        <p:txBody>
          <a:bodyPr/>
          <a:lstStyle/>
          <a:p>
            <a:fld id="{38237106-F2ED-405E-BC33-CC3CF426205F}" type="slidenum">
              <a:rPr lang="en-US" smtClean="0"/>
              <a:pPr/>
              <a:t>74</a:t>
            </a:fld>
            <a:endParaRPr lang="en-US"/>
          </a:p>
        </p:txBody>
      </p:sp>
    </p:spTree>
    <p:extLst>
      <p:ext uri="{BB962C8B-B14F-4D97-AF65-F5344CB8AC3E}">
        <p14:creationId xmlns:p14="http://schemas.microsoft.com/office/powerpoint/2010/main" val="22028791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b="0" i="0" u="none" strike="noStrike" dirty="0">
                <a:effectLst/>
                <a:latin typeface="Linux Libertine"/>
              </a:rPr>
              <a:t>Дивергенция </a:t>
            </a:r>
            <a:r>
              <a:rPr lang="ru-RU" b="0" i="0" u="none" strike="noStrike" dirty="0" err="1">
                <a:effectLst/>
                <a:latin typeface="Linux Libertine"/>
              </a:rPr>
              <a:t>Кульбака</a:t>
            </a:r>
            <a:r>
              <a:rPr lang="ru-RU" b="0" i="0" u="none" strike="noStrike" dirty="0">
                <a:effectLst/>
                <a:latin typeface="Linux Libertine"/>
              </a:rPr>
              <a:t> — </a:t>
            </a:r>
            <a:r>
              <a:rPr lang="ru-RU" b="0" i="0" u="none" strike="noStrike" dirty="0" err="1">
                <a:effectLst/>
                <a:latin typeface="Linux Libertine"/>
              </a:rPr>
              <a:t>Лейблера</a:t>
            </a:r>
            <a:endParaRPr lang="en-GB" dirty="0"/>
          </a:p>
        </p:txBody>
      </p:sp>
      <p:pic>
        <p:nvPicPr>
          <p:cNvPr id="5" name="Content Placeholder 4" descr="TP_tmp.png"/>
          <p:cNvPicPr>
            <a:picLocks noGrp="1" noChangeAspect="1"/>
          </p:cNvPicPr>
          <p:nvPr>
            <p:ph idx="1"/>
            <p:custDataLst>
              <p:tags r:id="rId1"/>
            </p:custDataLst>
          </p:nvPr>
        </p:nvPicPr>
        <p:blipFill>
          <a:blip r:embed="rId6">
            <a:clrChange>
              <a:clrFrom>
                <a:srgbClr val="FFFFFF"/>
              </a:clrFrom>
              <a:clrTo>
                <a:srgbClr val="FFFFFF">
                  <a:alpha val="0"/>
                </a:srgbClr>
              </a:clrTo>
            </a:clrChange>
          </a:blip>
          <a:stretch>
            <a:fillRect/>
          </a:stretch>
        </p:blipFill>
        <p:spPr>
          <a:xfrm>
            <a:off x="1416661" y="3753902"/>
            <a:ext cx="6501398" cy="1347218"/>
          </a:xfr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279248" y="5071710"/>
            <a:ext cx="4776225"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2279248" y="6004637"/>
            <a:ext cx="1395986" cy="280416"/>
          </a:xfrm>
          <a:prstGeom prst="rect">
            <a:avLst/>
          </a:prstGeom>
          <a:noFill/>
        </p:spPr>
      </p:pic>
      <p:pic>
        <p:nvPicPr>
          <p:cNvPr id="10" name="Picture 9"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bwMode="auto">
          <a:xfrm>
            <a:off x="4773668" y="6132024"/>
            <a:ext cx="2186444" cy="280547"/>
          </a:xfrm>
          <a:prstGeom prst="rect">
            <a:avLst/>
          </a:prstGeom>
          <a:noFill/>
          <a:ln/>
          <a:effectLst/>
        </p:spPr>
      </p:pic>
      <p:sp>
        <p:nvSpPr>
          <p:cNvPr id="3" name="TextBox 2">
            <a:extLst>
              <a:ext uri="{FF2B5EF4-FFF2-40B4-BE49-F238E27FC236}">
                <a16:creationId xmlns:a16="http://schemas.microsoft.com/office/drawing/2014/main" id="{CA0CB90D-07D8-0C4C-A64F-D5DF1845C57D}"/>
              </a:ext>
            </a:extLst>
          </p:cNvPr>
          <p:cNvSpPr txBox="1"/>
          <p:nvPr/>
        </p:nvSpPr>
        <p:spPr>
          <a:xfrm>
            <a:off x="457200" y="1405289"/>
            <a:ext cx="8536329" cy="2031325"/>
          </a:xfrm>
          <a:prstGeom prst="rect">
            <a:avLst/>
          </a:prstGeom>
          <a:noFill/>
        </p:spPr>
        <p:txBody>
          <a:bodyPr wrap="square" rtlCol="0">
            <a:spAutoFit/>
          </a:bodyPr>
          <a:lstStyle/>
          <a:p>
            <a:r>
              <a:rPr lang="ru-RU" sz="1800" dirty="0">
                <a:effectLst/>
                <a:latin typeface="Fd2389278-Identity-H"/>
              </a:rPr>
              <a:t>Рассмотрим некоторое неизвестное распределение р(х) и предположим, что смоделировали его, используя аппроксимирующее рас­пределение </a:t>
            </a:r>
            <a:r>
              <a:rPr lang="en" sz="1800" dirty="0">
                <a:effectLst/>
                <a:latin typeface="Fd1244226-Identity-H"/>
              </a:rPr>
              <a:t>q(x). </a:t>
            </a:r>
            <a:r>
              <a:rPr lang="ru-RU" sz="1800" dirty="0">
                <a:effectLst/>
                <a:latin typeface="Fd2389278-Identity-H"/>
              </a:rPr>
              <a:t>Если мы используем распределение </a:t>
            </a:r>
            <a:r>
              <a:rPr lang="en" sz="1800" dirty="0">
                <a:effectLst/>
                <a:latin typeface="Fd1244226-Identity-H"/>
              </a:rPr>
              <a:t>q(x) </a:t>
            </a:r>
            <a:r>
              <a:rPr lang="ru-RU" sz="1800" dirty="0">
                <a:effectLst/>
                <a:latin typeface="Fd2389278-Identity-H"/>
              </a:rPr>
              <a:t>для создания схемы кодирования с целью передачи значений х получателю, тогда среднее дополни­тельное количество информации (измеренное в </a:t>
            </a:r>
            <a:r>
              <a:rPr lang="ru-RU" sz="1800" dirty="0" err="1">
                <a:effectLst/>
                <a:latin typeface="Fd2389278-Identity-H"/>
              </a:rPr>
              <a:t>натах</a:t>
            </a:r>
            <a:r>
              <a:rPr lang="ru-RU" sz="1800" dirty="0">
                <a:effectLst/>
                <a:latin typeface="Fd2389278-Identity-H"/>
              </a:rPr>
              <a:t>), необходимое для указа</a:t>
            </a:r>
            <a:r>
              <a:rPr lang="ru-RU" sz="1800" dirty="0">
                <a:effectLst/>
                <a:latin typeface="Fd848363-Identity-H"/>
              </a:rPr>
              <a:t>ния </a:t>
            </a:r>
            <a:r>
              <a:rPr lang="ru-RU" sz="1800" dirty="0">
                <a:effectLst/>
                <a:latin typeface="Fd222922-Identity-H"/>
              </a:rPr>
              <a:t>значения х (при условии, что мы выбираем эффективную схему кодирова</a:t>
            </a:r>
            <a:r>
              <a:rPr lang="ru-RU" sz="1800" dirty="0">
                <a:effectLst/>
                <a:latin typeface="Fd2024191-Identity-H"/>
              </a:rPr>
              <a:t>ния</a:t>
            </a:r>
            <a:r>
              <a:rPr lang="ru-RU" sz="1800" dirty="0">
                <a:effectLst/>
                <a:latin typeface="Fd2560914-Identity-H"/>
              </a:rPr>
              <a:t>)</a:t>
            </a:r>
            <a:r>
              <a:rPr lang="ru-RU" sz="1800" dirty="0">
                <a:effectLst/>
                <a:latin typeface="Fd2024191-Identity-H"/>
              </a:rPr>
              <a:t>, </a:t>
            </a:r>
            <a:r>
              <a:rPr lang="ru-RU" sz="1800" dirty="0">
                <a:effectLst/>
                <a:latin typeface="Fd222922-Identity-H"/>
              </a:rPr>
              <a:t>в результате использования </a:t>
            </a:r>
            <a:r>
              <a:rPr lang="en" sz="1800" dirty="0">
                <a:effectLst/>
                <a:latin typeface="Fd1660928-Identity-H"/>
              </a:rPr>
              <a:t>q(x) </a:t>
            </a:r>
            <a:r>
              <a:rPr lang="ru-RU" sz="1800" dirty="0">
                <a:effectLst/>
                <a:latin typeface="Fd222922-Identity-H"/>
              </a:rPr>
              <a:t>вместо истинного распределения </a:t>
            </a:r>
            <a:r>
              <a:rPr lang="ru-RU" sz="1800" dirty="0">
                <a:effectLst/>
                <a:latin typeface="Fd1592243-Identity-H"/>
              </a:rPr>
              <a:t>р(х) </a:t>
            </a:r>
            <a:r>
              <a:rPr lang="ru-RU" sz="1800" dirty="0">
                <a:effectLst/>
                <a:latin typeface="Fd222922-Identity-H"/>
              </a:rPr>
              <a:t>за­дается формулой </a:t>
            </a:r>
            <a:endParaRPr lang="ru-RU"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Взаимная информация</a:t>
            </a:r>
            <a:endParaRPr lang="en-GB" dirty="0"/>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955287" y="2133600"/>
            <a:ext cx="5233425" cy="990602"/>
          </a:xfrm>
          <a:prstGeom prst="rect">
            <a:avLst/>
          </a:prstGeom>
          <a:noFill/>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2133600" y="3733800"/>
            <a:ext cx="4319023" cy="280416"/>
          </a:xfrm>
          <a:prstGeom prst="rect">
            <a:avLst/>
          </a:prstGeom>
          <a:noFill/>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ru-RU" dirty="0"/>
              <a:t>Параметрические распределения</a:t>
            </a:r>
            <a:endParaRPr lang="en-GB" dirty="0"/>
          </a:p>
        </p:txBody>
      </p:sp>
      <p:sp>
        <p:nvSpPr>
          <p:cNvPr id="5" name="Content Placeholder 4"/>
          <p:cNvSpPr>
            <a:spLocks noGrp="1"/>
          </p:cNvSpPr>
          <p:nvPr>
            <p:ph idx="1"/>
          </p:nvPr>
        </p:nvSpPr>
        <p:spPr/>
        <p:txBody>
          <a:bodyPr/>
          <a:lstStyle/>
          <a:p>
            <a:r>
              <a:rPr lang="ru" dirty="0"/>
              <a:t>Основные блоки</a:t>
            </a:r>
            <a:r>
              <a:rPr lang="en-GB" dirty="0"/>
              <a:t>:</a:t>
            </a:r>
          </a:p>
          <a:p>
            <a:r>
              <a:rPr lang="en-GB" dirty="0"/>
              <a:t>	</a:t>
            </a:r>
            <a:r>
              <a:rPr lang="ru-RU" dirty="0"/>
              <a:t>Необходимо определить    по</a:t>
            </a:r>
            <a:endParaRPr lang="en-GB" dirty="0"/>
          </a:p>
          <a:p>
            <a:r>
              <a:rPr lang="en-GB" dirty="0"/>
              <a:t>	</a:t>
            </a:r>
            <a:r>
              <a:rPr lang="ru-RU" dirty="0"/>
              <a:t>Представление</a:t>
            </a:r>
            <a:r>
              <a:rPr lang="en-GB" dirty="0"/>
              <a:t>:        </a:t>
            </a:r>
            <a:r>
              <a:rPr lang="ru-RU" dirty="0"/>
              <a:t>или</a:t>
            </a:r>
            <a:r>
              <a:rPr lang="en-GB" dirty="0"/>
              <a:t>           ?</a:t>
            </a:r>
          </a:p>
          <a:p>
            <a:pPr>
              <a:lnSpc>
                <a:spcPts val="1900"/>
              </a:lnSpc>
            </a:pPr>
            <a:endParaRPr lang="en-GB" dirty="0"/>
          </a:p>
          <a:p>
            <a:r>
              <a:rPr lang="ru-RU" dirty="0"/>
              <a:t>Подгонка кривой</a:t>
            </a:r>
            <a:endParaRPr lang="en-GB" dirty="0"/>
          </a:p>
        </p:txBody>
      </p:sp>
      <p:pic>
        <p:nvPicPr>
          <p:cNvPr id="6" name="Content Placeholder 3" descr="Figure1.17.jpg"/>
          <p:cNvPicPr>
            <a:picLocks noChangeAspect="1"/>
          </p:cNvPicPr>
          <p:nvPr/>
        </p:nvPicPr>
        <p:blipFill>
          <a:blip r:embed="rId8"/>
          <a:stretch>
            <a:fillRect/>
          </a:stretch>
        </p:blipFill>
        <p:spPr>
          <a:xfrm>
            <a:off x="5138019" y="3822938"/>
            <a:ext cx="3220195" cy="2392144"/>
          </a:xfrm>
          <a:prstGeom prst="rect">
            <a:avLst/>
          </a:prstGeom>
        </p:spPr>
      </p:pic>
      <p:pic>
        <p:nvPicPr>
          <p:cNvPr id="8" name="Picture 7" descr="TP_tmp.png"/>
          <p:cNvPicPr>
            <a:picLocks noChangeAspect="1"/>
          </p:cNvPicPr>
          <p:nvPr>
            <p:custDataLst>
              <p:tags r:id="rId1"/>
            </p:custDataLst>
          </p:nvPr>
        </p:nvPicPr>
        <p:blipFill>
          <a:blip r:embed="rId9">
            <a:clrChange>
              <a:clrFrom>
                <a:srgbClr val="FFFFFF"/>
              </a:clrFrom>
              <a:clrTo>
                <a:srgbClr val="FFFFFF">
                  <a:alpha val="0"/>
                </a:srgbClr>
              </a:clrTo>
            </a:clrChange>
          </a:blip>
          <a:stretch>
            <a:fillRect/>
          </a:stretch>
        </p:blipFill>
        <p:spPr bwMode="auto">
          <a:xfrm>
            <a:off x="928662" y="4357694"/>
            <a:ext cx="4037962" cy="609504"/>
          </a:xfrm>
          <a:prstGeom prst="rect">
            <a:avLst/>
          </a:prstGeom>
          <a:noFill/>
          <a:ln/>
          <a:effectLst/>
        </p:spPr>
      </p:pic>
      <p:pic>
        <p:nvPicPr>
          <p:cNvPr id="10" name="Picture 9" descr="TP_tmp.png"/>
          <p:cNvPicPr>
            <a:picLocks noChangeAspect="1"/>
          </p:cNvPicPr>
          <p:nvPr>
            <p:custDataLst>
              <p:tags r:id="rId2"/>
            </p:custDataLst>
          </p:nvPr>
        </p:nvPicPr>
        <p:blipFill>
          <a:blip r:embed="rId10">
            <a:clrChange>
              <a:clrFrom>
                <a:srgbClr val="FFFFFF"/>
              </a:clrFrom>
              <a:clrTo>
                <a:srgbClr val="FFFFFF">
                  <a:alpha val="0"/>
                </a:srgbClr>
              </a:clrTo>
            </a:clrChange>
          </a:blip>
          <a:stretch>
            <a:fillRect/>
          </a:stretch>
        </p:blipFill>
        <p:spPr>
          <a:xfrm>
            <a:off x="4345492" y="1690232"/>
            <a:ext cx="1065279" cy="420624"/>
          </a:xfrm>
          <a:prstGeom prst="rect">
            <a:avLst/>
          </a:prstGeom>
          <a:noFill/>
        </p:spPr>
      </p:pic>
      <p:pic>
        <p:nvPicPr>
          <p:cNvPr id="12" name="Picture 11" descr="TP_tmp.png"/>
          <p:cNvPicPr>
            <a:picLocks noChangeAspect="1"/>
          </p:cNvPicPr>
          <p:nvPr>
            <p:custDataLst>
              <p:tags r:id="rId3"/>
            </p:custDataLst>
          </p:nvPr>
        </p:nvPicPr>
        <p:blipFill>
          <a:blip r:embed="rId11">
            <a:clrChange>
              <a:clrFrom>
                <a:srgbClr val="FFFFFF"/>
              </a:clrFrom>
              <a:clrTo>
                <a:srgbClr val="FFFFFF">
                  <a:alpha val="0"/>
                </a:srgbClr>
              </a:clrTo>
            </a:clrChange>
          </a:blip>
          <a:stretch>
            <a:fillRect/>
          </a:stretch>
        </p:blipFill>
        <p:spPr>
          <a:xfrm>
            <a:off x="5389791" y="2313363"/>
            <a:ext cx="228600" cy="306324"/>
          </a:xfrm>
          <a:prstGeom prst="rect">
            <a:avLst/>
          </a:prstGeom>
          <a:noFill/>
        </p:spPr>
      </p:pic>
      <p:pic>
        <p:nvPicPr>
          <p:cNvPr id="14" name="Picture 13" descr="TP_tmp.png"/>
          <p:cNvPicPr>
            <a:picLocks noChangeAspect="1"/>
          </p:cNvPicPr>
          <p:nvPr>
            <p:custDataLst>
              <p:tags r:id="rId4"/>
            </p:custDataLst>
          </p:nvPr>
        </p:nvPicPr>
        <p:blipFill>
          <a:blip r:embed="rId12">
            <a:clrChange>
              <a:clrFrom>
                <a:srgbClr val="FFFFFF"/>
              </a:clrFrom>
              <a:clrTo>
                <a:srgbClr val="FFFFFF">
                  <a:alpha val="0"/>
                </a:srgbClr>
              </a:clrTo>
            </a:clrChange>
          </a:blip>
          <a:stretch>
            <a:fillRect/>
          </a:stretch>
        </p:blipFill>
        <p:spPr>
          <a:xfrm>
            <a:off x="6223087" y="2268190"/>
            <a:ext cx="2135127" cy="420624"/>
          </a:xfrm>
          <a:prstGeom prst="rect">
            <a:avLst/>
          </a:prstGeom>
          <a:noFill/>
        </p:spPr>
      </p:pic>
      <p:pic>
        <p:nvPicPr>
          <p:cNvPr id="18" name="Picture 17" descr="TP_tmp.png"/>
          <p:cNvPicPr>
            <a:picLocks noChangeAspect="1"/>
          </p:cNvPicPr>
          <p:nvPr>
            <p:custDataLst>
              <p:tags r:id="rId5"/>
            </p:custDataLst>
          </p:nvPr>
        </p:nvPicPr>
        <p:blipFill>
          <a:blip r:embed="rId13">
            <a:clrChange>
              <a:clrFrom>
                <a:srgbClr val="FFFFFF"/>
              </a:clrFrom>
              <a:clrTo>
                <a:srgbClr val="FFFFFF">
                  <a:alpha val="0"/>
                </a:srgbClr>
              </a:clrTo>
            </a:clrChange>
          </a:blip>
          <a:stretch>
            <a:fillRect/>
          </a:stretch>
        </p:blipFill>
        <p:spPr bwMode="auto">
          <a:xfrm>
            <a:off x="5363953" y="2852062"/>
            <a:ext cx="722375" cy="420623"/>
          </a:xfrm>
          <a:prstGeom prst="rect">
            <a:avLst/>
          </a:prstGeom>
          <a:noFill/>
          <a:ln/>
          <a:effectLst/>
        </p:spPr>
      </p:pic>
      <p:pic>
        <p:nvPicPr>
          <p:cNvPr id="17" name="Picture 16" descr="TP_tmp.png"/>
          <p:cNvPicPr>
            <a:picLocks noChangeAspect="1"/>
          </p:cNvPicPr>
          <p:nvPr>
            <p:custDataLst>
              <p:tags r:id="rId6"/>
            </p:custDataLst>
          </p:nvPr>
        </p:nvPicPr>
        <p:blipFill>
          <a:blip r:embed="rId14">
            <a:clrChange>
              <a:clrFrom>
                <a:srgbClr val="FFFFFF"/>
              </a:clrFrom>
              <a:clrTo>
                <a:srgbClr val="FFFFFF">
                  <a:alpha val="0"/>
                </a:srgbClr>
              </a:clrTo>
            </a:clrChange>
          </a:blip>
          <a:stretch>
            <a:fillRect/>
          </a:stretch>
        </p:blipFill>
        <p:spPr bwMode="auto">
          <a:xfrm>
            <a:off x="3865625" y="2876546"/>
            <a:ext cx="420623" cy="342899"/>
          </a:xfrm>
          <a:prstGeom prst="rect">
            <a:avLst/>
          </a:prstGeom>
          <a:noFill/>
          <a:ln/>
          <a:effec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Бинарные переменные (1)</a:t>
            </a:r>
            <a:endParaRPr lang="en-GB" dirty="0"/>
          </a:p>
        </p:txBody>
      </p:sp>
      <p:sp>
        <p:nvSpPr>
          <p:cNvPr id="3" name="Content Placeholder 2"/>
          <p:cNvSpPr>
            <a:spLocks noGrp="1"/>
          </p:cNvSpPr>
          <p:nvPr>
            <p:ph idx="1"/>
          </p:nvPr>
        </p:nvSpPr>
        <p:spPr/>
        <p:txBody>
          <a:bodyPr/>
          <a:lstStyle/>
          <a:p>
            <a:r>
              <a:rPr lang="ru" dirty="0"/>
              <a:t>Подбрасывание монеты: орел=1, решка=0</a:t>
            </a:r>
          </a:p>
          <a:p>
            <a:endParaRPr lang="en-GB" dirty="0"/>
          </a:p>
          <a:p>
            <a:endParaRPr lang="en-GB" dirty="0"/>
          </a:p>
          <a:p>
            <a:r>
              <a:rPr lang="ru" dirty="0"/>
              <a:t>Распределение Бернулли</a:t>
            </a:r>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3739136" y="2577080"/>
            <a:ext cx="1652020" cy="280416"/>
          </a:xfrm>
          <a:prstGeom prst="rect">
            <a:avLst/>
          </a:prstGeom>
          <a:noFill/>
        </p:spPr>
      </p:pic>
      <p:pic>
        <p:nvPicPr>
          <p:cNvPr id="8" name="Picture 7"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959030" y="4290644"/>
            <a:ext cx="3225938" cy="1067182"/>
          </a:xfrm>
          <a:prstGeom prst="rect">
            <a:avLst/>
          </a:prstGeom>
          <a:noFill/>
          <a:ln/>
          <a:effec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Бинарные переменные (2)</a:t>
            </a:r>
            <a:endParaRPr lang="en-GB" dirty="0"/>
          </a:p>
        </p:txBody>
      </p:sp>
      <p:sp>
        <p:nvSpPr>
          <p:cNvPr id="3" name="Content Placeholder 2"/>
          <p:cNvSpPr>
            <a:spLocks noGrp="1"/>
          </p:cNvSpPr>
          <p:nvPr>
            <p:ph idx="1"/>
          </p:nvPr>
        </p:nvSpPr>
        <p:spPr/>
        <p:txBody>
          <a:bodyPr/>
          <a:lstStyle/>
          <a:p>
            <a:r>
              <a:rPr lang="ru" i="1" dirty="0">
                <a:latin typeface="Cambria Math" panose="02040503050406030204" pitchFamily="18" charset="0"/>
                <a:ea typeface="Cambria Math" panose="02040503050406030204" pitchFamily="18" charset="0"/>
              </a:rPr>
              <a:t>N</a:t>
            </a:r>
            <a:r>
              <a:rPr lang="ru" dirty="0">
                <a:latin typeface="CMMI9" pitchFamily="34" charset="2"/>
              </a:rPr>
              <a:t> </a:t>
            </a:r>
            <a:r>
              <a:rPr lang="ru" dirty="0"/>
              <a:t>подбрасываний монеты:</a:t>
            </a:r>
          </a:p>
          <a:p>
            <a:endParaRPr lang="en-GB" dirty="0"/>
          </a:p>
          <a:p>
            <a:r>
              <a:rPr lang="ru" dirty="0"/>
              <a:t>Биномиальное распределение</a:t>
            </a:r>
          </a:p>
        </p:txBody>
      </p:sp>
      <p:pic>
        <p:nvPicPr>
          <p:cNvPr id="7" name="Picture 6"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3652840" y="2219890"/>
            <a:ext cx="1828804" cy="280416"/>
          </a:xfrm>
          <a:prstGeom prst="rect">
            <a:avLst/>
          </a:prstGeom>
          <a:noFill/>
        </p:spPr>
      </p:pic>
      <p:pic>
        <p:nvPicPr>
          <p:cNvPr id="10" name="Picture 9"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586024" y="3571876"/>
            <a:ext cx="3962408" cy="633986"/>
          </a:xfrm>
          <a:prstGeom prst="rect">
            <a:avLst/>
          </a:prstGeom>
          <a:noFill/>
        </p:spPr>
      </p:pic>
      <p:pic>
        <p:nvPicPr>
          <p:cNvPr id="13" name="Picture 12"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2743195" y="4357694"/>
            <a:ext cx="3657608" cy="762002"/>
          </a:xfrm>
          <a:prstGeom prst="rect">
            <a:avLst/>
          </a:prstGeom>
          <a:noFill/>
        </p:spPr>
      </p:pic>
      <p:pic>
        <p:nvPicPr>
          <p:cNvPr id="14" name="Picture 13"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1662092" y="5286388"/>
            <a:ext cx="5815596" cy="762002"/>
          </a:xfrm>
          <a:prstGeom prst="rect">
            <a:avLst/>
          </a:prstGeom>
          <a:noFill/>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Биномиальное распределение</a:t>
            </a:r>
            <a:endParaRPr lang="en-GB" dirty="0"/>
          </a:p>
        </p:txBody>
      </p:sp>
      <p:grpSp>
        <p:nvGrpSpPr>
          <p:cNvPr id="17" name="Group 16"/>
          <p:cNvGrpSpPr/>
          <p:nvPr/>
        </p:nvGrpSpPr>
        <p:grpSpPr>
          <a:xfrm>
            <a:off x="928662" y="1785926"/>
            <a:ext cx="6759141" cy="3785616"/>
            <a:chOff x="1142976" y="1928802"/>
            <a:chExt cx="6759141" cy="3785616"/>
          </a:xfrm>
        </p:grpSpPr>
        <p:pic>
          <p:nvPicPr>
            <p:cNvPr id="14" name="Picture 13" descr="Figure2.1.jpg"/>
            <p:cNvPicPr>
              <a:picLocks noChangeAspect="1"/>
            </p:cNvPicPr>
            <p:nvPr/>
          </p:nvPicPr>
          <p:blipFill>
            <a:blip r:embed="rId3"/>
            <a:stretch>
              <a:fillRect/>
            </a:stretch>
          </p:blipFill>
          <p:spPr>
            <a:xfrm>
              <a:off x="2671749" y="1928802"/>
              <a:ext cx="5230368" cy="3785616"/>
            </a:xfrm>
            <a:prstGeom prst="rect">
              <a:avLst/>
            </a:prstGeom>
          </p:spPr>
        </p:pic>
        <p:pic>
          <p:nvPicPr>
            <p:cNvPr id="16" name="Picture 1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142976" y="3500438"/>
              <a:ext cx="1700788" cy="280416"/>
            </a:xfrm>
            <a:prstGeom prst="rect">
              <a:avLst/>
            </a:prstGeom>
            <a:noFill/>
          </p:spPr>
        </p:pic>
      </p:gr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Оценка параметров (1)</a:t>
            </a:r>
            <a:endParaRPr lang="en-GB" dirty="0"/>
          </a:p>
        </p:txBody>
      </p:sp>
      <p:sp>
        <p:nvSpPr>
          <p:cNvPr id="3" name="Content Placeholder 2"/>
          <p:cNvSpPr>
            <a:spLocks noGrp="1"/>
          </p:cNvSpPr>
          <p:nvPr>
            <p:ph idx="1"/>
          </p:nvPr>
        </p:nvSpPr>
        <p:spPr/>
        <p:txBody>
          <a:bodyPr/>
          <a:lstStyle/>
          <a:p>
            <a:r>
              <a:rPr lang="ru" dirty="0"/>
              <a:t>ML для Бернулли</a:t>
            </a:r>
          </a:p>
          <a:p>
            <a:r>
              <a:rPr lang="ru" sz="2400" dirty="0"/>
              <a:t>Дано:</a:t>
            </a:r>
          </a:p>
          <a:p>
            <a:pPr marL="0" indent="0">
              <a:buNone/>
            </a:pPr>
            <a:r>
              <a:rPr lang="ru" dirty="0"/>
              <a:t> </a:t>
            </a:r>
          </a:p>
        </p:txBody>
      </p:sp>
      <p:pic>
        <p:nvPicPr>
          <p:cNvPr id="14" name="Picture 13"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bwMode="auto">
          <a:xfrm>
            <a:off x="2171694" y="2529311"/>
            <a:ext cx="5312414" cy="280563"/>
          </a:xfrm>
          <a:prstGeom prst="rect">
            <a:avLst/>
          </a:prstGeom>
          <a:noFill/>
          <a:ln/>
          <a:effectLst/>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2171694" y="2905123"/>
            <a:ext cx="4800610"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1155184" y="3863181"/>
            <a:ext cx="6833630" cy="762002"/>
          </a:xfrm>
          <a:prstGeom prst="rect">
            <a:avLst/>
          </a:prstGeom>
          <a:noFill/>
        </p:spPr>
      </p:pic>
      <p:pic>
        <p:nvPicPr>
          <p:cNvPr id="11" name="Picture 10"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3340605" y="4786322"/>
            <a:ext cx="2462789" cy="762002"/>
          </a:xfrm>
          <a:prstGeom prst="rect">
            <a:avLst/>
          </a:prstGeom>
          <a:noFill/>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Бета-распределение</a:t>
            </a:r>
            <a:endParaRPr lang="en-GB" dirty="0"/>
          </a:p>
        </p:txBody>
      </p:sp>
      <p:sp>
        <p:nvSpPr>
          <p:cNvPr id="4" name="Content Placeholder 3"/>
          <p:cNvSpPr>
            <a:spLocks noGrp="1"/>
          </p:cNvSpPr>
          <p:nvPr>
            <p:ph idx="1"/>
          </p:nvPr>
        </p:nvSpPr>
        <p:spPr/>
        <p:txBody>
          <a:bodyPr/>
          <a:lstStyle/>
          <a:p>
            <a:pPr marL="0" indent="0">
              <a:buNone/>
            </a:pPr>
            <a:r>
              <a:rPr lang="ru" dirty="0"/>
              <a:t>Распределение для                 .</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235149" y="2500306"/>
            <a:ext cx="4673701" cy="1881066"/>
          </a:xfrm>
          <a:prstGeom prst="rect">
            <a:avLst/>
          </a:prstGeom>
          <a:noFill/>
          <a:ln/>
          <a:effectLst/>
        </p:spPr>
      </p:pic>
      <p:pic>
        <p:nvPicPr>
          <p:cNvPr id="7" name="Picture 6"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4236333" y="1699733"/>
            <a:ext cx="1207773" cy="350520"/>
          </a:xfrm>
          <a:prstGeom prst="rect">
            <a:avLst/>
          </a:prstGeom>
          <a:noFill/>
          <a:ln/>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D77A31-B8B2-C644-88A2-A08523BCEFF4}"/>
              </a:ext>
            </a:extLst>
          </p:cNvPr>
          <p:cNvSpPr>
            <a:spLocks noGrp="1"/>
          </p:cNvSpPr>
          <p:nvPr>
            <p:ph type="title"/>
          </p:nvPr>
        </p:nvSpPr>
        <p:spPr/>
        <p:txBody>
          <a:bodyPr/>
          <a:lstStyle/>
          <a:p>
            <a:r>
              <a:rPr lang="ru-RU" dirty="0"/>
              <a:t>Сопряженное распределение</a:t>
            </a:r>
          </a:p>
        </p:txBody>
      </p:sp>
      <p:sp>
        <p:nvSpPr>
          <p:cNvPr id="3" name="Объект 2">
            <a:extLst>
              <a:ext uri="{FF2B5EF4-FFF2-40B4-BE49-F238E27FC236}">
                <a16:creationId xmlns:a16="http://schemas.microsoft.com/office/drawing/2014/main" id="{579AA186-1D4B-904F-A920-2C5C1EB3AE8D}"/>
              </a:ext>
            </a:extLst>
          </p:cNvPr>
          <p:cNvSpPr>
            <a:spLocks noGrp="1"/>
          </p:cNvSpPr>
          <p:nvPr>
            <p:ph idx="1"/>
          </p:nvPr>
        </p:nvSpPr>
        <p:spPr/>
        <p:txBody>
          <a:bodyPr/>
          <a:lstStyle/>
          <a:p>
            <a:pPr marL="0" indent="0">
              <a:buNone/>
            </a:pPr>
            <a:r>
              <a:rPr lang="ru-RU" sz="1800" dirty="0">
                <a:effectLst/>
                <a:latin typeface="SFRM1000"/>
              </a:rPr>
              <a:t>Распределения </a:t>
            </a:r>
            <a:r>
              <a:rPr lang="en" sz="1800" i="1" dirty="0">
                <a:effectLst/>
                <a:latin typeface="Times"/>
              </a:rPr>
              <a:t>p</a:t>
            </a:r>
            <a:r>
              <a:rPr lang="en" sz="1800" dirty="0">
                <a:effectLst/>
                <a:latin typeface="CMR10" panose="020B0500000000000000" pitchFamily="34" charset="0"/>
              </a:rPr>
              <a:t>(</a:t>
            </a:r>
            <a:r>
              <a:rPr lang="el-GR" sz="1800" dirty="0">
                <a:effectLst/>
                <a:latin typeface="CMMI10" panose="020B0500000000000000" pitchFamily="34" charset="0"/>
              </a:rPr>
              <a:t>θ</a:t>
            </a:r>
            <a:r>
              <a:rPr lang="el-GR" sz="1800" dirty="0">
                <a:effectLst/>
                <a:latin typeface="CMR10" panose="020B0500000000000000" pitchFamily="34" charset="0"/>
              </a:rPr>
              <a:t>) </a:t>
            </a:r>
            <a:r>
              <a:rPr lang="el-GR" sz="1800" dirty="0">
                <a:effectLst/>
                <a:latin typeface="CMSY10" panose="020B0500000000000000" pitchFamily="34" charset="0"/>
              </a:rPr>
              <a:t>∼ </a:t>
            </a:r>
            <a:r>
              <a:rPr lang="en" sz="1800" dirty="0">
                <a:effectLst/>
                <a:latin typeface="CMSY10" panose="020B0500000000000000" pitchFamily="34" charset="0"/>
              </a:rPr>
              <a:t>A</a:t>
            </a:r>
            <a:r>
              <a:rPr lang="en" sz="1800" dirty="0">
                <a:effectLst/>
                <a:latin typeface="CMR10" panose="020B0500000000000000" pitchFamily="34" charset="0"/>
              </a:rPr>
              <a:t>(</a:t>
            </a:r>
            <a:r>
              <a:rPr lang="el-GR" sz="1800" dirty="0">
                <a:effectLst/>
                <a:latin typeface="CMMI10" panose="020B0500000000000000" pitchFamily="34" charset="0"/>
              </a:rPr>
              <a:t>α</a:t>
            </a:r>
            <a:r>
              <a:rPr lang="ru-RU" sz="1800" baseline="-25000" dirty="0">
                <a:effectLst/>
                <a:latin typeface="CMMI10" panose="020B0500000000000000" pitchFamily="34" charset="0"/>
              </a:rPr>
              <a:t>0</a:t>
            </a:r>
            <a:r>
              <a:rPr lang="el-GR" sz="1800" dirty="0">
                <a:effectLst/>
                <a:latin typeface="CMR10" panose="020B0500000000000000" pitchFamily="34" charset="0"/>
              </a:rPr>
              <a:t>) </a:t>
            </a:r>
            <a:r>
              <a:rPr lang="ru-RU" sz="1800" dirty="0">
                <a:effectLst/>
                <a:latin typeface="SFRM1000"/>
              </a:rPr>
              <a:t>и </a:t>
            </a:r>
            <a:r>
              <a:rPr lang="en" sz="1800" i="1" dirty="0">
                <a:effectLst/>
                <a:latin typeface="Times"/>
              </a:rPr>
              <a:t>p</a:t>
            </a:r>
            <a:r>
              <a:rPr lang="en" sz="1800" dirty="0">
                <a:effectLst/>
                <a:latin typeface="CMR10" panose="020B0500000000000000" pitchFamily="34" charset="0"/>
              </a:rPr>
              <a:t>(</a:t>
            </a:r>
            <a:r>
              <a:rPr lang="en" sz="1800" b="1" i="1" dirty="0">
                <a:effectLst/>
                <a:latin typeface="Times"/>
              </a:rPr>
              <a:t>x</a:t>
            </a:r>
            <a:r>
              <a:rPr lang="en" sz="1800" dirty="0">
                <a:effectLst/>
                <a:latin typeface="CMSY10" panose="020B0500000000000000" pitchFamily="34" charset="0"/>
              </a:rPr>
              <a:t>|</a:t>
            </a:r>
            <a:r>
              <a:rPr lang="el-GR" sz="1800" dirty="0">
                <a:effectLst/>
                <a:latin typeface="CMMI10" panose="020B0500000000000000" pitchFamily="34" charset="0"/>
              </a:rPr>
              <a:t>θ</a:t>
            </a:r>
            <a:r>
              <a:rPr lang="el-GR" sz="1800" dirty="0">
                <a:effectLst/>
                <a:latin typeface="CMR10" panose="020B0500000000000000" pitchFamily="34" charset="0"/>
              </a:rPr>
              <a:t>) </a:t>
            </a:r>
            <a:r>
              <a:rPr lang="el-GR" sz="1800" dirty="0">
                <a:effectLst/>
                <a:latin typeface="CMSY10" panose="020B0500000000000000" pitchFamily="34" charset="0"/>
              </a:rPr>
              <a:t>∼ </a:t>
            </a:r>
            <a:r>
              <a:rPr lang="en" sz="1800" dirty="0">
                <a:effectLst/>
                <a:latin typeface="CMSY10" panose="020B0500000000000000" pitchFamily="34" charset="0"/>
              </a:rPr>
              <a:t>B</a:t>
            </a:r>
            <a:r>
              <a:rPr lang="en" sz="1800" dirty="0">
                <a:effectLst/>
                <a:latin typeface="CMR10" panose="020B0500000000000000" pitchFamily="34" charset="0"/>
              </a:rPr>
              <a:t>(</a:t>
            </a:r>
            <a:r>
              <a:rPr lang="el-GR" sz="1800" dirty="0">
                <a:effectLst/>
                <a:latin typeface="CMMI10" panose="020B0500000000000000" pitchFamily="34" charset="0"/>
              </a:rPr>
              <a:t>β</a:t>
            </a:r>
            <a:r>
              <a:rPr lang="el-GR" sz="1800" dirty="0">
                <a:effectLst/>
                <a:latin typeface="CMR10" panose="020B0500000000000000" pitchFamily="34" charset="0"/>
              </a:rPr>
              <a:t>) </a:t>
            </a:r>
            <a:r>
              <a:rPr lang="ru-RU" sz="1800" dirty="0">
                <a:effectLst/>
                <a:latin typeface="SFRM1000"/>
              </a:rPr>
              <a:t>являются сопряженными, если </a:t>
            </a:r>
            <a:endParaRPr lang="ru-RU" dirty="0"/>
          </a:p>
          <a:p>
            <a:pPr marL="0" indent="0">
              <a:buNone/>
            </a:pPr>
            <a:r>
              <a:rPr lang="en" sz="1800" i="1" dirty="0">
                <a:effectLst/>
                <a:latin typeface="Times"/>
              </a:rPr>
              <a:t>p</a:t>
            </a:r>
            <a:r>
              <a:rPr lang="en" sz="1800" dirty="0">
                <a:effectLst/>
                <a:latin typeface="CMR10" panose="020B0500000000000000" pitchFamily="34" charset="0"/>
              </a:rPr>
              <a:t>(</a:t>
            </a:r>
            <a:r>
              <a:rPr lang="el-GR" sz="1800" dirty="0">
                <a:effectLst/>
                <a:latin typeface="CMMI10" panose="020B0500000000000000" pitchFamily="34" charset="0"/>
              </a:rPr>
              <a:t>θ</a:t>
            </a:r>
            <a:r>
              <a:rPr lang="el-GR" sz="1800" dirty="0">
                <a:effectLst/>
                <a:latin typeface="CMSY10" panose="020B0500000000000000" pitchFamily="34" charset="0"/>
              </a:rPr>
              <a:t>|</a:t>
            </a:r>
            <a:r>
              <a:rPr lang="en" sz="1800" b="1" i="1" dirty="0">
                <a:effectLst/>
                <a:latin typeface="Times"/>
              </a:rPr>
              <a:t>x</a:t>
            </a:r>
            <a:r>
              <a:rPr lang="en" sz="1800" dirty="0">
                <a:effectLst/>
                <a:latin typeface="CMR10" panose="020B0500000000000000" pitchFamily="34" charset="0"/>
              </a:rPr>
              <a:t>) </a:t>
            </a:r>
            <a:r>
              <a:rPr lang="en" sz="1800" dirty="0">
                <a:effectLst/>
                <a:latin typeface="CMSY10" panose="020B0500000000000000" pitchFamily="34" charset="0"/>
              </a:rPr>
              <a:t>∼ A</a:t>
            </a:r>
            <a:r>
              <a:rPr lang="en" sz="1800" dirty="0">
                <a:effectLst/>
                <a:latin typeface="CMR10" panose="020B0500000000000000" pitchFamily="34" charset="0"/>
              </a:rPr>
              <a:t>(</a:t>
            </a:r>
            <a:r>
              <a:rPr lang="el-GR" sz="1800" dirty="0">
                <a:effectLst/>
                <a:latin typeface="CMMI10" panose="020B0500000000000000" pitchFamily="34" charset="0"/>
              </a:rPr>
              <a:t>α</a:t>
            </a:r>
            <a:r>
              <a:rPr lang="el-GR" sz="1800" baseline="-25000" dirty="0">
                <a:effectLst/>
                <a:latin typeface="Times"/>
              </a:rPr>
              <a:t>1</a:t>
            </a:r>
            <a:r>
              <a:rPr lang="el-GR" sz="1800" dirty="0">
                <a:effectLst/>
                <a:latin typeface="CMR10" panose="020B0500000000000000" pitchFamily="34" charset="0"/>
              </a:rPr>
              <a:t>) </a:t>
            </a:r>
            <a:endParaRPr lang="el-GR" dirty="0"/>
          </a:p>
          <a:p>
            <a:pPr marL="0" indent="0">
              <a:buNone/>
            </a:pPr>
            <a:endParaRPr lang="ru-RU" dirty="0"/>
          </a:p>
        </p:txBody>
      </p:sp>
      <p:sp>
        <p:nvSpPr>
          <p:cNvPr id="4" name="Номер слайда 3">
            <a:extLst>
              <a:ext uri="{FF2B5EF4-FFF2-40B4-BE49-F238E27FC236}">
                <a16:creationId xmlns:a16="http://schemas.microsoft.com/office/drawing/2014/main" id="{C2672959-79F8-6241-B85F-54D97DD7CC26}"/>
              </a:ext>
            </a:extLst>
          </p:cNvPr>
          <p:cNvSpPr>
            <a:spLocks noGrp="1"/>
          </p:cNvSpPr>
          <p:nvPr>
            <p:ph type="sldNum" sz="quarter" idx="12"/>
          </p:nvPr>
        </p:nvSpPr>
        <p:spPr/>
        <p:txBody>
          <a:bodyPr/>
          <a:lstStyle/>
          <a:p>
            <a:fld id="{38237106-F2ED-405E-BC33-CC3CF426205F}" type="slidenum">
              <a:rPr lang="en-US" smtClean="0"/>
              <a:pPr/>
              <a:t>83</a:t>
            </a:fld>
            <a:endParaRPr lang="en-US"/>
          </a:p>
        </p:txBody>
      </p:sp>
    </p:spTree>
    <p:extLst>
      <p:ext uri="{BB962C8B-B14F-4D97-AF65-F5344CB8AC3E}">
        <p14:creationId xmlns:p14="http://schemas.microsoft.com/office/powerpoint/2010/main" val="11744782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Байесовский Бернулли</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447780" y="1785360"/>
            <a:ext cx="6248437" cy="1929396"/>
          </a:xfrm>
          <a:prstGeom prst="rect">
            <a:avLst/>
          </a:prstGeom>
          <a:noFill/>
          <a:ln/>
          <a:effectLst/>
        </p:spPr>
      </p:pic>
      <p:sp>
        <p:nvSpPr>
          <p:cNvPr id="7" name="TextBox 6"/>
          <p:cNvSpPr txBox="1"/>
          <p:nvPr/>
        </p:nvSpPr>
        <p:spPr>
          <a:xfrm>
            <a:off x="785786" y="4786322"/>
            <a:ext cx="7429552" cy="830997"/>
          </a:xfrm>
          <a:prstGeom prst="rect">
            <a:avLst/>
          </a:prstGeom>
          <a:noFill/>
        </p:spPr>
        <p:txBody>
          <a:bodyPr wrap="square" rtlCol="0">
            <a:spAutoFit/>
          </a:bodyPr>
          <a:lstStyle/>
          <a:p>
            <a:r>
              <a:rPr lang="ru" sz="2400" dirty="0"/>
              <a:t>Бета-распределение является </a:t>
            </a:r>
            <a:r>
              <a:rPr lang="ru" sz="2400" i="1" dirty="0"/>
              <a:t>сопряженным </a:t>
            </a:r>
            <a:r>
              <a:rPr lang="ru" sz="2400" dirty="0"/>
              <a:t>априорным распределением для распределения Бернулли.</a:t>
            </a:r>
            <a:endParaRPr lang="en-GB" sz="2400" dirty="0"/>
          </a:p>
        </p:txBody>
      </p:sp>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2540504" y="4077278"/>
            <a:ext cx="4062991" cy="280416"/>
          </a:xfrm>
          <a:prstGeom prst="rect">
            <a:avLst/>
          </a:prstGeom>
          <a:noFill/>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sz="4400" dirty="0"/>
              <a:t>Бета-распределение</a:t>
            </a:r>
            <a:endParaRPr lang="en-GB" dirty="0"/>
          </a:p>
        </p:txBody>
      </p:sp>
      <p:pic>
        <p:nvPicPr>
          <p:cNvPr id="5" name="Content Placeholder 4" descr="Figure2.2a.jpg"/>
          <p:cNvPicPr>
            <a:picLocks noGrp="1" noChangeAspect="1"/>
          </p:cNvPicPr>
          <p:nvPr>
            <p:ph idx="1"/>
          </p:nvPr>
        </p:nvPicPr>
        <p:blipFill>
          <a:blip r:embed="rId2"/>
          <a:stretch>
            <a:fillRect/>
          </a:stretch>
        </p:blipFill>
        <p:spPr>
          <a:xfrm>
            <a:off x="1142976" y="1428736"/>
            <a:ext cx="3143250" cy="2366010"/>
          </a:xfrm>
        </p:spPr>
      </p:pic>
      <p:pic>
        <p:nvPicPr>
          <p:cNvPr id="6" name="Picture 5" descr="Figure2.2b.jpg"/>
          <p:cNvPicPr>
            <a:picLocks noChangeAspect="1"/>
          </p:cNvPicPr>
          <p:nvPr/>
        </p:nvPicPr>
        <p:blipFill>
          <a:blip r:embed="rId3"/>
          <a:stretch>
            <a:fillRect/>
          </a:stretch>
        </p:blipFill>
        <p:spPr>
          <a:xfrm>
            <a:off x="4857752" y="1428736"/>
            <a:ext cx="3158490" cy="2366010"/>
          </a:xfrm>
          <a:prstGeom prst="rect">
            <a:avLst/>
          </a:prstGeom>
        </p:spPr>
      </p:pic>
      <p:pic>
        <p:nvPicPr>
          <p:cNvPr id="7" name="Picture 6" descr="Figure2.2c.jpg"/>
          <p:cNvPicPr>
            <a:picLocks noChangeAspect="1"/>
          </p:cNvPicPr>
          <p:nvPr/>
        </p:nvPicPr>
        <p:blipFill>
          <a:blip r:embed="rId4"/>
          <a:stretch>
            <a:fillRect/>
          </a:stretch>
        </p:blipFill>
        <p:spPr>
          <a:xfrm>
            <a:off x="1142976" y="3777634"/>
            <a:ext cx="3143250" cy="2366010"/>
          </a:xfrm>
          <a:prstGeom prst="rect">
            <a:avLst/>
          </a:prstGeom>
        </p:spPr>
      </p:pic>
      <p:pic>
        <p:nvPicPr>
          <p:cNvPr id="8" name="Picture 7" descr="Figure2.2d.jpg"/>
          <p:cNvPicPr>
            <a:picLocks noChangeAspect="1"/>
          </p:cNvPicPr>
          <p:nvPr/>
        </p:nvPicPr>
        <p:blipFill>
          <a:blip r:embed="rId5"/>
          <a:stretch>
            <a:fillRect/>
          </a:stretch>
        </p:blipFill>
        <p:spPr>
          <a:xfrm>
            <a:off x="4842534" y="3786190"/>
            <a:ext cx="3158490" cy="236601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err="1"/>
              <a:t>Мультиноминальные</a:t>
            </a:r>
            <a:r>
              <a:rPr lang="ru-RU" dirty="0"/>
              <a:t> случайные переменные</a:t>
            </a:r>
            <a:endParaRPr lang="en-GB" dirty="0"/>
          </a:p>
        </p:txBody>
      </p:sp>
      <p:pic>
        <p:nvPicPr>
          <p:cNvPr id="15" name="Picture 1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bwMode="auto">
          <a:xfrm>
            <a:off x="2899361" y="3286124"/>
            <a:ext cx="3328429" cy="786388"/>
          </a:xfrm>
          <a:prstGeom prst="rect">
            <a:avLst/>
          </a:prstGeom>
          <a:noFill/>
          <a:ln/>
          <a:effectLst/>
        </p:spPr>
      </p:pic>
      <p:pic>
        <p:nvPicPr>
          <p:cNvPr id="8" name="Picture 7"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3631689" y="2356862"/>
            <a:ext cx="1880620" cy="786386"/>
          </a:xfrm>
          <a:prstGeom prst="rect">
            <a:avLst/>
          </a:prstGeom>
          <a:noFill/>
        </p:spPr>
      </p:pic>
      <p:pic>
        <p:nvPicPr>
          <p:cNvPr id="10" name="Picture 9"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254217" y="4929198"/>
            <a:ext cx="2615189" cy="786386"/>
          </a:xfrm>
          <a:prstGeom prst="rect">
            <a:avLst/>
          </a:prstGeom>
          <a:noFill/>
        </p:spPr>
      </p:pic>
      <p:pic>
        <p:nvPicPr>
          <p:cNvPr id="12" name="Picture 11"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196273" y="4228536"/>
            <a:ext cx="4748793" cy="557786"/>
          </a:xfrm>
          <a:prstGeom prst="rect">
            <a:avLst/>
          </a:prstGeom>
          <a:noFill/>
        </p:spPr>
      </p:pic>
      <p:grpSp>
        <p:nvGrpSpPr>
          <p:cNvPr id="11" name="Group 10"/>
          <p:cNvGrpSpPr/>
          <p:nvPr/>
        </p:nvGrpSpPr>
        <p:grpSpPr>
          <a:xfrm>
            <a:off x="1689905" y="1806022"/>
            <a:ext cx="5126818" cy="369332"/>
            <a:chOff x="1142975" y="1806022"/>
            <a:chExt cx="4507513" cy="369332"/>
          </a:xfrm>
        </p:grpSpPr>
        <p:pic>
          <p:nvPicPr>
            <p:cNvPr id="6" name="Picture 5"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bwMode="auto">
            <a:xfrm>
              <a:off x="3493512" y="1814086"/>
              <a:ext cx="2156976" cy="329030"/>
            </a:xfrm>
            <a:prstGeom prst="rect">
              <a:avLst/>
            </a:prstGeom>
            <a:noFill/>
            <a:ln/>
            <a:effectLst/>
          </p:spPr>
        </p:pic>
        <p:sp>
          <p:nvSpPr>
            <p:cNvPr id="9" name="TextBox 8"/>
            <p:cNvSpPr txBox="1"/>
            <p:nvPr/>
          </p:nvSpPr>
          <p:spPr>
            <a:xfrm>
              <a:off x="1142975" y="1806022"/>
              <a:ext cx="2795225" cy="369332"/>
            </a:xfrm>
            <a:prstGeom prst="rect">
              <a:avLst/>
            </a:prstGeom>
            <a:noFill/>
          </p:spPr>
          <p:txBody>
            <a:bodyPr wrap="square" rtlCol="0">
              <a:spAutoFit/>
            </a:bodyPr>
            <a:lstStyle/>
            <a:p>
              <a:r>
                <a:rPr lang="en-GB" dirty="0">
                  <a:latin typeface="cmr12" pitchFamily="34" charset="0"/>
                </a:rPr>
                <a:t>1</a:t>
              </a:r>
              <a:r>
                <a:rPr lang="en-GB" dirty="0"/>
                <a:t>-</a:t>
              </a:r>
              <a:r>
                <a:rPr lang="ru-RU" dirty="0"/>
                <a:t>в</a:t>
              </a:r>
              <a:r>
                <a:rPr lang="en-GB" dirty="0"/>
                <a:t>-</a:t>
              </a:r>
              <a:r>
                <a:rPr lang="en-GB" dirty="0">
                  <a:latin typeface="cmmi12" pitchFamily="34" charset="0"/>
                </a:rPr>
                <a:t>K</a:t>
              </a:r>
              <a:r>
                <a:rPr lang="en-GB" dirty="0"/>
                <a:t> </a:t>
              </a:r>
              <a:r>
                <a:rPr lang="ru-RU" dirty="0"/>
                <a:t>схема кодирования</a:t>
              </a:r>
              <a:r>
                <a:rPr lang="en-GB" dirty="0"/>
                <a:t>:</a:t>
              </a:r>
            </a:p>
          </p:txBody>
        </p:sp>
      </p:gr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ML </a:t>
            </a:r>
            <a:r>
              <a:rPr lang="ru-RU" dirty="0"/>
              <a:t>Оценка параметров</a:t>
            </a:r>
            <a:endParaRPr lang="en-GB" dirty="0"/>
          </a:p>
        </p:txBody>
      </p:sp>
      <p:sp>
        <p:nvSpPr>
          <p:cNvPr id="3" name="Content Placeholder 2"/>
          <p:cNvSpPr>
            <a:spLocks noGrp="1"/>
          </p:cNvSpPr>
          <p:nvPr>
            <p:ph idx="1"/>
          </p:nvPr>
        </p:nvSpPr>
        <p:spPr/>
        <p:txBody>
          <a:bodyPr/>
          <a:lstStyle/>
          <a:p>
            <a:r>
              <a:rPr lang="ru-RU" sz="2400" dirty="0"/>
              <a:t>Дано</a:t>
            </a:r>
            <a:r>
              <a:rPr lang="en-GB" sz="2400" dirty="0"/>
              <a:t>:</a:t>
            </a:r>
          </a:p>
          <a:p>
            <a:endParaRPr lang="en-GB" sz="2400" dirty="0"/>
          </a:p>
          <a:p>
            <a:endParaRPr lang="en-GB" sz="2400" dirty="0"/>
          </a:p>
          <a:p>
            <a:endParaRPr lang="en-GB" sz="2400" dirty="0"/>
          </a:p>
          <a:p>
            <a:r>
              <a:rPr lang="ru-RU" sz="2400" dirty="0"/>
              <a:t>Чтобы гарантировать </a:t>
            </a:r>
            <a:r>
              <a:rPr lang="en-GB" sz="2400" dirty="0"/>
              <a:t>                  ,</a:t>
            </a:r>
            <a:r>
              <a:rPr lang="ru-RU" sz="2400" dirty="0"/>
              <a:t> используем множитель Лагранжа</a:t>
            </a:r>
            <a:endParaRPr lang="en-GB" sz="2400" dirty="0"/>
          </a:p>
        </p:txBody>
      </p:sp>
      <p:pic>
        <p:nvPicPr>
          <p:cNvPr id="5" name="Picture 4"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1840986" y="2285992"/>
            <a:ext cx="5462027" cy="786386"/>
          </a:xfrm>
          <a:prstGeom prst="rect">
            <a:avLst/>
          </a:prstGeom>
          <a:noFill/>
        </p:spPr>
      </p:pic>
      <p:pic>
        <p:nvPicPr>
          <p:cNvPr id="7" name="Picture 6"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2918293" y="4071374"/>
            <a:ext cx="3300989" cy="786386"/>
          </a:xfrm>
          <a:prstGeom prst="rect">
            <a:avLst/>
          </a:prstGeom>
          <a:noFill/>
        </p:spPr>
      </p:pic>
      <p:pic>
        <p:nvPicPr>
          <p:cNvPr id="12" name="Picture 11"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bwMode="auto">
          <a:xfrm>
            <a:off x="2989731" y="5161584"/>
            <a:ext cx="3151272" cy="481994"/>
          </a:xfrm>
          <a:prstGeom prst="rect">
            <a:avLst/>
          </a:prstGeom>
          <a:noFill/>
          <a:ln/>
          <a:effectLst/>
        </p:spPr>
      </p:pic>
      <p:pic>
        <p:nvPicPr>
          <p:cNvPr id="19" name="Picture 18"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bwMode="auto">
          <a:xfrm>
            <a:off x="1840986" y="1721462"/>
            <a:ext cx="1959247" cy="280764"/>
          </a:xfrm>
          <a:prstGeom prst="rect">
            <a:avLst/>
          </a:prstGeom>
          <a:noFill/>
          <a:ln/>
          <a:effectLst/>
        </p:spPr>
      </p:pic>
      <p:pic>
        <p:nvPicPr>
          <p:cNvPr id="18" name="Picture 17"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bwMode="auto">
          <a:xfrm>
            <a:off x="3704510" y="3456571"/>
            <a:ext cx="1167748" cy="280503"/>
          </a:xfrm>
          <a:prstGeom prst="rect">
            <a:avLst/>
          </a:prstGeom>
          <a:noFill/>
          <a:ln/>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err="1"/>
              <a:t>Мультиноминальное</a:t>
            </a:r>
            <a:r>
              <a:rPr lang="ru-RU" dirty="0"/>
              <a:t> распределение</a:t>
            </a:r>
            <a:endParaRPr lang="en-GB" dirty="0"/>
          </a:p>
        </p:txBody>
      </p:sp>
      <p:pic>
        <p:nvPicPr>
          <p:cNvPr id="7" name="Picture 6"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bwMode="auto">
          <a:xfrm>
            <a:off x="1307039" y="1928802"/>
            <a:ext cx="6529920" cy="1929710"/>
          </a:xfrm>
          <a:prstGeom prst="rect">
            <a:avLst/>
          </a:prstGeom>
          <a:noFill/>
          <a:ln/>
          <a:effec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Распределение Дирихле</a:t>
            </a:r>
            <a:endParaRPr lang="en-GB" dirty="0"/>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142976" y="1928802"/>
            <a:ext cx="4242823" cy="786386"/>
          </a:xfrm>
          <a:prstGeom prst="rect">
            <a:avLst/>
          </a:prstGeom>
          <a:noFill/>
        </p:spPr>
      </p:pic>
      <p:pic>
        <p:nvPicPr>
          <p:cNvPr id="11" name="Picture 10"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1142976" y="3000372"/>
            <a:ext cx="1295402" cy="786386"/>
          </a:xfrm>
          <a:prstGeom prst="rect">
            <a:avLst/>
          </a:prstGeom>
          <a:noFill/>
        </p:spPr>
      </p:pic>
      <p:pic>
        <p:nvPicPr>
          <p:cNvPr id="12" name="Picture 11" descr="Figure2.4.jpg"/>
          <p:cNvPicPr>
            <a:picLocks noChangeAspect="1"/>
          </p:cNvPicPr>
          <p:nvPr/>
        </p:nvPicPr>
        <p:blipFill>
          <a:blip r:embed="rId6"/>
          <a:stretch>
            <a:fillRect/>
          </a:stretch>
        </p:blipFill>
        <p:spPr>
          <a:xfrm>
            <a:off x="5129808" y="2889140"/>
            <a:ext cx="2871216" cy="2968752"/>
          </a:xfrm>
          <a:prstGeom prst="rect">
            <a:avLst/>
          </a:prstGeom>
        </p:spPr>
      </p:pic>
      <p:sp>
        <p:nvSpPr>
          <p:cNvPr id="6" name="TextBox 5"/>
          <p:cNvSpPr txBox="1"/>
          <p:nvPr/>
        </p:nvSpPr>
        <p:spPr>
          <a:xfrm>
            <a:off x="1052488" y="4354305"/>
            <a:ext cx="3357586" cy="1938992"/>
          </a:xfrm>
          <a:prstGeom prst="rect">
            <a:avLst/>
          </a:prstGeom>
          <a:noFill/>
        </p:spPr>
        <p:txBody>
          <a:bodyPr wrap="square" rtlCol="0">
            <a:spAutoFit/>
          </a:bodyPr>
          <a:lstStyle/>
          <a:p>
            <a:r>
              <a:rPr lang="ru" sz="2400" dirty="0"/>
              <a:t>Сопряженное априорное распределение для мультиномиального распределения</a:t>
            </a:r>
            <a:r>
              <a:rPr lang="en-GB" sz="2400" dirty="0"/>
              <a: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Распределение Дирихле </a:t>
            </a:r>
            <a:r>
              <a:rPr lang="en-GB" dirty="0"/>
              <a:t>(2)</a:t>
            </a:r>
          </a:p>
        </p:txBody>
      </p:sp>
      <p:pic>
        <p:nvPicPr>
          <p:cNvPr id="9" name="Picture 8" descr="Figure2.5a.jpg"/>
          <p:cNvPicPr>
            <a:picLocks noChangeAspect="1"/>
          </p:cNvPicPr>
          <p:nvPr/>
        </p:nvPicPr>
        <p:blipFill>
          <a:blip r:embed="rId5"/>
          <a:stretch>
            <a:fillRect/>
          </a:stretch>
        </p:blipFill>
        <p:spPr>
          <a:xfrm>
            <a:off x="500034" y="2143116"/>
            <a:ext cx="2590800" cy="3401568"/>
          </a:xfrm>
          <a:prstGeom prst="rect">
            <a:avLst/>
          </a:prstGeom>
        </p:spPr>
      </p:pic>
      <p:pic>
        <p:nvPicPr>
          <p:cNvPr id="7" name="Picture 6" descr="Figure2.5b.jpg"/>
          <p:cNvPicPr>
            <a:picLocks noChangeAspect="1"/>
          </p:cNvPicPr>
          <p:nvPr/>
        </p:nvPicPr>
        <p:blipFill>
          <a:blip r:embed="rId6"/>
          <a:stretch>
            <a:fillRect/>
          </a:stretch>
        </p:blipFill>
        <p:spPr>
          <a:xfrm>
            <a:off x="3276609" y="2141997"/>
            <a:ext cx="2590800" cy="3401568"/>
          </a:xfrm>
          <a:prstGeom prst="rect">
            <a:avLst/>
          </a:prstGeom>
        </p:spPr>
      </p:pic>
      <p:pic>
        <p:nvPicPr>
          <p:cNvPr id="10" name="Picture 9" descr="Figure2.5c.jpg"/>
          <p:cNvPicPr>
            <a:picLocks noChangeAspect="1"/>
          </p:cNvPicPr>
          <p:nvPr/>
        </p:nvPicPr>
        <p:blipFill>
          <a:blip r:embed="rId7"/>
          <a:stretch>
            <a:fillRect/>
          </a:stretch>
        </p:blipFill>
        <p:spPr>
          <a:xfrm>
            <a:off x="6000760" y="2143116"/>
            <a:ext cx="2590800" cy="3401568"/>
          </a:xfrm>
          <a:prstGeom prst="rect">
            <a:avLst/>
          </a:prstGeom>
        </p:spPr>
      </p:pic>
      <p:pic>
        <p:nvPicPr>
          <p:cNvPr id="17" name="Picture 16" descr="TP_tmp.png"/>
          <p:cNvPicPr>
            <a:picLocks noChangeAspect="1"/>
          </p:cNvPicPr>
          <p:nvPr>
            <p:custDataLst>
              <p:tags r:id="rId1"/>
            </p:custDataLst>
          </p:nvPr>
        </p:nvPicPr>
        <p:blipFill>
          <a:blip r:embed="rId8">
            <a:clrChange>
              <a:clrFrom>
                <a:srgbClr val="FFFFFF"/>
              </a:clrFrom>
              <a:clrTo>
                <a:srgbClr val="FFFFFF">
                  <a:alpha val="0"/>
                </a:srgbClr>
              </a:clrTo>
            </a:clrChange>
          </a:blip>
          <a:stretch>
            <a:fillRect/>
          </a:stretch>
        </p:blipFill>
        <p:spPr>
          <a:xfrm>
            <a:off x="1319196" y="5643578"/>
            <a:ext cx="1143002" cy="280416"/>
          </a:xfrm>
          <a:prstGeom prst="rect">
            <a:avLst/>
          </a:prstGeom>
          <a:noFill/>
        </p:spPr>
      </p:pic>
      <p:pic>
        <p:nvPicPr>
          <p:cNvPr id="21" name="Picture 20" descr="TP_tmp.png"/>
          <p:cNvPicPr>
            <a:picLocks noChangeAspect="1"/>
          </p:cNvPicPr>
          <p:nvPr>
            <p:custDataLst>
              <p:tags r:id="rId2"/>
            </p:custDataLst>
          </p:nvPr>
        </p:nvPicPr>
        <p:blipFill>
          <a:blip r:embed="rId9">
            <a:clrChange>
              <a:clrFrom>
                <a:srgbClr val="FFFFFF"/>
              </a:clrFrom>
              <a:clrTo>
                <a:srgbClr val="FFFFFF">
                  <a:alpha val="0"/>
                </a:srgbClr>
              </a:clrTo>
            </a:clrChange>
          </a:blip>
          <a:stretch>
            <a:fillRect/>
          </a:stretch>
        </p:blipFill>
        <p:spPr bwMode="auto">
          <a:xfrm>
            <a:off x="4176708" y="5634051"/>
            <a:ext cx="990603" cy="280416"/>
          </a:xfrm>
          <a:prstGeom prst="rect">
            <a:avLst/>
          </a:prstGeom>
          <a:noFill/>
          <a:ln/>
          <a:effectLst/>
        </p:spPr>
      </p:pic>
      <p:pic>
        <p:nvPicPr>
          <p:cNvPr id="22" name="Picture 21" descr="TP_tmp.png"/>
          <p:cNvPicPr>
            <a:picLocks noChangeAspect="1"/>
          </p:cNvPicPr>
          <p:nvPr>
            <p:custDataLst>
              <p:tags r:id="rId3"/>
            </p:custDataLst>
          </p:nvPr>
        </p:nvPicPr>
        <p:blipFill>
          <a:blip r:embed="rId10">
            <a:clrChange>
              <a:clrFrom>
                <a:srgbClr val="FFFFFF"/>
              </a:clrFrom>
              <a:clrTo>
                <a:srgbClr val="FFFFFF">
                  <a:alpha val="0"/>
                </a:srgbClr>
              </a:clrTo>
            </a:clrChange>
          </a:blip>
          <a:stretch>
            <a:fillRect/>
          </a:stretch>
        </p:blipFill>
        <p:spPr bwMode="auto">
          <a:xfrm>
            <a:off x="6900877" y="5638815"/>
            <a:ext cx="990603" cy="280416"/>
          </a:xfrm>
          <a:prstGeom prst="rect">
            <a:avLst/>
          </a:prstGeom>
          <a:noFill/>
          <a:ln/>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3" descr="Figure1.13.jpg"/>
          <p:cNvPicPr>
            <a:picLocks noGrp="1" noChangeAspect="1"/>
          </p:cNvPicPr>
          <p:nvPr>
            <p:ph idx="1"/>
          </p:nvPr>
        </p:nvPicPr>
        <p:blipFill>
          <a:blip r:embed="rId4"/>
          <a:stretch>
            <a:fillRect/>
          </a:stretch>
        </p:blipFill>
        <p:spPr>
          <a:xfrm>
            <a:off x="627694" y="1428737"/>
            <a:ext cx="3444240" cy="2491740"/>
          </a:xfrm>
        </p:spPr>
      </p:pic>
      <p:sp>
        <p:nvSpPr>
          <p:cNvPr id="2" name="Title 1"/>
          <p:cNvSpPr>
            <a:spLocks noGrp="1"/>
          </p:cNvSpPr>
          <p:nvPr>
            <p:ph type="title"/>
          </p:nvPr>
        </p:nvSpPr>
        <p:spPr/>
        <p:txBody>
          <a:bodyPr/>
          <a:lstStyle/>
          <a:p>
            <a:r>
              <a:rPr lang="ru-RU" dirty="0"/>
              <a:t>Нормальное распределение</a:t>
            </a:r>
            <a:endParaRPr lang="en-GB" dirty="0"/>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857488" y="1671628"/>
            <a:ext cx="5081025" cy="685802"/>
          </a:xfrm>
          <a:prstGeom prst="rect">
            <a:avLst/>
          </a:prstGeom>
          <a:noFill/>
        </p:spPr>
      </p:pic>
      <p:pic>
        <p:nvPicPr>
          <p:cNvPr id="7" name="Picture 6"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581031" y="5214950"/>
            <a:ext cx="6705613" cy="633986"/>
          </a:xfrm>
          <a:prstGeom prst="rect">
            <a:avLst/>
          </a:prstGeom>
          <a:noFill/>
        </p:spPr>
      </p:pic>
      <p:pic>
        <p:nvPicPr>
          <p:cNvPr id="10" name="Content Placeholder 3" descr="Figure2.8a.jpg"/>
          <p:cNvPicPr>
            <a:picLocks noChangeAspect="1"/>
          </p:cNvPicPr>
          <p:nvPr/>
        </p:nvPicPr>
        <p:blipFill>
          <a:blip r:embed="rId7"/>
          <a:srcRect b="13871"/>
          <a:stretch>
            <a:fillRect/>
          </a:stretch>
        </p:blipFill>
        <p:spPr>
          <a:xfrm>
            <a:off x="6013922" y="3145168"/>
            <a:ext cx="2487168" cy="1926906"/>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Центральная предельная теорема</a:t>
            </a:r>
            <a:endParaRPr lang="en-GB" dirty="0"/>
          </a:p>
        </p:txBody>
      </p:sp>
      <p:sp>
        <p:nvSpPr>
          <p:cNvPr id="8" name="Content Placeholder 7"/>
          <p:cNvSpPr>
            <a:spLocks noGrp="1"/>
          </p:cNvSpPr>
          <p:nvPr>
            <p:ph idx="1"/>
          </p:nvPr>
        </p:nvSpPr>
        <p:spPr/>
        <p:txBody>
          <a:bodyPr/>
          <a:lstStyle/>
          <a:p>
            <a:pPr marL="0" indent="0">
              <a:buNone/>
            </a:pPr>
            <a:r>
              <a:rPr lang="ru-RU" dirty="0">
                <a:latin typeface="cmmi12" pitchFamily="34" charset="0"/>
              </a:rPr>
              <a:t>Распределение суммы </a:t>
            </a:r>
            <a:r>
              <a:rPr lang="en-GB" dirty="0">
                <a:latin typeface="cmmi12" pitchFamily="34" charset="0"/>
              </a:rPr>
              <a:t>N</a:t>
            </a:r>
            <a:r>
              <a:rPr lang="en-GB" dirty="0"/>
              <a:t> </a:t>
            </a:r>
            <a:r>
              <a:rPr lang="ru-RU" dirty="0" err="1"/>
              <a:t>н.о.р</a:t>
            </a:r>
            <a:r>
              <a:rPr lang="ru-RU" dirty="0"/>
              <a:t>.</a:t>
            </a:r>
            <a:r>
              <a:rPr lang="en-GB" dirty="0"/>
              <a:t> </a:t>
            </a:r>
            <a:r>
              <a:rPr lang="ru-RU" dirty="0"/>
              <a:t>случайных переменных приближается к нормальному </a:t>
            </a:r>
            <a:r>
              <a:rPr lang="ru" dirty="0"/>
              <a:t>по мере роста </a:t>
            </a:r>
            <a:r>
              <a:rPr lang="ru" dirty="0">
                <a:latin typeface="cmmi12" pitchFamily="34" charset="0"/>
              </a:rPr>
              <a:t>N</a:t>
            </a:r>
            <a:r>
              <a:rPr lang="en-GB" dirty="0"/>
              <a:t>.</a:t>
            </a:r>
          </a:p>
          <a:p>
            <a:pPr marL="0" indent="0">
              <a:buNone/>
            </a:pPr>
            <a:r>
              <a:rPr lang="ru-RU" dirty="0"/>
              <a:t>Пример</a:t>
            </a:r>
            <a:r>
              <a:rPr lang="en-GB" dirty="0"/>
              <a:t>: </a:t>
            </a:r>
            <a:r>
              <a:rPr lang="en-GB" dirty="0">
                <a:latin typeface="cmmi12" pitchFamily="34" charset="0"/>
              </a:rPr>
              <a:t>N</a:t>
            </a:r>
            <a:r>
              <a:rPr lang="en-GB" dirty="0"/>
              <a:t> </a:t>
            </a:r>
            <a:r>
              <a:rPr lang="ru-RU" dirty="0"/>
              <a:t>равномерных</a:t>
            </a:r>
            <a:r>
              <a:rPr lang="en-GB" dirty="0"/>
              <a:t> </a:t>
            </a:r>
            <a:r>
              <a:rPr lang="en-GB" dirty="0">
                <a:latin typeface="cmr12" pitchFamily="34" charset="0"/>
              </a:rPr>
              <a:t>[0,1]</a:t>
            </a:r>
            <a:r>
              <a:rPr lang="ru-RU" dirty="0">
                <a:latin typeface="cmr12" pitchFamily="34" charset="0"/>
              </a:rPr>
              <a:t> </a:t>
            </a:r>
            <a:r>
              <a:rPr lang="ru-RU" dirty="0" err="1">
                <a:latin typeface="cmr12" pitchFamily="34" charset="0"/>
              </a:rPr>
              <a:t>случаных</a:t>
            </a:r>
            <a:r>
              <a:rPr lang="ru-RU" dirty="0">
                <a:latin typeface="cmr12" pitchFamily="34" charset="0"/>
              </a:rPr>
              <a:t> переменных</a:t>
            </a:r>
            <a:r>
              <a:rPr lang="en-GB" dirty="0"/>
              <a:t>.</a:t>
            </a:r>
          </a:p>
          <a:p>
            <a:pPr marL="0" indent="0"/>
            <a:endParaRPr lang="en-GB" dirty="0"/>
          </a:p>
        </p:txBody>
      </p:sp>
      <p:grpSp>
        <p:nvGrpSpPr>
          <p:cNvPr id="7" name="Group 6"/>
          <p:cNvGrpSpPr>
            <a:grpSpLocks noChangeAspect="1"/>
          </p:cNvGrpSpPr>
          <p:nvPr/>
        </p:nvGrpSpPr>
        <p:grpSpPr>
          <a:xfrm>
            <a:off x="633981" y="4287533"/>
            <a:ext cx="7876038" cy="1838630"/>
            <a:chOff x="357158" y="2214554"/>
            <a:chExt cx="7500990" cy="1751076"/>
          </a:xfrm>
        </p:grpSpPr>
        <p:pic>
          <p:nvPicPr>
            <p:cNvPr id="4" name="Picture 3" descr="Figure2.6a.jpg"/>
            <p:cNvPicPr>
              <a:picLocks noChangeAspect="1"/>
            </p:cNvPicPr>
            <p:nvPr/>
          </p:nvPicPr>
          <p:blipFill>
            <a:blip r:embed="rId2"/>
            <a:stretch>
              <a:fillRect/>
            </a:stretch>
          </p:blipFill>
          <p:spPr>
            <a:xfrm>
              <a:off x="357158" y="2214554"/>
              <a:ext cx="2478024" cy="1751076"/>
            </a:xfrm>
            <a:prstGeom prst="rect">
              <a:avLst/>
            </a:prstGeom>
          </p:spPr>
        </p:pic>
        <p:pic>
          <p:nvPicPr>
            <p:cNvPr id="5" name="Picture 4" descr="Figure2.6b.jpg"/>
            <p:cNvPicPr>
              <a:picLocks noChangeAspect="1"/>
            </p:cNvPicPr>
            <p:nvPr/>
          </p:nvPicPr>
          <p:blipFill>
            <a:blip r:embed="rId3"/>
            <a:stretch>
              <a:fillRect/>
            </a:stretch>
          </p:blipFill>
          <p:spPr>
            <a:xfrm>
              <a:off x="2879794" y="2214554"/>
              <a:ext cx="2478024" cy="1751076"/>
            </a:xfrm>
            <a:prstGeom prst="rect">
              <a:avLst/>
            </a:prstGeom>
          </p:spPr>
        </p:pic>
        <p:pic>
          <p:nvPicPr>
            <p:cNvPr id="6" name="Picture 5" descr="Figure2.6c.jpg"/>
            <p:cNvPicPr>
              <a:picLocks noChangeAspect="1"/>
            </p:cNvPicPr>
            <p:nvPr/>
          </p:nvPicPr>
          <p:blipFill>
            <a:blip r:embed="rId4"/>
            <a:stretch>
              <a:fillRect/>
            </a:stretch>
          </p:blipFill>
          <p:spPr>
            <a:xfrm>
              <a:off x="5380124" y="2214554"/>
              <a:ext cx="2478024" cy="1751076"/>
            </a:xfrm>
            <a:prstGeom prst="rect">
              <a:avLst/>
            </a:prstGeom>
          </p:spPr>
        </p:pic>
      </p:gr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Autofit/>
          </a:bodyPr>
          <a:lstStyle/>
          <a:p>
            <a:r>
              <a:rPr lang="ru-RU" sz="3600" dirty="0"/>
              <a:t>Геометрическое представление многомерного нормального распределения</a:t>
            </a:r>
            <a:endParaRPr lang="en-GB" sz="3600" dirty="0"/>
          </a:p>
        </p:txBody>
      </p:sp>
      <p:pic>
        <p:nvPicPr>
          <p:cNvPr id="5" name="Picture 4"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969956" y="1643050"/>
            <a:ext cx="2971806" cy="329184"/>
          </a:xfrm>
          <a:prstGeom prst="rect">
            <a:avLst/>
          </a:prstGeom>
          <a:noFill/>
        </p:spPr>
      </p:pic>
      <p:pic>
        <p:nvPicPr>
          <p:cNvPr id="7" name="Picture 6"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974206" y="2143116"/>
            <a:ext cx="2057404" cy="762002"/>
          </a:xfrm>
          <a:prstGeom prst="rect">
            <a:avLst/>
          </a:prstGeom>
          <a:noFill/>
        </p:spPr>
      </p:pic>
      <p:pic>
        <p:nvPicPr>
          <p:cNvPr id="9" name="Picture 8"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969956" y="3095627"/>
            <a:ext cx="1347217" cy="762001"/>
          </a:xfrm>
          <a:prstGeom prst="rect">
            <a:avLst/>
          </a:prstGeom>
          <a:noFill/>
        </p:spPr>
      </p:pic>
      <p:pic>
        <p:nvPicPr>
          <p:cNvPr id="11" name="Picture 10"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969956" y="4071942"/>
            <a:ext cx="1700788" cy="329184"/>
          </a:xfrm>
          <a:prstGeom prst="rect">
            <a:avLst/>
          </a:prstGeom>
          <a:noFill/>
        </p:spPr>
      </p:pic>
      <p:pic>
        <p:nvPicPr>
          <p:cNvPr id="13" name="Picture 12" descr="Figure2.7.jpg"/>
          <p:cNvPicPr>
            <a:picLocks noChangeAspect="1"/>
          </p:cNvPicPr>
          <p:nvPr/>
        </p:nvPicPr>
        <p:blipFill>
          <a:blip r:embed="rId10"/>
          <a:stretch>
            <a:fillRect/>
          </a:stretch>
        </p:blipFill>
        <p:spPr>
          <a:xfrm>
            <a:off x="3571868" y="2581122"/>
            <a:ext cx="5143536" cy="363396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Моменты</a:t>
            </a:r>
            <a:endParaRPr lang="en-GB" dirty="0"/>
          </a:p>
        </p:txBody>
      </p:sp>
      <p:pic>
        <p:nvPicPr>
          <p:cNvPr id="5" name="Picture 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3493006" y="1857364"/>
            <a:ext cx="2157988" cy="329184"/>
          </a:xfrm>
          <a:prstGeom prst="rect">
            <a:avLst/>
          </a:prstGeom>
          <a:noFill/>
        </p:spPr>
      </p:pic>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374382" y="2429441"/>
            <a:ext cx="4395233" cy="356617"/>
          </a:xfrm>
          <a:prstGeom prst="rect">
            <a:avLst/>
          </a:prstGeom>
          <a:noFill/>
          <a:ln/>
          <a:effectLst/>
        </p:spPr>
      </p:pic>
      <p:pic>
        <p:nvPicPr>
          <p:cNvPr id="11" name="Content Placeholder 10" descr="Figure2.8a.jpg"/>
          <p:cNvPicPr>
            <a:picLocks noGrp="1" noChangeAspect="1"/>
          </p:cNvPicPr>
          <p:nvPr>
            <p:ph idx="1"/>
          </p:nvPr>
        </p:nvPicPr>
        <p:blipFill>
          <a:blip r:embed="rId6"/>
          <a:stretch>
            <a:fillRect/>
          </a:stretch>
        </p:blipFill>
        <p:spPr>
          <a:xfrm>
            <a:off x="642910" y="3857628"/>
            <a:ext cx="2487168" cy="2237232"/>
          </a:xfrm>
        </p:spPr>
      </p:pic>
      <p:pic>
        <p:nvPicPr>
          <p:cNvPr id="12" name="Picture 11" descr="Figure2.8b.jpg"/>
          <p:cNvPicPr>
            <a:picLocks noChangeAspect="1"/>
          </p:cNvPicPr>
          <p:nvPr/>
        </p:nvPicPr>
        <p:blipFill>
          <a:blip r:embed="rId7"/>
          <a:stretch>
            <a:fillRect/>
          </a:stretch>
        </p:blipFill>
        <p:spPr>
          <a:xfrm>
            <a:off x="3299278" y="3857628"/>
            <a:ext cx="2487168" cy="2237232"/>
          </a:xfrm>
          <a:prstGeom prst="rect">
            <a:avLst/>
          </a:prstGeom>
        </p:spPr>
      </p:pic>
      <p:pic>
        <p:nvPicPr>
          <p:cNvPr id="13" name="Picture 12" descr="Figure2.8c.jpg"/>
          <p:cNvPicPr>
            <a:picLocks noChangeAspect="1"/>
          </p:cNvPicPr>
          <p:nvPr/>
        </p:nvPicPr>
        <p:blipFill>
          <a:blip r:embed="rId8"/>
          <a:stretch>
            <a:fillRect/>
          </a:stretch>
        </p:blipFill>
        <p:spPr>
          <a:xfrm>
            <a:off x="5942484" y="3857628"/>
            <a:ext cx="2487168" cy="2237232"/>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Разделение переменных в нормальном распределении</a:t>
            </a:r>
            <a:endParaRPr lang="en-GB" dirty="0"/>
          </a:p>
        </p:txBody>
      </p:sp>
      <p:grpSp>
        <p:nvGrpSpPr>
          <p:cNvPr id="15" name="Group 14"/>
          <p:cNvGrpSpPr/>
          <p:nvPr/>
        </p:nvGrpSpPr>
        <p:grpSpPr>
          <a:xfrm>
            <a:off x="2388668" y="4580964"/>
            <a:ext cx="4348706" cy="633986"/>
            <a:chOff x="2418812" y="4479382"/>
            <a:chExt cx="4348706" cy="633986"/>
          </a:xfrm>
        </p:grpSpPr>
        <p:pic>
          <p:nvPicPr>
            <p:cNvPr id="12" name="Picture 11" descr="TP_tmp.png"/>
            <p:cNvPicPr>
              <a:picLocks noChangeAspect="1"/>
            </p:cNvPicPr>
            <p:nvPr>
              <p:custDataLst>
                <p:tags r:id="rId5"/>
              </p:custDataLst>
            </p:nvPr>
          </p:nvPicPr>
          <p:blipFill>
            <a:blip r:embed="rId8">
              <a:clrChange>
                <a:clrFrom>
                  <a:srgbClr val="FFFFFF"/>
                </a:clrFrom>
                <a:clrTo>
                  <a:srgbClr val="FFFFFF">
                    <a:alpha val="0"/>
                  </a:srgbClr>
                </a:clrTo>
              </a:clrChange>
            </a:blip>
            <a:stretch>
              <a:fillRect/>
            </a:stretch>
          </p:blipFill>
          <p:spPr>
            <a:xfrm>
              <a:off x="2418812" y="4625974"/>
              <a:ext cx="1014986" cy="252984"/>
            </a:xfrm>
            <a:prstGeom prst="rect">
              <a:avLst/>
            </a:prstGeom>
            <a:noFill/>
          </p:spPr>
        </p:pic>
        <p:pic>
          <p:nvPicPr>
            <p:cNvPr id="14" name="Picture 13" descr="TP_tmp.png"/>
            <p:cNvPicPr>
              <a:picLocks noChangeAspect="1"/>
            </p:cNvPicPr>
            <p:nvPr>
              <p:custDataLst>
                <p:tags r:id="rId6"/>
              </p:custDataLst>
            </p:nvPr>
          </p:nvPicPr>
          <p:blipFill>
            <a:blip r:embed="rId9">
              <a:clrChange>
                <a:clrFrom>
                  <a:srgbClr val="FFFFFF"/>
                </a:clrFrom>
                <a:clrTo>
                  <a:srgbClr val="FFFFFF">
                    <a:alpha val="0"/>
                  </a:srgbClr>
                </a:clrTo>
              </a:clrChange>
            </a:blip>
            <a:stretch>
              <a:fillRect/>
            </a:stretch>
          </p:blipFill>
          <p:spPr>
            <a:xfrm>
              <a:off x="4786314" y="4479382"/>
              <a:ext cx="1981204" cy="633986"/>
            </a:xfrm>
            <a:prstGeom prst="rect">
              <a:avLst/>
            </a:prstGeom>
            <a:noFill/>
          </p:spPr>
        </p:pic>
      </p:grpSp>
      <p:grpSp>
        <p:nvGrpSpPr>
          <p:cNvPr id="19" name="Group 18"/>
          <p:cNvGrpSpPr/>
          <p:nvPr/>
        </p:nvGrpSpPr>
        <p:grpSpPr>
          <a:xfrm>
            <a:off x="1327146" y="3071810"/>
            <a:ext cx="6469612" cy="633986"/>
            <a:chOff x="1684336" y="2143116"/>
            <a:chExt cx="6469612" cy="633986"/>
          </a:xfrm>
        </p:grpSpPr>
        <p:pic>
          <p:nvPicPr>
            <p:cNvPr id="10" name="Picture 9" descr="TP_tmp.png"/>
            <p:cNvPicPr>
              <a:picLocks noChangeAspect="1"/>
            </p:cNvPicPr>
            <p:nvPr>
              <p:custDataLst>
                <p:tags r:id="rId2"/>
              </p:custDataLst>
            </p:nvPr>
          </p:nvPicPr>
          <p:blipFill>
            <a:blip r:embed="rId10">
              <a:clrChange>
                <a:clrFrom>
                  <a:srgbClr val="FFFFFF"/>
                </a:clrFrom>
                <a:clrTo>
                  <a:srgbClr val="FFFFFF">
                    <a:alpha val="0"/>
                  </a:srgbClr>
                </a:clrTo>
              </a:clrChange>
            </a:blip>
            <a:stretch>
              <a:fillRect/>
            </a:stretch>
          </p:blipFill>
          <p:spPr>
            <a:xfrm>
              <a:off x="6172744" y="2143116"/>
              <a:ext cx="1981204" cy="633986"/>
            </a:xfrm>
            <a:prstGeom prst="rect">
              <a:avLst/>
            </a:prstGeom>
            <a:noFill/>
          </p:spPr>
        </p:pic>
        <p:pic>
          <p:nvPicPr>
            <p:cNvPr id="8" name="Picture 7" descr="TP_tmp.png"/>
            <p:cNvPicPr>
              <a:picLocks noChangeAspect="1"/>
            </p:cNvPicPr>
            <p:nvPr>
              <p:custDataLst>
                <p:tags r:id="rId3"/>
              </p:custDataLst>
            </p:nvPr>
          </p:nvPicPr>
          <p:blipFill>
            <a:blip r:embed="rId11">
              <a:clrChange>
                <a:clrFrom>
                  <a:srgbClr val="FFFFFF"/>
                </a:clrFrom>
                <a:clrTo>
                  <a:srgbClr val="FFFFFF">
                    <a:alpha val="0"/>
                  </a:srgbClr>
                </a:clrTo>
              </a:clrChange>
            </a:blip>
            <a:stretch>
              <a:fillRect/>
            </a:stretch>
          </p:blipFill>
          <p:spPr>
            <a:xfrm>
              <a:off x="3980400" y="2143116"/>
              <a:ext cx="1167386" cy="633986"/>
            </a:xfrm>
            <a:prstGeom prst="rect">
              <a:avLst/>
            </a:prstGeom>
            <a:noFill/>
          </p:spPr>
        </p:pic>
        <p:pic>
          <p:nvPicPr>
            <p:cNvPr id="16" name="Content Placeholder 5" descr="TP_tmp.png"/>
            <p:cNvPicPr>
              <a:picLocks noChangeAspect="1"/>
            </p:cNvPicPr>
            <p:nvPr>
              <p:custDataLst>
                <p:tags r:id="rId4"/>
              </p:custDataLst>
            </p:nvPr>
          </p:nvPicPr>
          <p:blipFill>
            <a:blip r:embed="rId12">
              <a:clrChange>
                <a:clrFrom>
                  <a:srgbClr val="FFFFFF"/>
                </a:clrFrom>
                <a:clrTo>
                  <a:srgbClr val="FFFFFF">
                    <a:alpha val="0"/>
                  </a:srgbClr>
                </a:clrTo>
              </a:clrChange>
            </a:blip>
            <a:stretch>
              <a:fillRect/>
            </a:stretch>
          </p:blipFill>
          <p:spPr>
            <a:xfrm>
              <a:off x="1684336" y="2143116"/>
              <a:ext cx="1118617" cy="633985"/>
            </a:xfrm>
            <a:prstGeom prst="rect">
              <a:avLst/>
            </a:prstGeom>
            <a:noFill/>
          </p:spPr>
        </p:pic>
      </p:grpSp>
      <p:pic>
        <p:nvPicPr>
          <p:cNvPr id="21" name="Picture 20" descr="TP_tmp.png"/>
          <p:cNvPicPr>
            <a:picLocks noChangeAspect="1"/>
          </p:cNvPicPr>
          <p:nvPr>
            <p:custDataLst>
              <p:tags r:id="rId1"/>
            </p:custDataLst>
          </p:nvPr>
        </p:nvPicPr>
        <p:blipFill>
          <a:blip r:embed="rId13">
            <a:clrChange>
              <a:clrFrom>
                <a:srgbClr val="FFFFFF"/>
              </a:clrFrom>
              <a:clrTo>
                <a:srgbClr val="FFFFFF">
                  <a:alpha val="0"/>
                </a:srgbClr>
              </a:clrTo>
            </a:clrChange>
          </a:blip>
          <a:stretch>
            <a:fillRect/>
          </a:stretch>
        </p:blipFill>
        <p:spPr>
          <a:xfrm>
            <a:off x="3581398" y="2005576"/>
            <a:ext cx="1981204" cy="280416"/>
          </a:xfrm>
          <a:prstGeom prst="rect">
            <a:avLst/>
          </a:prstGeom>
          <a:noFill/>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Условные вероятности и частное распределение</a:t>
            </a:r>
            <a:endParaRPr lang="en-GB" dirty="0"/>
          </a:p>
        </p:txBody>
      </p:sp>
      <p:pic>
        <p:nvPicPr>
          <p:cNvPr id="7" name="Picture 6"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3022088" y="1857364"/>
            <a:ext cx="3099822" cy="304800"/>
          </a:xfrm>
          <a:prstGeom prst="rect">
            <a:avLst/>
          </a:prstGeom>
          <a:noFill/>
        </p:spPr>
      </p:pic>
      <p:pic>
        <p:nvPicPr>
          <p:cNvPr id="8" name="Picture 7"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2336281" y="2428868"/>
            <a:ext cx="4471435" cy="1524007"/>
          </a:xfrm>
          <a:prstGeom prst="rect">
            <a:avLst/>
          </a:prstGeom>
          <a:noFill/>
          <a:ln/>
          <a:effectLst/>
        </p:spPr>
      </p:pic>
      <p:pic>
        <p:nvPicPr>
          <p:cNvPr id="10" name="Picture 9"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3059603" y="4643446"/>
            <a:ext cx="3024791" cy="939149"/>
          </a:xfrm>
          <a:prstGeom prst="rect">
            <a:avLst/>
          </a:prstGeom>
          <a:noFill/>
          <a:ln/>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Условные вероятности</a:t>
            </a:r>
            <a:endParaRPr lang="en-GB" dirty="0"/>
          </a:p>
        </p:txBody>
      </p:sp>
      <p:grpSp>
        <p:nvGrpSpPr>
          <p:cNvPr id="9" name="Group 8"/>
          <p:cNvGrpSpPr/>
          <p:nvPr/>
        </p:nvGrpSpPr>
        <p:grpSpPr>
          <a:xfrm>
            <a:off x="539770" y="1664879"/>
            <a:ext cx="8054759" cy="4050137"/>
            <a:chOff x="509626" y="1571613"/>
            <a:chExt cx="8054759" cy="4050137"/>
          </a:xfrm>
        </p:grpSpPr>
        <p:pic>
          <p:nvPicPr>
            <p:cNvPr id="4" name="Picture 3" descr="Figure2.9a.jpg"/>
            <p:cNvPicPr>
              <a:picLocks noChangeAspect="1"/>
            </p:cNvPicPr>
            <p:nvPr/>
          </p:nvPicPr>
          <p:blipFill>
            <a:blip r:embed="rId2"/>
            <a:stretch>
              <a:fillRect/>
            </a:stretch>
          </p:blipFill>
          <p:spPr>
            <a:xfrm>
              <a:off x="509626" y="1578883"/>
              <a:ext cx="4062374" cy="4042867"/>
            </a:xfrm>
            <a:prstGeom prst="rect">
              <a:avLst/>
            </a:prstGeom>
          </p:spPr>
        </p:pic>
        <p:pic>
          <p:nvPicPr>
            <p:cNvPr id="5" name="Picture 4" descr="Figure2.9b.jpg"/>
            <p:cNvPicPr>
              <a:picLocks noChangeAspect="1"/>
            </p:cNvPicPr>
            <p:nvPr/>
          </p:nvPicPr>
          <p:blipFill>
            <a:blip r:embed="rId3"/>
            <a:stretch>
              <a:fillRect/>
            </a:stretch>
          </p:blipFill>
          <p:spPr>
            <a:xfrm>
              <a:off x="4643438" y="1571613"/>
              <a:ext cx="3920947" cy="4042867"/>
            </a:xfrm>
            <a:prstGeom prst="rect">
              <a:avLst/>
            </a:prstGeom>
          </p:spPr>
        </p:pic>
      </p:gr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Теорема Байеса для нормального закона</a:t>
            </a:r>
            <a:endParaRPr lang="en-GB" dirty="0"/>
          </a:p>
        </p:txBody>
      </p:sp>
      <p:sp>
        <p:nvSpPr>
          <p:cNvPr id="3" name="Content Placeholder 2"/>
          <p:cNvSpPr>
            <a:spLocks noGrp="1"/>
          </p:cNvSpPr>
          <p:nvPr>
            <p:ph idx="1"/>
          </p:nvPr>
        </p:nvSpPr>
        <p:spPr/>
        <p:txBody>
          <a:bodyPr/>
          <a:lstStyle/>
          <a:p>
            <a:r>
              <a:rPr lang="ru-RU" dirty="0"/>
              <a:t>Дано</a:t>
            </a:r>
            <a:endParaRPr lang="en-GB" dirty="0"/>
          </a:p>
          <a:p>
            <a:endParaRPr lang="en-GB" dirty="0"/>
          </a:p>
          <a:p>
            <a:r>
              <a:rPr lang="ru-RU" dirty="0"/>
              <a:t>Получено</a:t>
            </a:r>
            <a:endParaRPr lang="en-GB" dirty="0"/>
          </a:p>
          <a:p>
            <a:endParaRPr lang="en-GB" sz="2400" dirty="0"/>
          </a:p>
          <a:p>
            <a:endParaRPr lang="en-GB" dirty="0"/>
          </a:p>
          <a:p>
            <a:r>
              <a:rPr lang="ru-RU" dirty="0"/>
              <a:t>где</a:t>
            </a:r>
            <a:endParaRPr lang="en-GB" dirty="0"/>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793488" y="2000240"/>
            <a:ext cx="3557023" cy="762002"/>
          </a:xfrm>
          <a:prstGeom prst="rect">
            <a:avLst/>
          </a:prstGeom>
          <a:noFill/>
        </p:spPr>
      </p:pic>
      <p:pic>
        <p:nvPicPr>
          <p:cNvPr id="9" name="Picture 8"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2105090" y="3503884"/>
            <a:ext cx="4933819" cy="710934"/>
          </a:xfrm>
          <a:prstGeom prst="rect">
            <a:avLst/>
          </a:prstGeom>
          <a:noFill/>
          <a:ln/>
          <a:effectLst/>
        </p:spPr>
      </p:pic>
      <p:pic>
        <p:nvPicPr>
          <p:cNvPr id="10" name="Picture 9" descr="TP_tmp.png"/>
          <p:cNvPicPr>
            <a:picLocks noChangeAspect="1"/>
          </p:cNvPicPr>
          <p:nvPr>
            <p:custDataLst>
              <p:tags r:id="rId3"/>
            </p:custDataLst>
          </p:nvPr>
        </p:nvPicPr>
        <p:blipFill>
          <a:blip r:embed="rId7">
            <a:clrChange>
              <a:clrFrom>
                <a:srgbClr val="FFFFFF"/>
              </a:clrFrom>
              <a:clrTo>
                <a:srgbClr val="FFFFFF">
                  <a:alpha val="0"/>
                </a:srgbClr>
              </a:clrTo>
            </a:clrChange>
          </a:blip>
          <a:stretch>
            <a:fillRect/>
          </a:stretch>
        </p:blipFill>
        <p:spPr bwMode="auto">
          <a:xfrm>
            <a:off x="3428404" y="5000636"/>
            <a:ext cx="2286604" cy="329270"/>
          </a:xfrm>
          <a:prstGeom prst="rect">
            <a:avLst/>
          </a:prstGeom>
          <a:noFill/>
          <a:ln/>
          <a:effectLst/>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ru-RU" sz="3200" b="0" i="0" u="none" strike="noStrike" kern="1200" cap="none" spc="0" normalizeH="0" baseline="0" noProof="0" dirty="0">
                <a:ln>
                  <a:noFill/>
                </a:ln>
                <a:solidFill>
                  <a:schemeClr val="tx1"/>
                </a:solidFill>
                <a:effectLst/>
                <a:uLnTx/>
                <a:uFillTx/>
                <a:latin typeface="+mn-lt"/>
                <a:ea typeface="+mn-ea"/>
                <a:cs typeface="+mn-cs"/>
              </a:rPr>
              <a:t>Вклад </a:t>
            </a:r>
            <a:r>
              <a:rPr kumimoji="0" lang="en-GB" sz="3200" b="0" i="0" u="none" strike="noStrike" kern="1200" cap="none" spc="0" normalizeH="0" baseline="0" noProof="0" dirty="0">
                <a:ln>
                  <a:noFill/>
                </a:ln>
                <a:solidFill>
                  <a:schemeClr val="tx1"/>
                </a:solidFill>
                <a:effectLst/>
                <a:uLnTx/>
                <a:uFillTx/>
                <a:latin typeface="cmmi12" pitchFamily="34" charset="0"/>
              </a:rPr>
              <a:t>N</a:t>
            </a:r>
            <a:r>
              <a:rPr kumimoji="0" lang="en-GB" sz="1200" b="0" i="0" u="none" strike="noStrike" kern="1200" cap="none" spc="0" normalizeH="0" baseline="30000" noProof="0" dirty="0">
                <a:ln>
                  <a:noFill/>
                </a:ln>
                <a:solidFill>
                  <a:schemeClr val="tx1"/>
                </a:solidFill>
                <a:effectLst/>
                <a:uLnTx/>
                <a:uFillTx/>
                <a:latin typeface="cmr12" pitchFamily="34" charset="0"/>
              </a:rPr>
              <a:t> </a:t>
            </a:r>
            <a:r>
              <a:rPr lang="ru-RU" sz="3200" baseline="30000" dirty="0">
                <a:latin typeface="cmr12" pitchFamily="34" charset="0"/>
              </a:rPr>
              <a:t>-й</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точки данных</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en-GB" sz="3200" b="0" i="0" u="none" strike="noStrike" kern="1200" cap="none" spc="0" normalizeH="0" baseline="0" noProof="0" dirty="0" err="1">
                <a:ln>
                  <a:noFill/>
                </a:ln>
                <a:solidFill>
                  <a:schemeClr val="tx1"/>
                </a:solidFill>
                <a:effectLst/>
                <a:uLnTx/>
                <a:uFillTx/>
                <a:latin typeface="cmbx12" pitchFamily="34" charset="0"/>
              </a:rPr>
              <a:t>x</a:t>
            </a:r>
            <a:r>
              <a:rPr kumimoji="0" lang="en-GB" sz="3200" b="0" i="0" u="none" strike="noStrike" kern="1200" cap="none" spc="0" normalizeH="0" baseline="-25000" noProof="0" dirty="0" err="1">
                <a:ln>
                  <a:noFill/>
                </a:ln>
                <a:solidFill>
                  <a:schemeClr val="tx1"/>
                </a:solidFill>
                <a:effectLst/>
                <a:uLnTx/>
                <a:uFillTx/>
                <a:latin typeface="cmmi12" pitchFamily="34" charset="0"/>
              </a:rPr>
              <a:t>N</a:t>
            </a:r>
            <a:r>
              <a:rPr kumimoji="0" lang="en-GB" sz="3200" b="0" i="0" u="none" strike="noStrike" kern="1200" cap="none" spc="0" normalizeH="0" baseline="0" noProof="0" dirty="0">
                <a:ln>
                  <a:noFill/>
                </a:ln>
                <a:solidFill>
                  <a:schemeClr val="tx1"/>
                </a:solidFill>
                <a:effectLst/>
                <a:uLnTx/>
                <a:uFillTx/>
                <a:latin typeface="+mn-lt"/>
                <a:ea typeface="+mn-ea"/>
                <a:cs typeface="+mn-cs"/>
              </a:rPr>
              <a:t> </a:t>
            </a:r>
          </a:p>
        </p:txBody>
      </p:sp>
      <p:sp>
        <p:nvSpPr>
          <p:cNvPr id="2" name="Title 1"/>
          <p:cNvSpPr>
            <a:spLocks noGrp="1"/>
          </p:cNvSpPr>
          <p:nvPr>
            <p:ph type="title"/>
          </p:nvPr>
        </p:nvSpPr>
        <p:spPr/>
        <p:txBody>
          <a:bodyPr>
            <a:normAutofit/>
          </a:bodyPr>
          <a:lstStyle/>
          <a:p>
            <a:r>
              <a:rPr lang="ru-RU" dirty="0"/>
              <a:t>Последовательная оценка</a:t>
            </a:r>
            <a:endParaRPr lang="en-GB" dirty="0"/>
          </a:p>
        </p:txBody>
      </p:sp>
      <p:grpSp>
        <p:nvGrpSpPr>
          <p:cNvPr id="34" name="Group 33"/>
          <p:cNvGrpSpPr/>
          <p:nvPr/>
        </p:nvGrpSpPr>
        <p:grpSpPr>
          <a:xfrm>
            <a:off x="2443884" y="2143116"/>
            <a:ext cx="6700116" cy="4051870"/>
            <a:chOff x="2443884" y="2143116"/>
            <a:chExt cx="6700116" cy="4051870"/>
          </a:xfrm>
        </p:grpSpPr>
        <p:pic>
          <p:nvPicPr>
            <p:cNvPr id="6" name="Picture 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2443884" y="2143116"/>
              <a:ext cx="4242554" cy="2895422"/>
            </a:xfrm>
            <a:prstGeom prst="rect">
              <a:avLst/>
            </a:prstGeom>
            <a:noFill/>
            <a:ln/>
            <a:effectLst/>
          </p:spPr>
        </p:pic>
        <p:sp>
          <p:nvSpPr>
            <p:cNvPr id="7" name="Right Brace 6"/>
            <p:cNvSpPr/>
            <p:nvPr/>
          </p:nvSpPr>
          <p:spPr>
            <a:xfrm rot="5400000">
              <a:off x="5812117" y="4321975"/>
              <a:ext cx="142876" cy="1500198"/>
            </a:xfrm>
            <a:prstGeom prst="rightBrace">
              <a:avLst/>
            </a:prstGeom>
            <a:ln w="158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cxnSp>
          <p:nvCxnSpPr>
            <p:cNvPr id="10" name="Elbow Connector 9"/>
            <p:cNvCxnSpPr/>
            <p:nvPr/>
          </p:nvCxnSpPr>
          <p:spPr>
            <a:xfrm>
              <a:off x="5877981" y="5214950"/>
              <a:ext cx="694285" cy="214316"/>
            </a:xfrm>
            <a:prstGeom prst="bentConnector3">
              <a:avLst>
                <a:gd name="adj1" fmla="val 792"/>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Elbow Connector 9"/>
            <p:cNvCxnSpPr/>
            <p:nvPr/>
          </p:nvCxnSpPr>
          <p:spPr>
            <a:xfrm>
              <a:off x="4929190" y="5143512"/>
              <a:ext cx="1643076" cy="571504"/>
            </a:xfrm>
            <a:prstGeom prst="bentConnector3">
              <a:avLst>
                <a:gd name="adj1" fmla="val -759"/>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2" name="Elbow Connector 9"/>
            <p:cNvCxnSpPr/>
            <p:nvPr/>
          </p:nvCxnSpPr>
          <p:spPr>
            <a:xfrm>
              <a:off x="4000496" y="5072074"/>
              <a:ext cx="2571768" cy="928698"/>
            </a:xfrm>
            <a:prstGeom prst="bentConnector3">
              <a:avLst>
                <a:gd name="adj1" fmla="val -403"/>
              </a:avLst>
            </a:prstGeom>
            <a:ln w="158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572264" y="5256244"/>
              <a:ext cx="2571736" cy="369332"/>
            </a:xfrm>
            <a:prstGeom prst="rect">
              <a:avLst/>
            </a:prstGeom>
            <a:noFill/>
          </p:spPr>
          <p:txBody>
            <a:bodyPr wrap="square" rtlCol="0">
              <a:spAutoFit/>
            </a:bodyPr>
            <a:lstStyle/>
            <a:p>
              <a:r>
                <a:rPr lang="ru-RU" dirty="0"/>
                <a:t>коррекция по</a:t>
              </a:r>
              <a:r>
                <a:rPr lang="en-GB" dirty="0"/>
                <a:t> </a:t>
              </a:r>
              <a:r>
                <a:rPr lang="en-GB" dirty="0" err="1">
                  <a:latin typeface="cmbx12" pitchFamily="34" charset="0"/>
                </a:rPr>
                <a:t>x</a:t>
              </a:r>
              <a:r>
                <a:rPr lang="en-GB" baseline="-25000" dirty="0" err="1">
                  <a:latin typeface="cmmi12" pitchFamily="34" charset="0"/>
                </a:rPr>
                <a:t>N</a:t>
              </a:r>
              <a:r>
                <a:rPr lang="en-GB" dirty="0"/>
                <a:t> </a:t>
              </a:r>
            </a:p>
          </p:txBody>
        </p:sp>
        <p:sp>
          <p:nvSpPr>
            <p:cNvPr id="29" name="TextBox 28"/>
            <p:cNvSpPr txBox="1"/>
            <p:nvPr/>
          </p:nvSpPr>
          <p:spPr>
            <a:xfrm>
              <a:off x="6572264" y="5529854"/>
              <a:ext cx="2071702" cy="369332"/>
            </a:xfrm>
            <a:prstGeom prst="rect">
              <a:avLst/>
            </a:prstGeom>
            <a:noFill/>
          </p:spPr>
          <p:txBody>
            <a:bodyPr wrap="square" rtlCol="0">
              <a:spAutoFit/>
            </a:bodyPr>
            <a:lstStyle/>
            <a:p>
              <a:r>
                <a:rPr lang="ru-RU" dirty="0"/>
                <a:t>Коррекция веса</a:t>
              </a:r>
              <a:endParaRPr lang="en-GB" dirty="0"/>
            </a:p>
          </p:txBody>
        </p:sp>
        <p:sp>
          <p:nvSpPr>
            <p:cNvPr id="30" name="TextBox 29"/>
            <p:cNvSpPr txBox="1"/>
            <p:nvPr/>
          </p:nvSpPr>
          <p:spPr>
            <a:xfrm>
              <a:off x="6572264" y="5825654"/>
              <a:ext cx="2071702" cy="369332"/>
            </a:xfrm>
            <a:prstGeom prst="rect">
              <a:avLst/>
            </a:prstGeom>
            <a:noFill/>
          </p:spPr>
          <p:txBody>
            <a:bodyPr wrap="square" rtlCol="0">
              <a:spAutoFit/>
            </a:bodyPr>
            <a:lstStyle/>
            <a:p>
              <a:r>
                <a:rPr lang="ru-RU" dirty="0"/>
                <a:t>старая оценка</a:t>
              </a:r>
              <a:endParaRPr lang="en-GB" dirty="0"/>
            </a:p>
          </p:txBody>
        </p:sp>
      </p:gr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lvl="0" indent="-342900">
                  <a:spcBef>
                    <a:spcPct val="20000"/>
                  </a:spcBef>
                  <a:defRPr/>
                </a:pPr>
                <a:r>
                  <a:rPr kumimoji="0" lang="ru-RU" sz="3200" b="0" i="0" u="none" strike="noStrike" kern="1200" cap="none" spc="0" normalizeH="0" baseline="0" noProof="0" dirty="0">
                    <a:ln>
                      <a:noFill/>
                    </a:ln>
                    <a:solidFill>
                      <a:schemeClr val="tx1"/>
                    </a:solidFill>
                    <a:effectLst/>
                    <a:uLnTx/>
                    <a:uFillTx/>
                    <a:latin typeface="+mn-lt"/>
                    <a:ea typeface="+mn-ea"/>
                    <a:cs typeface="+mn-cs"/>
                  </a:rPr>
                  <a:t>Рассмотрим</a:t>
                </a:r>
                <a:r>
                  <a:rPr kumimoji="0" lang="en-GB" sz="3200" b="0" i="0" u="none" strike="noStrike" kern="1200" cap="none" spc="0" normalizeH="0" baseline="0" noProof="0" dirty="0">
                    <a:ln>
                      <a:noFill/>
                    </a:ln>
                    <a:solidFill>
                      <a:schemeClr val="tx1"/>
                    </a:solidFill>
                    <a:effectLst/>
                    <a:uLnTx/>
                    <a:uFillTx/>
                    <a:latin typeface="+mn-lt"/>
                    <a:ea typeface="+mn-ea"/>
                    <a:cs typeface="+mn-cs"/>
                  </a:rPr>
                  <a:t> </a:t>
                </a:r>
                <a14:m>
                  <m:oMath xmlns:m="http://schemas.openxmlformats.org/officeDocument/2006/math">
                    <m:r>
                      <a:rPr lang="en-GB" sz="3200" i="1" smtClean="0">
                        <a:latin typeface="Cambria Math" panose="02040503050406030204" pitchFamily="18" charset="0"/>
                        <a:ea typeface="Cambria Math" panose="02040503050406030204" pitchFamily="18" charset="0"/>
                      </a:rPr>
                      <m:t>𝜃</m:t>
                    </m:r>
                  </m:oMath>
                </a14:m>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и</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lang="en-GB" sz="3200" dirty="0">
                    <a:latin typeface="cmmi12" pitchFamily="34" charset="0"/>
                  </a:rPr>
                  <a:t>z</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определяемые через </a:t>
                </a:r>
                <a:r>
                  <a:rPr lang="en-GB" sz="3200" dirty="0">
                    <a:latin typeface="cmmi12" pitchFamily="34" charset="0"/>
                  </a:rPr>
                  <a:t>p</a:t>
                </a:r>
                <a:r>
                  <a:rPr lang="en-GB" sz="3200" dirty="0">
                    <a:latin typeface="cmr12" pitchFamily="34" charset="0"/>
                  </a:rPr>
                  <a:t>(</a:t>
                </a:r>
                <a:r>
                  <a:rPr lang="en-GB" sz="3200" dirty="0">
                    <a:latin typeface="cmmi12" pitchFamily="34" charset="0"/>
                  </a:rPr>
                  <a:t>z</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oMath>
                </a14:m>
                <a:r>
                  <a:rPr lang="en-GB" sz="3200" dirty="0">
                    <a:latin typeface="cmr12" pitchFamily="34" charset="0"/>
                  </a:rPr>
                  <a:t>)</a:t>
                </a:r>
                <a:r>
                  <a:rPr kumimoji="0" lang="en-GB" sz="3200" b="0" i="0" u="none" strike="noStrike" kern="1200" cap="none" spc="0" normalizeH="0" baseline="0" noProof="0" dirty="0">
                    <a:ln>
                      <a:noFill/>
                    </a:ln>
                    <a:solidFill>
                      <a:schemeClr val="tx1"/>
                    </a:solidFill>
                    <a:effectLst/>
                    <a:uLnTx/>
                    <a:uFillTx/>
                    <a:latin typeface="+mn-lt"/>
                    <a:ea typeface="+mn-ea"/>
                    <a:cs typeface="+mn-cs"/>
                  </a:rPr>
                  <a:t> </a:t>
                </a:r>
                <a:r>
                  <a:rPr kumimoji="0" lang="ru-RU" sz="3200" b="0" i="0" u="none" strike="noStrike" kern="1200" cap="none" spc="0" normalizeH="0" baseline="0" noProof="0" dirty="0">
                    <a:ln>
                      <a:noFill/>
                    </a:ln>
                    <a:solidFill>
                      <a:schemeClr val="tx1"/>
                    </a:solidFill>
                    <a:effectLst/>
                    <a:uLnTx/>
                    <a:uFillTx/>
                    <a:latin typeface="+mn-lt"/>
                    <a:ea typeface="+mn-ea"/>
                    <a:cs typeface="+mn-cs"/>
                  </a:rPr>
                  <a:t>и определим функцию регрессии</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lang="en-GB" sz="3200" i="1" dirty="0"/>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a:p>
                <a:pPr marL="342900" lvl="0" indent="-342900">
                  <a:spcBef>
                    <a:spcPct val="20000"/>
                  </a:spcBef>
                  <a:defRPr/>
                </a:pPr>
                <a:r>
                  <a:rPr lang="ru-RU" sz="3200" dirty="0"/>
                  <a:t>Найдем</a:t>
                </a:r>
                <a:r>
                  <a:rPr lang="en-GB" sz="3200" dirty="0"/>
                  <a:t> </a:t>
                </a:r>
                <a14:m>
                  <m:oMath xmlns:m="http://schemas.openxmlformats.org/officeDocument/2006/math">
                    <m:r>
                      <a:rPr lang="en-GB" sz="3200" i="1" smtClean="0">
                        <a:latin typeface="Cambria Math" panose="02040503050406030204" pitchFamily="18" charset="0"/>
                        <a:ea typeface="Cambria Math" panose="02040503050406030204" pitchFamily="18" charset="0"/>
                      </a:rPr>
                      <m:t>𝜃</m:t>
                    </m:r>
                  </m:oMath>
                </a14:m>
                <a:r>
                  <a:rPr lang="ru-RU" sz="3200" baseline="40000" dirty="0">
                    <a:latin typeface="cmmi12" pitchFamily="34" charset="0"/>
                  </a:rPr>
                  <a:t>*</a:t>
                </a:r>
                <a:r>
                  <a:rPr lang="en-GB" sz="3200" dirty="0"/>
                  <a:t> </a:t>
                </a:r>
                <a:r>
                  <a:rPr lang="en-GB" sz="3200" dirty="0" err="1"/>
                  <a:t>та</a:t>
                </a:r>
                <a:r>
                  <a:rPr lang="ru-RU" sz="3200" dirty="0"/>
                  <a:t>кую что</a:t>
                </a:r>
                <a:r>
                  <a:rPr lang="en-GB" sz="3200" dirty="0"/>
                  <a:t> </a:t>
                </a:r>
                <a:r>
                  <a:rPr lang="en-GB" sz="3200" dirty="0">
                    <a:latin typeface="cmmi12" pitchFamily="34" charset="0"/>
                  </a:rPr>
                  <a:t>f</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r>
                      <a:rPr lang="en-GB" sz="3200" i="1">
                        <a:latin typeface="Cambria Math" panose="02040503050406030204" pitchFamily="18" charset="0"/>
                        <a:ea typeface="Cambria Math" panose="02040503050406030204" pitchFamily="18" charset="0"/>
                      </a:rPr>
                      <m:t> </m:t>
                    </m:r>
                  </m:oMath>
                </a14:m>
                <a:r>
                  <a:rPr lang="ru-RU" sz="3200" baseline="40000" dirty="0">
                    <a:latin typeface="cmmi12" pitchFamily="34" charset="0"/>
                  </a:rPr>
                  <a:t>*</a:t>
                </a:r>
                <a:r>
                  <a:rPr lang="en-GB" sz="3200" dirty="0">
                    <a:latin typeface="cmr12" pitchFamily="34" charset="0"/>
                  </a:rPr>
                  <a:t>) = 0.</a:t>
                </a: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mc:Choice>
        <mc:Fallback xmlns="">
          <p:sp>
            <p:nvSpPr>
              <p:cNvPr id="9" name="Content Placeholder 2"/>
              <p:cNvSpPr txBox="1">
                <a:spLocks noRot="1" noChangeAspect="1" noMove="1" noResize="1" noEditPoints="1" noAdjustHandles="1" noChangeArrowheads="1" noChangeShapeType="1" noTextEdit="1"/>
              </p:cNvSpPr>
              <p:nvPr/>
            </p:nvSpPr>
            <p:spPr>
              <a:xfrm>
                <a:off x="609600" y="1600200"/>
                <a:ext cx="7924800" cy="4525963"/>
              </a:xfrm>
              <a:prstGeom prst="rect">
                <a:avLst/>
              </a:prstGeom>
              <a:blipFill>
                <a:blip r:embed="rId4"/>
                <a:stretch>
                  <a:fillRect l="-1923" t="-1681"/>
                </a:stretch>
              </a:blipFill>
            </p:spPr>
            <p:txBody>
              <a:bodyPr/>
              <a:lstStyle/>
              <a:p>
                <a:r>
                  <a:rPr lang="ru-RU">
                    <a:noFill/>
                  </a:rPr>
                  <a:t> </a:t>
                </a:r>
              </a:p>
            </p:txBody>
          </p:sp>
        </mc:Fallback>
      </mc:AlternateContent>
      <p:sp>
        <p:nvSpPr>
          <p:cNvPr id="2" name="Title 1"/>
          <p:cNvSpPr>
            <a:spLocks noGrp="1"/>
          </p:cNvSpPr>
          <p:nvPr>
            <p:ph type="title"/>
          </p:nvPr>
        </p:nvSpPr>
        <p:spPr/>
        <p:txBody>
          <a:bodyPr>
            <a:normAutofit/>
          </a:bodyPr>
          <a:lstStyle/>
          <a:p>
            <a:r>
              <a:rPr lang="ru-RU" dirty="0"/>
              <a:t>Алгоритм </a:t>
            </a:r>
            <a:r>
              <a:rPr lang="ru" dirty="0"/>
              <a:t>Роббинса-Монро</a:t>
            </a:r>
            <a:r>
              <a:rPr lang="en-GB" dirty="0"/>
              <a:t> (1)</a:t>
            </a:r>
          </a:p>
        </p:txBody>
      </p:sp>
      <p:pic>
        <p:nvPicPr>
          <p:cNvPr id="14" name="Picture 13"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581784" y="2857496"/>
            <a:ext cx="3970028" cy="762003"/>
          </a:xfrm>
          <a:prstGeom prst="rect">
            <a:avLst/>
          </a:prstGeom>
          <a:noFill/>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2"/>
              <p:cNvSpPr txBox="1">
                <a:spLocks/>
              </p:cNvSpPr>
              <p:nvPr/>
            </p:nvSpPr>
            <p:spPr>
              <a:xfrm>
                <a:off x="609600" y="5000636"/>
                <a:ext cx="7924800" cy="1125527"/>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r>
                  <a:rPr lang="ru-RU" sz="3200" dirty="0"/>
                  <a:t>Предполагаем, наблюдения из </a:t>
                </a:r>
                <a:r>
                  <a:rPr lang="en-GB" sz="3200" dirty="0">
                    <a:latin typeface="cmmi12" pitchFamily="34" charset="0"/>
                  </a:rPr>
                  <a:t>p</a:t>
                </a:r>
                <a:r>
                  <a:rPr lang="en-GB" sz="3200" dirty="0">
                    <a:latin typeface="cmr12" pitchFamily="34" charset="0"/>
                  </a:rPr>
                  <a:t>(</a:t>
                </a:r>
                <a:r>
                  <a:rPr lang="en-GB" sz="3200" dirty="0">
                    <a:latin typeface="cmmi12" pitchFamily="34" charset="0"/>
                  </a:rPr>
                  <a:t>z</a:t>
                </a:r>
                <a:r>
                  <a:rPr lang="en-GB" sz="3200" dirty="0">
                    <a:latin typeface="cmr12" pitchFamily="34" charset="0"/>
                  </a:rPr>
                  <a:t>,</a:t>
                </a:r>
                <a14:m>
                  <m:oMath xmlns:m="http://schemas.openxmlformats.org/officeDocument/2006/math">
                    <m:r>
                      <a:rPr lang="en-GB" sz="3200" i="1">
                        <a:latin typeface="Cambria Math" panose="02040503050406030204" pitchFamily="18" charset="0"/>
                        <a:ea typeface="Cambria Math" panose="02040503050406030204" pitchFamily="18" charset="0"/>
                      </a:rPr>
                      <m:t>𝜃</m:t>
                    </m:r>
                  </m:oMath>
                </a14:m>
                <a:r>
                  <a:rPr lang="en-GB" sz="3200" dirty="0">
                    <a:latin typeface="cmr12" pitchFamily="34" charset="0"/>
                  </a:rPr>
                  <a:t>)</a:t>
                </a:r>
                <a:r>
                  <a:rPr lang="ru-RU" sz="3200" dirty="0">
                    <a:latin typeface="cmr12" pitchFamily="34" charset="0"/>
                  </a:rPr>
                  <a:t> поступают по одному</a:t>
                </a:r>
                <a:r>
                  <a:rPr kumimoji="0" lang="en-GB" sz="3200" b="0" i="0" u="none" strike="noStrike" kern="1200" cap="none" spc="0" normalizeH="0" baseline="0" noProof="0" dirty="0">
                    <a:ln>
                      <a:noFill/>
                    </a:ln>
                    <a:solidFill>
                      <a:schemeClr val="tx1"/>
                    </a:solidFill>
                    <a:effectLst/>
                    <a:uLnTx/>
                    <a:uFillTx/>
                    <a:latin typeface="+mn-lt"/>
                    <a:ea typeface="+mn-ea"/>
                    <a:cs typeface="+mn-cs"/>
                  </a:rPr>
                  <a:t>.</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lang="en-GB" sz="3200" i="1" dirty="0"/>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mc:Choice>
        <mc:Fallback xmlns="">
          <p:sp>
            <p:nvSpPr>
              <p:cNvPr id="9" name="Content Placeholder 2"/>
              <p:cNvSpPr txBox="1">
                <a:spLocks noRot="1" noChangeAspect="1" noMove="1" noResize="1" noEditPoints="1" noAdjustHandles="1" noChangeArrowheads="1" noChangeShapeType="1" noTextEdit="1"/>
              </p:cNvSpPr>
              <p:nvPr/>
            </p:nvSpPr>
            <p:spPr>
              <a:xfrm>
                <a:off x="609600" y="5000636"/>
                <a:ext cx="7924800" cy="1125527"/>
              </a:xfrm>
              <a:prstGeom prst="rect">
                <a:avLst/>
              </a:prstGeom>
              <a:blipFill>
                <a:blip r:embed="rId3"/>
                <a:stretch>
                  <a:fillRect l="-1923" t="-6667" b="-11111"/>
                </a:stretch>
              </a:blipFill>
            </p:spPr>
            <p:txBody>
              <a:bodyPr/>
              <a:lstStyle/>
              <a:p>
                <a:r>
                  <a:rPr lang="ru-RU">
                    <a:noFill/>
                  </a:rPr>
                  <a:t> </a:t>
                </a:r>
              </a:p>
            </p:txBody>
          </p:sp>
        </mc:Fallback>
      </mc:AlternateContent>
      <p:sp>
        <p:nvSpPr>
          <p:cNvPr id="2" name="Title 1"/>
          <p:cNvSpPr>
            <a:spLocks noGrp="1"/>
          </p:cNvSpPr>
          <p:nvPr>
            <p:ph type="title"/>
          </p:nvPr>
        </p:nvSpPr>
        <p:spPr/>
        <p:txBody>
          <a:bodyPr>
            <a:normAutofit/>
          </a:bodyPr>
          <a:lstStyle/>
          <a:p>
            <a:r>
              <a:rPr lang="ru-RU" dirty="0"/>
              <a:t>Алгоритм </a:t>
            </a:r>
            <a:r>
              <a:rPr lang="ru" dirty="0"/>
              <a:t>Роббинса-Монро</a:t>
            </a:r>
            <a:r>
              <a:rPr lang="en-US" dirty="0"/>
              <a:t> </a:t>
            </a:r>
            <a:r>
              <a:rPr lang="en-GB" dirty="0"/>
              <a:t>(2)</a:t>
            </a:r>
          </a:p>
        </p:txBody>
      </p:sp>
      <p:pic>
        <p:nvPicPr>
          <p:cNvPr id="7" name="Picture 6" descr="Figure2.10.jpg"/>
          <p:cNvPicPr>
            <a:picLocks noChangeAspect="1"/>
          </p:cNvPicPr>
          <p:nvPr/>
        </p:nvPicPr>
        <p:blipFill>
          <a:blip r:embed="rId4"/>
          <a:stretch>
            <a:fillRect/>
          </a:stretch>
        </p:blipFill>
        <p:spPr>
          <a:xfrm>
            <a:off x="2163204" y="1572776"/>
            <a:ext cx="4800600" cy="3374136"/>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p:cNvSpPr txBox="1">
            <a:spLocks/>
          </p:cNvSpPr>
          <p:nvPr/>
        </p:nvSpPr>
        <p:spPr>
          <a:xfrm>
            <a:off x="609600" y="1600200"/>
            <a:ext cx="7924800" cy="4525963"/>
          </a:xfrm>
          <a:prstGeom prst="rect">
            <a:avLst/>
          </a:prstGeom>
        </p:spPr>
        <p:txBody>
          <a:bodyPr vert="horz" lIns="91440" tIns="45720" rIns="91440" bIns="45720" rtlCol="0">
            <a:normAutofit/>
          </a:bodyPr>
          <a:lstStyle/>
          <a:p>
            <a:pPr marL="342900" lvl="0" indent="-342900">
              <a:spcBef>
                <a:spcPct val="20000"/>
              </a:spcBef>
              <a:defRPr/>
            </a:pPr>
            <a:r>
              <a:rPr kumimoji="0" lang="ru-RU" sz="3200" b="0" i="0" u="none" strike="noStrike" kern="1200" cap="none" spc="0" normalizeH="0" baseline="0" noProof="0" dirty="0">
                <a:ln>
                  <a:noFill/>
                </a:ln>
                <a:solidFill>
                  <a:schemeClr val="tx1"/>
                </a:solidFill>
                <a:effectLst/>
                <a:uLnTx/>
                <a:uFillTx/>
                <a:latin typeface="+mn-lt"/>
                <a:ea typeface="+mn-ea"/>
                <a:cs typeface="+mn-cs"/>
              </a:rPr>
              <a:t>Успешная оценка вычисляется по формуле</a:t>
            </a:r>
            <a:endParaRPr kumimoji="0" lang="en-GB" sz="3200" b="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3200" b="0" i="1" u="none" strike="noStrike" kern="1200" cap="none" spc="0" normalizeH="0" baseline="0" noProof="0" dirty="0">
              <a:ln>
                <a:noFill/>
              </a:ln>
              <a:solidFill>
                <a:schemeClr val="tx1"/>
              </a:solidFill>
              <a:effectLst/>
              <a:uLnTx/>
              <a:uFillTx/>
              <a:latin typeface="+mn-lt"/>
              <a:ea typeface="+mn-ea"/>
              <a:cs typeface="+mn-cs"/>
            </a:endParaRPr>
          </a:p>
          <a:p>
            <a:pPr marL="342900" lvl="0" indent="-342900">
              <a:spcBef>
                <a:spcPct val="20000"/>
              </a:spcBef>
              <a:defRPr/>
            </a:pPr>
            <a:endParaRPr lang="en-GB" sz="3200" dirty="0"/>
          </a:p>
          <a:p>
            <a:pPr marL="342900" lvl="0" indent="-342900">
              <a:spcBef>
                <a:spcPct val="20000"/>
              </a:spcBef>
              <a:defRPr/>
            </a:pPr>
            <a:r>
              <a:rPr lang="ru-RU" sz="3200" dirty="0"/>
              <a:t>Условия для </a:t>
            </a:r>
            <a:r>
              <a:rPr lang="en-GB" sz="3200" i="1" dirty="0" err="1">
                <a:latin typeface="Cambria Math" panose="02040503050406030204" pitchFamily="18" charset="0"/>
                <a:ea typeface="Cambria Math" panose="02040503050406030204" pitchFamily="18" charset="0"/>
              </a:rPr>
              <a:t>a</a:t>
            </a:r>
            <a:r>
              <a:rPr lang="en-GB" sz="3200" i="1" baseline="-20000" dirty="0" err="1">
                <a:latin typeface="Cambria Math" panose="02040503050406030204" pitchFamily="18" charset="0"/>
                <a:ea typeface="Cambria Math" panose="02040503050406030204" pitchFamily="18" charset="0"/>
              </a:rPr>
              <a:t>N</a:t>
            </a:r>
            <a:r>
              <a:rPr lang="en-GB" sz="3200" dirty="0"/>
              <a:t>:</a:t>
            </a:r>
            <a:endParaRPr kumimoji="0" lang="en-GB" sz="3200" b="0" i="1" u="none" strike="noStrike" kern="1200" cap="none" spc="0" normalizeH="0" baseline="0" noProof="0" dirty="0">
              <a:ln>
                <a:noFill/>
              </a:ln>
              <a:solidFill>
                <a:schemeClr val="tx1"/>
              </a:solidFill>
              <a:effectLst/>
              <a:uLnTx/>
              <a:uFillTx/>
              <a:latin typeface="+mn-lt"/>
              <a:ea typeface="+mn-ea"/>
              <a:cs typeface="+mn-cs"/>
            </a:endParaRPr>
          </a:p>
        </p:txBody>
      </p:sp>
      <p:sp>
        <p:nvSpPr>
          <p:cNvPr id="2" name="Title 1"/>
          <p:cNvSpPr>
            <a:spLocks noGrp="1"/>
          </p:cNvSpPr>
          <p:nvPr>
            <p:ph type="title"/>
          </p:nvPr>
        </p:nvSpPr>
        <p:spPr/>
        <p:txBody>
          <a:bodyPr>
            <a:normAutofit/>
          </a:bodyPr>
          <a:lstStyle/>
          <a:p>
            <a:r>
              <a:rPr lang="ru-RU" dirty="0"/>
              <a:t>Алгоритм </a:t>
            </a:r>
            <a:r>
              <a:rPr lang="ru" dirty="0"/>
              <a:t>Роббинса-Монро</a:t>
            </a:r>
            <a:r>
              <a:rPr lang="en-GB" dirty="0"/>
              <a:t>(3)</a:t>
            </a:r>
          </a:p>
        </p:txBody>
      </p:sp>
      <p:pic>
        <p:nvPicPr>
          <p:cNvPr id="5" name="Picture 4"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bwMode="auto">
          <a:xfrm>
            <a:off x="2327697" y="2445884"/>
            <a:ext cx="4478201" cy="411612"/>
          </a:xfrm>
          <a:prstGeom prst="rect">
            <a:avLst/>
          </a:prstGeom>
          <a:noFill/>
          <a:ln/>
          <a:effectLst/>
        </p:spPr>
      </p:pic>
      <p:pic>
        <p:nvPicPr>
          <p:cNvPr id="8" name="Picture 7"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bwMode="auto">
          <a:xfrm>
            <a:off x="1714488" y="3977265"/>
            <a:ext cx="5715022" cy="737619"/>
          </a:xfrm>
          <a:prstGeom prst="rect">
            <a:avLst/>
          </a:prstGeom>
          <a:noFill/>
          <a:ln/>
          <a:effec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
          </p:nvPr>
        </p:nvSpPr>
        <p:spPr/>
        <p:txBody>
          <a:bodyPr>
            <a:normAutofit lnSpcReduction="10000"/>
          </a:bodyPr>
          <a:lstStyle/>
          <a:p>
            <a:endParaRPr lang="en-GB" dirty="0"/>
          </a:p>
          <a:p>
            <a:endParaRPr lang="en-GB" dirty="0"/>
          </a:p>
          <a:p>
            <a:endParaRPr lang="en-GB" dirty="0"/>
          </a:p>
          <a:p>
            <a:endParaRPr lang="en-GB" dirty="0"/>
          </a:p>
          <a:p>
            <a:endParaRPr lang="en-GB" dirty="0"/>
          </a:p>
          <a:p>
            <a:r>
              <a:rPr lang="ru-RU" dirty="0"/>
              <a:t>где</a:t>
            </a:r>
            <a:endParaRPr lang="en-GB" dirty="0"/>
          </a:p>
          <a:p>
            <a:endParaRPr lang="en-GB" dirty="0"/>
          </a:p>
          <a:p>
            <a:r>
              <a:rPr lang="ru-RU" dirty="0"/>
              <a:t>Бесконечная смесь </a:t>
            </a:r>
            <a:r>
              <a:rPr lang="ru-RU" dirty="0" err="1"/>
              <a:t>гауссианов</a:t>
            </a:r>
            <a:r>
              <a:rPr lang="en-GB" dirty="0"/>
              <a:t>.</a:t>
            </a:r>
          </a:p>
        </p:txBody>
      </p:sp>
      <p:sp>
        <p:nvSpPr>
          <p:cNvPr id="2" name="Title 1"/>
          <p:cNvSpPr>
            <a:spLocks noGrp="1"/>
          </p:cNvSpPr>
          <p:nvPr>
            <p:ph type="title"/>
          </p:nvPr>
        </p:nvSpPr>
        <p:spPr/>
        <p:txBody>
          <a:bodyPr/>
          <a:lstStyle/>
          <a:p>
            <a:r>
              <a:rPr lang="ru" dirty="0"/>
              <a:t>Распределение Стьюдента</a:t>
            </a:r>
            <a:endParaRPr lang="en-GB" dirty="0"/>
          </a:p>
        </p:txBody>
      </p:sp>
      <p:pic>
        <p:nvPicPr>
          <p:cNvPr id="7" name="Picture 6"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927659" y="1714487"/>
            <a:ext cx="7288680" cy="2462064"/>
          </a:xfrm>
          <a:prstGeom prst="rect">
            <a:avLst/>
          </a:prstGeom>
          <a:noFill/>
          <a:ln/>
          <a:effectLst/>
        </p:spPr>
      </p:pic>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526266" y="4863096"/>
            <a:ext cx="4091466" cy="280487"/>
          </a:xfrm>
          <a:prstGeom prst="rect">
            <a:avLst/>
          </a:prstGeom>
          <a:noFill/>
          <a:ln/>
          <a:effectLst/>
        </p:spPr>
      </p:pic>
      <p:sp>
        <p:nvSpPr>
          <p:cNvPr id="30" name="Freeform 29"/>
          <p:cNvSpPr/>
          <p:nvPr/>
        </p:nvSpPr>
        <p:spPr>
          <a:xfrm>
            <a:off x="5617029" y="2753248"/>
            <a:ext cx="2813538" cy="2924071"/>
          </a:xfrm>
          <a:custGeom>
            <a:avLst/>
            <a:gdLst>
              <a:gd name="connsiteX0" fmla="*/ 0 w 2813538"/>
              <a:gd name="connsiteY0" fmla="*/ 2924071 h 2924071"/>
              <a:gd name="connsiteX1" fmla="*/ 2813538 w 2813538"/>
              <a:gd name="connsiteY1" fmla="*/ 2924071 h 2924071"/>
              <a:gd name="connsiteX2" fmla="*/ 2783393 w 2813538"/>
              <a:gd name="connsiteY2" fmla="*/ 0 h 2924071"/>
              <a:gd name="connsiteX3" fmla="*/ 1838848 w 2813538"/>
              <a:gd name="connsiteY3" fmla="*/ 0 h 2924071"/>
              <a:gd name="connsiteX4" fmla="*/ 1838848 w 2813538"/>
              <a:gd name="connsiteY4" fmla="*/ 0 h 29240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3538" h="2924071">
                <a:moveTo>
                  <a:pt x="0" y="2924071"/>
                </a:moveTo>
                <a:lnTo>
                  <a:pt x="2813538" y="2924071"/>
                </a:lnTo>
                <a:lnTo>
                  <a:pt x="2783393" y="0"/>
                </a:lnTo>
                <a:lnTo>
                  <a:pt x="1838848" y="0"/>
                </a:lnTo>
                <a:lnTo>
                  <a:pt x="1838848" y="0"/>
                </a:lnTo>
              </a:path>
            </a:pathLst>
          </a:custGeom>
          <a:ln w="19050">
            <a:solidFill>
              <a:srgbClr val="FF0000"/>
            </a:solidFill>
            <a:prstDash val="dash"/>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Распределение Стьюдента</a:t>
            </a:r>
            <a:endParaRPr lang="en-GB" dirty="0"/>
          </a:p>
        </p:txBody>
      </p:sp>
      <p:pic>
        <p:nvPicPr>
          <p:cNvPr id="8" name="Picture 7" descr="Figure2.15.jpg"/>
          <p:cNvPicPr>
            <a:picLocks noChangeAspect="1"/>
          </p:cNvPicPr>
          <p:nvPr/>
        </p:nvPicPr>
        <p:blipFill>
          <a:blip r:embed="rId3"/>
          <a:stretch>
            <a:fillRect/>
          </a:stretch>
        </p:blipFill>
        <p:spPr>
          <a:xfrm>
            <a:off x="1959070" y="1428736"/>
            <a:ext cx="4980432" cy="3608832"/>
          </a:xfrm>
          <a:prstGeom prst="rect">
            <a:avLst/>
          </a:prstGeom>
        </p:spPr>
      </p:pic>
      <p:pic>
        <p:nvPicPr>
          <p:cNvPr id="12" name="Picture 11"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741427" y="5286388"/>
            <a:ext cx="5648131" cy="921678"/>
          </a:xfrm>
          <a:prstGeom prst="rect">
            <a:avLst/>
          </a:prstGeom>
          <a:noFill/>
          <a:ln/>
          <a:effec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Распределение Стьюдента</a:t>
            </a:r>
            <a:endParaRPr lang="en-GB" dirty="0"/>
          </a:p>
        </p:txBody>
      </p:sp>
      <p:sp>
        <p:nvSpPr>
          <p:cNvPr id="5" name="Content Placeholder 4"/>
          <p:cNvSpPr>
            <a:spLocks noGrp="1"/>
          </p:cNvSpPr>
          <p:nvPr>
            <p:ph idx="1"/>
          </p:nvPr>
        </p:nvSpPr>
        <p:spPr/>
        <p:txBody>
          <a:bodyPr>
            <a:normAutofit/>
          </a:bodyPr>
          <a:lstStyle/>
          <a:p>
            <a:r>
              <a:rPr lang="en-GB" sz="2800" dirty="0" err="1"/>
              <a:t>Р</a:t>
            </a:r>
            <a:r>
              <a:rPr lang="ru-RU" sz="2800" dirty="0" err="1"/>
              <a:t>обастность</a:t>
            </a:r>
            <a:r>
              <a:rPr lang="en-GB" sz="2800" dirty="0"/>
              <a:t>: </a:t>
            </a:r>
            <a:r>
              <a:rPr lang="ru-RU" sz="2800" dirty="0">
                <a:solidFill>
                  <a:srgbClr val="00FF00"/>
                </a:solidFill>
              </a:rPr>
              <a:t>Нормальное</a:t>
            </a:r>
            <a:r>
              <a:rPr lang="en-GB" sz="2800" dirty="0"/>
              <a:t> vs </a:t>
            </a:r>
            <a:r>
              <a:rPr lang="en-GB" sz="2800" dirty="0">
                <a:solidFill>
                  <a:srgbClr val="FF0000"/>
                </a:solidFill>
              </a:rPr>
              <a:t>t-</a:t>
            </a:r>
            <a:r>
              <a:rPr lang="ru-RU" sz="2800" dirty="0">
                <a:solidFill>
                  <a:srgbClr val="FF0000"/>
                </a:solidFill>
              </a:rPr>
              <a:t>распределение</a:t>
            </a:r>
            <a:r>
              <a:rPr lang="en-GB" sz="2800" dirty="0">
                <a:solidFill>
                  <a:srgbClr val="FF0000"/>
                </a:solidFill>
              </a:rPr>
              <a:t>.</a:t>
            </a:r>
          </a:p>
        </p:txBody>
      </p:sp>
      <p:grpSp>
        <p:nvGrpSpPr>
          <p:cNvPr id="12" name="Group 11"/>
          <p:cNvGrpSpPr/>
          <p:nvPr/>
        </p:nvGrpSpPr>
        <p:grpSpPr>
          <a:xfrm>
            <a:off x="805882" y="2428868"/>
            <a:ext cx="7382752" cy="3680270"/>
            <a:chOff x="761148" y="2320498"/>
            <a:chExt cx="7382752" cy="3680270"/>
          </a:xfrm>
        </p:grpSpPr>
        <p:pic>
          <p:nvPicPr>
            <p:cNvPr id="8" name="Picture 7" descr="Figure2.15.jpg"/>
            <p:cNvPicPr>
              <a:picLocks noChangeAspect="1"/>
            </p:cNvPicPr>
            <p:nvPr/>
          </p:nvPicPr>
          <p:blipFill>
            <a:blip r:embed="rId2"/>
            <a:stretch>
              <a:fillRect/>
            </a:stretch>
          </p:blipFill>
          <p:spPr>
            <a:xfrm>
              <a:off x="761148" y="2320498"/>
              <a:ext cx="3525100" cy="3608832"/>
            </a:xfrm>
            <a:prstGeom prst="rect">
              <a:avLst/>
            </a:prstGeom>
          </p:spPr>
        </p:pic>
        <p:pic>
          <p:nvPicPr>
            <p:cNvPr id="6" name="Picture 5" descr="Figure2.15.jpg"/>
            <p:cNvPicPr>
              <a:picLocks noChangeAspect="1"/>
            </p:cNvPicPr>
            <p:nvPr/>
          </p:nvPicPr>
          <p:blipFill>
            <a:blip r:embed="rId3"/>
            <a:stretch>
              <a:fillRect/>
            </a:stretch>
          </p:blipFill>
          <p:spPr>
            <a:xfrm>
              <a:off x="4618800" y="2320499"/>
              <a:ext cx="3525100" cy="3608831"/>
            </a:xfrm>
            <a:prstGeom prst="rect">
              <a:avLst/>
            </a:prstGeom>
          </p:spPr>
        </p:pic>
        <p:sp>
          <p:nvSpPr>
            <p:cNvPr id="10" name="Rectangle 9"/>
            <p:cNvSpPr/>
            <p:nvPr/>
          </p:nvSpPr>
          <p:spPr>
            <a:xfrm>
              <a:off x="1785918" y="5643578"/>
              <a:ext cx="5357850" cy="3571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Периодические случайные величины</a:t>
            </a:r>
            <a:endParaRPr lang="en-GB" dirty="0"/>
          </a:p>
        </p:txBody>
      </p:sp>
      <p:sp>
        <p:nvSpPr>
          <p:cNvPr id="3" name="Content Placeholder 2"/>
          <p:cNvSpPr>
            <a:spLocks noGrp="1"/>
          </p:cNvSpPr>
          <p:nvPr>
            <p:ph idx="1"/>
          </p:nvPr>
        </p:nvSpPr>
        <p:spPr>
          <a:xfrm>
            <a:off x="457199" y="1600200"/>
            <a:ext cx="8594203" cy="4525963"/>
          </a:xfrm>
        </p:spPr>
        <p:txBody>
          <a:bodyPr/>
          <a:lstStyle/>
          <a:p>
            <a:pPr>
              <a:buFont typeface="Arial" pitchFamily="34" charset="0"/>
              <a:buChar char="•"/>
            </a:pPr>
            <a:r>
              <a:rPr lang="ru-RU" dirty="0"/>
              <a:t>Примеры</a:t>
            </a:r>
            <a:r>
              <a:rPr lang="en-GB" dirty="0"/>
              <a:t>: </a:t>
            </a:r>
            <a:r>
              <a:rPr lang="ru-RU" dirty="0"/>
              <a:t>календарное время</a:t>
            </a:r>
            <a:r>
              <a:rPr lang="en-GB" dirty="0"/>
              <a:t>, </a:t>
            </a:r>
            <a:r>
              <a:rPr lang="ru-RU" dirty="0"/>
              <a:t>направление</a:t>
            </a:r>
            <a:endParaRPr lang="en-GB" dirty="0"/>
          </a:p>
          <a:p>
            <a:pPr>
              <a:buFont typeface="Arial" pitchFamily="34" charset="0"/>
              <a:buChar char="•"/>
            </a:pPr>
            <a:r>
              <a:rPr lang="ru-RU" dirty="0"/>
              <a:t>Необходимо чтобы</a:t>
            </a:r>
            <a:endParaRPr lang="en-GB" dirty="0"/>
          </a:p>
          <a:p>
            <a:pPr>
              <a:buFont typeface="Arial" pitchFamily="34" charset="0"/>
              <a:buChar char="•"/>
            </a:pPr>
            <a:endParaRPr lang="en-GB" dirty="0"/>
          </a:p>
        </p:txBody>
      </p:sp>
      <p:pic>
        <p:nvPicPr>
          <p:cNvPr id="4" name="Content Placeholder 7" descr="TP_tmp.png"/>
          <p:cNvPicPr>
            <a:picLocks noChangeAspect="1"/>
          </p:cNvPicPr>
          <p:nvPr>
            <p:custDataLst>
              <p:tags r:id="rId1"/>
            </p:custDataLst>
          </p:nvPr>
        </p:nvPicPr>
        <p:blipFill>
          <a:blip r:embed="rId3">
            <a:clrChange>
              <a:clrFrom>
                <a:srgbClr val="FFFFFF"/>
              </a:clrFrom>
              <a:clrTo>
                <a:srgbClr val="FFFFFF">
                  <a:alpha val="0"/>
                </a:srgbClr>
              </a:clrTo>
            </a:clrChange>
          </a:blip>
          <a:stretch>
            <a:fillRect/>
          </a:stretch>
        </p:blipFill>
        <p:spPr>
          <a:xfrm>
            <a:off x="3000378" y="2857496"/>
            <a:ext cx="3143258" cy="1684023"/>
          </a:xfrm>
          <a:prstGeom prst="rect">
            <a:avLst/>
          </a:prstGeom>
          <a:noFill/>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Распределение </a:t>
            </a:r>
            <a:r>
              <a:rPr lang="ru" dirty="0"/>
              <a:t>Мизеса </a:t>
            </a:r>
            <a:r>
              <a:rPr lang="en-GB" dirty="0"/>
              <a:t>(1)</a:t>
            </a:r>
          </a:p>
        </p:txBody>
      </p:sp>
      <p:sp>
        <p:nvSpPr>
          <p:cNvPr id="5" name="Content Placeholder 4"/>
          <p:cNvSpPr>
            <a:spLocks noGrp="1"/>
          </p:cNvSpPr>
          <p:nvPr>
            <p:ph idx="1"/>
          </p:nvPr>
        </p:nvSpPr>
        <p:spPr/>
        <p:txBody>
          <a:bodyPr>
            <a:normAutofit lnSpcReduction="10000"/>
          </a:bodyPr>
          <a:lstStyle/>
          <a:p>
            <a:r>
              <a:rPr lang="ru-RU" dirty="0"/>
              <a:t>Требованиям удовлетворяет</a:t>
            </a:r>
            <a:r>
              <a:rPr lang="en-GB" dirty="0"/>
              <a:t> </a:t>
            </a:r>
          </a:p>
          <a:p>
            <a:endParaRPr lang="en-GB" dirty="0"/>
          </a:p>
          <a:p>
            <a:endParaRPr lang="en-GB" dirty="0"/>
          </a:p>
          <a:p>
            <a:r>
              <a:rPr lang="ru-RU" dirty="0"/>
              <a:t>где</a:t>
            </a:r>
            <a:endParaRPr lang="en-GB" dirty="0"/>
          </a:p>
          <a:p>
            <a:endParaRPr lang="en-GB" dirty="0"/>
          </a:p>
          <a:p>
            <a:endParaRPr lang="en-GB" dirty="0"/>
          </a:p>
          <a:p>
            <a:r>
              <a:rPr lang="ru-RU" dirty="0"/>
              <a:t>модифицированная функция Бесселя 0-го порядка 1-го рода</a:t>
            </a:r>
            <a:r>
              <a:rPr lang="en-GB" dirty="0"/>
              <a:t>.</a:t>
            </a:r>
          </a:p>
        </p:txBody>
      </p:sp>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673186" y="2428868"/>
            <a:ext cx="5779783" cy="762003"/>
          </a:xfrm>
          <a:prstGeom prst="rect">
            <a:avLst/>
          </a:prstGeom>
          <a:noFill/>
        </p:spPr>
      </p:pic>
      <p:pic>
        <p:nvPicPr>
          <p:cNvPr id="10" name="Picture 9"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2244172" y="3762375"/>
            <a:ext cx="4637809" cy="826956"/>
          </a:xfrm>
          <a:prstGeom prst="rect">
            <a:avLst/>
          </a:prstGeom>
          <a:noFill/>
          <a:ln/>
          <a:effec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RU" dirty="0"/>
              <a:t>Распределение </a:t>
            </a:r>
            <a:r>
              <a:rPr lang="ru" dirty="0"/>
              <a:t>Мизеса </a:t>
            </a:r>
            <a:r>
              <a:rPr lang="en-GB" dirty="0"/>
              <a:t>(</a:t>
            </a:r>
            <a:r>
              <a:rPr lang="ru-RU" dirty="0"/>
              <a:t>2</a:t>
            </a:r>
            <a:r>
              <a:rPr lang="en-GB" dirty="0"/>
              <a:t>)</a:t>
            </a:r>
          </a:p>
        </p:txBody>
      </p:sp>
      <p:pic>
        <p:nvPicPr>
          <p:cNvPr id="11" name="Content Placeholder 10" descr="Figure2.19a.jpg"/>
          <p:cNvPicPr>
            <a:picLocks noGrp="1" noChangeAspect="1"/>
          </p:cNvPicPr>
          <p:nvPr>
            <p:ph sz="half" idx="1"/>
          </p:nvPr>
        </p:nvPicPr>
        <p:blipFill>
          <a:blip r:embed="rId2"/>
          <a:stretch>
            <a:fillRect/>
          </a:stretch>
        </p:blipFill>
        <p:spPr>
          <a:xfrm>
            <a:off x="571472" y="1714488"/>
            <a:ext cx="3888486" cy="3888486"/>
          </a:xfrm>
        </p:spPr>
      </p:pic>
      <p:pic>
        <p:nvPicPr>
          <p:cNvPr id="12" name="Content Placeholder 11" descr="Figure2.19b.jpg"/>
          <p:cNvPicPr>
            <a:picLocks noGrp="1" noChangeAspect="1"/>
          </p:cNvPicPr>
          <p:nvPr>
            <p:ph sz="half" idx="2"/>
          </p:nvPr>
        </p:nvPicPr>
        <p:blipFill>
          <a:blip r:embed="rId3"/>
          <a:stretch>
            <a:fillRect/>
          </a:stretch>
        </p:blipFill>
        <p:spPr>
          <a:xfrm>
            <a:off x="4786314" y="1714488"/>
            <a:ext cx="3888486" cy="3888486"/>
          </a:xfr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dirty="0"/>
              <a:t>Максимальное правдоподобие</a:t>
            </a:r>
            <a:endParaRPr lang="en-GB" dirty="0"/>
          </a:p>
        </p:txBody>
      </p:sp>
      <mc:AlternateContent xmlns:mc="http://schemas.openxmlformats.org/markup-compatibility/2006" xmlns:a14="http://schemas.microsoft.com/office/drawing/2010/main">
        <mc:Choice Requires="a14">
          <p:sp>
            <p:nvSpPr>
              <p:cNvPr id="5" name="Content Placeholder 4"/>
              <p:cNvSpPr>
                <a:spLocks noGrp="1"/>
              </p:cNvSpPr>
              <p:nvPr>
                <p:ph idx="1"/>
              </p:nvPr>
            </p:nvSpPr>
            <p:spPr>
              <a:xfrm>
                <a:off x="609600" y="1600200"/>
                <a:ext cx="7924800" cy="4614882"/>
              </a:xfrm>
            </p:spPr>
            <p:txBody>
              <a:bodyPr>
                <a:normAutofit/>
              </a:bodyPr>
              <a:lstStyle/>
              <a:p>
                <a:pPr marL="0" indent="0">
                  <a:buNone/>
                </a:pPr>
                <a:r>
                  <a:rPr lang="ru" sz="2400" dirty="0"/>
                  <a:t>При наличии набора данных                           логарифмическая функция правдоподобия задается как</a:t>
                </a:r>
              </a:p>
              <a:p>
                <a:endParaRPr lang="en-GB" sz="2400" dirty="0"/>
              </a:p>
              <a:p>
                <a:pPr marL="0" indent="0">
                  <a:spcBef>
                    <a:spcPts val="3000"/>
                  </a:spcBef>
                  <a:buNone/>
                </a:pPr>
                <a:r>
                  <a:rPr lang="ru" sz="2400" dirty="0"/>
                  <a:t>Максимизируя по </a:t>
                </a:r>
                <a14:m>
                  <m:oMath xmlns:m="http://schemas.openxmlformats.org/officeDocument/2006/math">
                    <m:r>
                      <a:rPr lang="en-GB" sz="2400" i="1" smtClean="0">
                        <a:latin typeface="Cambria Math" panose="02040503050406030204" pitchFamily="18" charset="0"/>
                        <a:ea typeface="Cambria Math" panose="02040503050406030204" pitchFamily="18" charset="0"/>
                      </a:rPr>
                      <m:t>𝜃</m:t>
                    </m:r>
                  </m:oMath>
                </a14:m>
                <a:r>
                  <a:rPr lang="ru" sz="2400" baseline="-20000" dirty="0">
                    <a:latin typeface="CMR12" pitchFamily="34" charset="2"/>
                  </a:rPr>
                  <a:t>0, </a:t>
                </a:r>
                <a:r>
                  <a:rPr lang="ru" sz="2400" dirty="0"/>
                  <a:t>мы сразу получаем</a:t>
                </a:r>
              </a:p>
              <a:p>
                <a:endParaRPr lang="en-GB" sz="2400" dirty="0">
                  <a:solidFill>
                    <a:srgbClr val="FF0000"/>
                  </a:solidFill>
                </a:endParaRPr>
              </a:p>
              <a:p>
                <a:pPr marL="0" indent="0">
                  <a:spcBef>
                    <a:spcPts val="3600"/>
                  </a:spcBef>
                  <a:buNone/>
                </a:pPr>
                <a:r>
                  <a:rPr lang="ru" sz="2400" dirty="0"/>
                  <a:t>Аналогично, максимизируя по </a:t>
                </a:r>
                <a:r>
                  <a:rPr lang="ru" sz="2400" dirty="0">
                    <a:latin typeface="CMMI12" pitchFamily="34" charset="2"/>
                  </a:rPr>
                  <a:t>m, </a:t>
                </a:r>
                <a:r>
                  <a:rPr lang="ru" sz="2400" dirty="0"/>
                  <a:t>получаем</a:t>
                </a:r>
              </a:p>
              <a:p>
                <a:endParaRPr lang="en-GB" sz="2400" dirty="0"/>
              </a:p>
              <a:p>
                <a:endParaRPr lang="en-GB" sz="2400" dirty="0"/>
              </a:p>
              <a:p>
                <a:pPr marL="0" indent="0">
                  <a:buNone/>
                </a:pPr>
                <a:r>
                  <a:rPr lang="ru" sz="2400" dirty="0"/>
                  <a:t>которое можно решить численно относительно </a:t>
                </a:r>
                <a:r>
                  <a:rPr lang="ru" sz="2400" dirty="0">
                    <a:latin typeface="CMMI12" pitchFamily="34" charset="2"/>
                  </a:rPr>
                  <a:t>m </a:t>
                </a:r>
                <a:r>
                  <a:rPr lang="ru" sz="2400" baseline="-20000" dirty="0">
                    <a:latin typeface="CMR12" pitchFamily="34" charset="2"/>
                  </a:rPr>
                  <a:t>ML </a:t>
                </a:r>
                <a:r>
                  <a:rPr lang="ru" sz="2400" dirty="0"/>
                  <a:t>.</a:t>
                </a:r>
              </a:p>
            </p:txBody>
          </p:sp>
        </mc:Choice>
        <mc:Fallback xmlns="">
          <p:sp>
            <p:nvSpPr>
              <p:cNvPr id="5" name="Content Placeholder 4"/>
              <p:cNvSpPr>
                <a:spLocks noGrp="1" noRot="1" noChangeAspect="1" noMove="1" noResize="1" noEditPoints="1" noAdjustHandles="1" noChangeArrowheads="1" noChangeShapeType="1" noTextEdit="1"/>
              </p:cNvSpPr>
              <p:nvPr>
                <p:ph idx="1"/>
              </p:nvPr>
            </p:nvSpPr>
            <p:spPr>
              <a:xfrm>
                <a:off x="609600" y="1600200"/>
                <a:ext cx="7924800" cy="4614882"/>
              </a:xfrm>
              <a:blipFill>
                <a:blip r:embed="rId6"/>
                <a:stretch>
                  <a:fillRect l="-1282" t="-1374" b="-2473"/>
                </a:stretch>
              </a:blipFill>
            </p:spPr>
            <p:txBody>
              <a:bodyPr/>
              <a:lstStyle/>
              <a:p>
                <a:r>
                  <a:rPr lang="ru-RU">
                    <a:noFill/>
                  </a:rPr>
                  <a:t> </a:t>
                </a:r>
              </a:p>
            </p:txBody>
          </p:sp>
        </mc:Fallback>
      </mc:AlternateContent>
      <p:pic>
        <p:nvPicPr>
          <p:cNvPr id="6" name="Picture 5"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4525699" y="1682107"/>
            <a:ext cx="2143130" cy="315468"/>
          </a:xfrm>
          <a:prstGeom prst="rect">
            <a:avLst/>
          </a:prstGeom>
          <a:noFill/>
        </p:spPr>
      </p:pic>
      <p:pic>
        <p:nvPicPr>
          <p:cNvPr id="8" name="Picture 7"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1181093" y="2309808"/>
            <a:ext cx="6781813" cy="762002"/>
          </a:xfrm>
          <a:prstGeom prst="rect">
            <a:avLst/>
          </a:prstGeom>
          <a:noFill/>
        </p:spPr>
      </p:pic>
      <p:pic>
        <p:nvPicPr>
          <p:cNvPr id="10" name="Picture 9"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035805" y="3696276"/>
            <a:ext cx="3072389" cy="661418"/>
          </a:xfrm>
          <a:prstGeom prst="rect">
            <a:avLst/>
          </a:prstGeom>
          <a:noFill/>
        </p:spPr>
      </p:pic>
      <p:pic>
        <p:nvPicPr>
          <p:cNvPr id="13" name="Picture 12"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755388" y="4881576"/>
            <a:ext cx="3633223" cy="762002"/>
          </a:xfrm>
          <a:prstGeom prst="rect">
            <a:avLst/>
          </a:prstGeom>
          <a:noFill/>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dirty="0"/>
              <a:t>Смесь нормальных распределений </a:t>
            </a:r>
            <a:r>
              <a:rPr lang="en-GB" dirty="0"/>
              <a:t>(1)</a:t>
            </a:r>
          </a:p>
        </p:txBody>
      </p:sp>
      <p:grpSp>
        <p:nvGrpSpPr>
          <p:cNvPr id="11" name="Group 10"/>
          <p:cNvGrpSpPr/>
          <p:nvPr/>
        </p:nvGrpSpPr>
        <p:grpSpPr>
          <a:xfrm>
            <a:off x="847176" y="2285992"/>
            <a:ext cx="7434289" cy="3736992"/>
            <a:chOff x="857224" y="2786058"/>
            <a:chExt cx="7434289" cy="3736992"/>
          </a:xfrm>
        </p:grpSpPr>
        <p:grpSp>
          <p:nvGrpSpPr>
            <p:cNvPr id="7" name="Group 6"/>
            <p:cNvGrpSpPr/>
            <p:nvPr/>
          </p:nvGrpSpPr>
          <p:grpSpPr>
            <a:xfrm>
              <a:off x="857224" y="2786058"/>
              <a:ext cx="3505200" cy="3736992"/>
              <a:chOff x="1219724" y="2347356"/>
              <a:chExt cx="3505200" cy="3736992"/>
            </a:xfrm>
          </p:grpSpPr>
          <p:pic>
            <p:nvPicPr>
              <p:cNvPr id="4" name="Picture 3" descr="Figure2.21a.jpg"/>
              <p:cNvPicPr>
                <a:picLocks noChangeAspect="1"/>
              </p:cNvPicPr>
              <p:nvPr/>
            </p:nvPicPr>
            <p:blipFill>
              <a:blip r:embed="rId2"/>
              <a:stretch>
                <a:fillRect/>
              </a:stretch>
            </p:blipFill>
            <p:spPr>
              <a:xfrm>
                <a:off x="1219724" y="2347356"/>
                <a:ext cx="3505200" cy="3224784"/>
              </a:xfrm>
              <a:prstGeom prst="rect">
                <a:avLst/>
              </a:prstGeom>
            </p:spPr>
          </p:pic>
          <p:sp>
            <p:nvSpPr>
              <p:cNvPr id="6" name="TextBox 5"/>
              <p:cNvSpPr txBox="1"/>
              <p:nvPr/>
            </p:nvSpPr>
            <p:spPr>
              <a:xfrm>
                <a:off x="1847308" y="5715016"/>
                <a:ext cx="2571768" cy="369332"/>
              </a:xfrm>
              <a:prstGeom prst="rect">
                <a:avLst/>
              </a:prstGeom>
              <a:noFill/>
            </p:spPr>
            <p:txBody>
              <a:bodyPr wrap="square" rtlCol="0">
                <a:spAutoFit/>
              </a:bodyPr>
              <a:lstStyle/>
              <a:p>
                <a:pPr algn="ctr"/>
                <a:r>
                  <a:rPr lang="en-GB" dirty="0"/>
                  <a:t>Single Gaussian</a:t>
                </a:r>
              </a:p>
            </p:txBody>
          </p:sp>
        </p:grpSp>
        <p:grpSp>
          <p:nvGrpSpPr>
            <p:cNvPr id="8" name="Group 7"/>
            <p:cNvGrpSpPr/>
            <p:nvPr/>
          </p:nvGrpSpPr>
          <p:grpSpPr>
            <a:xfrm>
              <a:off x="4786314" y="2786058"/>
              <a:ext cx="3505199" cy="3736992"/>
              <a:chOff x="1219724" y="2347356"/>
              <a:chExt cx="3505199" cy="3736992"/>
            </a:xfrm>
          </p:grpSpPr>
          <p:pic>
            <p:nvPicPr>
              <p:cNvPr id="9" name="Picture 8" descr="Figure2.21a.jpg"/>
              <p:cNvPicPr>
                <a:picLocks noChangeAspect="1"/>
              </p:cNvPicPr>
              <p:nvPr/>
            </p:nvPicPr>
            <p:blipFill>
              <a:blip r:embed="rId3"/>
              <a:stretch>
                <a:fillRect/>
              </a:stretch>
            </p:blipFill>
            <p:spPr>
              <a:xfrm>
                <a:off x="1219724" y="2347356"/>
                <a:ext cx="3505199" cy="3224784"/>
              </a:xfrm>
              <a:prstGeom prst="rect">
                <a:avLst/>
              </a:prstGeom>
            </p:spPr>
          </p:pic>
          <p:sp>
            <p:nvSpPr>
              <p:cNvPr id="10" name="TextBox 9"/>
              <p:cNvSpPr txBox="1"/>
              <p:nvPr/>
            </p:nvSpPr>
            <p:spPr>
              <a:xfrm>
                <a:off x="1847308" y="5715016"/>
                <a:ext cx="2571768" cy="369332"/>
              </a:xfrm>
              <a:prstGeom prst="rect">
                <a:avLst/>
              </a:prstGeom>
              <a:noFill/>
            </p:spPr>
            <p:txBody>
              <a:bodyPr wrap="square" rtlCol="0">
                <a:spAutoFit/>
              </a:bodyPr>
              <a:lstStyle/>
              <a:p>
                <a:pPr algn="ctr"/>
                <a:r>
                  <a:rPr lang="en-GB" dirty="0"/>
                  <a:t>Mixture of two Gaussians</a:t>
                </a:r>
              </a:p>
            </p:txBody>
          </p:sp>
        </p:gr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9144000" cy="1143000"/>
          </a:xfrm>
        </p:spPr>
        <p:txBody>
          <a:bodyPr>
            <a:normAutofit fontScale="90000"/>
          </a:bodyPr>
          <a:lstStyle/>
          <a:p>
            <a:r>
              <a:rPr lang="ru-RU" dirty="0"/>
              <a:t>Смесь нормальных распределений </a:t>
            </a:r>
            <a:r>
              <a:rPr lang="en-GB" dirty="0"/>
              <a:t>(2)</a:t>
            </a:r>
          </a:p>
        </p:txBody>
      </p:sp>
      <p:sp>
        <p:nvSpPr>
          <p:cNvPr id="3" name="Content Placeholder 2"/>
          <p:cNvSpPr>
            <a:spLocks noGrp="1"/>
          </p:cNvSpPr>
          <p:nvPr>
            <p:ph sz="half" idx="1"/>
          </p:nvPr>
        </p:nvSpPr>
        <p:spPr/>
        <p:txBody>
          <a:bodyPr/>
          <a:lstStyle/>
          <a:p>
            <a:pPr marL="0" indent="0">
              <a:buNone/>
            </a:pPr>
            <a:r>
              <a:rPr lang="ru-RU" dirty="0"/>
              <a:t>Комбинация простых моделей в сложную</a:t>
            </a:r>
            <a:r>
              <a:rPr lang="en-GB" dirty="0"/>
              <a:t>:</a:t>
            </a:r>
          </a:p>
        </p:txBody>
      </p:sp>
      <p:pic>
        <p:nvPicPr>
          <p:cNvPr id="13" name="Content Placeholder 12" descr="TP_tmp.png"/>
          <p:cNvPicPr>
            <a:picLocks noGrp="1" noChangeAspect="1"/>
          </p:cNvPicPr>
          <p:nvPr>
            <p:ph sz="half" idx="2"/>
            <p:custDataLst>
              <p:tags r:id="rId1"/>
            </p:custDataLst>
          </p:nvPr>
        </p:nvPicPr>
        <p:blipFill>
          <a:blip r:embed="rId4">
            <a:clrChange>
              <a:clrFrom>
                <a:srgbClr val="FFFFFF"/>
              </a:clrFrom>
              <a:clrTo>
                <a:srgbClr val="FFFFFF">
                  <a:alpha val="0"/>
                </a:srgbClr>
              </a:clrTo>
            </a:clrChange>
          </a:blip>
          <a:stretch>
            <a:fillRect/>
          </a:stretch>
        </p:blipFill>
        <p:spPr>
          <a:xfrm>
            <a:off x="1000100" y="2643182"/>
            <a:ext cx="2919989" cy="786386"/>
          </a:xfrm>
          <a:noFill/>
        </p:spPr>
      </p:pic>
      <p:sp>
        <p:nvSpPr>
          <p:cNvPr id="14" name="Right Brace 13"/>
          <p:cNvSpPr/>
          <p:nvPr/>
        </p:nvSpPr>
        <p:spPr>
          <a:xfrm rot="5400000">
            <a:off x="3107521" y="2607463"/>
            <a:ext cx="142876" cy="1357322"/>
          </a:xfrm>
          <a:prstGeom prst="rightBrace">
            <a:avLst/>
          </a:prstGeom>
          <a:ln w="158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5" name="TextBox 14"/>
          <p:cNvSpPr txBox="1"/>
          <p:nvPr/>
        </p:nvSpPr>
        <p:spPr>
          <a:xfrm>
            <a:off x="2571735" y="3357562"/>
            <a:ext cx="2097569" cy="369332"/>
          </a:xfrm>
          <a:prstGeom prst="rect">
            <a:avLst/>
          </a:prstGeom>
          <a:noFill/>
        </p:spPr>
        <p:txBody>
          <a:bodyPr wrap="square" rtlCol="0">
            <a:spAutoFit/>
          </a:bodyPr>
          <a:lstStyle/>
          <a:p>
            <a:r>
              <a:rPr lang="ru-RU" dirty="0"/>
              <a:t>компонент смеси</a:t>
            </a:r>
            <a:endParaRPr lang="en-GB" dirty="0"/>
          </a:p>
        </p:txBody>
      </p:sp>
      <p:cxnSp>
        <p:nvCxnSpPr>
          <p:cNvPr id="22" name="Straight Arrow Connector 21"/>
          <p:cNvCxnSpPr/>
          <p:nvPr/>
        </p:nvCxnSpPr>
        <p:spPr>
          <a:xfrm rot="5400000" flipH="1" flipV="1">
            <a:off x="2062416" y="3499644"/>
            <a:ext cx="571504" cy="1588"/>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2233540" y="3734848"/>
            <a:ext cx="2286016" cy="369332"/>
          </a:xfrm>
          <a:prstGeom prst="rect">
            <a:avLst/>
          </a:prstGeom>
          <a:noFill/>
        </p:spPr>
        <p:txBody>
          <a:bodyPr wrap="square" rtlCol="0">
            <a:spAutoFit/>
          </a:bodyPr>
          <a:lstStyle/>
          <a:p>
            <a:r>
              <a:rPr lang="ru-RU" dirty="0" err="1"/>
              <a:t>коэфф</a:t>
            </a:r>
            <a:r>
              <a:rPr lang="ru-RU" dirty="0"/>
              <a:t>. смешивания</a:t>
            </a:r>
            <a:endParaRPr lang="en-GB" dirty="0"/>
          </a:p>
        </p:txBody>
      </p:sp>
      <p:grpSp>
        <p:nvGrpSpPr>
          <p:cNvPr id="16" name="Group 15"/>
          <p:cNvGrpSpPr/>
          <p:nvPr/>
        </p:nvGrpSpPr>
        <p:grpSpPr>
          <a:xfrm>
            <a:off x="4742330" y="1922731"/>
            <a:ext cx="4267200" cy="2726786"/>
            <a:chOff x="4286248" y="1643050"/>
            <a:chExt cx="4267200" cy="2726786"/>
          </a:xfrm>
        </p:grpSpPr>
        <p:pic>
          <p:nvPicPr>
            <p:cNvPr id="24" name="Picture 23" descr="Figure2.22.jpg"/>
            <p:cNvPicPr>
              <a:picLocks noChangeAspect="1"/>
            </p:cNvPicPr>
            <p:nvPr/>
          </p:nvPicPr>
          <p:blipFill>
            <a:blip r:embed="rId5"/>
            <a:stretch>
              <a:fillRect/>
            </a:stretch>
          </p:blipFill>
          <p:spPr>
            <a:xfrm>
              <a:off x="4286248" y="1643050"/>
              <a:ext cx="4267200" cy="2542032"/>
            </a:xfrm>
            <a:prstGeom prst="rect">
              <a:avLst/>
            </a:prstGeom>
          </p:spPr>
        </p:pic>
        <p:sp>
          <p:nvSpPr>
            <p:cNvPr id="10" name="TextBox 9"/>
            <p:cNvSpPr txBox="1"/>
            <p:nvPr/>
          </p:nvSpPr>
          <p:spPr>
            <a:xfrm>
              <a:off x="6072198" y="4000504"/>
              <a:ext cx="1071570" cy="369332"/>
            </a:xfrm>
            <a:prstGeom prst="rect">
              <a:avLst/>
            </a:prstGeom>
            <a:noFill/>
          </p:spPr>
          <p:txBody>
            <a:bodyPr wrap="square" rtlCol="0">
              <a:spAutoFit/>
            </a:bodyPr>
            <a:lstStyle/>
            <a:p>
              <a:pPr algn="ctr"/>
              <a:r>
                <a:rPr lang="en-GB" dirty="0">
                  <a:latin typeface="CMMI12" pitchFamily="34" charset="2"/>
                </a:rPr>
                <a:t>K</a:t>
              </a:r>
              <a:r>
                <a:rPr lang="en-GB" dirty="0">
                  <a:latin typeface="CMR12" pitchFamily="34" charset="2"/>
                </a:rPr>
                <a:t>=3</a:t>
              </a:r>
            </a:p>
          </p:txBody>
        </p:sp>
      </p:grpSp>
      <p:pic>
        <p:nvPicPr>
          <p:cNvPr id="12" name="Picture 11"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1060411" y="4357126"/>
            <a:ext cx="2919989" cy="786386"/>
          </a:xfrm>
          <a:prstGeom prst="rect">
            <a:avLst/>
          </a:prstGeom>
          <a:noFill/>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686800" cy="1143000"/>
          </a:xfrm>
        </p:spPr>
        <p:txBody>
          <a:bodyPr>
            <a:normAutofit fontScale="90000"/>
          </a:bodyPr>
          <a:lstStyle/>
          <a:p>
            <a:r>
              <a:rPr lang="ru-RU" dirty="0"/>
              <a:t>Смесь нормальных распределений </a:t>
            </a:r>
            <a:r>
              <a:rPr lang="en-GB" dirty="0"/>
              <a:t>(3)</a:t>
            </a:r>
          </a:p>
        </p:txBody>
      </p:sp>
      <p:grpSp>
        <p:nvGrpSpPr>
          <p:cNvPr id="25" name="Group 24"/>
          <p:cNvGrpSpPr/>
          <p:nvPr/>
        </p:nvGrpSpPr>
        <p:grpSpPr>
          <a:xfrm>
            <a:off x="500034" y="2357430"/>
            <a:ext cx="8072494" cy="2570232"/>
            <a:chOff x="500034" y="2357430"/>
            <a:chExt cx="8072494" cy="2570232"/>
          </a:xfrm>
        </p:grpSpPr>
        <p:pic>
          <p:nvPicPr>
            <p:cNvPr id="19" name="Picture 18" descr="Figure2.23a.jpg"/>
            <p:cNvPicPr>
              <a:picLocks noChangeAspect="1"/>
            </p:cNvPicPr>
            <p:nvPr/>
          </p:nvPicPr>
          <p:blipFill>
            <a:blip r:embed="rId2"/>
            <a:stretch>
              <a:fillRect/>
            </a:stretch>
          </p:blipFill>
          <p:spPr>
            <a:xfrm>
              <a:off x="500034" y="2358198"/>
              <a:ext cx="2647188" cy="2569464"/>
            </a:xfrm>
            <a:prstGeom prst="rect">
              <a:avLst/>
            </a:prstGeom>
          </p:spPr>
        </p:pic>
        <p:pic>
          <p:nvPicPr>
            <p:cNvPr id="20" name="Picture 19" descr="Figure2.23a.jpg"/>
            <p:cNvPicPr>
              <a:picLocks noChangeAspect="1"/>
            </p:cNvPicPr>
            <p:nvPr/>
          </p:nvPicPr>
          <p:blipFill>
            <a:blip r:embed="rId3"/>
            <a:stretch>
              <a:fillRect/>
            </a:stretch>
          </p:blipFill>
          <p:spPr>
            <a:xfrm>
              <a:off x="3214678" y="2357430"/>
              <a:ext cx="2647188" cy="2569463"/>
            </a:xfrm>
            <a:prstGeom prst="rect">
              <a:avLst/>
            </a:prstGeom>
          </p:spPr>
        </p:pic>
        <p:pic>
          <p:nvPicPr>
            <p:cNvPr id="21" name="Picture 20" descr="Figure2.23a.jpg"/>
            <p:cNvPicPr>
              <a:picLocks noChangeAspect="1"/>
            </p:cNvPicPr>
            <p:nvPr/>
          </p:nvPicPr>
          <p:blipFill>
            <a:blip r:embed="rId4"/>
            <a:stretch>
              <a:fillRect/>
            </a:stretch>
          </p:blipFill>
          <p:spPr>
            <a:xfrm>
              <a:off x="5925340" y="2464587"/>
              <a:ext cx="2647188" cy="2355149"/>
            </a:xfrm>
            <a:prstGeom prst="rect">
              <a:avLst/>
            </a:prstGeom>
          </p:spPr>
        </p:pic>
      </p:gr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ru-RU" dirty="0"/>
              <a:t>Семейство экспоненциальных распределений </a:t>
            </a:r>
            <a:r>
              <a:rPr lang="en-GB" dirty="0"/>
              <a:t>(1)</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endParaRPr lang="en-GB" dirty="0"/>
              </a:p>
              <a:p>
                <a:pPr marL="0" indent="0">
                  <a:buNone/>
                </a:pPr>
                <a:endParaRPr lang="ru-RU" dirty="0"/>
              </a:p>
              <a:p>
                <a:pPr marL="0" indent="0">
                  <a:buNone/>
                </a:pPr>
                <a:r>
                  <a:rPr lang="ru-RU" dirty="0"/>
                  <a:t>где </a:t>
                </a:r>
                <a14:m>
                  <m:oMath xmlns:m="http://schemas.openxmlformats.org/officeDocument/2006/math">
                    <m:r>
                      <a:rPr lang="ru-RU" i="1" smtClean="0">
                        <a:latin typeface="Cambria Math" panose="02040503050406030204" pitchFamily="18" charset="0"/>
                        <a:ea typeface="Cambria Math" panose="02040503050406030204" pitchFamily="18" charset="0"/>
                      </a:rPr>
                      <m:t>𝜂</m:t>
                    </m:r>
                  </m:oMath>
                </a14:m>
                <a:r>
                  <a:rPr lang="ru-RU" dirty="0"/>
                  <a:t> – естественные параметры</a:t>
                </a:r>
                <a:endParaRPr lang="en-GB" dirty="0"/>
              </a:p>
              <a:p>
                <a:endParaRPr lang="en-GB" dirty="0"/>
              </a:p>
              <a:p>
                <a:endParaRPr lang="en-GB" dirty="0"/>
              </a:p>
              <a:p>
                <a:pPr marL="0" indent="0">
                  <a:buNone/>
                </a:pPr>
                <a:r>
                  <a:rPr lang="en-GB" dirty="0">
                    <a:latin typeface="CMMI10" pitchFamily="34" charset="2"/>
                  </a:rPr>
                  <a:t>g</a:t>
                </a:r>
                <a:r>
                  <a:rPr lang="en-GB" dirty="0">
                    <a:latin typeface="CMR12" pitchFamily="34" charset="2"/>
                  </a:rPr>
                  <a:t>(</a:t>
                </a:r>
                <a14:m>
                  <m:oMath xmlns:m="http://schemas.openxmlformats.org/officeDocument/2006/math">
                    <m:r>
                      <a:rPr lang="ru-RU" i="1" smtClean="0">
                        <a:latin typeface="Cambria Math" panose="02040503050406030204" pitchFamily="18" charset="0"/>
                        <a:ea typeface="Cambria Math" panose="02040503050406030204" pitchFamily="18" charset="0"/>
                      </a:rPr>
                      <m:t>𝜂</m:t>
                    </m:r>
                  </m:oMath>
                </a14:m>
                <a:r>
                  <a:rPr lang="en-GB" dirty="0">
                    <a:latin typeface="CMR12" pitchFamily="34" charset="2"/>
                  </a:rPr>
                  <a:t>)</a:t>
                </a:r>
                <a:r>
                  <a:rPr lang="en-GB" dirty="0"/>
                  <a:t> </a:t>
                </a:r>
                <a:r>
                  <a:rPr lang="ru-RU" dirty="0"/>
                  <a:t>можно интерпретировать как коэффициент нормализации</a:t>
                </a:r>
                <a:r>
                  <a:rPr lang="en-GB"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4"/>
                <a:stretch>
                  <a:fillRect l="-1852"/>
                </a:stretch>
              </a:blipFill>
            </p:spPr>
            <p:txBody>
              <a:bodyPr/>
              <a:lstStyle/>
              <a:p>
                <a:r>
                  <a:rPr lang="ru-RU">
                    <a:noFill/>
                  </a:rPr>
                  <a:t> </a:t>
                </a:r>
              </a:p>
            </p:txBody>
          </p:sp>
        </mc:Fallback>
      </mc:AlternateContent>
      <p:pic>
        <p:nvPicPr>
          <p:cNvPr id="7" name="Picture 6" descr="TP_tmp.png"/>
          <p:cNvPicPr>
            <a:picLocks noChangeAspect="1"/>
          </p:cNvPicPr>
          <p:nvPr>
            <p:custDataLst>
              <p:tags r:id="rId1"/>
            </p:custDataLst>
          </p:nvPr>
        </p:nvPicPr>
        <p:blipFill>
          <a:blip r:embed="rId5">
            <a:clrChange>
              <a:clrFrom>
                <a:srgbClr val="FFFFFF"/>
              </a:clrFrom>
              <a:clrTo>
                <a:srgbClr val="FFFFFF">
                  <a:alpha val="0"/>
                </a:srgbClr>
              </a:clrTo>
            </a:clrChange>
          </a:blip>
          <a:stretch>
            <a:fillRect/>
          </a:stretch>
        </p:blipFill>
        <p:spPr>
          <a:xfrm>
            <a:off x="2307914" y="2000240"/>
            <a:ext cx="4507240" cy="445770"/>
          </a:xfrm>
          <a:prstGeom prst="rect">
            <a:avLst/>
          </a:prstGeom>
          <a:noFill/>
        </p:spPr>
      </p:pic>
      <p:pic>
        <p:nvPicPr>
          <p:cNvPr id="9" name="Picture 8" descr="TP_tmp.png"/>
          <p:cNvPicPr>
            <a:picLocks noChangeAspect="1"/>
          </p:cNvPicPr>
          <p:nvPr>
            <p:custDataLst>
              <p:tags r:id="rId2"/>
            </p:custDataLst>
          </p:nvPr>
        </p:nvPicPr>
        <p:blipFill>
          <a:blip r:embed="rId6">
            <a:clrChange>
              <a:clrFrom>
                <a:srgbClr val="FFFFFF"/>
              </a:clrFrom>
              <a:clrTo>
                <a:srgbClr val="FFFFFF">
                  <a:alpha val="0"/>
                </a:srgbClr>
              </a:clrTo>
            </a:clrChange>
          </a:blip>
          <a:stretch>
            <a:fillRect/>
          </a:stretch>
        </p:blipFill>
        <p:spPr>
          <a:xfrm>
            <a:off x="2221666" y="3595691"/>
            <a:ext cx="4697740" cy="762003"/>
          </a:xfrm>
          <a:prstGeom prst="rect">
            <a:avLst/>
          </a:prstGeom>
          <a:noFill/>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a:t>
            </a:r>
            <a:endParaRPr lang="en-GB" dirty="0"/>
          </a:p>
        </p:txBody>
      </p:sp>
      <mc:AlternateContent xmlns:mc="http://schemas.openxmlformats.org/markup-compatibility/2006" xmlns:a14="http://schemas.microsoft.com/office/drawing/2010/main">
        <mc:Choice Requires="a14">
          <p:sp>
            <p:nvSpPr>
              <p:cNvPr id="4" name="Content Placeholder 3"/>
              <p:cNvSpPr>
                <a:spLocks noGrp="1"/>
              </p:cNvSpPr>
              <p:nvPr>
                <p:ph sz="half" idx="1"/>
              </p:nvPr>
            </p:nvSpPr>
            <p:spPr/>
            <p:txBody>
              <a:bodyPr>
                <a:normAutofit fontScale="92500" lnSpcReduction="10000"/>
              </a:bodyPr>
              <a:lstStyle/>
              <a:p>
                <a:pPr marL="1588" indent="-1588">
                  <a:tabLst>
                    <a:tab pos="361950" algn="l"/>
                  </a:tabLst>
                </a:pPr>
                <a:r>
                  <a:rPr lang="ru" b="1" dirty="0"/>
                  <a:t>Методы гистограмм </a:t>
                </a:r>
                <a:r>
                  <a:rPr lang="ru" dirty="0"/>
                  <a:t>разбивают пространство данных на отдельные ячейки шириной </a:t>
                </a:r>
                <a14:m>
                  <m:oMath xmlns:m="http://schemas.openxmlformats.org/officeDocument/2006/math">
                    <m:r>
                      <a:rPr lang="ru" i="1" smtClean="0">
                        <a:latin typeface="Cambria Math" panose="02040503050406030204" pitchFamily="18" charset="0"/>
                        <a:ea typeface="Cambria Math" panose="02040503050406030204" pitchFamily="18" charset="0"/>
                      </a:rPr>
                      <m:t>∆</m:t>
                    </m:r>
                  </m:oMath>
                </a14:m>
                <a:r>
                  <a:rPr lang="ru" baseline="-20000" dirty="0">
                    <a:latin typeface="CMMI12" pitchFamily="34" charset="2"/>
                  </a:rPr>
                  <a:t>i </a:t>
                </a:r>
                <a:r>
                  <a:rPr lang="ru" dirty="0"/>
                  <a:t>и подсчитывают количество наблюдений </a:t>
                </a:r>
                <a:r>
                  <a:rPr lang="ru" dirty="0">
                    <a:latin typeface="CMMI12" pitchFamily="34" charset="2"/>
                  </a:rPr>
                  <a:t>n</a:t>
                </a:r>
                <a:r>
                  <a:rPr lang="ru" baseline="-20000" dirty="0">
                    <a:latin typeface="CMMI12" pitchFamily="34" charset="2"/>
                  </a:rPr>
                  <a:t>i </a:t>
                </a:r>
                <a:r>
                  <a:rPr lang="ru" dirty="0"/>
                  <a:t>в каждой ячейке.</a:t>
                </a:r>
              </a:p>
              <a:p>
                <a:pPr>
                  <a:buFont typeface="Arial" pitchFamily="34" charset="0"/>
                  <a:buChar char="•"/>
                </a:pPr>
                <a:endParaRPr lang="en-GB" dirty="0"/>
              </a:p>
              <a:p>
                <a:pPr>
                  <a:buFont typeface="Arial" pitchFamily="34" charset="0"/>
                  <a:buChar char="•"/>
                </a:pPr>
                <a:endParaRPr lang="en-GB" dirty="0"/>
              </a:p>
              <a:p>
                <a:pPr>
                  <a:buFont typeface="Arial" pitchFamily="34" charset="0"/>
                  <a:buChar char="•"/>
                </a:pPr>
                <a:r>
                  <a:rPr lang="ru" dirty="0"/>
                  <a:t>Часто для всех ячеек используется одинаковая ширина, </a:t>
                </a:r>
                <a14:m>
                  <m:oMath xmlns:m="http://schemas.openxmlformats.org/officeDocument/2006/math">
                    <m:r>
                      <a:rPr lang="ru" i="1" smtClean="0">
                        <a:latin typeface="Cambria Math" panose="02040503050406030204" pitchFamily="18" charset="0"/>
                        <a:ea typeface="Cambria Math" panose="02040503050406030204" pitchFamily="18" charset="0"/>
                      </a:rPr>
                      <m:t>∆ </m:t>
                    </m:r>
                  </m:oMath>
                </a14:m>
                <a:r>
                  <a:rPr lang="ru" baseline="-20000" dirty="0">
                    <a:latin typeface="CMMI12" pitchFamily="34" charset="2"/>
                  </a:rPr>
                  <a:t>i </a:t>
                </a:r>
                <a:r>
                  <a:rPr lang="ru" dirty="0"/>
                  <a:t>= </a:t>
                </a:r>
                <a:r>
                  <a:rPr lang="ru" dirty="0">
                    <a:latin typeface="CMR12" pitchFamily="34" charset="2"/>
                  </a:rPr>
                  <a:t>¢ </a:t>
                </a:r>
                <a:r>
                  <a:rPr lang="ru" dirty="0"/>
                  <a:t>.</a:t>
                </a:r>
              </a:p>
              <a:p>
                <a:pPr>
                  <a:buFont typeface="Arial" pitchFamily="34" charset="0"/>
                  <a:buChar char="•"/>
                </a:pPr>
                <a14:m>
                  <m:oMath xmlns:m="http://schemas.openxmlformats.org/officeDocument/2006/math">
                    <m:r>
                      <a:rPr lang="ru" i="1" smtClean="0">
                        <a:latin typeface="Cambria Math" panose="02040503050406030204" pitchFamily="18" charset="0"/>
                        <a:ea typeface="Cambria Math" panose="02040503050406030204" pitchFamily="18" charset="0"/>
                      </a:rPr>
                      <m:t>∆</m:t>
                    </m:r>
                  </m:oMath>
                </a14:m>
                <a:r>
                  <a:rPr lang="ru" dirty="0">
                    <a:latin typeface="CMR12" pitchFamily="34" charset="2"/>
                  </a:rPr>
                  <a:t> </a:t>
                </a:r>
                <a:r>
                  <a:rPr lang="ru" dirty="0"/>
                  <a:t>действует как параметр сглаживания.</a:t>
                </a:r>
              </a:p>
            </p:txBody>
          </p:sp>
        </mc:Choice>
        <mc:Fallback xmlns="">
          <p:sp>
            <p:nvSpPr>
              <p:cNvPr id="4" name="Content Placeholder 3"/>
              <p:cNvSpPr>
                <a:spLocks noGrp="1" noRot="1" noChangeAspect="1" noMove="1" noResize="1" noEditPoints="1" noAdjustHandles="1" noChangeArrowheads="1" noChangeShapeType="1" noTextEdit="1"/>
              </p:cNvSpPr>
              <p:nvPr>
                <p:ph sz="half" idx="1"/>
              </p:nvPr>
            </p:nvSpPr>
            <p:spPr>
              <a:blipFill>
                <a:blip r:embed="rId3"/>
                <a:stretch>
                  <a:fillRect l="-2194" t="-1681" r="-2194"/>
                </a:stretch>
              </a:blipFill>
            </p:spPr>
            <p:txBody>
              <a:bodyPr/>
              <a:lstStyle/>
              <a:p>
                <a:r>
                  <a:rPr lang="ru-RU">
                    <a:noFill/>
                  </a:rPr>
                  <a:t> </a:t>
                </a:r>
              </a:p>
            </p:txBody>
          </p:sp>
        </mc:Fallback>
      </mc:AlternateContent>
      <p:pic>
        <p:nvPicPr>
          <p:cNvPr id="8" name="Picture 7"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a:xfrm>
            <a:off x="1624792" y="3596480"/>
            <a:ext cx="1143002" cy="533402"/>
          </a:xfrm>
          <a:prstGeom prst="rect">
            <a:avLst/>
          </a:prstGeom>
          <a:noFill/>
        </p:spPr>
      </p:pic>
      <p:sp>
        <p:nvSpPr>
          <p:cNvPr id="10" name="Content Placeholder 9"/>
          <p:cNvSpPr>
            <a:spLocks noGrp="1"/>
          </p:cNvSpPr>
          <p:nvPr>
            <p:ph sz="half" idx="2"/>
          </p:nvPr>
        </p:nvSpPr>
        <p:spPr>
          <a:xfrm>
            <a:off x="4648200" y="1600200"/>
            <a:ext cx="4038600" cy="4757758"/>
          </a:xfrm>
        </p:spPr>
        <p:txBody>
          <a:bodyPr>
            <a:normAutofit fontScale="92500" lnSpcReduction="10000"/>
          </a:bodyPr>
          <a:lstStyle/>
          <a:p>
            <a:endParaRPr lang="en-GB" dirty="0"/>
          </a:p>
          <a:p>
            <a:endParaRPr lang="en-GB" dirty="0"/>
          </a:p>
          <a:p>
            <a:endParaRPr lang="en-GB" dirty="0"/>
          </a:p>
          <a:p>
            <a:endParaRPr lang="en-GB" dirty="0"/>
          </a:p>
          <a:p>
            <a:endParaRPr lang="en-GB" dirty="0"/>
          </a:p>
          <a:p>
            <a:endParaRPr lang="en-GB" dirty="0"/>
          </a:p>
          <a:p>
            <a:endParaRPr lang="en-GB" dirty="0"/>
          </a:p>
          <a:p>
            <a:pPr>
              <a:spcBef>
                <a:spcPts val="2400"/>
              </a:spcBef>
              <a:buFont typeface="Arial" pitchFamily="34" charset="0"/>
              <a:buChar char="•"/>
            </a:pPr>
            <a:r>
              <a:rPr lang="ru" dirty="0"/>
              <a:t>В </a:t>
            </a:r>
            <a:r>
              <a:rPr lang="ru" dirty="0">
                <a:latin typeface="CMMI12" pitchFamily="34" charset="2"/>
              </a:rPr>
              <a:t>D </a:t>
            </a:r>
            <a:r>
              <a:rPr lang="ru" dirty="0"/>
              <a:t>-мерном пространстве использование </a:t>
            </a:r>
            <a:r>
              <a:rPr lang="ru" dirty="0">
                <a:latin typeface="CMMI12" pitchFamily="34" charset="2"/>
              </a:rPr>
              <a:t>M </a:t>
            </a:r>
            <a:r>
              <a:rPr lang="ru" dirty="0"/>
              <a:t>ячеек в каждом </a:t>
            </a:r>
            <a:r>
              <a:rPr lang="ru" dirty="0" err="1"/>
              <a:t>измерении </a:t>
            </a:r>
            <a:r>
              <a:rPr lang="ru" dirty="0"/>
              <a:t>потребует </a:t>
            </a:r>
            <a:r>
              <a:rPr lang="ru" dirty="0">
                <a:latin typeface="CMMI12" pitchFamily="34" charset="2"/>
              </a:rPr>
              <a:t>M </a:t>
            </a:r>
            <a:r>
              <a:rPr lang="ru" baseline="34000" dirty="0">
                <a:latin typeface="CMMI12" pitchFamily="34" charset="2"/>
              </a:rPr>
              <a:t>D </a:t>
            </a:r>
            <a:r>
              <a:rPr lang="ru" dirty="0"/>
              <a:t>ячеек!</a:t>
            </a:r>
          </a:p>
        </p:txBody>
      </p:sp>
      <p:pic>
        <p:nvPicPr>
          <p:cNvPr id="11" name="Picture 10" descr="Figure2.24.jpg"/>
          <p:cNvPicPr>
            <a:picLocks noChangeAspect="1"/>
          </p:cNvPicPr>
          <p:nvPr/>
        </p:nvPicPr>
        <p:blipFill>
          <a:blip r:embed="rId5"/>
          <a:stretch>
            <a:fillRect/>
          </a:stretch>
        </p:blipFill>
        <p:spPr>
          <a:xfrm>
            <a:off x="4693161" y="1423806"/>
            <a:ext cx="4000500" cy="3291078"/>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 dirty="0"/>
              <a:t>Непараметрические методы (</a:t>
            </a:r>
            <a:r>
              <a:rPr lang="en-US" dirty="0"/>
              <a:t>2</a:t>
            </a:r>
            <a:r>
              <a:rPr lang="ru" dirty="0"/>
              <a:t>)</a:t>
            </a:r>
            <a:endParaRPr lang="en-GB" dirty="0"/>
          </a:p>
        </p:txBody>
      </p:sp>
      <p:sp>
        <p:nvSpPr>
          <p:cNvPr id="3" name="Content Placeholder 2"/>
          <p:cNvSpPr>
            <a:spLocks noGrp="1"/>
          </p:cNvSpPr>
          <p:nvPr>
            <p:ph sz="half" idx="1"/>
          </p:nvPr>
        </p:nvSpPr>
        <p:spPr/>
        <p:txBody>
          <a:bodyPr>
            <a:normAutofit lnSpcReduction="10000"/>
          </a:bodyPr>
          <a:lstStyle/>
          <a:p>
            <a:r>
              <a:rPr lang="ru" dirty="0"/>
              <a:t>Предположим, что наблюдения получены из плотности </a:t>
            </a:r>
            <a:r>
              <a:rPr lang="ru" dirty="0">
                <a:latin typeface="CMMI12" pitchFamily="34" charset="2"/>
              </a:rPr>
              <a:t>p </a:t>
            </a:r>
            <a:r>
              <a:rPr lang="ru" dirty="0">
                <a:latin typeface="CMR12" pitchFamily="34" charset="2"/>
              </a:rPr>
              <a:t>( </a:t>
            </a:r>
            <a:r>
              <a:rPr lang="ru" dirty="0">
                <a:latin typeface="CMBX10" pitchFamily="34" charset="2"/>
              </a:rPr>
              <a:t>x </a:t>
            </a:r>
            <a:r>
              <a:rPr lang="ru" dirty="0">
                <a:latin typeface="CMR12" pitchFamily="34" charset="2"/>
              </a:rPr>
              <a:t>) </a:t>
            </a:r>
            <a:r>
              <a:rPr lang="ru" dirty="0"/>
              <a:t>и рассмотрим небольшую область </a:t>
            </a:r>
            <a:r>
              <a:rPr lang="ru" dirty="0">
                <a:latin typeface="CMSY10" pitchFamily="34" charset="2"/>
              </a:rPr>
              <a:t>R, </a:t>
            </a:r>
            <a:r>
              <a:rPr lang="ru" dirty="0"/>
              <a:t>содержащую </a:t>
            </a:r>
            <a:r>
              <a:rPr lang="ru" dirty="0">
                <a:latin typeface="CMBX12" pitchFamily="34" charset="2"/>
              </a:rPr>
              <a:t>x, </a:t>
            </a:r>
            <a:r>
              <a:rPr lang="ru" dirty="0"/>
              <a:t>такую, что</a:t>
            </a:r>
          </a:p>
          <a:p>
            <a:endParaRPr lang="en-GB" dirty="0"/>
          </a:p>
          <a:p>
            <a:endParaRPr lang="en-GB" dirty="0"/>
          </a:p>
          <a:p>
            <a:r>
              <a:rPr lang="ru" dirty="0"/>
              <a:t>Вероятность того, что </a:t>
            </a:r>
            <a:r>
              <a:rPr lang="ru" dirty="0">
                <a:latin typeface="CMMI12" pitchFamily="34" charset="2"/>
              </a:rPr>
              <a:t>K </a:t>
            </a:r>
            <a:r>
              <a:rPr lang="ru" dirty="0"/>
              <a:t>из </a:t>
            </a:r>
            <a:r>
              <a:rPr lang="ru" dirty="0">
                <a:latin typeface="CMMI12" pitchFamily="34" charset="2"/>
              </a:rPr>
              <a:t>N </a:t>
            </a:r>
            <a:r>
              <a:rPr lang="ru" dirty="0"/>
              <a:t>наблюдений лежат внутри </a:t>
            </a:r>
            <a:r>
              <a:rPr lang="ru" dirty="0">
                <a:latin typeface="CMSY10" pitchFamily="34" charset="2"/>
              </a:rPr>
              <a:t>R, </a:t>
            </a:r>
            <a:r>
              <a:rPr lang="ru" dirty="0"/>
              <a:t>равна </a:t>
            </a:r>
            <a:r>
              <a:rPr lang="ru" dirty="0">
                <a:latin typeface="CMR12" pitchFamily="34" charset="2"/>
              </a:rPr>
              <a:t>Bin( </a:t>
            </a:r>
            <a:r>
              <a:rPr lang="ru" dirty="0">
                <a:latin typeface="CMMI12" pitchFamily="34" charset="2"/>
              </a:rPr>
              <a:t>K |</a:t>
            </a:r>
            <a:r>
              <a:rPr lang="ru" dirty="0">
                <a:latin typeface="CMSY10" pitchFamily="34" charset="2"/>
              </a:rPr>
              <a:t> </a:t>
            </a:r>
            <a:r>
              <a:rPr lang="ru" dirty="0">
                <a:latin typeface="CMMI12" pitchFamily="34" charset="2"/>
              </a:rPr>
              <a:t>N </a:t>
            </a:r>
            <a:r>
              <a:rPr lang="ru" dirty="0">
                <a:latin typeface="CMR12" pitchFamily="34" charset="2"/>
              </a:rPr>
              <a:t>, </a:t>
            </a:r>
            <a:r>
              <a:rPr lang="ru" dirty="0">
                <a:latin typeface="CMMI12" pitchFamily="34" charset="2"/>
              </a:rPr>
              <a:t>P </a:t>
            </a:r>
            <a:r>
              <a:rPr lang="ru" dirty="0">
                <a:latin typeface="CMR12" pitchFamily="34" charset="2"/>
              </a:rPr>
              <a:t>) </a:t>
            </a:r>
            <a:r>
              <a:rPr lang="ru" dirty="0"/>
              <a:t>и если </a:t>
            </a:r>
            <a:r>
              <a:rPr lang="ru" dirty="0">
                <a:latin typeface="CMMI12" pitchFamily="34" charset="2"/>
              </a:rPr>
              <a:t>N </a:t>
            </a:r>
            <a:r>
              <a:rPr lang="ru" dirty="0"/>
              <a:t>велико</a:t>
            </a:r>
          </a:p>
        </p:txBody>
      </p:sp>
      <p:pic>
        <p:nvPicPr>
          <p:cNvPr id="6" name="Content Placeholder 5" descr="TP_tmp.png"/>
          <p:cNvPicPr>
            <a:picLocks noGrp="1" noChangeAspect="1"/>
          </p:cNvPicPr>
          <p:nvPr>
            <p:ph sz="half" idx="2"/>
            <p:custDataLst>
              <p:tags r:id="rId1"/>
            </p:custDataLst>
          </p:nvPr>
        </p:nvPicPr>
        <p:blipFill>
          <a:blip r:embed="rId6">
            <a:clrChange>
              <a:clrFrom>
                <a:srgbClr val="FFFFFF"/>
              </a:clrFrom>
              <a:clrTo>
                <a:srgbClr val="FFFFFF">
                  <a:alpha val="0"/>
                </a:srgbClr>
              </a:clrTo>
            </a:clrChange>
          </a:blip>
          <a:stretch>
            <a:fillRect/>
          </a:stretch>
        </p:blipFill>
        <p:spPr>
          <a:xfrm>
            <a:off x="1712981" y="3592642"/>
            <a:ext cx="2029973" cy="685802"/>
          </a:xfrm>
          <a:noFill/>
        </p:spPr>
      </p:pic>
      <p:pic>
        <p:nvPicPr>
          <p:cNvPr id="11" name="Picture 10" descr="TP_tmp.png"/>
          <p:cNvPicPr>
            <a:picLocks noChangeAspect="1"/>
          </p:cNvPicPr>
          <p:nvPr>
            <p:custDataLst>
              <p:tags r:id="rId2"/>
            </p:custDataLst>
          </p:nvPr>
        </p:nvPicPr>
        <p:blipFill>
          <a:blip r:embed="rId7">
            <a:clrChange>
              <a:clrFrom>
                <a:srgbClr val="FFFFFF"/>
              </a:clrFrom>
              <a:clrTo>
                <a:srgbClr val="FFFFFF">
                  <a:alpha val="0"/>
                </a:srgbClr>
              </a:clrTo>
            </a:clrChange>
          </a:blip>
          <a:stretch>
            <a:fillRect/>
          </a:stretch>
        </p:blipFill>
        <p:spPr>
          <a:xfrm>
            <a:off x="3156594" y="5975230"/>
            <a:ext cx="1172720" cy="229743"/>
          </a:xfrm>
          <a:prstGeom prst="rect">
            <a:avLst/>
          </a:prstGeom>
          <a:noFill/>
        </p:spPr>
      </p:pic>
      <p:sp>
        <p:nvSpPr>
          <p:cNvPr id="12" name="Content Placeholder 2"/>
          <p:cNvSpPr txBox="1">
            <a:spLocks/>
          </p:cNvSpPr>
          <p:nvPr/>
        </p:nvSpPr>
        <p:spPr>
          <a:xfrm>
            <a:off x="4605366" y="1597585"/>
            <a:ext cx="4038600" cy="4525963"/>
          </a:xfrm>
          <a:prstGeom prst="rect">
            <a:avLst/>
          </a:prstGeom>
        </p:spPr>
        <p:txBody>
          <a:bodyPr vert="horz" lIns="91440" tIns="45720" rIns="91440" bIns="45720" rtlCol="0">
            <a:normAutofit/>
          </a:bodyPr>
          <a:lstStyle/>
          <a:p>
            <a:pPr marL="342900" marR="0" lvl="0" indent="-342900" algn="l" defTabSz="914400" rtl="0" eaLnBrk="1" fontAlgn="auto" latinLnBrk="0" hangingPunct="1">
              <a:lnSpc>
                <a:spcPct val="100000"/>
              </a:lnSpc>
              <a:spcBef>
                <a:spcPct val="20000"/>
              </a:spcBef>
              <a:spcAft>
                <a:spcPts val="0"/>
              </a:spcAft>
              <a:buClrTx/>
              <a:buSzTx/>
              <a:buFontTx/>
              <a:buNone/>
              <a:tabLst/>
              <a:defRPr/>
            </a:pPr>
            <a:r>
              <a:rPr kumimoji="0" lang="ru" sz="2400" b="0" i="0" u="none" strike="noStrike" kern="1200" cap="none" spc="0" normalizeH="0" baseline="0" noProof="0" dirty="0">
                <a:ln>
                  <a:noFill/>
                </a:ln>
                <a:solidFill>
                  <a:prstClr val="black"/>
                </a:solidFill>
                <a:effectLst/>
                <a:uLnTx/>
                <a:uFillTx/>
                <a:latin typeface="Calibri"/>
                <a:ea typeface="+mn-ea"/>
                <a:cs typeface="+mn-cs"/>
              </a:rPr>
              <a:t>Если объем R , </a:t>
            </a:r>
            <a:r>
              <a:rPr kumimoji="0" lang="ru" sz="2400" b="0" i="0" u="none" strike="noStrike" kern="1200" cap="none" spc="0" normalizeH="0" baseline="0" noProof="0" dirty="0">
                <a:ln>
                  <a:noFill/>
                </a:ln>
                <a:solidFill>
                  <a:prstClr val="black"/>
                </a:solidFill>
                <a:effectLst/>
                <a:uLnTx/>
                <a:uFillTx/>
                <a:latin typeface="CMMI12" pitchFamily="34" charset="2"/>
                <a:ea typeface="+mn-ea"/>
                <a:cs typeface="+mn-cs"/>
              </a:rPr>
              <a:t>V </a:t>
            </a:r>
            <a:r>
              <a:rPr kumimoji="0" lang="ru" sz="2400" b="0" i="0" u="none" strike="noStrike" kern="1200" cap="none" spc="0" normalizeH="0" baseline="0" noProof="0" dirty="0">
                <a:ln>
                  <a:noFill/>
                </a:ln>
                <a:solidFill>
                  <a:prstClr val="black"/>
                </a:solidFill>
                <a:effectLst/>
                <a:uLnTx/>
                <a:uFillTx/>
                <a:latin typeface="Calibri"/>
                <a:ea typeface="+mn-ea"/>
                <a:cs typeface="+mn-cs"/>
              </a:rPr>
              <a:t>, достаточно мал, </a:t>
            </a:r>
            <a:r>
              <a:rPr kumimoji="0" lang="ru" sz="2400" b="0" i="0" u="none" strike="noStrike" kern="1200" cap="none" spc="0" normalizeH="0" baseline="0" noProof="0" dirty="0">
                <a:ln>
                  <a:noFill/>
                </a:ln>
                <a:solidFill>
                  <a:prstClr val="black"/>
                </a:solidFill>
                <a:effectLst/>
                <a:uLnTx/>
                <a:uFillTx/>
                <a:latin typeface="CMMI12" pitchFamily="34" charset="2"/>
                <a:ea typeface="+mn-ea"/>
                <a:cs typeface="+mn-cs"/>
              </a:rPr>
              <a:t>p </a:t>
            </a:r>
            <a:r>
              <a:rPr kumimoji="0" lang="ru" sz="2400" b="0" i="0" u="none" strike="noStrike" kern="1200" cap="none" spc="0" normalizeH="0" baseline="0" noProof="0" dirty="0">
                <a:ln>
                  <a:noFill/>
                </a:ln>
                <a:solidFill>
                  <a:prstClr val="black"/>
                </a:solidFill>
                <a:effectLst/>
                <a:uLnTx/>
                <a:uFillTx/>
                <a:latin typeface="CMR12" pitchFamily="34" charset="2"/>
                <a:ea typeface="+mn-ea"/>
                <a:cs typeface="+mn-cs"/>
              </a:rPr>
              <a:t>( </a:t>
            </a:r>
            <a:r>
              <a:rPr kumimoji="0" lang="ru" sz="2400" b="0" i="0" u="none" strike="noStrike" kern="1200" cap="none" spc="0" normalizeH="0" baseline="0" noProof="0" dirty="0">
                <a:ln>
                  <a:noFill/>
                </a:ln>
                <a:solidFill>
                  <a:prstClr val="black"/>
                </a:solidFill>
                <a:effectLst/>
                <a:uLnTx/>
                <a:uFillTx/>
                <a:latin typeface="CMBX12" pitchFamily="34" charset="2"/>
                <a:ea typeface="+mn-ea"/>
                <a:cs typeface="+mn-cs"/>
              </a:rPr>
              <a:t>x </a:t>
            </a:r>
            <a:r>
              <a:rPr kumimoji="0" lang="ru" sz="2400" b="0" i="0" u="none" strike="noStrike" kern="1200" cap="none" spc="0" normalizeH="0" baseline="0" noProof="0" dirty="0">
                <a:ln>
                  <a:noFill/>
                </a:ln>
                <a:solidFill>
                  <a:prstClr val="black"/>
                </a:solidFill>
                <a:effectLst/>
                <a:uLnTx/>
                <a:uFillTx/>
                <a:latin typeface="CMR12" pitchFamily="34" charset="2"/>
                <a:ea typeface="+mn-ea"/>
                <a:cs typeface="+mn-cs"/>
              </a:rPr>
              <a:t>) </a:t>
            </a:r>
            <a:r>
              <a:rPr kumimoji="0" lang="ru" sz="2400" b="0" i="0" u="none" strike="noStrike" kern="1200" cap="none" spc="0" normalizeH="0" baseline="0" noProof="0" dirty="0">
                <a:ln>
                  <a:noFill/>
                </a:ln>
                <a:solidFill>
                  <a:prstClr val="black"/>
                </a:solidFill>
                <a:effectLst/>
                <a:uLnTx/>
                <a:uFillTx/>
                <a:latin typeface="Calibri"/>
                <a:ea typeface="+mn-ea"/>
                <a:cs typeface="+mn-cs"/>
              </a:rPr>
              <a:t>приблизительно постоянен по </a:t>
            </a:r>
            <a:r>
              <a:rPr kumimoji="0" lang="ru" sz="2400" b="0" i="0" u="none" strike="noStrike" kern="1200" cap="none" spc="0" normalizeH="0" baseline="0" noProof="0" dirty="0">
                <a:ln>
                  <a:noFill/>
                </a:ln>
                <a:solidFill>
                  <a:prstClr val="black"/>
                </a:solidFill>
                <a:effectLst/>
                <a:uLnTx/>
                <a:uFillTx/>
                <a:latin typeface="CMSY10" pitchFamily="34" charset="2"/>
                <a:ea typeface="+mn-ea"/>
                <a:cs typeface="+mn-cs"/>
              </a:rPr>
              <a:t>R и</a:t>
            </a: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24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GB" sz="2400" b="0" i="0" u="none" strike="noStrike" kern="1200" cap="none" spc="0" normalizeH="0" baseline="0" noProof="0" dirty="0">
              <a:ln>
                <a:noFill/>
              </a:ln>
              <a:solidFill>
                <a:prstClr val="black"/>
              </a:solidFill>
              <a:effectLst/>
              <a:uLnTx/>
              <a:uFillTx/>
              <a:latin typeface="Calibri"/>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itchFamily="34" charset="0"/>
              <a:buNone/>
              <a:tabLst/>
              <a:defRPr/>
            </a:pPr>
            <a:r>
              <a:rPr kumimoji="0" lang="ru" sz="2400" b="0" i="0" u="none" strike="noStrike" kern="1200" cap="none" spc="0" normalizeH="0" baseline="0" noProof="0" dirty="0">
                <a:ln>
                  <a:noFill/>
                </a:ln>
                <a:solidFill>
                  <a:prstClr val="black"/>
                </a:solidFill>
                <a:effectLst/>
                <a:uLnTx/>
                <a:uFillTx/>
                <a:latin typeface="Calibri"/>
                <a:ea typeface="+mn-ea"/>
                <a:cs typeface="+mn-cs"/>
              </a:rPr>
              <a:t>Таким образом</a:t>
            </a:r>
          </a:p>
        </p:txBody>
      </p:sp>
      <p:pic>
        <p:nvPicPr>
          <p:cNvPr id="14" name="Picture 13" descr="TP_tmp.png"/>
          <p:cNvPicPr>
            <a:picLocks noChangeAspect="1"/>
          </p:cNvPicPr>
          <p:nvPr>
            <p:custDataLst>
              <p:tags r:id="rId3"/>
            </p:custDataLst>
          </p:nvPr>
        </p:nvPicPr>
        <p:blipFill>
          <a:blip r:embed="rId8">
            <a:clrChange>
              <a:clrFrom>
                <a:srgbClr val="FFFFFF"/>
              </a:clrFrom>
              <a:clrTo>
                <a:srgbClr val="FFFFFF">
                  <a:alpha val="0"/>
                </a:srgbClr>
              </a:clrTo>
            </a:clrChange>
          </a:blip>
          <a:stretch>
            <a:fillRect/>
          </a:stretch>
        </p:blipFill>
        <p:spPr>
          <a:xfrm>
            <a:off x="5915042" y="3409332"/>
            <a:ext cx="1371602" cy="315468"/>
          </a:xfrm>
          <a:prstGeom prst="rect">
            <a:avLst/>
          </a:prstGeom>
          <a:noFill/>
        </p:spPr>
      </p:pic>
      <p:pic>
        <p:nvPicPr>
          <p:cNvPr id="19" name="Picture 18" descr="TP_tmp.png"/>
          <p:cNvPicPr>
            <a:picLocks noChangeAspect="1"/>
          </p:cNvPicPr>
          <p:nvPr>
            <p:custDataLst>
              <p:tags r:id="rId4"/>
            </p:custDataLst>
          </p:nvPr>
        </p:nvPicPr>
        <p:blipFill>
          <a:blip r:embed="rId9">
            <a:clrChange>
              <a:clrFrom>
                <a:srgbClr val="FFFFFF"/>
              </a:clrFrom>
              <a:clrTo>
                <a:srgbClr val="FFFFFF">
                  <a:alpha val="0"/>
                </a:srgbClr>
              </a:clrTo>
            </a:clrChange>
          </a:blip>
          <a:stretch>
            <a:fillRect/>
          </a:stretch>
        </p:blipFill>
        <p:spPr>
          <a:xfrm>
            <a:off x="5839424" y="4481034"/>
            <a:ext cx="1570484" cy="627509"/>
          </a:xfrm>
          <a:prstGeom prst="rect">
            <a:avLst/>
          </a:prstGeom>
          <a:noFill/>
          <a:ln w="19050">
            <a:noFill/>
          </a:ln>
        </p:spPr>
      </p:pic>
      <p:sp>
        <p:nvSpPr>
          <p:cNvPr id="22" name="TextBox 21"/>
          <p:cNvSpPr txBox="1"/>
          <p:nvPr/>
        </p:nvSpPr>
        <p:spPr>
          <a:xfrm>
            <a:off x="4714876" y="5354437"/>
            <a:ext cx="3786214" cy="646331"/>
          </a:xfrm>
          <a:prstGeom prst="rect">
            <a:avLst/>
          </a:prstGeom>
          <a:noFill/>
          <a:ln w="19050">
            <a:solidFill>
              <a:srgbClr val="0070C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V  </a:t>
            </a:r>
            <a:r>
              <a:rPr kumimoji="0" lang="ru" sz="1800" b="0" i="0" u="none" strike="noStrike" kern="1200" cap="none" spc="0" normalizeH="0" baseline="0" noProof="0" dirty="0">
                <a:ln>
                  <a:noFill/>
                </a:ln>
                <a:solidFill>
                  <a:prstClr val="black"/>
                </a:solidFill>
                <a:effectLst/>
                <a:uLnTx/>
                <a:uFillTx/>
                <a:latin typeface="Calibri"/>
                <a:ea typeface="+mn-ea"/>
                <a:cs typeface="+mn-cs"/>
              </a:rPr>
              <a:t>мало, но </a:t>
            </a: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K&gt;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0 </a:t>
            </a:r>
            <a:r>
              <a:rPr kumimoji="0" lang="ru" sz="1800" b="0" i="0" u="none" strike="noStrike" kern="1200" cap="none" spc="0" normalizeH="0" baseline="0" noProof="0" dirty="0">
                <a:ln>
                  <a:noFill/>
                </a:ln>
                <a:solidFill>
                  <a:prstClr val="black"/>
                </a:solidFill>
                <a:effectLst/>
                <a:uLnTx/>
                <a:uFillTx/>
                <a:latin typeface="Calibri"/>
                <a:ea typeface="+mn-ea"/>
                <a:cs typeface="+mn-cs"/>
              </a:rPr>
              <a:t>, поэтому </a:t>
            </a:r>
            <a:r>
              <a:rPr kumimoji="0" lang="ru" sz="1800" b="0" i="0" u="none" strike="noStrike" kern="1200" cap="none" spc="0" normalizeH="0" baseline="0" noProof="0" dirty="0">
                <a:ln>
                  <a:noFill/>
                </a:ln>
                <a:solidFill>
                  <a:prstClr val="black"/>
                </a:solidFill>
                <a:effectLst/>
                <a:uLnTx/>
                <a:uFillTx/>
                <a:latin typeface="CMMI12" pitchFamily="34" charset="2"/>
                <a:ea typeface="+mn-ea"/>
                <a:cs typeface="+mn-cs"/>
              </a:rPr>
              <a:t>N </a:t>
            </a:r>
            <a:r>
              <a:rPr kumimoji="0" lang="ru" sz="1800" b="0" i="0" u="none" strike="noStrike" kern="1200" cap="none" spc="0" normalizeH="0" baseline="0" noProof="0" dirty="0">
                <a:ln>
                  <a:noFill/>
                </a:ln>
                <a:solidFill>
                  <a:prstClr val="black"/>
                </a:solidFill>
                <a:effectLst/>
                <a:uLnTx/>
                <a:uFillTx/>
                <a:latin typeface="Calibri"/>
                <a:ea typeface="+mn-ea"/>
                <a:cs typeface="+mn-cs"/>
              </a:rPr>
              <a:t>большое?</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10" name="Rectangle 9"/>
          <p:cNvSpPr/>
          <p:nvPr/>
        </p:nvSpPr>
        <p:spPr>
          <a:xfrm>
            <a:off x="5715008" y="4401880"/>
            <a:ext cx="1785950" cy="78581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a:ea typeface="+mn-ea"/>
              <a:cs typeface="+mn-cs"/>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3</a:t>
            </a:r>
            <a:r>
              <a:rPr lang="ru" dirty="0"/>
              <a:t>)</a:t>
            </a:r>
            <a:endParaRPr lang="en-GB" dirty="0"/>
          </a:p>
        </p:txBody>
      </p:sp>
      <p:sp>
        <p:nvSpPr>
          <p:cNvPr id="4" name="Content Placeholder 3"/>
          <p:cNvSpPr>
            <a:spLocks noGrp="1"/>
          </p:cNvSpPr>
          <p:nvPr>
            <p:ph idx="1"/>
          </p:nvPr>
        </p:nvSpPr>
        <p:spPr/>
        <p:txBody>
          <a:bodyPr>
            <a:normAutofit/>
          </a:bodyPr>
          <a:lstStyle/>
          <a:p>
            <a:pPr marL="1588" indent="-1588">
              <a:tabLst>
                <a:tab pos="361950" algn="l"/>
              </a:tabLst>
            </a:pPr>
            <a:r>
              <a:rPr lang="ru" sz="2800" b="1" dirty="0"/>
              <a:t>Оценка плотности ядра: </a:t>
            </a:r>
            <a:r>
              <a:rPr lang="ru" sz="2800" dirty="0"/>
              <a:t>фиксируем </a:t>
            </a:r>
            <a:r>
              <a:rPr lang="ru" sz="2800" dirty="0">
                <a:latin typeface="CMMI12" pitchFamily="34" charset="2"/>
              </a:rPr>
              <a:t>V </a:t>
            </a:r>
            <a:r>
              <a:rPr lang="ru" sz="2800" dirty="0"/>
              <a:t>, оцениваем </a:t>
            </a:r>
            <a:r>
              <a:rPr lang="ru" sz="2800" dirty="0">
                <a:latin typeface="CMMI12" pitchFamily="34" charset="2"/>
              </a:rPr>
              <a:t>K </a:t>
            </a:r>
            <a:r>
              <a:rPr lang="ru" sz="2800" dirty="0"/>
              <a:t>по данным. Пусть </a:t>
            </a:r>
            <a:r>
              <a:rPr lang="ru" sz="2800" dirty="0">
                <a:latin typeface="CMSY10" pitchFamily="34" charset="2"/>
              </a:rPr>
              <a:t>R </a:t>
            </a:r>
            <a:r>
              <a:rPr lang="ru" sz="2800" dirty="0"/>
              <a:t>— гиперкуб с центром в точке </a:t>
            </a:r>
            <a:r>
              <a:rPr lang="ru" sz="2800" dirty="0">
                <a:latin typeface="CMBX10" pitchFamily="34" charset="2"/>
              </a:rPr>
              <a:t>x</a:t>
            </a:r>
            <a:r>
              <a:rPr lang="ru" sz="2800" dirty="0"/>
              <a:t>, и определяем функцию ядра ( окно Парзена).</a:t>
            </a:r>
          </a:p>
          <a:p>
            <a:pPr marL="1588" indent="-1588">
              <a:tabLst>
                <a:tab pos="361950" algn="l"/>
              </a:tabLst>
            </a:pPr>
            <a:endParaRPr lang="en-GB" sz="2800" dirty="0"/>
          </a:p>
          <a:p>
            <a:pPr marL="1588" indent="-1588">
              <a:spcBef>
                <a:spcPts val="2400"/>
              </a:spcBef>
              <a:tabLst>
                <a:tab pos="361950" algn="l"/>
              </a:tabLst>
            </a:pPr>
            <a:r>
              <a:rPr lang="ru" sz="2800" dirty="0"/>
              <a:t>Из этого следует, что</a:t>
            </a:r>
          </a:p>
          <a:p>
            <a:pPr marL="1588" indent="-1588">
              <a:spcBef>
                <a:spcPts val="2400"/>
              </a:spcBef>
              <a:tabLst>
                <a:tab pos="361950" algn="l"/>
              </a:tabLst>
            </a:pPr>
            <a:r>
              <a:rPr lang="en-US" sz="2800" dirty="0"/>
              <a:t>                                </a:t>
            </a:r>
            <a:r>
              <a:rPr lang="ru" sz="1600" dirty="0"/>
              <a:t>и, следовательно</a:t>
            </a:r>
            <a:r>
              <a:rPr lang="ru" sz="2800" dirty="0"/>
              <a:t>,</a:t>
            </a:r>
          </a:p>
        </p:txBody>
      </p:sp>
      <p:grpSp>
        <p:nvGrpSpPr>
          <p:cNvPr id="20" name="Group 19"/>
          <p:cNvGrpSpPr/>
          <p:nvPr/>
        </p:nvGrpSpPr>
        <p:grpSpPr>
          <a:xfrm>
            <a:off x="877434" y="4769741"/>
            <a:ext cx="7552794" cy="766877"/>
            <a:chOff x="1091172" y="4738700"/>
            <a:chExt cx="7552794" cy="766877"/>
          </a:xfrm>
        </p:grpSpPr>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a:xfrm>
              <a:off x="1091172" y="4738700"/>
              <a:ext cx="2337820" cy="762002"/>
            </a:xfrm>
            <a:prstGeom prst="rect">
              <a:avLst/>
            </a:prstGeom>
            <a:noFill/>
          </p:spPr>
        </p:pic>
        <p:pic>
          <p:nvPicPr>
            <p:cNvPr id="19" name="Picture 18" descr="TP_tmp.png"/>
            <p:cNvPicPr>
              <a:picLocks noChangeAspect="1"/>
            </p:cNvPicPr>
            <p:nvPr>
              <p:custDataLst>
                <p:tags r:id="rId3"/>
              </p:custDataLst>
            </p:nvPr>
          </p:nvPicPr>
          <p:blipFill>
            <a:blip r:embed="rId6">
              <a:clrChange>
                <a:clrFrom>
                  <a:srgbClr val="FFFFFF"/>
                </a:clrFrom>
                <a:clrTo>
                  <a:srgbClr val="FFFFFF">
                    <a:alpha val="0"/>
                  </a:srgbClr>
                </a:clrTo>
              </a:clrChange>
            </a:blip>
            <a:stretch>
              <a:fillRect/>
            </a:stretch>
          </p:blipFill>
          <p:spPr bwMode="auto">
            <a:xfrm>
              <a:off x="5190047" y="4743459"/>
              <a:ext cx="3453919" cy="762118"/>
            </a:xfrm>
            <a:prstGeom prst="rect">
              <a:avLst/>
            </a:prstGeom>
            <a:noFill/>
            <a:ln/>
            <a:effectLst/>
          </p:spPr>
        </p:pic>
      </p:grpSp>
      <p:pic>
        <p:nvPicPr>
          <p:cNvPr id="12" name="Picture 11"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bwMode="auto">
          <a:xfrm>
            <a:off x="1130545" y="3546164"/>
            <a:ext cx="6882910" cy="634033"/>
          </a:xfrm>
          <a:prstGeom prst="rect">
            <a:avLst/>
          </a:prstGeom>
          <a:noFill/>
          <a:ln/>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4</a:t>
            </a:r>
            <a:r>
              <a:rPr lang="ru" dirty="0"/>
              <a:t>)</a:t>
            </a:r>
            <a:endParaRPr lang="en-GB" dirty="0"/>
          </a:p>
        </p:txBody>
      </p:sp>
      <p:sp>
        <p:nvSpPr>
          <p:cNvPr id="4" name="Content Placeholder 3"/>
          <p:cNvSpPr>
            <a:spLocks noGrp="1"/>
          </p:cNvSpPr>
          <p:nvPr>
            <p:ph sz="half" idx="1"/>
          </p:nvPr>
        </p:nvSpPr>
        <p:spPr>
          <a:xfrm>
            <a:off x="457200" y="1600200"/>
            <a:ext cx="4038600" cy="4900634"/>
          </a:xfrm>
        </p:spPr>
        <p:txBody>
          <a:bodyPr>
            <a:normAutofit/>
          </a:bodyPr>
          <a:lstStyle/>
          <a:p>
            <a:pPr marL="1588" indent="-1588">
              <a:tabLst>
                <a:tab pos="361950" algn="l"/>
              </a:tabLst>
            </a:pPr>
            <a:r>
              <a:rPr lang="ru" dirty="0"/>
              <a:t>Чтобы избежать разрывов в p(x), используйте гладкое ядро, например, гауссово.</a:t>
            </a:r>
          </a:p>
          <a:p>
            <a:pPr marL="1588" indent="-1588">
              <a:tabLst>
                <a:tab pos="361950" algn="l"/>
              </a:tabLst>
            </a:pPr>
            <a:endParaRPr lang="en-GB" dirty="0"/>
          </a:p>
          <a:p>
            <a:pPr marL="1588" indent="-1588">
              <a:tabLst>
                <a:tab pos="361950" algn="l"/>
              </a:tabLst>
            </a:pPr>
            <a:endParaRPr lang="en-GB" dirty="0"/>
          </a:p>
          <a:p>
            <a:pPr marL="1588" indent="-1588">
              <a:tabLst>
                <a:tab pos="361950" algn="l"/>
              </a:tabLst>
            </a:pPr>
            <a:endParaRPr lang="en-GB" dirty="0"/>
          </a:p>
          <a:p>
            <a:pPr marL="1588" indent="-1588">
              <a:tabLst>
                <a:tab pos="361950" algn="l"/>
              </a:tabLst>
            </a:pPr>
            <a:endParaRPr lang="en-GB" dirty="0"/>
          </a:p>
          <a:p>
            <a:pPr marL="1588" indent="-1588">
              <a:tabLst>
                <a:tab pos="361950" algn="l"/>
              </a:tabLst>
            </a:pPr>
            <a:r>
              <a:rPr lang="ru" sz="1800" dirty="0"/>
              <a:t>Любое ядро такое, что</a:t>
            </a:r>
          </a:p>
          <a:p>
            <a:pPr marL="1588" indent="-1588">
              <a:tabLst>
                <a:tab pos="361950" algn="l"/>
              </a:tabLst>
            </a:pPr>
            <a:endParaRPr lang="en-GB" sz="1800" dirty="0"/>
          </a:p>
          <a:p>
            <a:pPr marL="1588" indent="-1588">
              <a:tabLst>
                <a:tab pos="361950" algn="l"/>
              </a:tabLst>
            </a:pPr>
            <a:endParaRPr lang="en-GB" sz="1800" dirty="0"/>
          </a:p>
          <a:p>
            <a:pPr marL="1588" indent="-1588">
              <a:tabLst>
                <a:tab pos="361950" algn="l"/>
              </a:tabLst>
            </a:pPr>
            <a:endParaRPr lang="en-GB" sz="1800" dirty="0"/>
          </a:p>
          <a:p>
            <a:pPr marL="1588" indent="-1588">
              <a:tabLst>
                <a:tab pos="361950" algn="l"/>
              </a:tabLst>
            </a:pPr>
            <a:r>
              <a:rPr lang="ru" sz="1800" dirty="0"/>
              <a:t>будет работать.</a:t>
            </a:r>
          </a:p>
        </p:txBody>
      </p:sp>
      <p:pic>
        <p:nvPicPr>
          <p:cNvPr id="15" name="Picture 14"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483789" y="5036454"/>
            <a:ext cx="1778893" cy="821438"/>
          </a:xfrm>
          <a:prstGeom prst="rect">
            <a:avLst/>
          </a:prstGeom>
          <a:noFill/>
          <a:ln/>
          <a:effectLst/>
        </p:spPr>
      </p:pic>
      <p:sp>
        <p:nvSpPr>
          <p:cNvPr id="10" name="Content Placeholder 9"/>
          <p:cNvSpPr>
            <a:spLocks noGrp="1"/>
          </p:cNvSpPr>
          <p:nvPr>
            <p:ph sz="half" idx="2"/>
          </p:nvPr>
        </p:nvSpPr>
        <p:spPr>
          <a:xfrm>
            <a:off x="4648200" y="1600200"/>
            <a:ext cx="4038600" cy="4757758"/>
          </a:xfrm>
        </p:spPr>
        <p:txBody>
          <a:bodyPr>
            <a:normAutofit/>
          </a:bodyPr>
          <a:lstStyle/>
          <a:p>
            <a:endParaRPr lang="en-GB" dirty="0"/>
          </a:p>
          <a:p>
            <a:endParaRPr lang="en-GB" dirty="0"/>
          </a:p>
          <a:p>
            <a:endParaRPr lang="en-GB" dirty="0"/>
          </a:p>
          <a:p>
            <a:endParaRPr lang="en-GB" dirty="0"/>
          </a:p>
          <a:p>
            <a:endParaRPr lang="en-GB" dirty="0"/>
          </a:p>
          <a:p>
            <a:endParaRPr lang="en-GB" dirty="0"/>
          </a:p>
          <a:p>
            <a:endParaRPr lang="en-GB" dirty="0"/>
          </a:p>
        </p:txBody>
      </p:sp>
      <p:pic>
        <p:nvPicPr>
          <p:cNvPr id="14" name="Picture 13" descr="TP_tmp.png"/>
          <p:cNvPicPr>
            <a:picLocks noChangeAspect="1"/>
          </p:cNvPicPr>
          <p:nvPr>
            <p:custDataLst>
              <p:tags r:id="rId2"/>
            </p:custDataLst>
          </p:nvPr>
        </p:nvPicPr>
        <p:blipFill>
          <a:blip r:embed="rId5">
            <a:clrChange>
              <a:clrFrom>
                <a:srgbClr val="FFFFFF"/>
              </a:clrFrom>
              <a:clrTo>
                <a:srgbClr val="FFFFFF">
                  <a:alpha val="0"/>
                </a:srgbClr>
              </a:clrTo>
            </a:clrChange>
          </a:blip>
          <a:stretch>
            <a:fillRect/>
          </a:stretch>
        </p:blipFill>
        <p:spPr bwMode="auto">
          <a:xfrm>
            <a:off x="571472" y="2715498"/>
            <a:ext cx="3757439" cy="1499320"/>
          </a:xfrm>
          <a:prstGeom prst="rect">
            <a:avLst/>
          </a:prstGeom>
          <a:noFill/>
          <a:ln/>
          <a:effectLst/>
        </p:spPr>
      </p:pic>
      <p:grpSp>
        <p:nvGrpSpPr>
          <p:cNvPr id="17" name="Group 16"/>
          <p:cNvGrpSpPr/>
          <p:nvPr/>
        </p:nvGrpSpPr>
        <p:grpSpPr>
          <a:xfrm>
            <a:off x="4695026" y="2138187"/>
            <a:ext cx="4000500" cy="3660409"/>
            <a:chOff x="4643466" y="2138187"/>
            <a:chExt cx="4000500" cy="3660409"/>
          </a:xfrm>
        </p:grpSpPr>
        <p:pic>
          <p:nvPicPr>
            <p:cNvPr id="11" name="Picture 10" descr="Figure2.24.jpg"/>
            <p:cNvPicPr>
              <a:picLocks noChangeAspect="1"/>
            </p:cNvPicPr>
            <p:nvPr/>
          </p:nvPicPr>
          <p:blipFill>
            <a:blip r:embed="rId6"/>
            <a:stretch>
              <a:fillRect/>
            </a:stretch>
          </p:blipFill>
          <p:spPr>
            <a:xfrm>
              <a:off x="4643466" y="2138187"/>
              <a:ext cx="4000500" cy="3291077"/>
            </a:xfrm>
            <a:prstGeom prst="rect">
              <a:avLst/>
            </a:prstGeom>
          </p:spPr>
        </p:pic>
        <p:sp>
          <p:nvSpPr>
            <p:cNvPr id="16" name="TextBox 15"/>
            <p:cNvSpPr txBox="1"/>
            <p:nvPr/>
          </p:nvSpPr>
          <p:spPr>
            <a:xfrm>
              <a:off x="4745356" y="5429264"/>
              <a:ext cx="3857652"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h </a:t>
              </a:r>
              <a:r>
                <a:rPr kumimoji="0" lang="ru" sz="1800" b="0" i="0" u="none" strike="noStrike" kern="1200" cap="none" spc="0" normalizeH="0" baseline="0" noProof="0" dirty="0">
                  <a:ln>
                    <a:noFill/>
                  </a:ln>
                  <a:solidFill>
                    <a:prstClr val="black"/>
                  </a:solidFill>
                  <a:effectLst/>
                  <a:uLnTx/>
                  <a:uFillTx/>
                  <a:latin typeface="Calibri"/>
                  <a:ea typeface="+mn-ea"/>
                  <a:cs typeface="+mn-cs"/>
                </a:rPr>
                <a:t>действует как сглаживатель.</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gr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5</a:t>
            </a:r>
            <a:r>
              <a:rPr lang="ru" dirty="0"/>
              <a:t>)</a:t>
            </a:r>
            <a:endParaRPr lang="en-GB" dirty="0"/>
          </a:p>
        </p:txBody>
      </p:sp>
      <p:sp>
        <p:nvSpPr>
          <p:cNvPr id="4" name="Content Placeholder 3"/>
          <p:cNvSpPr>
            <a:spLocks noGrp="1"/>
          </p:cNvSpPr>
          <p:nvPr>
            <p:ph sz="half" idx="1"/>
          </p:nvPr>
        </p:nvSpPr>
        <p:spPr/>
        <p:txBody>
          <a:bodyPr>
            <a:normAutofit/>
          </a:bodyPr>
          <a:lstStyle/>
          <a:p>
            <a:pPr marL="1588" indent="-1588">
              <a:tabLst>
                <a:tab pos="361950" algn="l"/>
              </a:tabLst>
            </a:pPr>
            <a:r>
              <a:rPr lang="ru" sz="2800" b="1" dirty="0"/>
              <a:t>Оценка плотности ближайших соседей: </a:t>
            </a:r>
            <a:r>
              <a:rPr lang="ru" sz="2800" dirty="0"/>
              <a:t>фиксируем </a:t>
            </a:r>
            <a:r>
              <a:rPr lang="ru" sz="2800" dirty="0">
                <a:latin typeface="CMMI12" pitchFamily="34" charset="2"/>
              </a:rPr>
              <a:t>K </a:t>
            </a:r>
            <a:r>
              <a:rPr lang="ru" sz="2800" dirty="0"/>
              <a:t>, оценим </a:t>
            </a:r>
            <a:r>
              <a:rPr lang="ru" sz="2800" dirty="0">
                <a:latin typeface="CMMI12" pitchFamily="34" charset="2"/>
              </a:rPr>
              <a:t>V </a:t>
            </a:r>
            <a:r>
              <a:rPr lang="ru" sz="2800" dirty="0"/>
              <a:t>по данным. Рассмотрим гиперсферу с центром в точке </a:t>
            </a:r>
            <a:r>
              <a:rPr lang="ru" sz="2800" dirty="0">
                <a:latin typeface="CMBX10" pitchFamily="34" charset="2"/>
              </a:rPr>
              <a:t>x </a:t>
            </a:r>
            <a:r>
              <a:rPr lang="ru" sz="2800" dirty="0"/>
              <a:t>и увеличим её объём до </a:t>
            </a:r>
            <a:r>
              <a:rPr lang="ru" sz="2800" dirty="0">
                <a:latin typeface="CMMI12" pitchFamily="34" charset="2"/>
              </a:rPr>
              <a:t>V.</a:t>
            </a:r>
            <a:r>
              <a:rPr lang="ru" sz="2800" dirty="0"/>
              <a:t> </a:t>
            </a:r>
            <a:r>
              <a:rPr lang="en-US" sz="2800" dirty="0" err="1"/>
              <a:t>О</a:t>
            </a:r>
            <a:r>
              <a:rPr lang="ru-RU" sz="2800" dirty="0"/>
              <a:t>на </a:t>
            </a:r>
            <a:r>
              <a:rPr lang="ru" sz="2800" dirty="0"/>
              <a:t>включает </a:t>
            </a:r>
            <a:r>
              <a:rPr lang="ru" sz="2800" dirty="0">
                <a:latin typeface="CMMI12" pitchFamily="34" charset="2"/>
              </a:rPr>
              <a:t>K </a:t>
            </a:r>
            <a:r>
              <a:rPr lang="ru" sz="2800" dirty="0"/>
              <a:t>из заданных </a:t>
            </a:r>
            <a:r>
              <a:rPr lang="ru" sz="2800" dirty="0">
                <a:latin typeface="CMMI12" pitchFamily="34" charset="2"/>
              </a:rPr>
              <a:t>N </a:t>
            </a:r>
            <a:r>
              <a:rPr lang="ru" sz="2800" dirty="0"/>
              <a:t>точек данных. Тогда</a:t>
            </a:r>
          </a:p>
        </p:txBody>
      </p:sp>
      <p:pic>
        <p:nvPicPr>
          <p:cNvPr id="11" name="Content Placeholder 10" descr="Figure2.26.jpg"/>
          <p:cNvPicPr>
            <a:picLocks noGrp="1" noChangeAspect="1"/>
          </p:cNvPicPr>
          <p:nvPr>
            <p:ph sz="half" idx="2"/>
          </p:nvPr>
        </p:nvPicPr>
        <p:blipFill>
          <a:blip r:embed="rId3"/>
          <a:stretch>
            <a:fillRect/>
          </a:stretch>
        </p:blipFill>
        <p:spPr>
          <a:xfrm>
            <a:off x="4694998" y="2133177"/>
            <a:ext cx="4000500" cy="3291078"/>
          </a:xfrm>
        </p:spPr>
      </p:pic>
      <p:sp>
        <p:nvSpPr>
          <p:cNvPr id="13" name="TextBox 12"/>
          <p:cNvSpPr txBox="1"/>
          <p:nvPr/>
        </p:nvSpPr>
        <p:spPr>
          <a:xfrm>
            <a:off x="4796916" y="5429264"/>
            <a:ext cx="3857652"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K </a:t>
            </a:r>
            <a:r>
              <a:rPr kumimoji="0" lang="ru" sz="1800" b="0" i="0" u="none" strike="noStrike" kern="1200" cap="none" spc="0" normalizeH="0" baseline="0" noProof="0" dirty="0">
                <a:ln>
                  <a:noFill/>
                </a:ln>
                <a:solidFill>
                  <a:prstClr val="black"/>
                </a:solidFill>
                <a:effectLst/>
                <a:uLnTx/>
                <a:uFillTx/>
                <a:latin typeface="Calibri"/>
                <a:ea typeface="+mn-ea"/>
                <a:cs typeface="+mn-cs"/>
              </a:rPr>
              <a:t>действует как сглаживающее средство.</a:t>
            </a:r>
            <a:endParaRPr kumimoji="0" lang="en-GB"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6" name="Picture 15" descr="TP_tmp.png"/>
          <p:cNvPicPr>
            <a:picLocks noChangeAspect="1"/>
          </p:cNvPicPr>
          <p:nvPr>
            <p:custDataLst>
              <p:tags r:id="rId1"/>
            </p:custDataLst>
          </p:nvPr>
        </p:nvPicPr>
        <p:blipFill>
          <a:blip r:embed="rId4">
            <a:clrChange>
              <a:clrFrom>
                <a:srgbClr val="FFFFFF"/>
              </a:clrFrom>
              <a:clrTo>
                <a:srgbClr val="FFFFFF">
                  <a:alpha val="0"/>
                </a:srgbClr>
              </a:clrTo>
            </a:clrChange>
          </a:blip>
          <a:stretch>
            <a:fillRect/>
          </a:stretch>
        </p:blipFill>
        <p:spPr bwMode="auto">
          <a:xfrm>
            <a:off x="1845327" y="5613930"/>
            <a:ext cx="1685847" cy="630480"/>
          </a:xfrm>
          <a:prstGeom prst="rect">
            <a:avLst/>
          </a:prstGeom>
          <a:noFill/>
          <a:ln/>
          <a:effec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ru" dirty="0"/>
              <a:t>Непараметрические методы (</a:t>
            </a:r>
            <a:r>
              <a:rPr lang="en-US" dirty="0"/>
              <a:t>6</a:t>
            </a:r>
            <a:r>
              <a:rPr lang="ru" dirty="0"/>
              <a:t>)</a:t>
            </a:r>
            <a:endParaRPr lang="en-GB" dirty="0"/>
          </a:p>
        </p:txBody>
      </p:sp>
      <p:sp>
        <p:nvSpPr>
          <p:cNvPr id="3" name="Content Placeholder 2"/>
          <p:cNvSpPr>
            <a:spLocks noGrp="1"/>
          </p:cNvSpPr>
          <p:nvPr>
            <p:ph idx="1"/>
          </p:nvPr>
        </p:nvSpPr>
        <p:spPr/>
        <p:txBody>
          <a:bodyPr/>
          <a:lstStyle/>
          <a:p>
            <a:r>
              <a:rPr lang="ru" dirty="0"/>
              <a:t>Непараметрические модели (не гистограммы) требуют хранения и вычислений со всем набором данных.</a:t>
            </a:r>
          </a:p>
          <a:p>
            <a:r>
              <a:rPr lang="ru" dirty="0"/>
              <a:t>После настройки параметрические модели становятся гораздо более эффективными с точки зрения хранения и вычислений.</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2800" dirty="0">
                <a:latin typeface="CMMI10" pitchFamily="34" charset="2"/>
              </a:rPr>
              <a:t>K</a:t>
            </a:r>
            <a:r>
              <a:rPr lang="ru" sz="2800" dirty="0"/>
              <a:t>-ближайших соседей для классификации (1)</a:t>
            </a:r>
            <a:endParaRPr lang="en-GB" sz="2800" dirty="0"/>
          </a:p>
        </p:txBody>
      </p:sp>
      <p:sp>
        <p:nvSpPr>
          <p:cNvPr id="6" name="Content Placeholder 5"/>
          <p:cNvSpPr>
            <a:spLocks noGrp="1"/>
          </p:cNvSpPr>
          <p:nvPr>
            <p:ph idx="1"/>
          </p:nvPr>
        </p:nvSpPr>
        <p:spPr/>
        <p:txBody>
          <a:bodyPr>
            <a:normAutofit/>
          </a:bodyPr>
          <a:lstStyle/>
          <a:p>
            <a:r>
              <a:rPr lang="ru" sz="2800" dirty="0"/>
              <a:t>Учитывая набор данных с </a:t>
            </a:r>
            <a:r>
              <a:rPr lang="ru" sz="2800" dirty="0">
                <a:latin typeface="CMMI10" pitchFamily="34" charset="2"/>
              </a:rPr>
              <a:t>N </a:t>
            </a:r>
            <a:r>
              <a:rPr lang="ru" sz="2800" baseline="-20000" dirty="0">
                <a:latin typeface="CMMI10" pitchFamily="34" charset="2"/>
              </a:rPr>
              <a:t>k </a:t>
            </a:r>
            <a:r>
              <a:rPr lang="ru" sz="2800" dirty="0"/>
              <a:t>точками данных из класса </a:t>
            </a:r>
            <a:r>
              <a:rPr lang="ru" sz="2800" dirty="0">
                <a:latin typeface="CMSY10" pitchFamily="34" charset="2"/>
              </a:rPr>
              <a:t>C </a:t>
            </a:r>
            <a:r>
              <a:rPr lang="ru" sz="2800" baseline="-20000" dirty="0">
                <a:latin typeface="CMMI10" pitchFamily="34" charset="2"/>
              </a:rPr>
              <a:t>k     </a:t>
            </a:r>
            <a:r>
              <a:rPr lang="ru" sz="2800" dirty="0"/>
              <a:t>и                          , мы имеем</a:t>
            </a:r>
          </a:p>
          <a:p>
            <a:endParaRPr lang="en-GB" sz="2800" dirty="0"/>
          </a:p>
          <a:p>
            <a:pPr>
              <a:spcBef>
                <a:spcPts val="2100"/>
              </a:spcBef>
            </a:pPr>
            <a:r>
              <a:rPr lang="ru" sz="2800" dirty="0"/>
              <a:t>и соответственно</a:t>
            </a:r>
          </a:p>
          <a:p>
            <a:endParaRPr lang="en-GB" sz="2800" dirty="0"/>
          </a:p>
          <a:p>
            <a:pPr>
              <a:spcBef>
                <a:spcPts val="1800"/>
              </a:spcBef>
            </a:pPr>
            <a:r>
              <a:rPr lang="ru" sz="2800" dirty="0"/>
              <a:t>Поскольку                         теорема Байеса дает</a:t>
            </a:r>
            <a:endParaRPr lang="en-GB" sz="2800" dirty="0"/>
          </a:p>
        </p:txBody>
      </p:sp>
      <p:pic>
        <p:nvPicPr>
          <p:cNvPr id="8" name="Picture 7" descr="TP_tmp.png"/>
          <p:cNvPicPr>
            <a:picLocks noChangeAspect="1"/>
          </p:cNvPicPr>
          <p:nvPr>
            <p:custDataLst>
              <p:tags r:id="rId1"/>
            </p:custDataLst>
          </p:nvPr>
        </p:nvPicPr>
        <p:blipFill>
          <a:blip r:embed="rId7">
            <a:clrChange>
              <a:clrFrom>
                <a:srgbClr val="FFFFFF"/>
              </a:clrFrom>
              <a:clrTo>
                <a:srgbClr val="FFFFFF">
                  <a:alpha val="0"/>
                </a:srgbClr>
              </a:clrTo>
            </a:clrChange>
          </a:blip>
          <a:stretch>
            <a:fillRect/>
          </a:stretch>
        </p:blipFill>
        <p:spPr>
          <a:xfrm>
            <a:off x="3357553" y="2107652"/>
            <a:ext cx="1649733" cy="350520"/>
          </a:xfrm>
          <a:prstGeom prst="rect">
            <a:avLst/>
          </a:prstGeom>
          <a:noFill/>
        </p:spPr>
      </p:pic>
      <p:pic>
        <p:nvPicPr>
          <p:cNvPr id="10" name="Picture 9" descr="TP_tmp.png"/>
          <p:cNvPicPr>
            <a:picLocks noChangeAspect="1"/>
          </p:cNvPicPr>
          <p:nvPr>
            <p:custDataLst>
              <p:tags r:id="rId2"/>
            </p:custDataLst>
          </p:nvPr>
        </p:nvPicPr>
        <p:blipFill>
          <a:blip r:embed="rId8">
            <a:clrChange>
              <a:clrFrom>
                <a:srgbClr val="FFFFFF"/>
              </a:clrFrom>
              <a:clrTo>
                <a:srgbClr val="FFFFFF">
                  <a:alpha val="0"/>
                </a:srgbClr>
              </a:clrTo>
            </a:clrChange>
          </a:blip>
          <a:stretch>
            <a:fillRect/>
          </a:stretch>
        </p:blipFill>
        <p:spPr>
          <a:xfrm>
            <a:off x="3820927" y="2651869"/>
            <a:ext cx="1484759" cy="627509"/>
          </a:xfrm>
          <a:prstGeom prst="rect">
            <a:avLst/>
          </a:prstGeom>
          <a:noFill/>
        </p:spPr>
      </p:pic>
      <p:pic>
        <p:nvPicPr>
          <p:cNvPr id="12" name="Picture 11" descr="TP_tmp.png"/>
          <p:cNvPicPr>
            <a:picLocks noChangeAspect="1"/>
          </p:cNvPicPr>
          <p:nvPr>
            <p:custDataLst>
              <p:tags r:id="rId3"/>
            </p:custDataLst>
          </p:nvPr>
        </p:nvPicPr>
        <p:blipFill>
          <a:blip r:embed="rId9">
            <a:clrChange>
              <a:clrFrom>
                <a:srgbClr val="FFFFFF"/>
              </a:clrFrom>
              <a:clrTo>
                <a:srgbClr val="FFFFFF">
                  <a:alpha val="0"/>
                </a:srgbClr>
              </a:clrTo>
            </a:clrChange>
          </a:blip>
          <a:stretch>
            <a:fillRect/>
          </a:stretch>
        </p:blipFill>
        <p:spPr>
          <a:xfrm>
            <a:off x="3534605" y="3714752"/>
            <a:ext cx="2057405" cy="658370"/>
          </a:xfrm>
          <a:prstGeom prst="rect">
            <a:avLst/>
          </a:prstGeom>
          <a:noFill/>
        </p:spPr>
      </p:pic>
      <p:pic>
        <p:nvPicPr>
          <p:cNvPr id="14" name="Picture 13" descr="TP_tmp.png"/>
          <p:cNvPicPr>
            <a:picLocks noChangeAspect="1"/>
          </p:cNvPicPr>
          <p:nvPr>
            <p:custDataLst>
              <p:tags r:id="rId4"/>
            </p:custDataLst>
          </p:nvPr>
        </p:nvPicPr>
        <p:blipFill>
          <a:blip r:embed="rId10">
            <a:clrChange>
              <a:clrFrom>
                <a:srgbClr val="FFFFFF"/>
              </a:clrFrom>
              <a:clrTo>
                <a:srgbClr val="FFFFFF">
                  <a:alpha val="0"/>
                </a:srgbClr>
              </a:clrTo>
            </a:clrChange>
          </a:blip>
          <a:stretch>
            <a:fillRect/>
          </a:stretch>
        </p:blipFill>
        <p:spPr>
          <a:xfrm>
            <a:off x="2382190" y="4558132"/>
            <a:ext cx="1800230" cy="315468"/>
          </a:xfrm>
          <a:prstGeom prst="rect">
            <a:avLst/>
          </a:prstGeom>
          <a:noFill/>
        </p:spPr>
      </p:pic>
      <p:pic>
        <p:nvPicPr>
          <p:cNvPr id="16" name="Picture 15" descr="TP_tmp.png"/>
          <p:cNvPicPr>
            <a:picLocks noChangeAspect="1"/>
          </p:cNvPicPr>
          <p:nvPr>
            <p:custDataLst>
              <p:tags r:id="rId5"/>
            </p:custDataLst>
          </p:nvPr>
        </p:nvPicPr>
        <p:blipFill>
          <a:blip r:embed="rId11">
            <a:clrChange>
              <a:clrFrom>
                <a:srgbClr val="FFFFFF"/>
              </a:clrFrom>
              <a:clrTo>
                <a:srgbClr val="FFFFFF">
                  <a:alpha val="0"/>
                </a:srgbClr>
              </a:clrTo>
            </a:clrChange>
          </a:blip>
          <a:stretch>
            <a:fillRect/>
          </a:stretch>
        </p:blipFill>
        <p:spPr>
          <a:xfrm>
            <a:off x="2826733" y="5446321"/>
            <a:ext cx="3830200" cy="713234"/>
          </a:xfrm>
          <a:prstGeom prst="rect">
            <a:avLst/>
          </a:prstGeom>
          <a:noFill/>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3200" dirty="0">
                <a:latin typeface="CMMI10" pitchFamily="34" charset="2"/>
              </a:rPr>
              <a:t>K</a:t>
            </a:r>
            <a:r>
              <a:rPr lang="ru" sz="3200" dirty="0"/>
              <a:t>-ближайших соседей для классификации (2)</a:t>
            </a:r>
            <a:endParaRPr lang="en-GB" sz="3200" dirty="0"/>
          </a:p>
        </p:txBody>
      </p:sp>
      <p:pic>
        <p:nvPicPr>
          <p:cNvPr id="9" name="Content Placeholder 8" descr="Figure2.27a.jpg"/>
          <p:cNvPicPr>
            <a:picLocks noGrp="1" noChangeAspect="1"/>
          </p:cNvPicPr>
          <p:nvPr>
            <p:ph idx="1"/>
          </p:nvPr>
        </p:nvPicPr>
        <p:blipFill>
          <a:blip r:embed="rId2"/>
          <a:srcRect b="7435"/>
          <a:stretch>
            <a:fillRect/>
          </a:stretch>
        </p:blipFill>
        <p:spPr>
          <a:xfrm>
            <a:off x="700086" y="1980362"/>
            <a:ext cx="3657600" cy="3571900"/>
          </a:xfrm>
        </p:spPr>
      </p:pic>
      <p:grpSp>
        <p:nvGrpSpPr>
          <p:cNvPr id="15" name="Group 14"/>
          <p:cNvGrpSpPr/>
          <p:nvPr/>
        </p:nvGrpSpPr>
        <p:grpSpPr>
          <a:xfrm>
            <a:off x="4857752" y="1980362"/>
            <a:ext cx="3657600" cy="3736857"/>
            <a:chOff x="4895050" y="1980362"/>
            <a:chExt cx="3657600" cy="3736857"/>
          </a:xfrm>
        </p:grpSpPr>
        <p:pic>
          <p:nvPicPr>
            <p:cNvPr id="11" name="Picture 10" descr="Figure2.27b.jpg"/>
            <p:cNvPicPr>
              <a:picLocks noChangeAspect="1"/>
            </p:cNvPicPr>
            <p:nvPr/>
          </p:nvPicPr>
          <p:blipFill>
            <a:blip r:embed="rId3"/>
            <a:srcRect b="7434"/>
            <a:stretch>
              <a:fillRect/>
            </a:stretch>
          </p:blipFill>
          <p:spPr>
            <a:xfrm>
              <a:off x="4895050" y="1980362"/>
              <a:ext cx="3657600" cy="3571900"/>
            </a:xfrm>
            <a:prstGeom prst="rect">
              <a:avLst/>
            </a:prstGeom>
          </p:spPr>
        </p:pic>
        <p:sp>
          <p:nvSpPr>
            <p:cNvPr id="13" name="TextBox 12"/>
            <p:cNvSpPr txBox="1"/>
            <p:nvPr/>
          </p:nvSpPr>
          <p:spPr>
            <a:xfrm>
              <a:off x="6306390" y="5347887"/>
              <a:ext cx="11430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К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 1</a:t>
              </a:r>
              <a:endParaRPr kumimoji="0" lang="en-GB" sz="1800" b="0" i="0" u="none" strike="noStrike" kern="1200" cap="none" spc="0" normalizeH="0" baseline="0" noProof="0" dirty="0">
                <a:ln>
                  <a:noFill/>
                </a:ln>
                <a:solidFill>
                  <a:prstClr val="black"/>
                </a:solidFill>
                <a:effectLst/>
                <a:uLnTx/>
                <a:uFillTx/>
                <a:latin typeface="CMR12" pitchFamily="34" charset="2"/>
                <a:ea typeface="+mn-ea"/>
                <a:cs typeface="+mn-cs"/>
              </a:endParaRPr>
            </a:p>
          </p:txBody>
        </p:sp>
      </p:grpSp>
      <p:sp>
        <p:nvSpPr>
          <p:cNvPr id="17" name="TextBox 16"/>
          <p:cNvSpPr txBox="1"/>
          <p:nvPr/>
        </p:nvSpPr>
        <p:spPr>
          <a:xfrm>
            <a:off x="2108968" y="5365562"/>
            <a:ext cx="1143008" cy="3693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 sz="1800" b="0" i="0" u="none" strike="noStrike" kern="1200" cap="none" spc="0" normalizeH="0" baseline="0" noProof="0" dirty="0">
                <a:ln>
                  <a:noFill/>
                </a:ln>
                <a:solidFill>
                  <a:prstClr val="black"/>
                </a:solidFill>
                <a:effectLst/>
                <a:uLnTx/>
                <a:uFillTx/>
                <a:latin typeface="CMMI10" pitchFamily="34" charset="2"/>
                <a:ea typeface="+mn-ea"/>
                <a:cs typeface="+mn-cs"/>
              </a:rPr>
              <a:t>К </a:t>
            </a:r>
            <a:r>
              <a:rPr kumimoji="0" lang="ru" sz="1800" b="0" i="0" u="none" strike="noStrike" kern="1200" cap="none" spc="0" normalizeH="0" baseline="0" noProof="0" dirty="0">
                <a:ln>
                  <a:noFill/>
                </a:ln>
                <a:solidFill>
                  <a:prstClr val="black"/>
                </a:solidFill>
                <a:effectLst/>
                <a:uLnTx/>
                <a:uFillTx/>
                <a:latin typeface="CMR12" pitchFamily="34" charset="2"/>
                <a:ea typeface="+mn-ea"/>
                <a:cs typeface="+mn-cs"/>
              </a:rPr>
              <a:t>= 3</a:t>
            </a:r>
            <a:endParaRPr kumimoji="0" lang="en-GB" sz="1800" b="0" i="0" u="none" strike="noStrike" kern="1200" cap="none" spc="0" normalizeH="0" baseline="0" noProof="0" dirty="0">
              <a:ln>
                <a:noFill/>
              </a:ln>
              <a:solidFill>
                <a:prstClr val="black"/>
              </a:solidFill>
              <a:effectLst/>
              <a:uLnTx/>
              <a:uFillTx/>
              <a:latin typeface="CMR12" pitchFamily="34" charset="2"/>
              <a:ea typeface="+mn-ea"/>
              <a:cs typeface="+mn-cs"/>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Autofit/>
          </a:bodyPr>
          <a:lstStyle/>
          <a:p>
            <a:r>
              <a:rPr lang="ru" sz="3200" dirty="0">
                <a:latin typeface="CMMI10" pitchFamily="34" charset="2"/>
              </a:rPr>
              <a:t>K</a:t>
            </a:r>
            <a:r>
              <a:rPr lang="ru" sz="3200" dirty="0"/>
              <a:t>-ближайших соседей для классификации (3)</a:t>
            </a:r>
            <a:endParaRPr lang="en-GB" sz="3200" dirty="0"/>
          </a:p>
        </p:txBody>
      </p:sp>
      <p:pic>
        <p:nvPicPr>
          <p:cNvPr id="10" name="Content Placeholder 9" descr="Figure2.28a.jpg"/>
          <p:cNvPicPr>
            <a:picLocks noGrp="1" noChangeAspect="1"/>
          </p:cNvPicPr>
          <p:nvPr>
            <p:ph idx="1"/>
          </p:nvPr>
        </p:nvPicPr>
        <p:blipFill>
          <a:blip r:embed="rId3"/>
          <a:stretch>
            <a:fillRect/>
          </a:stretch>
        </p:blipFill>
        <p:spPr>
          <a:xfrm>
            <a:off x="428596" y="1428736"/>
            <a:ext cx="2706624" cy="3255264"/>
          </a:xfrm>
        </p:spPr>
      </p:pic>
      <p:pic>
        <p:nvPicPr>
          <p:cNvPr id="12" name="Content Placeholder 9" descr="Figure2.28a.jpg"/>
          <p:cNvPicPr>
            <a:picLocks noChangeAspect="1"/>
          </p:cNvPicPr>
          <p:nvPr/>
        </p:nvPicPr>
        <p:blipFill>
          <a:blip r:embed="rId4"/>
          <a:stretch>
            <a:fillRect/>
          </a:stretch>
        </p:blipFill>
        <p:spPr>
          <a:xfrm>
            <a:off x="3181077" y="1428736"/>
            <a:ext cx="2706624" cy="3255263"/>
          </a:xfrm>
          <a:prstGeom prst="rect">
            <a:avLst/>
          </a:prstGeom>
        </p:spPr>
      </p:pic>
      <p:pic>
        <p:nvPicPr>
          <p:cNvPr id="14" name="Content Placeholder 9" descr="Figure2.28a.jpg"/>
          <p:cNvPicPr>
            <a:picLocks noChangeAspect="1"/>
          </p:cNvPicPr>
          <p:nvPr/>
        </p:nvPicPr>
        <p:blipFill>
          <a:blip r:embed="rId5"/>
          <a:stretch>
            <a:fillRect/>
          </a:stretch>
        </p:blipFill>
        <p:spPr>
          <a:xfrm>
            <a:off x="5937342" y="1428736"/>
            <a:ext cx="2706624" cy="3255263"/>
          </a:xfrm>
          <a:prstGeom prst="rect">
            <a:avLst/>
          </a:prstGeom>
        </p:spPr>
      </p:pic>
      <p:sp>
        <p:nvSpPr>
          <p:cNvPr id="15" name="TextBox 14"/>
          <p:cNvSpPr txBox="1"/>
          <p:nvPr/>
        </p:nvSpPr>
        <p:spPr>
          <a:xfrm>
            <a:off x="533372" y="5000636"/>
            <a:ext cx="8072494"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tabLst/>
              <a:defRPr/>
            </a:pPr>
            <a:r>
              <a:rPr kumimoji="0" lang="ru" sz="1800" b="0" i="0" u="none" strike="noStrike" kern="1200" cap="none" spc="0" normalizeH="0" baseline="0" noProof="0" dirty="0">
                <a:ln>
                  <a:noFill/>
                </a:ln>
                <a:solidFill>
                  <a:prstClr val="black"/>
                </a:solidFill>
                <a:effectLst/>
                <a:uLnTx/>
                <a:uFillTx/>
                <a:latin typeface="Calibri"/>
                <a:ea typeface="+mn-ea"/>
                <a:cs typeface="+mn-cs"/>
              </a:rPr>
              <a:t>K действует как «сглаживатель»</a:t>
            </a:r>
          </a:p>
          <a:p>
            <a:pPr marL="0" marR="0" lvl="0" indent="0" algn="l" defTabSz="914400" rtl="0" eaLnBrk="1" fontAlgn="auto" latinLnBrk="0" hangingPunct="1">
              <a:lnSpc>
                <a:spcPct val="100000"/>
              </a:lnSpc>
              <a:spcBef>
                <a:spcPts val="0"/>
              </a:spcBef>
              <a:spcAft>
                <a:spcPts val="0"/>
              </a:spcAft>
              <a:buClrTx/>
              <a:buSzTx/>
              <a:tabLst/>
              <a:defRPr/>
            </a:pPr>
            <a:r>
              <a:rPr kumimoji="0" lang="ru" sz="1800" b="0" i="0" u="none" strike="noStrike" kern="1200" cap="none" spc="0" normalizeH="0" baseline="0" noProof="0" dirty="0">
                <a:ln>
                  <a:noFill/>
                </a:ln>
                <a:solidFill>
                  <a:prstClr val="black"/>
                </a:solidFill>
                <a:effectLst/>
                <a:uLnTx/>
                <a:uFillTx/>
                <a:latin typeface="Calibri"/>
                <a:ea typeface="+mn-ea"/>
                <a:cs typeface="+mn-cs"/>
              </a:rPr>
              <a:t>Для                   , частота ошибок классификатора с одним ближайшим соседом никогда не превышает более чем в два раза оптимальную ошибку (полученную из истинных условных распределений классов).</a:t>
            </a:r>
          </a:p>
        </p:txBody>
      </p:sp>
      <p:pic>
        <p:nvPicPr>
          <p:cNvPr id="18" name="Picture 17" descr="TP_tmp.png"/>
          <p:cNvPicPr>
            <a:picLocks noChangeAspect="1"/>
          </p:cNvPicPr>
          <p:nvPr>
            <p:custDataLst>
              <p:tags r:id="rId1"/>
            </p:custDataLst>
          </p:nvPr>
        </p:nvPicPr>
        <p:blipFill>
          <a:blip r:embed="rId6">
            <a:clrChange>
              <a:clrFrom>
                <a:srgbClr val="FFFFFF"/>
              </a:clrFrom>
              <a:clrTo>
                <a:srgbClr val="FFFFFF">
                  <a:alpha val="0"/>
                </a:srgbClr>
              </a:clrTo>
            </a:clrChange>
          </a:blip>
          <a:stretch>
            <a:fillRect/>
          </a:stretch>
        </p:blipFill>
        <p:spPr>
          <a:xfrm>
            <a:off x="1092878" y="5353695"/>
            <a:ext cx="778766" cy="178689"/>
          </a:xfrm>
          <a:prstGeom prst="rect">
            <a:avLst/>
          </a:prstGeom>
          <a:noFill/>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3233F23A-13C4-FA4C-97F2-04B3C67C4698}"/>
              </a:ext>
            </a:extLst>
          </p:cNvPr>
          <p:cNvSpPr>
            <a:spLocks noGrp="1"/>
          </p:cNvSpPr>
          <p:nvPr>
            <p:ph type="ctrTitle"/>
          </p:nvPr>
        </p:nvSpPr>
        <p:spPr/>
        <p:txBody>
          <a:bodyPr/>
          <a:lstStyle/>
          <a:p>
            <a:r>
              <a:rPr lang="ru-RU" dirty="0"/>
              <a:t>продолжение см. </a:t>
            </a:r>
            <a:r>
              <a:rPr lang="ru-RU" dirty="0" err="1"/>
              <a:t>M</a:t>
            </a:r>
            <a:r>
              <a:rPr lang="en-US" dirty="0"/>
              <a:t>L2</a:t>
            </a:r>
            <a:endParaRPr lang="ru-RU" dirty="0"/>
          </a:p>
        </p:txBody>
      </p:sp>
    </p:spTree>
    <p:extLst>
      <p:ext uri="{BB962C8B-B14F-4D97-AF65-F5344CB8AC3E}">
        <p14:creationId xmlns:p14="http://schemas.microsoft.com/office/powerpoint/2010/main" val="120080260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0B69A02-5B0D-9B4E-9375-F9041AECC725}"/>
              </a:ext>
            </a:extLst>
          </p:cNvPr>
          <p:cNvSpPr>
            <a:spLocks noGrp="1"/>
          </p:cNvSpPr>
          <p:nvPr>
            <p:ph type="title"/>
          </p:nvPr>
        </p:nvSpPr>
        <p:spPr>
          <a:xfrm>
            <a:off x="1150938" y="694382"/>
            <a:ext cx="4846865" cy="994172"/>
          </a:xfrm>
        </p:spPr>
        <p:txBody>
          <a:bodyPr/>
          <a:lstStyle/>
          <a:p>
            <a:r>
              <a:rPr lang="ru-RU" dirty="0">
                <a:solidFill>
                  <a:srgbClr val="00B0F0"/>
                </a:solidFill>
                <a:latin typeface="+mn-lt"/>
              </a:rPr>
              <a:t>Итоги</a:t>
            </a:r>
          </a:p>
        </p:txBody>
      </p:sp>
      <p:sp>
        <p:nvSpPr>
          <p:cNvPr id="3" name="Объект 2">
            <a:extLst>
              <a:ext uri="{FF2B5EF4-FFF2-40B4-BE49-F238E27FC236}">
                <a16:creationId xmlns:a16="http://schemas.microsoft.com/office/drawing/2014/main" id="{86A314CF-661C-8C4B-9228-8806331B1AB3}"/>
              </a:ext>
            </a:extLst>
          </p:cNvPr>
          <p:cNvSpPr>
            <a:spLocks noGrp="1"/>
          </p:cNvSpPr>
          <p:nvPr>
            <p:ph idx="1"/>
          </p:nvPr>
        </p:nvSpPr>
        <p:spPr>
          <a:xfrm>
            <a:off x="1150938" y="1688554"/>
            <a:ext cx="7486286" cy="4475064"/>
          </a:xfrm>
        </p:spPr>
        <p:txBody>
          <a:bodyPr>
            <a:normAutofit fontScale="92500"/>
          </a:bodyPr>
          <a:lstStyle/>
          <a:p>
            <a:r>
              <a:rPr lang="ru-RU" sz="2800" dirty="0"/>
              <a:t>Определите цели</a:t>
            </a:r>
          </a:p>
          <a:p>
            <a:r>
              <a:rPr lang="ru-RU" sz="2800" dirty="0"/>
              <a:t>Измеряйте свое приближение к целям</a:t>
            </a:r>
          </a:p>
          <a:p>
            <a:r>
              <a:rPr lang="ru-RU" sz="2800" dirty="0"/>
              <a:t>Ведите разведочный анализ, готовьте данные</a:t>
            </a:r>
          </a:p>
          <a:p>
            <a:r>
              <a:rPr lang="ru-RU" sz="2800" dirty="0"/>
              <a:t>Выбирайте модели</a:t>
            </a:r>
          </a:p>
          <a:p>
            <a:r>
              <a:rPr lang="ru-RU" sz="2800" dirty="0"/>
              <a:t>Обучайте модели</a:t>
            </a:r>
          </a:p>
          <a:p>
            <a:r>
              <a:rPr lang="ru-RU" sz="2800" dirty="0"/>
              <a:t>Рассчитывайте метрики</a:t>
            </a:r>
          </a:p>
          <a:p>
            <a:r>
              <a:rPr lang="ru-RU" sz="2800" dirty="0"/>
              <a:t>Внедряйте хорошие модели в бизнес-процессы</a:t>
            </a:r>
          </a:p>
          <a:p>
            <a:r>
              <a:rPr lang="ru-RU" sz="2800" dirty="0"/>
              <a:t>Постоянно повышайте качество</a:t>
            </a:r>
          </a:p>
          <a:p>
            <a:endParaRPr lang="ru-RU" sz="2800" dirty="0"/>
          </a:p>
          <a:p>
            <a:pPr marL="0" indent="0">
              <a:buNone/>
            </a:pPr>
            <a:endParaRPr lang="ru-RU" sz="2800" dirty="0"/>
          </a:p>
        </p:txBody>
      </p:sp>
    </p:spTree>
    <p:extLst>
      <p:ext uri="{BB962C8B-B14F-4D97-AF65-F5344CB8AC3E}">
        <p14:creationId xmlns:p14="http://schemas.microsoft.com/office/powerpoint/2010/main" val="236517659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p:cNvSpPr txBox="1">
            <a:spLocks/>
          </p:cNvSpPr>
          <p:nvPr/>
        </p:nvSpPr>
        <p:spPr>
          <a:xfrm>
            <a:off x="685800" y="3863181"/>
            <a:ext cx="7772400" cy="1470025"/>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ru-RU"/>
              <a:t>Спасибо за внимание!</a:t>
            </a:r>
            <a:endParaRPr lang="ru-RU" dirty="0"/>
          </a:p>
        </p:txBody>
      </p:sp>
    </p:spTree>
    <p:extLst>
      <p:ext uri="{BB962C8B-B14F-4D97-AF65-F5344CB8AC3E}">
        <p14:creationId xmlns:p14="http://schemas.microsoft.com/office/powerpoint/2010/main" val="1477451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l|rrrr}&#10;&amp; $M = 0$ &amp; $M = 1$ &amp; $M = 3$ &amp; $M = 9$ \\ \hline &#10;$w_{ 0}^{\star}$ &amp;        0.19  &amp;       0.82  &amp;       0.31  &amp;       0.35 \\&#10;$w_{ 1}^{\star}$ &amp;    &amp;      -1.27  &amp;       7.99  &amp;     232.37 \\&#10;$w_{ 2}^{\star}$ &amp;    &amp;   &amp;     -25.43  &amp;   -5321.83 \\&#10;$w_{ 3}^{\star}$ &amp;    &amp;   &amp;      17.37  &amp;   48568.31 \\&#10;$w_{ 4}^{\star}$ &amp;    &amp;   &amp;   &amp; -231639.30 \\&#10;$w_{ 5}^{\star}$ &amp;    &amp;   &amp;   &amp;  640042.26 \\&#10;$w_{ 6}^{\star}$ &amp;    &amp;   &amp;   &amp; -1061800.52 \\&#10;$w_{ 7}^{\star}$ &amp;    &amp;   &amp;   &amp; 1042400.18 \\&#10;$w_{ 8}^{\star}$ &amp;    &amp;   &amp;   &amp; -557682.99 \\&#10;$w_{ 9}^{\star}$ &amp;    &amp;   &amp;   &amp;  125201.43 \\&#10;\end{tabular}&#10;\end{document}&#10;"/>
  <p:tag name="FILENAME" val="TP_tmp"/>
  <p:tag name="FORMAT" val="png256"/>
  <p:tag name="RES" val="600"/>
  <p:tag name="BLEND" val="0"/>
  <p:tag name="TRANSPARENT" val="1"/>
  <p:tag name="TBUG" val="0"/>
  <p:tag name="ALLOWFS" val="0"/>
  <p:tag name="ORIGWIDTH" val="211"/>
  <p:tag name="PICTUREFILESIZE" val="27517"/>
</p:tagLst>
</file>

<file path=ppt/tags/tag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u_{\rm ML}&#10;\]&#10;\end{document}&#10;"/>
  <p:tag name="FILENAME" val="TP_tmp"/>
  <p:tag name="FORMAT" val="png256"/>
  <p:tag name="RES" val="600"/>
  <p:tag name="BLEND" val="0"/>
  <p:tag name="TRANSPARENT" val="1"/>
  <p:tag name="TBUG" val="0"/>
  <p:tag name="ALLOWFS" val="0"/>
  <p:tag name="ORIGWIDTH" val="19"/>
  <p:tag name="PICTUREFILESIZE" val="1338"/>
</p:tagLst>
</file>

<file path=ppt/tags/tag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sigma^{2}_{\rm ML}&#10;\]&#10;\end{document}&#10;"/>
  <p:tag name="FILENAME" val="TP_tmp"/>
  <p:tag name="FORMAT" val="png256"/>
  <p:tag name="RES" val="600"/>
  <p:tag name="BLEND" val="0"/>
  <p:tag name="TRANSPARENT" val="1"/>
  <p:tag name="TBUG" val="0"/>
  <p:tag name="ALLOWFS" val="0"/>
  <p:tag name="ORIGWIDTH" val="19"/>
  <p:tag name="PICTUREFILESIZE" val="1501"/>
</p:tagLst>
</file>

<file path=ppt/tags/tag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 \muml ] = \mu&#10;\]&#10;\end{document}&#10;"/>
  <p:tag name="FILENAME" val="TP_tmp"/>
  <p:tag name="FORMAT" val="png256"/>
  <p:tag name="RES" val="600"/>
  <p:tag name="BLEND" val="0"/>
  <p:tag name="TRANSPARENT" val="1"/>
  <p:tag name="TBUG" val="0"/>
  <p:tag name="ALLOWFS" val="0"/>
  <p:tag name="ORIGWIDTH" val="51"/>
  <p:tag name="PICTUREFILESIZE" val="2011"/>
</p:tagLst>
</file>

<file path=ppt/tags/tag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 \sigml^2 ] = \left( \frac{N-1}{N} \right)&#10;  \sigma^2&#10;\]&#10;\end{document}&#10;"/>
  <p:tag name="FILENAME" val="TP_tmp"/>
  <p:tag name="FORMAT" val="png256"/>
  <p:tag name="RES" val="600"/>
  <p:tag name="BLEND" val="0"/>
  <p:tag name="TRANSPARENT" val="1"/>
  <p:tag name="TBUG" val="0"/>
  <p:tag name="ALLOWFS" val="0"/>
  <p:tag name="ORIGWIDTH" val="99"/>
  <p:tag name="PICTUREFILESIZE" val="4302"/>
</p:tagLst>
</file>

<file path=ppt/tags/tag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widetilde{\sigma}^2 &amp; = &amp; \frac{N}{N-1} \sigml^2 \\&#10;    &amp; = &amp; \frac{1}{N-1} \sum_{n=1}^N (x_n - \muml)^2&#10;\end{eqnarray*}&#10;\end{document}&#10;"/>
  <p:tag name="FILENAME" val="TP_tmp"/>
  <p:tag name="FORMAT" val="png256"/>
  <p:tag name="RES" val="600"/>
  <p:tag name="BLEND" val="0"/>
  <p:tag name="TRANSPARENT" val="1"/>
  <p:tag name="TBUG" val="0"/>
  <p:tag name="ALLOWFS" val="0"/>
  <p:tag name="ORIGWIDTH" val="137"/>
  <p:tag name="PICTUREFILESIZE" val="7378"/>
</p:tagLst>
</file>

<file path=ppt/tags/tag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t)&#10;\]&#10;\end{document}&#10;"/>
  <p:tag name="FILENAME" val="TP_tmp"/>
  <p:tag name="FORMAT" val="png256"/>
  <p:tag name="RES" val="600"/>
  <p:tag name="BLEND" val="0"/>
  <p:tag name="TRANSPARENT" val="1"/>
  <p:tag name="TBUG" val="0"/>
  <p:tag name="ALLOWFS" val="0"/>
  <p:tag name="ORIGWIDTH" val="28"/>
  <p:tag name="PICTUREFILESIZE" val="1734"/>
</p:tagLst>
</file>

<file path=ppt/tags/tag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t|\bfx)&#10;\]&#10;\end{document}&#10;"/>
  <p:tag name="FILENAME" val="TP_tmp"/>
  <p:tag name="FORMAT" val="png256"/>
  <p:tag name="RES" val="600"/>
  <p:tag name="BLEND" val="0"/>
  <p:tag name="TRANSPARENT" val="1"/>
  <p:tag name="TBUG" val="0"/>
  <p:tag name="ALLOWFS" val="0"/>
  <p:tag name="ORIGWIDTH" val="26"/>
  <p:tag name="PICTUREFILESIZE" val="1767"/>
</p:tagLst>
</file>

<file path=ppt/tags/tag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rm mistake}) &amp;=&amp; p(\bfx \in {\cal R}_1, {\cal C}_2)&#10;  + p(\bfx \in {\cal R}_2, {\cal C}_1) \\&#10;  &amp;=&amp; \int_{{\cal R}_1} p(\bfx, {\cal C}_2) \diff{\bfx} +&#10;  \int_{{\cal R}_2} p(\bfx, {\cal C}_1) \diff{\bfx}.&#10;\end{eqnarray*}&#10;\end{document}&#10;"/>
  <p:tag name="FILENAME" val="TP_tmp"/>
  <p:tag name="FORMAT" val="png256"/>
  <p:tag name="RES" val="600"/>
  <p:tag name="BLEND" val="0"/>
  <p:tag name="TRANSPARENT" val="1"/>
  <p:tag name="TBUG" val="0"/>
  <p:tag name="ALLOWFS" val="0"/>
  <p:tag name="ORIGWIDTH" val="218"/>
  <p:tag name="PICTUREFILESIZE" val="10077"/>
</p:tagLst>
</file>

<file path=ppt/tags/tag1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rdermatrix{%&#10;&amp;\mbox{cancer}&amp;\mbox{normal}\cr%&#10;\mbox{cancer}&amp;0&amp;1000\cr \mbox{normal}&amp;1&amp;0\cr%&#10;}%&#10;\]&#10;\end{document}&#10;"/>
  <p:tag name="FILENAME" val="TP_tmp"/>
  <p:tag name="FORMAT" val="png256"/>
  <p:tag name="RES" val="600"/>
  <p:tag name="BLEND" val="0"/>
  <p:tag name="TRANSPARENT" val="1"/>
  <p:tag name="TBUG" val="0"/>
  <p:tag name="ALLOWFS" val="0"/>
  <p:tag name="ORIGWIDTH" val="119"/>
  <p:tag name="PICTUREFILESIZE" val="5528"/>
</p:tagLst>
</file>

<file path=ppt/tags/tag1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L] = \sum_k \sum_j \int_{{\cal R}_j} L_{kj}&#10;    p(\bfx, {\cal C}_k) \diff{\bfx}&#10;\]&#10;\end{document}&#10;"/>
  <p:tag name="FILENAME" val="TP_tmp"/>
  <p:tag name="FORMAT" val="png256"/>
  <p:tag name="RES" val="600"/>
  <p:tag name="BLEND" val="0"/>
  <p:tag name="TRANSPARENT" val="1"/>
  <p:tag name="TBUG" val="0"/>
  <p:tag name="ALLOWFS" val="0"/>
  <p:tag name="ORIGWIDTH" val="145"/>
  <p:tag name="PICTUREFILESIZE" val="5976"/>
</p:tagLst>
</file>

<file path=ppt/tags/tag1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L] = \sum_k L_{kj}&#10;    p({\cal C}_k| \bfx)&#10;\]&#10;\end{document}&#10;"/>
  <p:tag name="FILENAME" val="TP_tmp"/>
  <p:tag name="FORMAT" val="png256"/>
  <p:tag name="RES" val="600"/>
  <p:tag name="BLEND" val="0"/>
  <p:tag name="TRANSPARENT" val="1"/>
  <p:tag name="TBUG" val="0"/>
  <p:tag name="ALLOWFS" val="0"/>
  <p:tag name="ORIGWIDTH" val="95"/>
  <p:tag name="PICTUREFILESIZE" val="3909"/>
</p:tagLst>
</file>

<file path=ppt/tags/tag1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cal R}_{j}&#10;\]&#10;\end{document}&#10;"/>
  <p:tag name="FILENAME" val="TP_tmp"/>
  <p:tag name="FORMAT" val="png256"/>
  <p:tag name="RES" val="600"/>
  <p:tag name="BLEND" val="0"/>
  <p:tag name="TRANSPARENT" val="1"/>
  <p:tag name="TBUG" val="0"/>
  <p:tag name="ALLOWFS" val="0"/>
  <p:tag name="ORIGWIDTH" val="12"/>
  <p:tag name="PICTUREFILESIZE" val="1303"/>
</p:tagLst>
</file>

<file path=ppt/tags/tag1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t)&#10;\]&#10;\end{document}&#10;"/>
  <p:tag name="FILENAME" val="TP_tmp"/>
  <p:tag name="FORMAT" val="png256"/>
  <p:tag name="RES" val="600"/>
  <p:tag name="BLEND" val="0"/>
  <p:tag name="TRANSPARENT" val="1"/>
  <p:tag name="TBUG" val="0"/>
  <p:tag name="ALLOWFS" val="0"/>
  <p:tag name="ORIGWIDTH" val="28"/>
  <p:tag name="PICTUREFILESIZE" val="1734"/>
</p:tagLst>
</file>

<file path=ppt/tags/tag1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 L ] = \iint L(t, y(\bfx))&#10;   p(\bfx, t) \diff{\bfx} \diff{t}&#10;\]&#10;\end{document}&#10;"/>
  <p:tag name="FILENAME" val="TP_tmp"/>
  <p:tag name="FORMAT" val="png256"/>
  <p:tag name="RES" val="600"/>
  <p:tag name="BLEND" val="0"/>
  <p:tag name="TRANSPARENT" val="1"/>
  <p:tag name="TBUG" val="0"/>
  <p:tag name="ALLOWFS" val="0"/>
  <p:tag name="ORIGWIDTH" val="143"/>
  <p:tag name="PICTUREFILESIZE" val="5332"/>
</p:tagLst>
</file>

<file path=ppt/tags/tag1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 L ] = \iint \{ y(\bfx) - t \}^2&#10;   p(\bfx, t) \diff{\bfx} \diff{t}&#10;\]&#10;\end{document}&#10;"/>
  <p:tag name="FILENAME" val="TP_tmp"/>
  <p:tag name="FORMAT" val="png256"/>
  <p:tag name="RES" val="600"/>
  <p:tag name="BLEND" val="0"/>
  <p:tag name="TRANSPARENT" val="1"/>
  <p:tag name="TBUG" val="0"/>
  <p:tag name="ALLOWFS" val="0"/>
  <p:tag name="ORIGWIDTH" val="149"/>
  <p:tag name="PICTUREFILESIZE" val="5448"/>
</p:tagLst>
</file>

<file path=ppt/tags/tag1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lefteqn{ \{y(\bfx) - t\}^2 = \{y(\bfx) - \expect[t|\bfx] +&#10;  \expect[t|\bfx] - t\}^2 }  \\&#10;  &amp;=&amp; \{y(\bfx) - \expect[t|\bfx]\}^2&#10;  + 2 \{y(\bfx) - \expect[t|\bfx] \} \{ \expect[t|\bfx] - t\}&#10;  + \{ \expect[t|\bfx] - t\}^2 &#10;\end{eqnarray*}&#10;\end{document}&#10;"/>
  <p:tag name="FILENAME" val="TP_tmp"/>
  <p:tag name="FORMAT" val="png256"/>
  <p:tag name="RES" val="600"/>
  <p:tag name="BLEND" val="0"/>
  <p:tag name="TRANSPARENT" val="1"/>
  <p:tag name="TBUG" val="0"/>
  <p:tag name="ALLOWFS" val="0"/>
  <p:tag name="ORIGWIDTH" val="297"/>
  <p:tag name="PICTUREFILESIZE" val="9943"/>
</p:tagLst>
</file>

<file path=ppt/tags/tag1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L] = \int \left\{y(\bfx) - \expect[t|\bfx]&#10;  \right\}^2 p(\bfx) \diff{\bfx} + \int \var\left[t|\bfx\right]&#10;  p(\bfx) \diff{\bfx}&#10;\]&#10;\end{document}&#10;"/>
  <p:tag name="FILENAME" val="TP_tmp"/>
  <p:tag name="FORMAT" val="png256"/>
  <p:tag name="RES" val="600"/>
  <p:tag name="BLEND" val="0"/>
  <p:tag name="TRANSPARENT" val="1"/>
  <p:tag name="TBUG" val="0"/>
  <p:tag name="ALLOWFS" val="0"/>
  <p:tag name="ORIGWIDTH" val="239"/>
  <p:tag name="PICTUREFILESIZE" val="7461"/>
</p:tagLst>
</file>

<file path=ppt/tags/tag1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y(\bfx) = \expect[t|\bfx]&#10;\]&#10;\end{document}&#10;"/>
  <p:tag name="FILENAME" val="TP_tmp"/>
  <p:tag name="FORMAT" val="png256"/>
  <p:tag name="RES" val="600"/>
  <p:tag name="BLEND" val="0"/>
  <p:tag name="TRANSPARENT" val="1"/>
  <p:tag name="TBUG" val="0"/>
  <p:tag name="ALLOWFS" val="0"/>
  <p:tag name="ORIGWIDTH" val="56"/>
  <p:tag name="PICTUREFILESIZE" val="2318"/>
</p:tagLst>
</file>

<file path=ppt/tags/tag2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x] = - 8 \times \frac{1}{8} \log_2 \frac{1}{8} = 3~{\rm bits}.&#10;\]&#10;\end{document}&#10;"/>
  <p:tag name="FILENAME" val="TP_tmp"/>
  <p:tag name="FORMAT" val="png256"/>
  <p:tag name="RES" val="600"/>
  <p:tag name="BLEND" val="0"/>
  <p:tag name="TRANSPARENT" val="1"/>
  <p:tag name="TBUG" val="0"/>
  <p:tag name="ALLOWFS" val="0"/>
  <p:tag name="ORIGWIDTH" val="133"/>
  <p:tag name="PICTUREFILESIZE" val="4384"/>
</p:tagLst>
</file>

<file path=ppt/tags/tag2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r|cccccccc}&#10;$x$  &amp; a &amp; b &amp; c &amp; d &amp; e &amp; f &amp; g &amp; h \\ \hline&#10;$p(x)$ &amp; \rule{0mm}{4mm} $\frac{1}{2}$ &amp; $\frac{1}{4}$ &amp; $\frac{1}{8}$ &amp; $\frac{1}{16}$ &amp; $\frac{1}{64}$ &amp; $\frac{1}{64}$ &amp; $\frac{1}{64}$ &amp; $\frac{1}{64}$  \\&#10;code &amp; \rule{0mm}{4mm} 0 &amp; 10 &amp; 110 &amp; 1110 &amp; 111100 &amp; 111101 &amp; 111110 &amp; 111111&#10;\end{tabular}&#10;\end{document}&#10;"/>
  <p:tag name="FILENAME" val="TP_tmp"/>
  <p:tag name="FORMAT" val="png256"/>
  <p:tag name="RES" val="600"/>
  <p:tag name="BLEND" val="0"/>
  <p:tag name="TRANSPARENT" val="1"/>
  <p:tag name="TBUG" val="0"/>
  <p:tag name="ALLOWFS" val="0"/>
  <p:tag name="ORIGWIDTH" val="303"/>
  <p:tag name="PICTUREFILESIZE" val="11129"/>
</p:tagLst>
</file>

<file path=ppt/tags/tag2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entrop[x] &amp; = &amp; - \frac{1}{2} \log_2 \frac{1}{2}&#10;    - \frac{1}{4} \log_2 \frac{1}{4}&#10;    - \frac{1}{8} \log_2 \frac{1}{8}&#10;    - \frac{1}{16} \log_2 \frac{1}{16}&#10;    - \frac{4}{64} \log_2 \frac{1}{64} \\&#10;   &amp;  = &amp; 2~{\rm bits}&#10;\end{eqnarray*}&#10;\end{document}&#10;"/>
  <p:tag name="FILENAME" val="TP_tmp"/>
  <p:tag name="FORMAT" val="png256"/>
  <p:tag name="RES" val="600"/>
  <p:tag name="BLEND" val="0"/>
  <p:tag name="TRANSPARENT" val="1"/>
  <p:tag name="TBUG" val="0"/>
  <p:tag name="ALLOWFS" val="0"/>
  <p:tag name="ORIGWIDTH" val="299"/>
  <p:tag name="PICTUREFILESIZE" val="8881"/>
</p:tagLst>
</file>

<file path=ppt/tags/tag2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average~code~length} &amp; = &amp; \frac{1}{2} \times 1 +&#10;    \frac{1}{4} \times 2 + \frac{1}{8} \times 3 +&#10;    \frac{1}{16}  \times4 + 4 \times&#10;    \frac{1}{64}  \times 6 \\&#10; &amp; = &amp; 2~{\rm bits}&#10;\end{eqnarray*}&#10;\end{document}&#10;"/>
  <p:tag name="FILENAME" val="TP_tmp"/>
  <p:tag name="FORMAT" val="png256"/>
  <p:tag name="RES" val="600"/>
  <p:tag name="BLEND" val="0"/>
  <p:tag name="TRANSPARENT" val="1"/>
  <p:tag name="TBUG" val="0"/>
  <p:tag name="ALLOWFS" val="0"/>
  <p:tag name="ORIGWIDTH" val="312"/>
  <p:tag name="PICTUREFILESIZE" val="9682"/>
</p:tagLst>
</file>

<file path=ppt/tags/tag2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W = \frac{N!}{\prod_i n_i!}&#10;\]&#10;\end{document}&#10;"/>
  <p:tag name="FILENAME" val="TP_tmp"/>
  <p:tag name="FORMAT" val="png256"/>
  <p:tag name="RES" val="600"/>
  <p:tag name="BLEND" val="0"/>
  <p:tag name="TRANSPARENT" val="1"/>
  <p:tag name="TBUG" val="0"/>
  <p:tag name="ALLOWFS" val="0"/>
  <p:tag name="ORIGWIDTH" val="53"/>
  <p:tag name="PICTUREFILESIZE" val="2725"/>
</p:tagLst>
</file>

<file path=ppt/tags/tag2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 = \frac{1}{N} \ln W  \simeq  &#10;- \lim_{N \rightarrow \infty} \sum_i&#10;    \left( \frac{n_i}{N} \right) \ln&#10;    \left( \frac{n_i}{N} \right) = - \sum_i p_i \ln p_i&#10;\]&#10;\end{document}&#10;"/>
  <p:tag name="FILENAME" val="TP_tmp"/>
  <p:tag name="FORMAT" val="png256"/>
  <p:tag name="RES" val="600"/>
  <p:tag name="BLEND" val="0"/>
  <p:tag name="TRANSPARENT" val="1"/>
  <p:tag name="TBUG" val="0"/>
  <p:tag name="ALLOWFS" val="0"/>
  <p:tag name="ORIGWIDTH" val="243"/>
  <p:tag name="PICTUREFILESIZE" val="7800"/>
</p:tagLst>
</file>

<file path=ppt/tags/tag2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i: p_{i} = \frac{1}{M}&#10;\]&#10;\end{document}&#10;"/>
  <p:tag name="FILENAME" val="TP_tmp"/>
  <p:tag name="FORMAT" val="png256"/>
  <p:tag name="RES" val="600"/>
  <p:tag name="BLEND" val="0"/>
  <p:tag name="TRANSPARENT" val="1"/>
  <p:tag name="TBUG" val="0"/>
  <p:tag name="ALLOWFS" val="0"/>
  <p:tag name="ORIGWIDTH" val="52"/>
  <p:tag name="PICTUREFILESIZE" val="2386"/>
</p:tagLst>
</file>

<file path=ppt/tags/tag2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im_{\Delta \rightarrow 0} \left\{ - \sum_i p(x_i) \Delta&#10;    \ln p(x_i) \right\} =  - \int p(x) \ln p(x) \diff{x}&#10;\]&#10;\end{document}&#10;"/>
  <p:tag name="FILENAME" val="TP_tmp"/>
  <p:tag name="FORMAT" val="png256"/>
  <p:tag name="RES" val="600"/>
  <p:tag name="BLEND" val="0"/>
  <p:tag name="TRANSPARENT" val="1"/>
  <p:tag name="TBUG" val="0"/>
  <p:tag name="ALLOWFS" val="0"/>
  <p:tag name="ORIGWIDTH" val="221"/>
  <p:tag name="PICTUREFILESIZE" val="7564"/>
</p:tagLst>
</file>

<file path=ppt/tags/tag2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x) = {\cal N}(x|\mu,\sigma^{2})&#10;\]&#10;\end{document}&#10;"/>
  <p:tag name="FILENAME" val="TP_tmp"/>
  <p:tag name="FORMAT" val="png256"/>
  <p:tag name="RES" val="600"/>
  <p:tag name="BLEND" val="0"/>
  <p:tag name="TRANSPARENT" val="1"/>
  <p:tag name="TBUG" val="0"/>
  <p:tag name="ALLOWFS" val="0"/>
  <p:tag name="ORIGWIDTH" val="79"/>
  <p:tag name="PICTUREFILESIZE" val="3030"/>
</p:tagLst>
</file>

<file path=ppt/tags/tag2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ntrop[x] = \frac{1}{2} \left\{1 +  \ln (2 \pi \sigma^2) \right\}.&#10;\]&#10;\end{document}&#10;"/>
  <p:tag name="FILENAME" val="TP_tmp"/>
  <p:tag name="FORMAT" val="png256"/>
  <p:tag name="RES" val="600"/>
  <p:tag name="BLEND" val="0"/>
  <p:tag name="TRANSPARENT" val="1"/>
  <p:tag name="TBUG" val="0"/>
  <p:tag name="ALLOWFS" val="0"/>
  <p:tag name="ORIGWIDTH" val="111"/>
  <p:tag name="PICTUREFILESIZE" val="3653"/>
</p:tagLst>
</file>

<file path=ppt/tags/tag3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sigma^{2}&#10;\]&#10;\end{document}&#10;"/>
  <p:tag name="FILENAME" val="TP_tmp"/>
  <p:tag name="FORMAT" val="png256"/>
  <p:tag name="RES" val="600"/>
  <p:tag name="BLEND" val="0"/>
  <p:tag name="TRANSPARENT" val="1"/>
  <p:tag name="TBUG" val="0"/>
  <p:tag name="ALLOWFS" val="0"/>
  <p:tag name="ORIGWIDTH" val="11"/>
  <p:tag name="PICTUREFILESIZE" val="1200"/>
</p:tagLst>
</file>

<file path=ppt/tags/tag3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KL}(p \| q) &amp;=&amp; - \int p(\bfx) \ln q(\bfx) \diff{\bfx} -&#10;    \left( - \int p(\bfx) \ln p(\bfx) \diff{\bfx} \right) \\&#10;    &amp;=&amp; - \int p(\bfx) \ln \left\{ \frac{q(\bfx)}{p(\bfx)}&#10;    \right\} \diff{\bfx}&#10;\end{eqnarray*}&#10;\end{document}&#10;"/>
  <p:tag name="FILENAME" val="TP_tmp"/>
  <p:tag name="FORMAT" val="png256"/>
  <p:tag name="RES" val="600"/>
  <p:tag name="BLEND" val="0"/>
  <p:tag name="TRANSPARENT" val="1"/>
  <p:tag name="TBUG" val="0"/>
  <p:tag name="ALLOWFS" val="0"/>
  <p:tag name="ORIGWIDTH" val="256"/>
  <p:tag name="PICTUREFILESIZE" val="12914"/>
</p:tagLst>
</file>

<file path=ppt/tags/tag3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simeq \frac{1}{N} \sum_{n=1}^N  &#10;      \left\{- \ln q(\bfx_n | \boldtheta) + \ln&#10;    p(\bfx_n) \right\}&#10;\]&#10;\end{document}&#10;"/>
  <p:tag name="FILENAME" val="TP_tmp"/>
  <p:tag name="FORMAT" val="png256"/>
  <p:tag name="RES" val="600"/>
  <p:tag name="BLEND" val="0"/>
  <p:tag name="TRANSPARENT" val="1"/>
  <p:tag name="TBUG" val="0"/>
  <p:tag name="ALLOWFS" val="0"/>
  <p:tag name="ORIGWIDTH" val="188"/>
  <p:tag name="PICTUREFILESIZE" val="7385"/>
</p:tagLst>
</file>

<file path=ppt/tags/tag3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geqslant 0&#10;\]&#10;\end{document}&#10;"/>
  <p:tag name="FILENAME" val="TP_tmp"/>
  <p:tag name="FORMAT" val="png256"/>
  <p:tag name="RES" val="600"/>
  <p:tag name="BLEND" val="0"/>
  <p:tag name="TRANSPARENT" val="1"/>
  <p:tag name="TBUG" val="0"/>
  <p:tag name="ALLOWFS" val="0"/>
  <p:tag name="ORIGWIDTH" val="55"/>
  <p:tag name="PICTUREFILESIZE" val="2461"/>
</p:tagLst>
</file>

<file path=ppt/tags/tag3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KL}(p \| q)  \not\equiv  {\rm KL}(q \| p) &#10;\]&#10;\end{document}&#10;r"/>
  <p:tag name="FILENAME" val="TP_tmp"/>
  <p:tag name="FORMAT" val="png256"/>
  <p:tag name="RES" val="600"/>
  <p:tag name="BLEND" val="0"/>
  <p:tag name="TRANSPARENT" val="1"/>
  <p:tag name="TBUG" val="0"/>
  <p:tag name="ALLOWFS" val="0"/>
  <p:tag name="ORIGWIDTH" val="86"/>
  <p:tag name="PICTUREFILESIZE" val="3232"/>
</p:tagLst>
</file>

<file path=ppt/tags/tag3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mutual[\bfx, \bfy] &amp;\equiv&amp; {\rm KL}(p(\bfx, \bfy) \| p(\bfx) p(\bfy)) \\&#10;    &amp;=&amp; - \iint p(\bfx, \bfy) \ln \left(&#10;    \frac{p(\bfx) p(\bfy)}{p(\bfx, \bfy)} \right) \diff{\bfx}&#10;    \diff{\bfy}&#10;\end{eqnarray*}&#10;\end{document}&#10;"/>
  <p:tag name="FILENAME" val="TP_tmp"/>
  <p:tag name="FORMAT" val="png256"/>
  <p:tag name="RES" val="600"/>
  <p:tag name="BLEND" val="0"/>
  <p:tag name="TRANSPARENT" val="1"/>
  <p:tag name="TBUG" val="0"/>
  <p:tag name="ALLOWFS" val="0"/>
  <p:tag name="ORIGWIDTH" val="206"/>
  <p:tag name="PICTUREFILESIZE" val="11038"/>
</p:tagLst>
</file>

<file path=ppt/tags/tag3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mutual[\bfx, \bfy] = \entrop[\bfx] - \entrop[\bfx| \bfy] =&#10;    \entrop[\bfy] - \entrop[\bfy|\bfx]&#10;\]&#10;\end{document}&#10;"/>
  <p:tag name="FILENAME" val="TP_tmp"/>
  <p:tag name="FORMAT" val="png256"/>
  <p:tag name="RES" val="600"/>
  <p:tag name="BLEND" val="0"/>
  <p:tag name="TRANSPARENT" val="1"/>
  <p:tag name="TBUG" val="0"/>
  <p:tag name="ALLOWFS" val="0"/>
  <p:tag name="ORIGWIDTH" val="170"/>
  <p:tag name="PICTUREFILESIZE" val="3407"/>
</p:tagLst>
</file>

<file path=ppt/tags/tag3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t|x, \vectx, \vectt) = \int p(t|x, \bfw) p(\bfw| \vectx, \vectt)&#10;  \diff{\bfw} &#10;\]&#10;\end{document}&#10;"/>
  <p:tag name="FILENAME" val="TP_tmp"/>
  <p:tag name="FORMAT" val="png256"/>
  <p:tag name="RES" val="600"/>
  <p:tag name="BLEND" val="0"/>
  <p:tag name="TRANSPARENT" val="1"/>
  <p:tag name="TBUG" val="0"/>
  <p:tag name="ALLOWFS" val="0"/>
  <p:tag name="ORIGWIDTH" val="159"/>
  <p:tag name="PICTUREFILESIZE" val="5609"/>
</p:tagLst>
</file>

<file path=ppt/tags/tag3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boldtheta)&#10;\]&#10;\end{document}&#10;"/>
  <p:tag name="FILENAME" val="TP_tmp"/>
  <p:tag name="FORMAT" val="png256"/>
  <p:tag name="RES" val="600"/>
  <p:tag name="BLEND" val="0"/>
  <p:tag name="TRANSPARENT" val="1"/>
  <p:tag name="TBUG" val="0"/>
  <p:tag name="ALLOWFS" val="0"/>
  <p:tag name="ORIGWIDTH" val="28"/>
  <p:tag name="PICTUREFILESIZE" val="1829"/>
</p:tagLst>
</file>

<file path=ppt/tags/tag3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theta&#10;\]&#10;\end{document}&#10;"/>
  <p:tag name="FILENAME" val="TP_tmp"/>
  <p:tag name="FORMAT" val="png256"/>
  <p:tag name="RES" val="600"/>
  <p:tag name="BLEND" val="0"/>
  <p:tag name="TRANSPARENT" val="1"/>
  <p:tag name="TBUG" val="0"/>
  <p:tag name="ALLOWFS" val="0"/>
  <p:tag name="ORIGWIDTH" val="6"/>
  <p:tag name="PICTUREFILESIZE" val="1111"/>
</p:tagLst>
</file>

<file path=ppt/tags/tag4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bfx_{1}, \ldots, \bfx_{N} \} &#10;\]&#10;\end{document}&#10;"/>
  <p:tag name="FILENAME" val="TP_tmp"/>
  <p:tag name="FORMAT" val="png256"/>
  <p:tag name="RES" val="600"/>
  <p:tag name="BLEND" val="0"/>
  <p:tag name="TRANSPARENT" val="1"/>
  <p:tag name="TBUG" val="0"/>
  <p:tag name="ALLOWFS" val="0"/>
  <p:tag name="ORIGWIDTH" val="56"/>
  <p:tag name="PICTUREFILESIZE" val="1909"/>
</p:tagLst>
</file>

<file path=ppt/tags/tag4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oldtheta)&#10;\]&#10;\end{document}&#10;"/>
  <p:tag name="FILENAME" val="TP_tmp"/>
  <p:tag name="FORMAT" val="png256"/>
  <p:tag name="RES" val="600"/>
  <p:tag name="BLEND" val="0"/>
  <p:tag name="TRANSPARENT" val="1"/>
  <p:tag name="TBUG" val="0"/>
  <p:tag name="ALLOWFS" val="0"/>
  <p:tag name="ORIGWIDTH" val="19"/>
  <p:tag name="PICTUREFILESIZE" val="1547"/>
</p:tagLst>
</file>

<file path=ppt/tags/tag4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theta^{\star}&#10;\]&#10;\end{document}&#10;"/>
  <p:tag name="FILENAME" val="TP_tmp"/>
  <p:tag name="FORMAT" val="png256"/>
  <p:tag name="RES" val="600"/>
  <p:tag name="BLEND" val="0"/>
  <p:tag name="TRANSPARENT" val="1"/>
  <p:tag name="TBUG" val="0"/>
  <p:tag name="ALLOWFS" val="0"/>
  <p:tag name="ORIGWIDTH" val="11"/>
  <p:tag name="PICTUREFILESIZE" val="1209"/>
</p:tagLst>
</file>

<file path=ppt/tags/tag4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x=1|\mu) = \mu&#10;\]&#10;\end{document}&#10;"/>
  <p:tag name="FILENAME" val="TP_tmp"/>
  <p:tag name="FORMAT" val="png256"/>
  <p:tag name="RES" val="600"/>
  <p:tag name="BLEND" val="0"/>
  <p:tag name="TRANSPARENT" val="1"/>
  <p:tag name="TBUG" val="0"/>
  <p:tag name="ALLOWFS" val="0"/>
  <p:tag name="ORIGWIDTH" val="65"/>
  <p:tag name="PICTUREFILESIZE" val="2329"/>
</p:tagLst>
</file>

<file path=ppt/tags/tag4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Bern}(x|\mu) &amp;=&amp; \mu^x (1 - \mu)^{1 - x} \\&#10;  \expect[x] &amp;=&amp; \mu \\&#10;  {\rm var}[x] &amp;=&amp; \mu (1 - \mu)&#10;\end{eqnarray*}&#10;\end{document}&#10;"/>
  <p:tag name="FILENAME" val="TP_tmp"/>
  <p:tag name="FORMAT" val="png256"/>
  <p:tag name="RES" val="600"/>
  <p:tag name="BLEND" val="0"/>
  <p:tag name="TRANSPARENT" val="1"/>
  <p:tag name="TBUG" val="0"/>
  <p:tag name="ALLOWFS" val="0"/>
  <p:tag name="ORIGWIDTH" val="127"/>
  <p:tag name="PICTUREFILESIZE" val="6862"/>
</p:tagLst>
</file>

<file path=ppt/tags/tag4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mbox{$m$ heads}| N, \mu)&#10;\]&#10;\end{document}&#10;"/>
  <p:tag name="FILENAME" val="TP_tmp"/>
  <p:tag name="FORMAT" val="png256"/>
  <p:tag name="RES" val="600"/>
  <p:tag name="BLEND" val="0"/>
  <p:tag name="TRANSPARENT" val="1"/>
  <p:tag name="TBUG" val="0"/>
  <p:tag name="ALLOWFS" val="0"/>
  <p:tag name="ORIGWIDTH" val="72"/>
  <p:tag name="PICTUREFILESIZE" val="2999"/>
</p:tagLst>
</file>

<file path=ppt/tags/tag4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Bin}(m|N, \mu) = {N \choose m}&#10;    \mu^{m} (1 - \mu)^{N-m}&#10;\]&#10;\end{document}&#10;"/>
  <p:tag name="FILENAME" val="TP_tmp"/>
  <p:tag name="FORMAT" val="png256"/>
  <p:tag name="RES" val="600"/>
  <p:tag name="BLEND" val="0"/>
  <p:tag name="TRANSPARENT" val="1"/>
  <p:tag name="TBUG" val="0"/>
  <p:tag name="ALLOWFS" val="0"/>
  <p:tag name="ORIGWIDTH" val="156"/>
  <p:tag name="PICTUREFILESIZE" val="5899"/>
</p:tagLst>
</file>

<file path=ppt/tags/tag4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m] \equiv \sum_{m=0}^N m {\rm Bin}(m|N, \mu) = N \mu&#10;\]&#10;\end{document}&#10;"/>
  <p:tag name="FILENAME" val="TP_tmp"/>
  <p:tag name="FORMAT" val="png256"/>
  <p:tag name="RES" val="600"/>
  <p:tag name="BLEND" val="0"/>
  <p:tag name="TRANSPARENT" val="1"/>
  <p:tag name="TBUG" val="0"/>
  <p:tag name="ALLOWFS" val="0"/>
  <p:tag name="ORIGWIDTH" val="144"/>
  <p:tag name="PICTUREFILESIZE" val="5455"/>
</p:tagLst>
</file>

<file path=ppt/tags/tag4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var}[m] \equiv \sum_{m=0}^N \left(m - \expect [ m ] \right)^2&#10;  {\rm Bin}(m|N, \mu) = N \mu (1 - \mu)&#10;\]&#10;\end{document}&#10;"/>
  <p:tag name="FILENAME" val="TP_tmp"/>
  <p:tag name="FORMAT" val="png256"/>
  <p:tag name="RES" val="600"/>
  <p:tag name="BLEND" val="0"/>
  <p:tag name="TRANSPARENT" val="1"/>
  <p:tag name="TBUG" val="0"/>
  <p:tag name="ALLOWFS" val="0"/>
  <p:tag name="ORIGWIDTH" val="229"/>
  <p:tag name="PICTUREFILESIZE" val="7767"/>
</p:tagLst>
</file>

<file path=ppt/tags/tag4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rm Bin}(m|10, 0.25)&#10;\]&#10;\end{document}&#10;"/>
  <p:tag name="FILENAME" val="TP_tmp"/>
  <p:tag name="FORMAT" val="png256"/>
  <p:tag name="RES" val="600"/>
  <p:tag name="BLEND" val="0"/>
  <p:tag name="TRANSPARENT" val="1"/>
  <p:tag name="TBUG" val="0"/>
  <p:tag name="ALLOWFS" val="0"/>
  <p:tag name="ORIGWIDTH" val="67"/>
  <p:tag name="PICTUREFILESIZE" val="2586"/>
</p:tagLst>
</file>

<file path=ppt/tags/tag5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athcal{D} = \{ x_{1}, \ldots, x_{N} \}, &#10;\mbox{\sf ~$m$ heads ($1$), $N-m$ tails ($0$)}&#10;\]&#10;\end{document}&#10;"/>
  <p:tag name="FILENAME" val="TP_tmp"/>
  <p:tag name="FORMAT" val="png256"/>
  <p:tag name="RES" val="600"/>
  <p:tag name="BLEND" val="0"/>
  <p:tag name="TRANSPARENT" val="1"/>
  <p:tag name="TBUG" val="0"/>
  <p:tag name="ALLOWFS" val="0"/>
  <p:tag name="ORIGWIDTH" val="209"/>
  <p:tag name="PICTUREFILESIZE" val="5325"/>
</p:tagLst>
</file>

<file path=ppt/tags/tag5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D}| \mu) = \prod_{n=1}^N p(x_n|\mu) = \prod_{n=1}^N&#10;  \mu^{x_n} (1 - \mu)^{1 - {x_n}}&#10;\]&#10;\end{document}&#10;"/>
  <p:tag name="FILENAME" val="TP_tmp"/>
  <p:tag name="FORMAT" val="png256"/>
  <p:tag name="RES" val="600"/>
  <p:tag name="BLEND" val="0"/>
  <p:tag name="TRANSPARENT" val="1"/>
  <p:tag name="TBUG" val="0"/>
  <p:tag name="ALLOWFS" val="0"/>
  <p:tag name="ORIGWIDTH" val="189"/>
  <p:tag name="PICTUREFILESIZE" val="6557"/>
</p:tagLst>
</file>

<file path=ppt/tags/tag5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n p({\cal D}| \mu) = \sum_{n=1}^N \ln p(x_n|\mu) = \sum_{n=1}^N&#10;  \left\{ x_n \ln \mu + (1 - x_n) \ln (1 - \mu) \right\}&#10;\]&#10;\end{document}&#10;"/>
  <p:tag name="FILENAME" val="TP_tmp"/>
  <p:tag name="FORMAT" val="png256"/>
  <p:tag name="RES" val="600"/>
  <p:tag name="BLEND" val="0"/>
  <p:tag name="TRANSPARENT" val="1"/>
  <p:tag name="TBUG" val="0"/>
  <p:tag name="ALLOWFS" val="0"/>
  <p:tag name="ORIGWIDTH" val="269"/>
  <p:tag name="PICTUREFILESIZE" val="8129"/>
</p:tagLst>
</file>

<file path=ppt/tags/tag5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u_{\rm ML} = \frac{1}{N} \sum_{n=1}^N x_n = \frac{m}{N}&#10;\]&#10;\end{document}&#10;"/>
  <p:tag name="FILENAME" val="TP_tmp"/>
  <p:tag name="FORMAT" val="png256"/>
  <p:tag name="RES" val="600"/>
  <p:tag name="BLEND" val="0"/>
  <p:tag name="TRANSPARENT" val="1"/>
  <p:tag name="TBUG" val="0"/>
  <p:tag name="ALLOWFS" val="0"/>
  <p:tag name="ORIGWIDTH" val="97"/>
  <p:tag name="PICTUREFILESIZE" val="4315"/>
</p:tagLst>
</file>

<file path=ppt/tags/tag5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rm Beta}(\mu|a,b) &amp;=&amp;&#10;    \frac{\Gamma(a+b)}{\Gamma(a) \Gamma(b)}&#10;    \mu^{a-1} (1 - \mu)^{b-1} \\&#10;  \expect[\mu] &amp;=&amp; \frac{a}{a+b} \\&#10;  {\rm var}[\mu] &amp;=&amp; \frac{ab}{(a+b)^2(a+b+1)}&#10;\end{eqnarray*}&#10;\end{document}&#10;"/>
  <p:tag name="FILENAME" val="TP_tmp"/>
  <p:tag name="FORMAT" val="png256"/>
  <p:tag name="RES" val="600"/>
  <p:tag name="BLEND" val="0"/>
  <p:tag name="TRANSPARENT" val="1"/>
  <p:tag name="TBUG" val="0"/>
  <p:tag name="ALLOWFS" val="0"/>
  <p:tag name="ORIGWIDTH" val="184"/>
  <p:tag name="PICTUREFILESIZE" val="12674"/>
</p:tagLst>
</file>

<file path=ppt/tags/tag5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u \in [0,1]&#10;\]&#10;\end{document}&#10;"/>
  <p:tag name="FILENAME" val="TP_tmp"/>
  <p:tag name="FORMAT" val="png256"/>
  <p:tag name="RES" val="600"/>
  <p:tag name="BLEND" val="0"/>
  <p:tag name="TRANSPARENT" val="1"/>
  <p:tag name="TBUG" val="0"/>
  <p:tag name="ALLOWFS" val="0"/>
  <p:tag name="ORIGWIDTH" val="38"/>
  <p:tag name="PICTUREFILESIZE" val="1673"/>
</p:tagLst>
</file>

<file path=ppt/tags/tag5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p(\mu|a_{0},b_{0},\mathcal{D}) &amp; \propto &amp; &#10;p(\mathcal{D}|\mu) p(\mu|a_{0},b_{0}) \\&#10;&amp; = &amp; \left( \prod_{n=1}^{N}   \mu^{x_n} (1 - \mu)^{1 - {x_n}}\right)&#10;{\rm Beta}(\mu|a_{0},b_{0}) \\&#10;&amp; \propto &amp; \mu^{m + a_{0} -1} (1 - \mu)^{(N-m) + b_{0} - 1} \\&#10;&amp; \propto &amp; {\rm Beta}(\mu|a_{N},b_{N})&#10;\end{eqnarray*}&#10;\end{document}&#10;"/>
  <p:tag name="FILENAME" val="TP_tmp"/>
  <p:tag name="FORMAT" val="png256"/>
  <p:tag name="RES" val="600"/>
  <p:tag name="BLEND" val="0"/>
  <p:tag name="TRANSPARENT" val="1"/>
  <p:tag name="TBUG" val="0"/>
  <p:tag name="ALLOWFS" val="0"/>
  <p:tag name="ORIGWIDTH" val="246"/>
  <p:tag name="PICTUREFILESIZE" val="18054"/>
</p:tagLst>
</file>

<file path=ppt/tags/tag5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_{N} = a_{0} + m \qquad b_{N} = b_{0} + (N-m)&#10;\]&#10;\end{document}&#10;"/>
  <p:tag name="FILENAME" val="TP_tmp"/>
  <p:tag name="FORMAT" val="png256"/>
  <p:tag name="RES" val="600"/>
  <p:tag name="BLEND" val="0"/>
  <p:tag name="TRANSPARENT" val="1"/>
  <p:tag name="TBUG" val="0"/>
  <p:tag name="ALLOWFS" val="0"/>
  <p:tag name="ORIGWIDTH" val="160"/>
  <p:tag name="PICTUREFILESIZE" val="3639"/>
</p:tagLst>
</file>

<file path=ppt/tags/tag5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k:\mu_k \geqslant 0 \quad \mbox{\sf and} \quad &#10;\sum_{k=1}^{K} \mu_k = 1&#10;\]&#10;\end{document}&#10;"/>
  <p:tag name="FILENAME" val="TP_tmp"/>
  <p:tag name="FORMAT" val="png256"/>
  <p:tag name="RES" val="600"/>
  <p:tag name="BLEND" val="0"/>
  <p:tag name="TRANSPARENT" val="1"/>
  <p:tag name="TBUG" val="0"/>
  <p:tag name="ALLOWFS" val="0"/>
  <p:tag name="ORIGWIDTH" val="131"/>
  <p:tag name="PICTUREFILESIZE" val="4665"/>
</p:tagLst>
</file>

<file path=ppt/tags/tag5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boldmu) = \prod_{k=1}^K \mu_k^{x_k}&#10;\]&#10;\end{document}&#10;"/>
  <p:tag name="FILENAME" val="TP_tmp"/>
  <p:tag name="FORMAT" val="png256"/>
  <p:tag name="RES" val="600"/>
  <p:tag name="BLEND" val="0"/>
  <p:tag name="TRANSPARENT" val="1"/>
  <p:tag name="TBUG" val="0"/>
  <p:tag name="ALLOWFS" val="0"/>
  <p:tag name="ORIGWIDTH" val="74"/>
  <p:tag name="PICTUREFILESIZE" val="3790"/>
</p:tagLst>
</file>

<file path=ppt/tags/tag6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sum_{\bfx} p(\bfx|\boldmu) = \sum_{k=1}^K \mu_k = 1&#10;\]&#10;\end{document}&#10;"/>
  <p:tag name="FILENAME" val="TP_tmp"/>
  <p:tag name="FORMAT" val="png256"/>
  <p:tag name="RES" val="600"/>
  <p:tag name="BLEND" val="0"/>
  <p:tag name="TRANSPARENT" val="1"/>
  <p:tag name="TBUG" val="0"/>
  <p:tag name="ALLOWFS" val="0"/>
  <p:tag name="ORIGWIDTH" val="103"/>
  <p:tag name="PICTUREFILESIZE" val="4504"/>
</p:tagLst>
</file>

<file path=ppt/tags/tag6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expect[\bfx|\boldmu] = \sum_\bfx p(\bfx|\boldmu) \bfx = (\mu_1,&#10;    \ldots, \mu_K)^\T = \boldmu&#10;\]&#10;\end{document}&#10;"/>
  <p:tag name="FILENAME" val="TP_tmp"/>
  <p:tag name="FORMAT" val="png256"/>
  <p:tag name="RES" val="600"/>
  <p:tag name="BLEND" val="0"/>
  <p:tag name="TRANSPARENT" val="1"/>
  <p:tag name="TBUG" val="0"/>
  <p:tag name="ALLOWFS" val="0"/>
  <p:tag name="ORIGWIDTH" val="187"/>
  <p:tag name="PICTUREFILESIZE" val="5503"/>
</p:tagLst>
</file>

<file path=ppt/tags/tag6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fx = (0, 0, 1, 0, 0, 0)^\T&#10;\]&#10;\end{document}&#10;"/>
  <p:tag name="FILENAME" val="TP_tmp"/>
  <p:tag name="FORMAT" val="png256"/>
  <p:tag name="RES" val="600"/>
  <p:tag name="BLEND" val="0"/>
  <p:tag name="TRANSPARENT" val="1"/>
  <p:tag name="TBUG" val="0"/>
  <p:tag name="ALLOWFS" val="0"/>
  <p:tag name="ORIGWIDTH" val="85"/>
  <p:tag name="PICTUREFILESIZE" val="2341"/>
</p:tagLst>
</file>

<file path=ppt/tags/tag6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D}|\boldmu) = \prod_{n=1}^N \prod_{k=1}^K \mu_k^{x_{nk}} =&#10;\prod_{k=1}^K \mu_k^{ \left( \sum_n x_{nk} \right)} = \prod_{k=1}^K&#10;\mu_k^{m_k}&#10;\]&#10;\end{document}&#10;"/>
  <p:tag name="FILENAME" val="TP_tmp"/>
  <p:tag name="FORMAT" val="png256"/>
  <p:tag name="RES" val="600"/>
  <p:tag name="BLEND" val="0"/>
  <p:tag name="TRANSPARENT" val="1"/>
  <p:tag name="TBUG" val="0"/>
  <p:tag name="ALLOWFS" val="0"/>
  <p:tag name="ORIGWIDTH" val="215"/>
  <p:tag name="PICTUREFILESIZE" val="8222"/>
</p:tagLst>
</file>

<file path=ppt/tags/tag6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sum_{k=1}^K m_k \ln \mu_k + \lambda \left( \sum_{k=1}^K \mu_k - 1&#10;\right)&#10;\]&#10;\end{document}&#10;"/>
  <p:tag name="FILENAME" val="TP_tmp"/>
  <p:tag name="FORMAT" val="png256"/>
  <p:tag name="RES" val="600"/>
  <p:tag name="BLEND" val="0"/>
  <p:tag name="TRANSPARENT" val="1"/>
  <p:tag name="TBUG" val="0"/>
  <p:tag name="ALLOWFS" val="0"/>
  <p:tag name="ORIGWIDTH" val="130"/>
  <p:tag name="PICTUREFILESIZE" val="5464"/>
</p:tagLst>
</file>

<file path=ppt/tags/tag6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mu_k = - m_k/\lambda \qquad \mu^{\rm ML}_k = \frac{m_k}{N}&#10;\]&#10;\end{document}&#10;"/>
  <p:tag name="FILENAME" val="TP_tmp"/>
  <p:tag name="FORMAT" val="png256"/>
  <p:tag name="RES" val="600"/>
  <p:tag name="BLEND" val="0"/>
  <p:tag name="TRANSPARENT" val="1"/>
  <p:tag name="TBUG" val="0"/>
  <p:tag name="ALLOWFS" val="0"/>
  <p:tag name="ORIGWIDTH" val="124"/>
  <p:tag name="PICTUREFILESIZE" val="3927"/>
</p:tagLst>
</file>

<file path=ppt/tags/tag6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mathcal{D} = \{ \bfx_{1}, \ldots, \bfx_{N} \}&#10;\]&#10;\end{document}&#10;"/>
  <p:tag name="FILENAME" val="TP_tmp"/>
  <p:tag name="FORMAT" val="png256"/>
  <p:tag name="RES" val="600"/>
  <p:tag name="BLEND" val="0"/>
  <p:tag name="TRANSPARENT" val="1"/>
  <p:tag name="TBUG" val="0"/>
  <p:tag name="ALLOWFS" val="0"/>
  <p:tag name="ORIGWIDTH" val="77"/>
  <p:tag name="PICTUREFILESIZE" val="2336"/>
</p:tagLst>
</file>

<file path=ppt/tags/tag6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sum_{k} \mu_k = 1$&#10;\end{document}&#10;"/>
  <p:tag name="FILENAME" val="TP_tmp"/>
  <p:tag name="FORMAT" val="png256"/>
  <p:tag name="RES" val="600"/>
  <p:tag name="BLEND" val="0"/>
  <p:tag name="TRANSPARENT" val="1"/>
  <p:tag name="TBUG" val="0"/>
  <p:tag name="ALLOWFS" val="0"/>
  <p:tag name="ORIGWIDTH" val="46"/>
  <p:tag name="PICTUREFILESIZE" val="1942"/>
</p:tagLst>
</file>

<file path=ppt/tags/tag6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rm Mult}(m_1, m_2, \ldots, m_K|\boldmu, N) &amp;=&amp;&#10;    {N \choose m_1 m_2 \ldots m_K} \prod_{k=1}^K \mu_k^{m_k} \\&#10;    \expect[m_k] &amp;=&amp; N \mu_k \\&#10;    {\rm var}[m_k] &amp;=&amp; N \mu_k (1 - \mu_k)  \\&#10;    {\rm cov}[m_j m_k] &amp;=&amp; - N \mu_j \mu_k&#10;\end{eqnarray*}&#10;\end{document}"/>
  <p:tag name="FILENAME" val="TP_tmp"/>
  <p:tag name="FORMAT" val="png256"/>
  <p:tag name="RES" val="600"/>
  <p:tag name="BLEND" val="0"/>
  <p:tag name="TRANSPARENT" val="1"/>
  <p:tag name="TBUG" val="0"/>
  <p:tag name="ALLOWFS" val="0"/>
  <p:tag name="ORIGWIDTH" val="257"/>
  <p:tag name="PICTUREFILESIZE" val="17366"/>
</p:tagLst>
</file>

<file path=ppt/tags/tag6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Dir}(\boldmu|\boldalpha) = \frac{\Gamma(\alpha_0)}&#10;    {\Gamma(\alpha_1) \cdots \Gamma(\alpha_K)} \prod_{k=1}^K&#10;    \mu_k^{\alpha_k - 1}&#10;\]&#10;\end{document}&#10;"/>
  <p:tag name="FILENAME" val="TP_tmp"/>
  <p:tag name="FORMAT" val="png256"/>
  <p:tag name="RES" val="600"/>
  <p:tag name="BLEND" val="0"/>
  <p:tag name="TRANSPARENT" val="1"/>
  <p:tag name="TBUG" val="0"/>
  <p:tag name="ALLOWFS" val="0"/>
  <p:tag name="ORIGWIDTH" val="167"/>
  <p:tag name="PICTUREFILESIZE" val="6734"/>
</p:tagLst>
</file>

<file path=ppt/tags/tag7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0 = \sum_{k=1}^K \alpha_k&#10;\]&#10;\end{document}&#10;"/>
  <p:tag name="FILENAME" val="TP_tmp"/>
  <p:tag name="FORMAT" val="png256"/>
  <p:tag name="RES" val="600"/>
  <p:tag name="BLEND" val="0"/>
  <p:tag name="TRANSPARENT" val="1"/>
  <p:tag name="TBUG" val="0"/>
  <p:tag name="ALLOWFS" val="0"/>
  <p:tag name="ORIGWIDTH" val="51"/>
  <p:tag name="PICTUREFILESIZE" val="2843"/>
</p:tagLst>
</file>

<file path=ppt/tags/tag7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1}&#10;\]&#10;\end{document}&#10;"/>
  <p:tag name="FILENAME" val="TP_tmp"/>
  <p:tag name="FORMAT" val="png256"/>
  <p:tag name="RES" val="600"/>
  <p:tag name="BLEND" val="0"/>
  <p:tag name="TRANSPARENT" val="1"/>
  <p:tag name="TBUG" val="0"/>
  <p:tag name="ALLOWFS" val="0"/>
  <p:tag name="ORIGWIDTH" val="45"/>
  <p:tag name="PICTUREFILESIZE" val="1713"/>
</p:tagLst>
</file>

<file path=ppt/tags/tag7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0}&#10;\]&#10;\end{document}&#10;"/>
  <p:tag name="FILENAME" val="TP_tmp"/>
  <p:tag name="FORMAT" val="png256"/>
  <p:tag name="RES" val="600"/>
  <p:tag name="BLEND" val="0"/>
  <p:tag name="TRANSPARENT" val="1"/>
  <p:tag name="TBUG" val="0"/>
  <p:tag name="ALLOWFS" val="0"/>
  <p:tag name="ORIGWIDTH" val="39"/>
  <p:tag name="PICTUREFILESIZE" val="1731"/>
</p:tagLst>
</file>

<file path=ppt/tags/tag7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alpha_{k} = 10^{1}&#10;\]&#10;\end{document}&#10;"/>
  <p:tag name="FILENAME" val="TP_tmp"/>
  <p:tag name="FORMAT" val="png256"/>
  <p:tag name="RES" val="600"/>
  <p:tag name="BLEND" val="0"/>
  <p:tag name="TRANSPARENT" val="1"/>
  <p:tag name="TBUG" val="0"/>
  <p:tag name="ALLOWFS" val="0"/>
  <p:tag name="ORIGWIDTH" val="39"/>
  <p:tag name="PICTUREFILESIZE" val="1679"/>
</p:tagLst>
</file>

<file path=ppt/tags/tag7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cal N}(x|\mu, \sigma^2) = \frac{1}{ \left( 2 \pi \sigma^2&#10;    \right)^{1/2} }&#10;    \exp \left\{ - \frac{1}{2 \sigma^2} (x - \mu)^2 \right\}&#10;\]&#10;\end{document}&#10;"/>
  <p:tag name="FILENAME" val="TP_tmp"/>
  <p:tag name="FORMAT" val="png256"/>
  <p:tag name="RES" val="600"/>
  <p:tag name="BLEND" val="0"/>
  <p:tag name="TRANSPARENT" val="1"/>
  <p:tag name="TBUG" val="0"/>
  <p:tag name="ALLOWFS" val="0"/>
  <p:tag name="ORIGWIDTH" val="200"/>
  <p:tag name="PICTUREFILESIZE" val="7199"/>
</p:tagLst>
</file>

<file path=ppt/tags/tag7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cal N}(\bfx|\boldmu, \boldSigma) = \frac{1}{(2\pi)^{D/2}}&#10;    \frac{1}{|\boldSigma|^{1/2}} \exp \left\{ -&#10;    \frac{1}{2} (\bfx - \boldmu)^\T \boldSigma^{-1} (\bfx -&#10;    \boldmu) \right\}&#10;\]&#10;\end{document}&#10;"/>
  <p:tag name="FILENAME" val="TP_tmp"/>
  <p:tag name="FORMAT" val="png256"/>
  <p:tag name="RES" val="600"/>
  <p:tag name="BLEND" val="0"/>
  <p:tag name="TRANSPARENT" val="1"/>
  <p:tag name="TBUG" val="0"/>
  <p:tag name="ALLOWFS" val="0"/>
  <p:tag name="ORIGWIDTH" val="264"/>
  <p:tag name="PICTUREFILESIZE" val="8589"/>
</p:tagLst>
</file>

<file path=ppt/tags/tag7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Delta^2 = (\bfx - \boldmu)^\T \boldSigma^{-1} (\bfx -&#10;    \boldmu)&#10;\]&#10;\end{document}&#10;"/>
  <p:tag name="FILENAME" val="TP_tmp"/>
  <p:tag name="FORMAT" val="png256"/>
  <p:tag name="RES" val="600"/>
  <p:tag name="BLEND" val="0"/>
  <p:tag name="TRANSPARENT" val="1"/>
  <p:tag name="TBUG" val="0"/>
  <p:tag name="ALLOWFS" val="0"/>
  <p:tag name="ORIGWIDTH" val="117"/>
  <p:tag name="PICTUREFILESIZE" val="2932"/>
</p:tagLst>
</file>

<file path=ppt/tags/tag7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1} = \sum_{i=1}^D \frac{1}{\lambda_i} \bfu_i \bfu_i^\T&#10;\]&#10;\end{document}&#10;"/>
  <p:tag name="FILENAME" val="TP_tmp"/>
  <p:tag name="FORMAT" val="png256"/>
  <p:tag name="RES" val="600"/>
  <p:tag name="BLEND" val="0"/>
  <p:tag name="TRANSPARENT" val="1"/>
  <p:tag name="TBUG" val="0"/>
  <p:tag name="ALLOWFS" val="0"/>
  <p:tag name="ORIGWIDTH" val="81"/>
  <p:tag name="PICTUREFILESIZE" val="3477"/>
</p:tagLst>
</file>

<file path=ppt/tags/tag7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Delta^2 = \sum_{i=1}^D \frac{y_i^2}{\lambda_i}&#10;\]&#10;\end{document}&#10;"/>
  <p:tag name="FILENAME" val="TP_tmp"/>
  <p:tag name="FORMAT" val="png256"/>
  <p:tag name="RES" val="600"/>
  <p:tag name="BLEND" val="0"/>
  <p:tag name="TRANSPARENT" val="1"/>
  <p:tag name="TBUG" val="0"/>
  <p:tag name="ALLOWFS" val="0"/>
  <p:tag name="ORIGWIDTH" val="53"/>
  <p:tag name="PICTUREFILESIZE" val="3093"/>
</p:tagLst>
</file>

<file path=ppt/tags/tag7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y_i = \bfu_i^\T (\bfx - \boldmu)&#10;\]&#10;\end{document}&#10;"/>
  <p:tag name="FILENAME" val="TP_tmp"/>
  <p:tag name="FORMAT" val="png256"/>
  <p:tag name="RES" val="600"/>
  <p:tag name="BLEND" val="0"/>
  <p:tag name="TRANSPARENT" val="1"/>
  <p:tag name="TBUG" val="0"/>
  <p:tag name="ALLOWFS" val="0"/>
  <p:tag name="ORIGWIDTH" val="67"/>
  <p:tag name="PICTUREFILESIZE" val="2436"/>
</p:tagLst>
</file>

<file path=ppt/tags/tag8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expect[\bfx \bfx^\T] = \boldmu \boldmu^\T + \boldSigma&#10;\]&#10;\end{document}&#10;"/>
  <p:tag name="FILENAME" val="TP_tmp"/>
  <p:tag name="FORMAT" val="png256"/>
  <p:tag name="RES" val="600"/>
  <p:tag name="BLEND" val="0"/>
  <p:tag name="TRANSPARENT" val="1"/>
  <p:tag name="TBUG" val="0"/>
  <p:tag name="ALLOWFS" val="0"/>
  <p:tag name="ORIGWIDTH" val="85"/>
  <p:tag name="PICTUREFILESIZE" val="2590"/>
</p:tagLst>
</file>

<file path=ppt/tags/tag8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rm cov}[\bfx] = \expect \left[(\bfx - \expect[\bfx])&#10;    (\bfx - \expect[\bfx])^\T&#10;    \right] = \boldSigma&#10;\]&#10;\end{document}&#10;"/>
  <p:tag name="FILENAME" val="TP_tmp"/>
  <p:tag name="FORMAT" val="png256"/>
  <p:tag name="RES" val="600"/>
  <p:tag name="BLEND" val="0"/>
  <p:tag name="TRANSPARENT" val="1"/>
  <p:tag name="TBUG" val="0"/>
  <p:tag name="ALLOWFS" val="0"/>
  <p:tag name="ORIGWIDTH" val="173"/>
  <p:tag name="PICTUREFILESIZE" val="4386"/>
</p:tagLst>
</file>

<file path=ppt/tags/tag8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mathcal{N}( \bfx | \boldmu, \boldSigma )&#10;\]&#10;\end{document}&#10;"/>
  <p:tag name="FILENAME" val="TP_tmp"/>
  <p:tag name="FORMAT" val="png256"/>
  <p:tag name="RES" val="600"/>
  <p:tag name="BLEND" val="0"/>
  <p:tag name="TRANSPARENT" val="1"/>
  <p:tag name="TBUG" val="0"/>
  <p:tag name="ALLOWFS" val="0"/>
  <p:tag name="ORIGWIDTH" val="78"/>
  <p:tag name="PICTUREFILESIZE" val="3012"/>
</p:tagLst>
</file>

<file path=ppt/tags/tag8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 =  \begin{pmatrix}&#10;  \boldSigma_{aa} &amp; \boldSigma_{ab} \\&#10;  \boldSigma_{ba} &amp; \boldSigma_{bb}&#10;\end{pmatrix}&#10;\]&#10;\end{document}&#10;"/>
  <p:tag name="FILENAME" val="TP_tmp"/>
  <p:tag name="FORMAT" val="png256"/>
  <p:tag name="RES" val="600"/>
  <p:tag name="BLEND" val="0"/>
  <p:tag name="TRANSPARENT" val="1"/>
  <p:tag name="TBUG" val="0"/>
  <p:tag name="ALLOWFS" val="0"/>
  <p:tag name="ORIGWIDTH" val="78"/>
  <p:tag name="PICTUREFILESIZE" val="3805"/>
</p:tagLst>
</file>

<file path=ppt/tags/tag8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mu = \begin{pmatrix}&#10;  \boldmu_a \\&#10;  \boldmu_b \\&#10;\end{pmatrix}&#10;\]&#10;\end{document}&#10;"/>
  <p:tag name="FILENAME" val="TP_tmp"/>
  <p:tag name="FORMAT" val="png256"/>
  <p:tag name="RES" val="600"/>
  <p:tag name="BLEND" val="0"/>
  <p:tag name="TRANSPARENT" val="1"/>
  <p:tag name="TBUG" val="0"/>
  <p:tag name="ALLOWFS" val="0"/>
  <p:tag name="ORIGWIDTH" val="46"/>
  <p:tag name="PICTUREFILESIZE" val="2653"/>
</p:tagLst>
</file>

<file path=ppt/tags/tag8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fx = \begin{pmatrix}&#10;  \bfx_a \\&#10;  \bfx_b \\&#10;\end{pmatrix}&#10;\]&#10;\end{document}&#10;"/>
  <p:tag name="FILENAME" val="TP_tmp"/>
  <p:tag name="FORMAT" val="png256"/>
  <p:tag name="RES" val="600"/>
  <p:tag name="BLEND" val="0"/>
  <p:tag name="TRANSPARENT" val="1"/>
  <p:tag name="TBUG" val="0"/>
  <p:tag name="ALLOWFS" val="0"/>
  <p:tag name="ORIGWIDTH" val="44"/>
  <p:tag name="PICTUREFILESIZE" val="2547"/>
</p:tagLst>
</file>

<file path=ppt/tags/tag8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Lambda \equiv \boldSigma^{-1}&#10;\]&#10;\end{document}&#10;"/>
  <p:tag name="FILENAME" val="TP_tmp"/>
  <p:tag name="FORMAT" val="png256"/>
  <p:tag name="RES" val="600"/>
  <p:tag name="BLEND" val="0"/>
  <p:tag name="TRANSPARENT" val="1"/>
  <p:tag name="TBUG" val="0"/>
  <p:tag name="ALLOWFS" val="0"/>
  <p:tag name="ORIGWIDTH" val="40"/>
  <p:tag name="PICTUREFILESIZE" val="1516"/>
</p:tagLst>
</file>

<file path=ppt/tags/tag8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boldLambda = \begin{pmatrix}&#10;  \boldLambda_{aa} &amp; \boldLambda_{ab} \\&#10;  \boldLambda_{ba} &amp; \boldLambda_{bb}&#10;\end{pmatrix}&#10;\]&#10;\end{document}&#10;"/>
  <p:tag name="FILENAME" val="TP_tmp"/>
  <p:tag name="FORMAT" val="png256"/>
  <p:tag name="RES" val="600"/>
  <p:tag name="BLEND" val="0"/>
  <p:tag name="TRANSPARENT" val="1"/>
  <p:tag name="TBUG" val="0"/>
  <p:tag name="ALLOWFS" val="0"/>
  <p:tag name="ORIGWIDTH" val="78"/>
  <p:tag name="PICTUREFILESIZE" val="3632"/>
</p:tagLst>
</file>

<file path=ppt/tags/tag8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bfx_{a} | \bfx_{b} ) = \mathcal{N}( \bfx_{a} | \boldmu_{a|b}, \boldSigma_{a|b} )&#10;\]&#10;\end{document}&#10;"/>
  <p:tag name="FILENAME" val="TP_tmp"/>
  <p:tag name="FORMAT" val="png256"/>
  <p:tag name="RES" val="600"/>
  <p:tag name="BLEND" val="0"/>
  <p:tag name="TRANSPARENT" val="1"/>
  <p:tag name="TBUG" val="0"/>
  <p:tag name="ALLOWFS" val="0"/>
  <p:tag name="ORIGWIDTH" val="122"/>
  <p:tag name="PICTUREFILESIZE" val="4177"/>
</p:tagLst>
</file>

<file path=ppt/tags/tag8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boldSigma_{a|b}  &amp;=&amp; \boldLambda_{aa}^{-1} &#10;  = \boldSigma_{aa} -  \boldSigma_{ab}&#10;  \boldSigma_{bb}^{-1} \boldSigma_{ba} \\&#10;  \boldmu_{a|b}  &amp;=&amp; \boldSigma_{a|b} \left\{ \boldLambda_{aa} \boldmu_a - \boldLambda_{ab}&#10;    (\bfx_b - \boldmu_b) \right\} \\&#10;    &amp;=&amp; \boldmu_a - \boldLambda_{aa}^{-1} \boldLambda_{ab}&#10;    (\bfx_b - \boldmu_b)  \\&#10;&amp;=&amp; \boldmu_a + \boldSigma_{ab}&#10;  \boldSigma_{bb}^{-1} (\bfx_b - \boldmu_b) &#10;\end{eqnarray*}&#10;\end{document}&#10;"/>
  <p:tag name="FILENAME" val="TP_tmp"/>
  <p:tag name="FORMAT" val="png256"/>
  <p:tag name="RES" val="600"/>
  <p:tag name="BLEND" val="0"/>
  <p:tag name="TRANSPARENT" val="1"/>
  <p:tag name="TBUG" val="0"/>
  <p:tag name="ALLOWFS" val="0"/>
  <p:tag name="ORIGWIDTH" val="176"/>
  <p:tag name="PICTUREFILESIZE" val="13400"/>
</p:tagLst>
</file>

<file path=ppt/tags/tag9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p(\bfx_a) &amp; = &amp; \int p(\bfx_a, \bfx_b) \diff{\bfx_b} \\&#10;&amp; = &amp; {\cal N}(\bfx_a|\boldmu_a, \boldSigma_{aa})&#10;\end{eqnarray*}&#10;\end{document}&#10;"/>
  <p:tag name="FILENAME" val="TP_tmp"/>
  <p:tag name="FORMAT" val="png256"/>
  <p:tag name="RES" val="600"/>
  <p:tag name="BLEND" val="0"/>
  <p:tag name="TRANSPARENT" val="1"/>
  <p:tag name="TBUG" val="0"/>
  <p:tag name="ALLOWFS" val="0"/>
  <p:tag name="ORIGWIDTH" val="119"/>
  <p:tag name="PICTUREFILESIZE" val="6152"/>
</p:tagLst>
</file>

<file path=ppt/tags/tag9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bfx) &amp;=&amp; {\cal N} \left(\bfx | \boldmu, \boldLambda^{-1} \right)&#10;  \\&#10;  p(\bfy|\bfx) &amp;=&amp; {\cal N} \left(\bfy | \bfA \bfx + \bfb,&#10;  \bfL^{-1} \right) &#10;\end{eqnarray*}&#10;\end{document}&#10;"/>
  <p:tag name="FILENAME" val="TP_tmp"/>
  <p:tag name="FORMAT" val="png256"/>
  <p:tag name="RES" val="600"/>
  <p:tag name="BLEND" val="0"/>
  <p:tag name="TRANSPARENT" val="1"/>
  <p:tag name="TBUG" val="0"/>
  <p:tag name="ALLOWFS" val="0"/>
  <p:tag name="ORIGWIDTH" val="140"/>
  <p:tag name="PICTUREFILESIZE" val="7121"/>
</p:tagLst>
</file>

<file path=ppt/tags/tag9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bfy) &amp;=&amp; {\cal N}(\bfy | \bfA \boldmu + \bfb,&#10;  \bfL^{-1} + \bfA \boldLambda^{-1} \bfA^\T) \\&#10;  p(\bfx|\bfy) &amp;=&amp; {\cal N}(\bfx | \boldSigma \{&#10;  \bfA^\T \bfL (\bfy - \bfb) +&#10;  \boldLambda \boldmu \}, \boldSigma)&#10;\end{eqnarray*}&#10;\end{document}&#10;"/>
  <p:tag name="FILENAME" val="TP_tmp"/>
  <p:tag name="FORMAT" val="png256"/>
  <p:tag name="RES" val="600"/>
  <p:tag name="BLEND" val="0"/>
  <p:tag name="TRANSPARENT" val="1"/>
  <p:tag name="TBUG" val="0"/>
  <p:tag name="ALLOWFS" val="0"/>
  <p:tag name="ORIGWIDTH" val="194"/>
  <p:tag name="PICTUREFILESIZE" val="10102"/>
</p:tagLst>
</file>

<file path=ppt/tags/tag9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boldSigma = (\boldLambda + \bfA^\T \bfL \bfA)^{-1}&#10;\]&#10;\end{document}&#10;"/>
  <p:tag name="FILENAME" val="TP_tmp"/>
  <p:tag name="FORMAT" val="png256"/>
  <p:tag name="RES" val="600"/>
  <p:tag name="BLEND" val="0"/>
  <p:tag name="TRANSPARENT" val="1"/>
  <p:tag name="TBUG" val="0"/>
  <p:tag name="ALLOWFS" val="0"/>
  <p:tag name="ORIGWIDTH" val="90"/>
  <p:tag name="PICTUREFILESIZE" val="2680"/>
</p:tagLst>
</file>

<file path=ppt/tags/tag9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boldmu_{\rm ML}^{(N)} &amp;=&amp; \frac{1}{N} \sum_{n=1}^{N} \bfx_n \\&#10;  &amp;=&amp; \frac{1}{N} \bfx_{N} + \frac{1}{N} \sum_{n=1}^{N-1} \bfx_n \\&#10;  &amp;=&amp; \frac{1}{N} \bfx_{N} + \frac{N-1}{N} \boldmu_{\rm ML}^{(N-1)} \\&#10;  &amp;=&amp; \boldmu_{\rm ML}^{(N-1)} + \frac{1}{N} (\bfx_{N} - \boldmu_{\rm&#10;  ML}^{(N-1)})&#10;\end{eqnarray*}&#10;\end{document}&#10;"/>
  <p:tag name="FILENAME" val="TP_tmp"/>
  <p:tag name="FORMAT" val="png256"/>
  <p:tag name="RES" val="600"/>
  <p:tag name="BLEND" val="0"/>
  <p:tag name="TRANSPARENT" val="1"/>
  <p:tag name="TBUG" val="0"/>
  <p:tag name="ALLOWFS" val="0"/>
  <p:tag name="ORIGWIDTH" val="167"/>
  <p:tag name="PICTUREFILESIZE" val="15678"/>
</p:tagLst>
</file>

<file path=ppt/tags/tag9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theta) \equiv \expect[z|\theta] = \int z p(z|\theta) \diff{z}&#10;\]&#10;\end{document}&#10;"/>
  <p:tag name="FILENAME" val="TP_tmp"/>
  <p:tag name="FORMAT" val="png256"/>
  <p:tag name="RES" val="600"/>
  <p:tag name="BLEND" val="0"/>
  <p:tag name="TRANSPARENT" val="1"/>
  <p:tag name="TBUG" val="0"/>
  <p:tag name="ALLOWFS" val="0"/>
  <p:tag name="ORIGWIDTH" val="125"/>
  <p:tag name="PICTUREFILESIZE" val="4842"/>
</p:tagLst>
</file>

<file path=ppt/tags/tag9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heta^{(N)} = \theta^{(N-1)} - a_{N-1} z(\theta^{(N-1)}) .&#10;\]&#10;\end{document}&#10;"/>
  <p:tag name="FILENAME" val="TP_tmp"/>
  <p:tag name="FORMAT" val="png256"/>
  <p:tag name="RES" val="600"/>
  <p:tag name="BLEND" val="0"/>
  <p:tag name="TRANSPARENT" val="1"/>
  <p:tag name="TBUG" val="0"/>
  <p:tag name="ALLOWFS" val="0"/>
  <p:tag name="ORIGWIDTH" val="141"/>
  <p:tag name="PICTUREFILESIZE" val="3606"/>
</p:tagLst>
</file>

<file path=ppt/tags/tag9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im_{N \rightarrow \infty} a_N = 0 \hspace*{1cm}&#10;\sum_{N=1}^\infty a_N = \infty \hspace*{1cm}&#10;\sum_{N=1}^\infty a_N^2 &lt; \infty&#10;\]&#10;\end{document}&#10;"/>
  <p:tag name="FILENAME" val="TP_tmp"/>
  <p:tag name="FORMAT" val="png256"/>
  <p:tag name="RES" val="600"/>
  <p:tag name="BLEND" val="0"/>
  <p:tag name="TRANSPARENT" val="1"/>
  <p:tag name="TBUG" val="0"/>
  <p:tag name="ALLOWFS" val="0"/>
  <p:tag name="ORIGWIDTH" val="225"/>
  <p:tag name="PICTUREFILESIZE" val="5991"/>
</p:tagLst>
</file>

<file path=ppt/tags/tag9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x|\mu, a, b) &amp;=&amp; \int_0^\infty {\cal N}(x|\mu, \tau^{-1}) {\rm&#10;    Gam}(\tau|a,b) \diff{\tau} \\&#10;    &amp;=&amp; \int_0^\infty {\cal N}&#10;    \left (x|\mu, (\eta \lambda)^{-1} \right) {\rm&#10;    Gam}(\eta|\nu/2, \nu/2) \diff{\eta} \\&#10;    &amp; = &amp; \frac{\Gamma(\nu/2 + 1/2)}&#10;    {\Gamma(\nu/2)} \left(&#10;    \frac{\lambda}{\pi \nu} \right)^{1/2} \left[ 1 +&#10;    \frac{\lambda (x - \mu)^2}{\nu} \right]^{-\nu/2 - 1/2} \\&#10;    &amp;=&amp; {\rm St}(x|\mu, \lambda, \nu)&#10;\end{eqnarray*}&#10;\end{document}&#10;"/>
  <p:tag name="FILENAME" val="TP_tmp"/>
  <p:tag name="FORMAT" val="png256"/>
  <p:tag name="RES" val="600"/>
  <p:tag name="BLEND" val="0"/>
  <p:tag name="TRANSPARENT" val="1"/>
  <p:tag name="TBUG" val="0"/>
  <p:tag name="ALLOWFS" val="0"/>
  <p:tag name="ORIGWIDTH" val="287"/>
  <p:tag name="PICTUREFILESIZE" val="24926"/>
</p:tagLst>
</file>

<file path=ppt/tags/tag9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ambda = a/b \hspace{1cm} \eta = \tau b/a \hspace{1cm}  \nu = 2a .&#10;\]&#10;\end{document}&#10;"/>
  <p:tag name="FILENAME" val="TP_tmp"/>
  <p:tag name="FORMAT" val="png256"/>
  <p:tag name="RES" val="600"/>
  <p:tag name="BLEND" val="0"/>
  <p:tag name="TRANSPARENT" val="1"/>
  <p:tag name="TBUG" val="0"/>
  <p:tag name="ALLOWFS" val="0"/>
  <p:tag name="ORIGWIDTH" val="161"/>
  <p:tag name="PICTUREFILESIZE" val="3325"/>
</p:tagLst>
</file>

<file path=ppt/tags/tag10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tabular}{l|cc}&#10; &amp; $\nu=1$ &amp; $\nu \rightarrow \infty$   \\ \hline&#10;${\rm St}(x|\mu, \lambda, \nu)$ &amp; Cauchy &amp; ${\cal N}(x|\mu,&#10;\lambda^{-1})$ \rule{0mm}{4mm} % strut for extra v.space&#10;\end{tabular} &#10;\end{document}&#10;"/>
  <p:tag name="FILENAME" val="TP_tmp"/>
  <p:tag name="FORMAT" val="png256"/>
  <p:tag name="RES" val="600"/>
  <p:tag name="BLEND" val="0"/>
  <p:tag name="TRANSPARENT" val="1"/>
  <p:tag name="TBUG" val="0"/>
  <p:tag name="ALLOWFS" val="0"/>
  <p:tag name="ORIGWIDTH" val="178"/>
  <p:tag name="PICTUREFILESIZE" val="6629"/>
</p:tagLst>
</file>

<file path=ppt/tags/tag10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p(\theta) &amp;\geqslant&amp; 0 \\&#10;  \int_0^{2\pi} p(\theta) \diff{\theta} &amp;=&amp; 1\\&#10;  p(\theta + 2\pi) &amp;=&amp; p(\theta). &#10;\end{eqnarray*}&#10;\end{document}&#10;"/>
  <p:tag name="FILENAME" val="TP_tmp"/>
  <p:tag name="FORMAT" val="png256"/>
  <p:tag name="RES" val="600"/>
  <p:tag name="BLEND" val="0"/>
  <p:tag name="TRANSPARENT" val="1"/>
  <p:tag name="TBUG" val="0"/>
  <p:tag name="ALLOWFS" val="0"/>
  <p:tag name="ORIGWIDTH" val="99"/>
  <p:tag name="PICTUREFILESIZE" val="6737"/>
</p:tagLst>
</file>

<file path=ppt/tags/tag10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theta|\theta_0, m) = \frac{1}{2 \pi I_0(m)} \exp \left\{ m \cos(\theta&#10;    - \theta_0) \right\}&#10;\]&#10;\end{document}&#10;"/>
  <p:tag name="FILENAME" val="TP_tmp"/>
  <p:tag name="FORMAT" val="png256"/>
  <p:tag name="RES" val="600"/>
  <p:tag name="BLEND" val="0"/>
  <p:tag name="TRANSPARENT" val="1"/>
  <p:tag name="TBUG" val="0"/>
  <p:tag name="ALLOWFS" val="0"/>
  <p:tag name="ORIGWIDTH" val="182"/>
  <p:tag name="PICTUREFILESIZE" val="6306"/>
</p:tagLst>
</file>

<file path=ppt/tags/tag10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I_0(m) = \frac{1}{2\pi} \int_0^{2\pi} \exp \left\{ m \cos&#10;    \theta \right\} \diff{\theta}&#10;\]&#10;\end{document}&#10;"/>
  <p:tag name="FILENAME" val="TP_tmp"/>
  <p:tag name="FORMAT" val="png256"/>
  <p:tag name="RES" val="600"/>
  <p:tag name="BLEND" val="0"/>
  <p:tag name="TRANSPARENT" val="1"/>
  <p:tag name="TBUG" val="0"/>
  <p:tag name="ALLOWFS" val="0"/>
  <p:tag name="ORIGWIDTH" val="146"/>
  <p:tag name="PICTUREFILESIZE" val="5533"/>
</p:tagLst>
</file>

<file path=ppt/tags/tag10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cal D} = \{\theta_1, \ldots, \theta_N\}&#10;\]&#10;\end{document}&#10;"/>
  <p:tag name="FILENAME" val="TP_tmp"/>
  <p:tag name="FORMAT" val="png256"/>
  <p:tag name="RES" val="600"/>
  <p:tag name="BLEND" val="0"/>
  <p:tag name="TRANSPARENT" val="1"/>
  <p:tag name="TBUG" val="0"/>
  <p:tag name="ALLOWFS" val="0"/>
  <p:tag name="ORIGWIDTH" val="75"/>
  <p:tag name="PICTUREFILESIZE" val="2393"/>
</p:tagLst>
</file>

<file path=ppt/tags/tag10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ln p({\cal D}|\theta_0, m) = - N \ln (2\pi) - N \ln I_0(m) +&#10;    m \sum_{n=1}^N \cos (\theta_n - \theta_0).&#10;\]&#10;\end{document}&#10;"/>
  <p:tag name="FILENAME" val="TP_tmp"/>
  <p:tag name="FORMAT" val="png256"/>
  <p:tag name="RES" val="600"/>
  <p:tag name="BLEND" val="0"/>
  <p:tag name="TRANSPARENT" val="1"/>
  <p:tag name="TBUG" val="0"/>
  <p:tag name="ALLOWFS" val="0"/>
  <p:tag name="ORIGWIDTH" val="267"/>
  <p:tag name="PICTUREFILESIZE" val="8794"/>
</p:tagLst>
</file>

<file path=ppt/tags/tag10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heta_0^{\rm ML} = \tan^{-1} \left\{ \frac{\sum_n \sin \theta_n}&#10;    {\sum_n \cos \theta_n} \right\}.&#10;\]&#10;\end{document}&#10;"/>
  <p:tag name="FILENAME" val="TP_tmp"/>
  <p:tag name="FORMAT" val="png256"/>
  <p:tag name="RES" val="600"/>
  <p:tag name="BLEND" val="0"/>
  <p:tag name="TRANSPARENT" val="1"/>
  <p:tag name="TBUG" val="0"/>
  <p:tag name="ALLOWFS" val="0"/>
  <p:tag name="ORIGWIDTH" val="121"/>
  <p:tag name="PICTUREFILESIZE" val="5447"/>
</p:tagLst>
</file>

<file path=ppt/tags/tag10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rac{I_1(m_{\rm ML})}{I_0(m_{\rm ML})} = &#10;\frac{1}{N} \sum_{n=1}^N \cos (\theta_n -&#10;    \theta_0^{\rm ML})&#10;\]&#10;\end{document}&#10;"/>
  <p:tag name="FILENAME" val="TP_tmp"/>
  <p:tag name="FORMAT" val="png256"/>
  <p:tag name="RES" val="600"/>
  <p:tag name="BLEND" val="0"/>
  <p:tag name="TRANSPARENT" val="1"/>
  <p:tag name="TBUG" val="0"/>
  <p:tag name="ALLOWFS" val="0"/>
  <p:tag name="ORIGWIDTH" val="143"/>
  <p:tag name="PICTUREFILESIZE" val="6808"/>
</p:tagLst>
</file>

<file path=ppt/tags/tag10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sum_{k=1}^K \pi_k {\cal N}(\bfx|\boldmu_k,&#10;    \boldSigma_k)&#10;\]&#10;\end{document}&#10;"/>
  <p:tag name="FILENAME" val="TP_tmp"/>
  <p:tag name="FORMAT" val="png256"/>
  <p:tag name="RES" val="600"/>
  <p:tag name="BLEND" val="0"/>
  <p:tag name="TRANSPARENT" val="1"/>
  <p:tag name="TBUG" val="0"/>
  <p:tag name="ALLOWFS" val="0"/>
  <p:tag name="ORIGWIDTH" val="115"/>
  <p:tag name="PICTUREFILESIZE" val="5236"/>
</p:tagLst>
</file>

<file path=ppt/tags/tag10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forall k: \pi_k \geqslant 0 \qquad \sum_{k=1}^K \pi_k = 1 &#10;\]&#10;\end{document}&#10;"/>
  <p:tag name="FILENAME" val="TP_tmp"/>
  <p:tag name="FORMAT" val="png256"/>
  <p:tag name="RES" val="600"/>
  <p:tag name="BLEND" val="0"/>
  <p:tag name="TRANSPARENT" val="1"/>
  <p:tag name="TBUG" val="0"/>
  <p:tag name="ALLOWFS" val="0"/>
  <p:tag name="ORIGWIDTH" val="115"/>
  <p:tag name="PICTUREFILESIZE" val="4028"/>
</p:tagLst>
</file>

<file path=ppt/tags/tag11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boldeta) = h(\bfx)g(\boldeta)&#10;    \exp \left\{ \boldeta^\T \bfu(\bfx)&#10;     \right\}&#10;\]&#10;\end{document}&#10;"/>
  <p:tag name="FILENAME" val="TP_tmp"/>
  <p:tag name="FORMAT" val="png256"/>
  <p:tag name="RES" val="600"/>
  <p:tag name="BLEND" val="0"/>
  <p:tag name="TRANSPARENT" val="1"/>
  <p:tag name="TBUG" val="0"/>
  <p:tag name="ALLOWFS" val="0"/>
  <p:tag name="ORIGWIDTH" val="142"/>
  <p:tag name="PICTUREFILESIZE" val="4981"/>
</p:tagLst>
</file>

<file path=ppt/tags/tag11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g(\boldeta) \int h(\bfx) \exp \left\{ \boldeta^\T \bfu(\bfx)&#10;     \right\} \diff{\bfx} = 1&#10;\]&#10;\end{document}&#10;"/>
  <p:tag name="FILENAME" val="TP_tmp"/>
  <p:tag name="FORMAT" val="png256"/>
  <p:tag name="RES" val="600"/>
  <p:tag name="BLEND" val="0"/>
  <p:tag name="TRANSPARENT" val="1"/>
  <p:tag name="TBUG" val="0"/>
  <p:tag name="ALLOWFS" val="0"/>
  <p:tag name="ORIGWIDTH" val="148"/>
  <p:tag name="PICTUREFILESIZE" val="5509"/>
</p:tagLst>
</file>

<file path=ppt/tags/tag11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_i = \frac{n_i}{N \Delta_i}&#10;\]&#10;\end{document}&#10;"/>
  <p:tag name="FILENAME" val="TP_tmp"/>
  <p:tag name="FORMAT" val="png256"/>
  <p:tag name="RES" val="600"/>
  <p:tag name="BLEND" val="0"/>
  <p:tag name="TRANSPARENT" val="1"/>
  <p:tag name="TBUG" val="0"/>
  <p:tag name="ALLOWFS" val="0"/>
  <p:tag name="ORIGWIDTH" val="45"/>
  <p:tag name="PICTUREFILESIZE" val="2413"/>
</p:tagLst>
</file>

<file path=ppt/tags/tag11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 \int_{\cal R} p(\bfx) \diff{\bfx}.&#10;\]&#10;\end{document}&#10;"/>
  <p:tag name="FILENAME" val="TP_tmp"/>
  <p:tag name="FORMAT" val="png256"/>
  <p:tag name="RES" val="600"/>
  <p:tag name="BLEND" val="0"/>
  <p:tag name="TRANSPARENT" val="1"/>
  <p:tag name="TBUG" val="0"/>
  <p:tag name="ALLOWFS" val="0"/>
  <p:tag name="ORIGWIDTH" val="71"/>
  <p:tag name="PICTUREFILESIZE" val="3139"/>
</p:tagLst>
</file>

<file path=ppt/tags/tag11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K \simeq NP.&#10;\]&#10;\end{document}&#10;"/>
  <p:tag name="FILENAME" val="TP_tmp"/>
  <p:tag name="FORMAT" val="png256"/>
  <p:tag name="RES" val="600"/>
  <p:tag name="BLEND" val="0"/>
  <p:tag name="TRANSPARENT" val="1"/>
  <p:tag name="TBUG" val="0"/>
  <p:tag name="ALLOWFS" val="0"/>
  <p:tag name="ORIGWIDTH" val="41"/>
  <p:tag name="PICTUREFILESIZE" val="1759"/>
</p:tagLst>
</file>

<file path=ppt/tags/tag11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 \simeq p({\bfx}) V&#10;\]&#10;\end{document}&#10;"/>
  <p:tag name="FILENAME" val="TP_tmp"/>
  <p:tag name="FORMAT" val="png256"/>
  <p:tag name="RES" val="600"/>
  <p:tag name="BLEND" val="0"/>
  <p:tag name="TRANSPARENT" val="1"/>
  <p:tag name="TBUG" val="0"/>
  <p:tag name="ALLOWFS" val="0"/>
  <p:tag name="ORIGWIDTH" val="48"/>
  <p:tag name="PICTUREFILESIZE" val="2141"/>
</p:tagLst>
</file>

<file path=ppt/tags/tag11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simeq \frac{K}{NV}.&#10;\]&#10;\end{document}&#10;"/>
  <p:tag name="FILENAME" val="TP_tmp"/>
  <p:tag name="FORMAT" val="png256"/>
  <p:tag name="RES" val="300"/>
  <p:tag name="BLEND" val="0"/>
  <p:tag name="TRANSPARENT" val="1"/>
  <p:tag name="TBUG" val="0"/>
  <p:tag name="ALLOWFS" val="0"/>
  <p:tag name="ORIGWIDTH" val="55"/>
  <p:tag name="PICTUREFILESIZE" val="2830"/>
</p:tagLst>
</file>

<file path=ppt/tags/tag11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k((\bfx - \bfx_n)/h) = \left\{%&#10;\begin{array}{ll}&#10;    1, &amp; \hbox{$|(x_{i} - x_{ni})/h| \leqslant 1/2$, \hspace{5mm}&#10;    $i = 1, \ldots, D$,} \\&#10;    0, &amp; \hbox{otherwise.} \\&#10;\end{array}%&#10;\right.&#10;\]&#10;\end{document}&#10;"/>
  <p:tag name="FILENAME" val="TP_tmp"/>
  <p:tag name="FORMAT" val="png256"/>
  <p:tag name="RES" val="600"/>
  <p:tag name="BLEND" val="0"/>
  <p:tag name="TRANSPARENT" val="1"/>
  <p:tag name="TBUG" val="0"/>
  <p:tag name="ALLOWFS" val="0"/>
  <p:tag name="ORIGWIDTH" val="271"/>
  <p:tag name="PICTUREFILESIZE" val="8410"/>
</p:tagLst>
</file>

<file path=ppt/tags/tag11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K = \sum_{n=1}^N k\left(\frac{\bfx - \bfx_n}{h} \right)&#10;\]&#10;\end{document}&#10;"/>
  <p:tag name="FILENAME" val="TP_tmp"/>
  <p:tag name="FORMAT" val="png256"/>
  <p:tag name="RES" val="600"/>
  <p:tag name="BLEND" val="0"/>
  <p:tag name="TRANSPARENT" val="1"/>
  <p:tag name="TBUG" val="0"/>
  <p:tag name="ALLOWFS" val="0"/>
  <p:tag name="ORIGWIDTH" val="92"/>
  <p:tag name="PICTUREFILESIZE" val="4266"/>
</p:tagLst>
</file>

<file path=ppt/tags/tag119.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bfx) = \frac{1}{N}&#10;    \sum_{n=1}^N \frac{1}{h^D} k\left(\frac{\bfx - \bfx_n}{h} \right).&#10;\]&#10;\end{document}&#10;"/>
  <p:tag name="FILENAME" val="TP_tmp"/>
  <p:tag name="FORMAT" val="png256"/>
  <p:tag name="RES" val="600"/>
  <p:tag name="BLEND" val="0"/>
  <p:tag name="TRANSPARENT" val="1"/>
  <p:tag name="TBUG" val="0"/>
  <p:tag name="ALLOWFS" val="0"/>
  <p:tag name="ORIGWIDTH" val="136"/>
  <p:tag name="PICTUREFILESIZE" val="6122"/>
</p:tagLst>
</file>

<file path=ppt/tags/tag120.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eqnarray*}&#10;  k(\bfu) &amp;\geqslant&amp; 0, \\&#10;  \int k(\bfu) \diff{\bfu} &amp;=&amp; 1&#10;\end{eqnarray*}&#10;\end{document}&#10;"/>
  <p:tag name="FILENAME" val="TP_tmp"/>
  <p:tag name="FORMAT" val="png256"/>
  <p:tag name="RES" val="600"/>
  <p:tag name="BLEND" val="0"/>
  <p:tag name="TRANSPARENT" val="1"/>
  <p:tag name="TBUG" val="0"/>
  <p:tag name="ALLOWFS" val="0"/>
  <p:tag name="ORIGWIDTH" val="80"/>
  <p:tag name="PICTUREFILESIZE" val="3952"/>
</p:tagLst>
</file>

<file path=ppt/tags/tag121.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begin{align*}&#10;p(\bfx) = \frac{1}{N} \sum_{n=1}^N &amp; \frac{1}{(2 \pi h^2)^{D/2}} \\&#10;    &amp; \exp \left\{ - \frac{\|\bfx - \bfx_n\|^2}{2h^2} \right\}&#10;\end{align*}&#10;\end{document}&#10;"/>
  <p:tag name="FILENAME" val="TP_tmp"/>
  <p:tag name="FORMAT" val="png256"/>
  <p:tag name="RES" val="600"/>
  <p:tag name="BLEND" val="0"/>
  <p:tag name="TRANSPARENT" val="1"/>
  <p:tag name="TBUG" val="0"/>
  <p:tag name="ALLOWFS" val="0"/>
  <p:tag name="ORIGWIDTH" val="148"/>
  <p:tag name="PICTUREFILESIZE" val="8726"/>
</p:tagLst>
</file>

<file path=ppt/tags/tag122.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simeq \frac{K}{NV^{\star}}.&#10;\]&#10;\end{document}&#10;"/>
  <p:tag name="FILENAME" val="TP_tmp"/>
  <p:tag name="FORMAT" val="png256"/>
  <p:tag name="RES" val="300"/>
  <p:tag name="BLEND" val="0"/>
  <p:tag name="TRANSPARENT" val="1"/>
  <p:tag name="TBUG" val="0"/>
  <p:tag name="ALLOWFS" val="0"/>
  <p:tag name="ORIGWIDTH" val="59"/>
  <p:tag name="PICTUREFILESIZE" val="1748"/>
</p:tagLst>
</file>

<file path=ppt/tags/tag123.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extstyle \sum_k N_k = N&#10;\]&#10;\end{document}&#10;"/>
  <p:tag name="FILENAME" val="TP_tmp"/>
  <p:tag name="FORMAT" val="png256"/>
  <p:tag name="RES" val="600"/>
  <p:tag name="BLEND" val="0"/>
  <p:tag name="TRANSPARENT" val="1"/>
  <p:tag name="TBUG" val="0"/>
  <p:tag name="ALLOWFS" val="0"/>
  <p:tag name="ORIGWIDTH" val="52"/>
  <p:tag name="PICTUREFILESIZE" val="2207"/>
</p:tagLst>
</file>

<file path=ppt/tags/tag124.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bfx) = \frac{K}{N V}&#10;\]&#10;\end{document}&#10;"/>
  <p:tag name="FILENAME" val="TP_tmp"/>
  <p:tag name="FORMAT" val="png256"/>
  <p:tag name="RES" val="600"/>
  <p:tag name="BLEND" val="0"/>
  <p:tag name="TRANSPARENT" val="1"/>
  <p:tag name="TBUG" val="0"/>
  <p:tag name="ALLOWFS" val="0"/>
  <p:tag name="ORIGWIDTH" val="52"/>
  <p:tag name="PICTUREFILESIZE" val="2822"/>
</p:tagLst>
</file>

<file path=ppt/tags/tag125.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 p(\bfx|{\cal C}_k) = \frac{K_k}{N_k V}.&#10;\]&#10;\end{document}&#10;"/>
  <p:tag name="FILENAME" val="TP_tmp"/>
  <p:tag name="FORMAT" val="png256"/>
  <p:tag name="RES" val="600"/>
  <p:tag name="BLEND" val="0"/>
  <p:tag name="TRANSPARENT" val="1"/>
  <p:tag name="TBUG" val="0"/>
  <p:tag name="ALLOWFS" val="0"/>
  <p:tag name="ORIGWIDTH" val="72"/>
  <p:tag name="PICTUREFILESIZE" val="3703"/>
</p:tagLst>
</file>

<file path=ppt/tags/tag126.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textstyle  p({\cal C}_k) = N_k / N&#10;\]&#10;\end{document}&#10;"/>
  <p:tag name="FILENAME" val="TP_tmp"/>
  <p:tag name="FORMAT" val="png256"/>
  <p:tag name="RES" val="600"/>
  <p:tag name="BLEND" val="0"/>
  <p:tag name="TRANSPARENT" val="1"/>
  <p:tag name="TBUG" val="0"/>
  <p:tag name="ALLOWFS" val="0"/>
  <p:tag name="ORIGWIDTH" val="63"/>
  <p:tag name="PICTUREFILESIZE" val="2607"/>
</p:tagLst>
</file>

<file path=ppt/tags/tag127.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p({\cal C}_k|\bfx) = \frac{p(\bfx|{\cal C}_k) p({\cal C}_k)}{p(\bfx)}&#10;    = \frac{K_k}{K}.&#10;\]&#10;\end{document}&#10;"/>
  <p:tag name="FILENAME" val="TP_tmp"/>
  <p:tag name="FORMAT" val="png256"/>
  <p:tag name="RES" val="600"/>
  <p:tag name="BLEND" val="0"/>
  <p:tag name="TRANSPARENT" val="1"/>
  <p:tag name="TBUG" val="0"/>
  <p:tag name="ALLOWFS" val="0"/>
  <p:tag name="ORIGWIDTH" val="134"/>
  <p:tag name="PICTUREFILESIZE" val="5972"/>
</p:tagLst>
</file>

<file path=ppt/tags/tag128.xml><?xml version="1.0" encoding="utf-8"?>
<p:tagLst xmlns:a="http://schemas.openxmlformats.org/drawingml/2006/main" xmlns:r="http://schemas.openxmlformats.org/officeDocument/2006/relationships" xmlns:p="http://schemas.openxmlformats.org/presentationml/2006/main">
  <p:tag name="TEXPOINT" val="latex"/>
  <p:tag name="SOURCE" val="\documentclass{book}&#10;\pagestyle{empty}&#10;\input{C:/Users/markussv/depots/CMBBOOK/latex/prml-utils}&#10;\begin{document}&#10;\[&#10;N \rightarrow \infty&#10;\]&#10;\end{document}&#10;"/>
  <p:tag name="FILENAME" val="TP_tmp"/>
  <p:tag name="FORMAT" val="png256"/>
  <p:tag name="RES" val="600"/>
  <p:tag name="BLEND" val="0"/>
  <p:tag name="TRANSPARENT" val="1"/>
  <p:tag name="TBUG" val="0"/>
  <p:tag name="ALLOWFS" val="0"/>
  <p:tag name="ORIGWIDTH" val="35"/>
  <p:tag name="PICTUREFILESIZE" val="1649"/>
</p:tagLst>
</file>

<file path=ppt/theme/theme1.xml><?xml version="1.0" encoding="utf-8"?>
<a:theme xmlns:a="http://schemas.openxmlformats.org/drawingml/2006/main" name="Тема Office">
  <a:themeElements>
    <a:clrScheme name="Тема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Тема 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Тема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Тема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prm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1668</TotalTime>
  <Words>5439</Words>
  <Application>Microsoft Macintosh PowerPoint</Application>
  <PresentationFormat>Экран (4:3)</PresentationFormat>
  <Paragraphs>621</Paragraphs>
  <Slides>125</Slides>
  <Notes>5</Notes>
  <HiddenSlides>0</HiddenSlides>
  <MMClips>0</MMClips>
  <ScaleCrop>false</ScaleCrop>
  <HeadingPairs>
    <vt:vector size="6" baseType="variant">
      <vt:variant>
        <vt:lpstr>Использованные шрифты</vt:lpstr>
      </vt:variant>
      <vt:variant>
        <vt:i4>56</vt:i4>
      </vt:variant>
      <vt:variant>
        <vt:lpstr>Тема</vt:lpstr>
      </vt:variant>
      <vt:variant>
        <vt:i4>3</vt:i4>
      </vt:variant>
      <vt:variant>
        <vt:lpstr>Заголовки слайдов</vt:lpstr>
      </vt:variant>
      <vt:variant>
        <vt:i4>125</vt:i4>
      </vt:variant>
    </vt:vector>
  </HeadingPairs>
  <TitlesOfParts>
    <vt:vector size="184" baseType="lpstr">
      <vt:lpstr>-apple-system</vt:lpstr>
      <vt:lpstr>-webkit-standard</vt:lpstr>
      <vt:lpstr>Aptos</vt:lpstr>
      <vt:lpstr>Arial</vt:lpstr>
      <vt:lpstr>Calibri</vt:lpstr>
      <vt:lpstr>Calibri Light</vt:lpstr>
      <vt:lpstr>Cambria Math</vt:lpstr>
      <vt:lpstr>cmbx10</vt:lpstr>
      <vt:lpstr>cmbx10</vt:lpstr>
      <vt:lpstr>CMBX12</vt:lpstr>
      <vt:lpstr>CMBX12</vt:lpstr>
      <vt:lpstr>CMMI10</vt:lpstr>
      <vt:lpstr>CMMI12</vt:lpstr>
      <vt:lpstr>CMMI12</vt:lpstr>
      <vt:lpstr>CMMI9</vt:lpstr>
      <vt:lpstr>cmr10</vt:lpstr>
      <vt:lpstr>cmr10</vt:lpstr>
      <vt:lpstr>CMR12</vt:lpstr>
      <vt:lpstr>CMR12</vt:lpstr>
      <vt:lpstr>CMSY10</vt:lpstr>
      <vt:lpstr>cmti10</vt:lpstr>
      <vt:lpstr>Consolas</vt:lpstr>
      <vt:lpstr>Fd1161503-Identity-H</vt:lpstr>
      <vt:lpstr>Fd1244226-Identity-H</vt:lpstr>
      <vt:lpstr>Fd1442277-Identity-H</vt:lpstr>
      <vt:lpstr>Fd1592243-Identity-H</vt:lpstr>
      <vt:lpstr>Fd1660928-Identity-H</vt:lpstr>
      <vt:lpstr>Fd1785535-Identity-H</vt:lpstr>
      <vt:lpstr>Fd1848805-Identity-H</vt:lpstr>
      <vt:lpstr>Fd2024191-Identity-H</vt:lpstr>
      <vt:lpstr>Fd2042035-Identity-H</vt:lpstr>
      <vt:lpstr>Fd2116929-Identity-H</vt:lpstr>
      <vt:lpstr>Fd222922-Identity-H</vt:lpstr>
      <vt:lpstr>Fd2260317-Identity-H</vt:lpstr>
      <vt:lpstr>Fd2389278-Identity-H</vt:lpstr>
      <vt:lpstr>Fd2449472-Identity-H</vt:lpstr>
      <vt:lpstr>Fd2532549-Identity-H</vt:lpstr>
      <vt:lpstr>Fd2558666-Identity-H</vt:lpstr>
      <vt:lpstr>Fd2558668-Identity-H</vt:lpstr>
      <vt:lpstr>Fd2560914-Identity-H</vt:lpstr>
      <vt:lpstr>Fd2561963-Identity-H</vt:lpstr>
      <vt:lpstr>Fd261957-Identity-H</vt:lpstr>
      <vt:lpstr>Fd279932-Identity-H</vt:lpstr>
      <vt:lpstr>Fd34424-Identity-H</vt:lpstr>
      <vt:lpstr>Fd375676-Identity-H</vt:lpstr>
      <vt:lpstr>Fd467651-Identity-H</vt:lpstr>
      <vt:lpstr>Fd780097-Identity-H</vt:lpstr>
      <vt:lpstr>Fd837699-Identity-H</vt:lpstr>
      <vt:lpstr>Fd848363-Identity-H</vt:lpstr>
      <vt:lpstr>Google Sans</vt:lpstr>
      <vt:lpstr>Helvetica</vt:lpstr>
      <vt:lpstr>Linux Libertine</vt:lpstr>
      <vt:lpstr>PTSerif</vt:lpstr>
      <vt:lpstr>SFRM1000</vt:lpstr>
      <vt:lpstr>Times</vt:lpstr>
      <vt:lpstr>Times New Roman</vt:lpstr>
      <vt:lpstr>Тема Office</vt:lpstr>
      <vt:lpstr>1_Тема Office</vt:lpstr>
      <vt:lpstr>prml</vt:lpstr>
      <vt:lpstr>Машинное обучение (краткий курс)</vt:lpstr>
      <vt:lpstr>Содержание</vt:lpstr>
      <vt:lpstr>Литература</vt:lpstr>
      <vt:lpstr>Некоторые популярные на сегодня задачи ИИ</vt:lpstr>
      <vt:lpstr>Машинное обучение. Определение</vt:lpstr>
      <vt:lpstr>Презентация PowerPoint</vt:lpstr>
      <vt:lpstr>Машинное обучение</vt:lpstr>
      <vt:lpstr>Презентация PowerPoint</vt:lpstr>
      <vt:lpstr>Вопрос для обсуждения</vt:lpstr>
      <vt:lpstr>Пример больших данных</vt:lpstr>
      <vt:lpstr>Некоторые задачи машинного обучения</vt:lpstr>
      <vt:lpstr>Выбор алгоритма решения</vt:lpstr>
      <vt:lpstr>Презентация PowerPoint</vt:lpstr>
      <vt:lpstr>Презентация PowerPoint</vt:lpstr>
      <vt:lpstr>Презентация PowerPoint</vt:lpstr>
      <vt:lpstr>Этапы обучения</vt:lpstr>
      <vt:lpstr>Рекомендуемые системы программирования и библиотеки</vt:lpstr>
      <vt:lpstr>Пример задачи</vt:lpstr>
      <vt:lpstr>Пример решения  (не идеального)</vt:lpstr>
      <vt:lpstr>Пример</vt:lpstr>
      <vt:lpstr>Пример графика</vt:lpstr>
      <vt:lpstr>Пример</vt:lpstr>
      <vt:lpstr>Функция ошибки</vt:lpstr>
      <vt:lpstr>Поиск решения</vt:lpstr>
      <vt:lpstr>Выбор модели</vt:lpstr>
      <vt:lpstr>RMS</vt:lpstr>
      <vt:lpstr>Таблица коэффициентов</vt:lpstr>
      <vt:lpstr>Увеличение объема данных</vt:lpstr>
      <vt:lpstr>Регуляризация</vt:lpstr>
      <vt:lpstr>Минимизация</vt:lpstr>
      <vt:lpstr>Результаты для полинома 𝑀=9</vt:lpstr>
      <vt:lpstr>Таблица коэффициентов</vt:lpstr>
      <vt:lpstr>График среднеквадратической ошибки в зависимости от lnλ для полинома степени М = 9 </vt:lpstr>
      <vt:lpstr>Теорема Байеса в ML</vt:lpstr>
      <vt:lpstr>Оценка правдоподобия</vt:lpstr>
      <vt:lpstr>Задача +1 балл</vt:lpstr>
      <vt:lpstr>Нормальное распределение</vt:lpstr>
      <vt:lpstr>Нахождение параметров μ,σ^2</vt:lpstr>
      <vt:lpstr>Нахождение параметров μ,σ^2</vt:lpstr>
      <vt:lpstr>Свойства          и </vt:lpstr>
      <vt:lpstr>Аппроксимация кривой</vt:lpstr>
      <vt:lpstr>Аппроксимация кривой</vt:lpstr>
      <vt:lpstr>Определение β </vt:lpstr>
      <vt:lpstr>Априорное распределение для коэффициентов полинома 𝐰</vt:lpstr>
      <vt:lpstr>Байесовская аппроксимация кривой </vt:lpstr>
      <vt:lpstr>Выбор модели </vt:lpstr>
      <vt:lpstr>No free lunch theorem</vt:lpstr>
      <vt:lpstr>Перекрёстная проверка</vt:lpstr>
      <vt:lpstr>Штраф за сложность</vt:lpstr>
      <vt:lpstr>Пример выбора модели</vt:lpstr>
      <vt:lpstr>Пример выбора модели</vt:lpstr>
      <vt:lpstr>Пример выбора модели</vt:lpstr>
      <vt:lpstr>Проклятие размерности</vt:lpstr>
      <vt:lpstr>Проклятие размерности</vt:lpstr>
      <vt:lpstr>Теория принятия решений</vt:lpstr>
      <vt:lpstr>Минимальная частота ошибочной классификации</vt:lpstr>
      <vt:lpstr>Минимальные ожидаемые потери</vt:lpstr>
      <vt:lpstr>Минимальные ожидаемые потери</vt:lpstr>
      <vt:lpstr>Опция «не принимать решение»</vt:lpstr>
      <vt:lpstr>3 подхода к принятию решений</vt:lpstr>
      <vt:lpstr>Преимущества и недостатки</vt:lpstr>
      <vt:lpstr>Зачем разделять вывод и решение?</vt:lpstr>
      <vt:lpstr>Зачем разделять вывод и решение? (2)</vt:lpstr>
      <vt:lpstr>Теория принятия решений для регрессии</vt:lpstr>
      <vt:lpstr>Квадратичная функция потерь</vt:lpstr>
      <vt:lpstr>Функция потерь Минковского </vt:lpstr>
      <vt:lpstr>Теория информации</vt:lpstr>
      <vt:lpstr>Энтропия</vt:lpstr>
      <vt:lpstr>Пример</vt:lpstr>
      <vt:lpstr>Энтропия</vt:lpstr>
      <vt:lpstr>Энтропия</vt:lpstr>
      <vt:lpstr>Энтропия</vt:lpstr>
      <vt:lpstr>Дифференциальная энтропия</vt:lpstr>
      <vt:lpstr>Условная энтропия </vt:lpstr>
      <vt:lpstr>Дивергенция Кульбака — Лейблера</vt:lpstr>
      <vt:lpstr>Взаимная информация</vt:lpstr>
      <vt:lpstr>Параметрические распределения</vt:lpstr>
      <vt:lpstr>Бинарные переменные (1)</vt:lpstr>
      <vt:lpstr>Бинарные переменные (2)</vt:lpstr>
      <vt:lpstr>Биномиальное распределение</vt:lpstr>
      <vt:lpstr>Оценка параметров (1)</vt:lpstr>
      <vt:lpstr>Бета-распределение</vt:lpstr>
      <vt:lpstr>Сопряженное распределение</vt:lpstr>
      <vt:lpstr>Байесовский Бернулли</vt:lpstr>
      <vt:lpstr>Бета-распределение</vt:lpstr>
      <vt:lpstr>Мультиноминальные случайные переменные</vt:lpstr>
      <vt:lpstr>ML Оценка параметров</vt:lpstr>
      <vt:lpstr>Мультиноминальное распределение</vt:lpstr>
      <vt:lpstr>Распределение Дирихле</vt:lpstr>
      <vt:lpstr>Распределение Дирихле (2)</vt:lpstr>
      <vt:lpstr>Нормальное распределение</vt:lpstr>
      <vt:lpstr>Центральная предельная теорема</vt:lpstr>
      <vt:lpstr>Геометрическое представление многомерного нормального распределения</vt:lpstr>
      <vt:lpstr>Моменты</vt:lpstr>
      <vt:lpstr>Разделение переменных в нормальном распределении</vt:lpstr>
      <vt:lpstr>Условные вероятности и частное распределение</vt:lpstr>
      <vt:lpstr>Условные вероятности</vt:lpstr>
      <vt:lpstr>Теорема Байеса для нормального закона</vt:lpstr>
      <vt:lpstr>Последовательная оценка</vt:lpstr>
      <vt:lpstr>Алгоритм Роббинса-Монро (1)</vt:lpstr>
      <vt:lpstr>Алгоритм Роббинса-Монро (2)</vt:lpstr>
      <vt:lpstr>Алгоритм Роббинса-Монро(3)</vt:lpstr>
      <vt:lpstr>Распределение Стьюдента</vt:lpstr>
      <vt:lpstr>Распределение Стьюдента</vt:lpstr>
      <vt:lpstr>Распределение Стьюдента</vt:lpstr>
      <vt:lpstr>Периодические случайные величины</vt:lpstr>
      <vt:lpstr>Распределение Мизеса (1)</vt:lpstr>
      <vt:lpstr>Распределение Мизеса (2)</vt:lpstr>
      <vt:lpstr>Максимальное правдоподобие</vt:lpstr>
      <vt:lpstr>Смесь нормальных распределений (1)</vt:lpstr>
      <vt:lpstr>Смесь нормальных распределений (2)</vt:lpstr>
      <vt:lpstr>Смесь нормальных распределений (3)</vt:lpstr>
      <vt:lpstr>Семейство экспоненциальных распределений (1)</vt:lpstr>
      <vt:lpstr>Непараметрические методы</vt:lpstr>
      <vt:lpstr>Непараметрические методы (2)</vt:lpstr>
      <vt:lpstr>Непараметрические методы (3)</vt:lpstr>
      <vt:lpstr>Непараметрические методы (4)</vt:lpstr>
      <vt:lpstr>Непараметрические методы (5)</vt:lpstr>
      <vt:lpstr>Непараметрические методы (6)</vt:lpstr>
      <vt:lpstr>K-ближайших соседей для классификации (1)</vt:lpstr>
      <vt:lpstr>K-ближайших соседей для классификации (2)</vt:lpstr>
      <vt:lpstr>K-ближайших соседей для классификации (3)</vt:lpstr>
      <vt:lpstr>продолжение см. ML2</vt:lpstr>
      <vt:lpstr>Итоги</vt:lpstr>
      <vt:lpstr>Презентация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dc:title>
  <dc:subject/>
  <dc:creator>Пользователь Microsoft Office</dc:creator>
  <cp:keywords/>
  <dc:description/>
  <cp:lastModifiedBy>Microsoft Office User</cp:lastModifiedBy>
  <cp:revision>237</cp:revision>
  <cp:lastPrinted>2026-09-27T16:50:42Z</cp:lastPrinted>
  <dcterms:created xsi:type="dcterms:W3CDTF">2016-10-02T08:06:42Z</dcterms:created>
  <dcterms:modified xsi:type="dcterms:W3CDTF">2026-09-27T18:56:57Z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10433957</vt:lpwstr>
  </property>
  <property fmtid="{D5CDD505-2E9C-101B-9397-08002B2CF9AE}" pid="3" name="NXPowerLiteSettings">
    <vt:lpwstr>C700052003A000</vt:lpwstr>
  </property>
  <property fmtid="{D5CDD505-2E9C-101B-9397-08002B2CF9AE}" pid="4" name="NXPowerLiteVersion">
    <vt:lpwstr>D8.0.8</vt:lpwstr>
  </property>
</Properties>
</file>