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55"/>
  </p:notesMasterIdLst>
  <p:handoutMasterIdLst>
    <p:handoutMasterId r:id="rId56"/>
  </p:handoutMasterIdLst>
  <p:sldIdLst>
    <p:sldId id="323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79" r:id="rId22"/>
    <p:sldId id="287" r:id="rId23"/>
    <p:sldId id="281" r:id="rId24"/>
    <p:sldId id="286" r:id="rId25"/>
    <p:sldId id="285" r:id="rId26"/>
    <p:sldId id="288" r:id="rId27"/>
    <p:sldId id="289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3" r:id="rId40"/>
    <p:sldId id="302" r:id="rId41"/>
    <p:sldId id="304" r:id="rId42"/>
    <p:sldId id="307" r:id="rId43"/>
    <p:sldId id="308" r:id="rId44"/>
    <p:sldId id="306" r:id="rId45"/>
    <p:sldId id="309" r:id="rId46"/>
    <p:sldId id="310" r:id="rId47"/>
    <p:sldId id="311" r:id="rId48"/>
    <p:sldId id="314" r:id="rId49"/>
    <p:sldId id="315" r:id="rId50"/>
    <p:sldId id="316" r:id="rId51"/>
    <p:sldId id="320" r:id="rId52"/>
    <p:sldId id="321" r:id="rId53"/>
    <p:sldId id="322" r:id="rId54"/>
  </p:sldIdLst>
  <p:sldSz cx="9144000" cy="6858000" type="screen4x3"/>
  <p:notesSz cx="6794500" cy="9918700"/>
  <p:embeddedFontLst>
    <p:embeddedFont>
      <p:font typeface="Calibri" panose="020F0502020204030204" pitchFamily="34" charset="0"/>
      <p:regular r:id="rId57"/>
      <p:bold r:id="rId58"/>
      <p:italic r:id="rId59"/>
      <p:boldItalic r:id="rId60"/>
    </p:embeddedFont>
    <p:embeddedFont>
      <p:font typeface="CMBX10" panose="020B0500000000000000" pitchFamily="34" charset="0"/>
      <p:regular r:id="rId61"/>
    </p:embeddedFont>
    <p:embeddedFont>
      <p:font typeface="CMBX10" panose="020B0500000000000000" pitchFamily="34" charset="0"/>
      <p:regular r:id="rId61"/>
    </p:embeddedFont>
    <p:embeddedFont>
      <p:font typeface="cmbx12" panose="020B0500000000000000" pitchFamily="34" charset="0"/>
      <p:regular r:id="rId62"/>
    </p:embeddedFont>
    <p:embeddedFont>
      <p:font typeface="CMMI12" panose="020B0500000000000000" pitchFamily="34" charset="0"/>
      <p:regular r:id="rId63"/>
    </p:embeddedFont>
    <p:embeddedFont>
      <p:font typeface="CMMI12" panose="020B0500000000000000" pitchFamily="34" charset="0"/>
      <p:regular r:id="rId63"/>
    </p:embeddedFont>
    <p:embeddedFont>
      <p:font typeface="CMR12" panose="020B0500000000000000" pitchFamily="34" charset="0"/>
      <p:regular r:id="rId64"/>
    </p:embeddedFont>
    <p:embeddedFont>
      <p:font typeface="CMR12" panose="020B0500000000000000" pitchFamily="34" charset="0"/>
      <p:regular r:id="rId64"/>
    </p:embeddedFont>
    <p:embeddedFont>
      <p:font typeface="cmssbx10" panose="020B0500000000000000" pitchFamily="34" charset="0"/>
      <p:regular r:id="rId65"/>
    </p:embeddedFont>
    <p:embeddedFont>
      <p:font typeface="cmsy10" panose="020B0500000000000000" pitchFamily="34" charset="0"/>
      <p:regular r:id="rId66"/>
    </p:embeddedFont>
    <p:embeddedFont>
      <p:font typeface="msbm10" panose="020B0500000000000000" pitchFamily="34" charset="0"/>
      <p:regular r:id="rId67"/>
    </p:embeddedFont>
  </p:embeddedFontLst>
  <p:custDataLst>
    <p:tags r:id="rId68"/>
  </p:custDataLst>
  <p:defaultTextStyle>
    <a:defPPr>
      <a:defRPr lang="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kus Svensén" initials="JFMS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66FF33"/>
    <a:srgbClr val="238D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43" autoAdjust="0"/>
    <p:restoredTop sz="93323" autoAdjust="0"/>
  </p:normalViewPr>
  <p:slideViewPr>
    <p:cSldViewPr>
      <p:cViewPr varScale="1">
        <p:scale>
          <a:sx n="103" d="100"/>
          <a:sy n="103" d="100"/>
        </p:scale>
        <p:origin x="72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858"/>
    </p:cViewPr>
  </p:sorterViewPr>
  <p:notesViewPr>
    <p:cSldViewPr>
      <p:cViewPr varScale="1">
        <p:scale>
          <a:sx n="80" d="100"/>
          <a:sy n="80" d="100"/>
        </p:scale>
        <p:origin x="-2094" y="-84"/>
      </p:cViewPr>
      <p:guideLst>
        <p:guide orient="horz" pos="3124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64" Type="http://schemas.openxmlformats.org/officeDocument/2006/relationships/font" Target="fonts/font8.fntdata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497" cy="495296"/>
          </a:xfrm>
          <a:prstGeom prst="rect">
            <a:avLst/>
          </a:prstGeom>
        </p:spPr>
        <p:txBody>
          <a:bodyPr vert="horz" lIns="92208" tIns="46104" rIns="92208" bIns="4610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398" y="0"/>
            <a:ext cx="2944497" cy="495296"/>
          </a:xfrm>
          <a:prstGeom prst="rect">
            <a:avLst/>
          </a:prstGeom>
        </p:spPr>
        <p:txBody>
          <a:bodyPr vert="horz" lIns="92208" tIns="46104" rIns="92208" bIns="46104" rtlCol="0"/>
          <a:lstStyle>
            <a:lvl1pPr algn="r">
              <a:defRPr sz="1200"/>
            </a:lvl1pPr>
          </a:lstStyle>
          <a:p>
            <a:fld id="{E7E810F5-0D08-4D03-84F4-008A88ACC171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1807"/>
            <a:ext cx="2944497" cy="495296"/>
          </a:xfrm>
          <a:prstGeom prst="rect">
            <a:avLst/>
          </a:prstGeom>
        </p:spPr>
        <p:txBody>
          <a:bodyPr vert="horz" lIns="92208" tIns="46104" rIns="92208" bIns="4610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398" y="9421807"/>
            <a:ext cx="2944497" cy="495296"/>
          </a:xfrm>
          <a:prstGeom prst="rect">
            <a:avLst/>
          </a:prstGeom>
        </p:spPr>
        <p:txBody>
          <a:bodyPr vert="horz" lIns="92208" tIns="46104" rIns="92208" bIns="46104" rtlCol="0" anchor="b"/>
          <a:lstStyle>
            <a:lvl1pPr algn="r">
              <a:defRPr sz="1200"/>
            </a:lvl1pPr>
          </a:lstStyle>
          <a:p>
            <a:fld id="{2E2CC9E8-74EB-4B73-8F11-4AA378E80D5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497" cy="495296"/>
          </a:xfrm>
          <a:prstGeom prst="rect">
            <a:avLst/>
          </a:prstGeom>
        </p:spPr>
        <p:txBody>
          <a:bodyPr vert="horz" lIns="92208" tIns="46104" rIns="92208" bIns="4610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398" y="0"/>
            <a:ext cx="2944497" cy="495296"/>
          </a:xfrm>
          <a:prstGeom prst="rect">
            <a:avLst/>
          </a:prstGeom>
        </p:spPr>
        <p:txBody>
          <a:bodyPr vert="horz" lIns="92208" tIns="46104" rIns="92208" bIns="46104" rtlCol="0"/>
          <a:lstStyle>
            <a:lvl1pPr algn="r">
              <a:defRPr sz="1200"/>
            </a:lvl1pPr>
          </a:lstStyle>
          <a:p>
            <a:fld id="{3C7B7E9D-307C-4F43-B508-A2CDC8AE20DA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59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08" tIns="46104" rIns="92208" bIns="4610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130" y="4711703"/>
            <a:ext cx="5436242" cy="4462456"/>
          </a:xfrm>
          <a:prstGeom prst="rect">
            <a:avLst/>
          </a:prstGeom>
        </p:spPr>
        <p:txBody>
          <a:bodyPr vert="horz" lIns="92208" tIns="46104" rIns="92208" bIns="4610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1807"/>
            <a:ext cx="2944497" cy="495296"/>
          </a:xfrm>
          <a:prstGeom prst="rect">
            <a:avLst/>
          </a:prstGeom>
        </p:spPr>
        <p:txBody>
          <a:bodyPr vert="horz" lIns="92208" tIns="46104" rIns="92208" bIns="4610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398" y="9421807"/>
            <a:ext cx="2944497" cy="495296"/>
          </a:xfrm>
          <a:prstGeom prst="rect">
            <a:avLst/>
          </a:prstGeom>
        </p:spPr>
        <p:txBody>
          <a:bodyPr vert="horz" lIns="92208" tIns="46104" rIns="92208" bIns="46104" rtlCol="0" anchor="b"/>
          <a:lstStyle>
            <a:lvl1pPr algn="r">
              <a:defRPr sz="1200"/>
            </a:lvl1pPr>
          </a:lstStyle>
          <a:p>
            <a:fld id="{287FC852-F124-48A4-8C7E-96992E409D3A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FC852-F124-48A4-8C7E-96992E409D3A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4525963"/>
          </a:xfrm>
        </p:spPr>
        <p:txBody>
          <a:bodyPr/>
          <a:lstStyle>
            <a:lvl1pPr>
              <a:buNone/>
              <a:defRPr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219200"/>
            <a:ext cx="82296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722376" y="4419600"/>
            <a:ext cx="77724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400" b="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400" b="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143000"/>
            <a:ext cx="82296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457200" y="1143000"/>
            <a:ext cx="8229600" cy="76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 rot="5400000" flipH="1" flipV="1">
            <a:off x="0" y="1143000"/>
            <a:ext cx="158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457200" y="1143000"/>
            <a:ext cx="8229600" cy="76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E2D75-176A-4731-8E9E-D5878C72AE7C}" type="datetimeFigureOut">
              <a:rPr lang="en-US" smtClean="0"/>
              <a:pPr/>
              <a:t>10/12/25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A1D74-A88E-44E7-9F6E-F7237237E53C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14.png"/><Relationship Id="rId5" Type="http://schemas.openxmlformats.org/officeDocument/2006/relationships/tags" Target="../tags/tag12.xml"/><Relationship Id="rId10" Type="http://schemas.openxmlformats.org/officeDocument/2006/relationships/image" Target="../media/image13.png"/><Relationship Id="rId4" Type="http://schemas.openxmlformats.org/officeDocument/2006/relationships/tags" Target="../tags/tag11.xm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8.xml"/><Relationship Id="rId7" Type="http://schemas.openxmlformats.org/officeDocument/2006/relationships/image" Target="../media/image20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24.xml"/><Relationship Id="rId7" Type="http://schemas.openxmlformats.org/officeDocument/2006/relationships/image" Target="../media/image27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32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32.xml"/><Relationship Id="rId7" Type="http://schemas.openxmlformats.org/officeDocument/2006/relationships/image" Target="../media/image14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37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42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58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tags" Target="../tags/tag5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80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79.png"/><Relationship Id="rId5" Type="http://schemas.openxmlformats.org/officeDocument/2006/relationships/tags" Target="../tags/tag55.xml"/><Relationship Id="rId10" Type="http://schemas.openxmlformats.org/officeDocument/2006/relationships/image" Target="../media/image78.png"/><Relationship Id="rId4" Type="http://schemas.openxmlformats.org/officeDocument/2006/relationships/tags" Target="../tags/tag54.xml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88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6.xml"/><Relationship Id="rId4" Type="http://schemas.openxmlformats.org/officeDocument/2006/relationships/image" Target="../media/image9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image" Target="../media/image98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7" Type="http://schemas.openxmlformats.org/officeDocument/2006/relationships/image" Target="../media/image104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image" Target="../media/image106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105.png"/><Relationship Id="rId5" Type="http://schemas.openxmlformats.org/officeDocument/2006/relationships/image" Target="../media/image102.png"/><Relationship Id="rId4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708F9-CC87-0747-B481-DA60DFA29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" dirty="0"/>
              <a:t>Модели линейной регрессии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140DB3-9479-0242-B473-381C0859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" dirty="0"/>
              <a:t>Владимир Анатольевич Судаков</a:t>
            </a:r>
          </a:p>
          <a:p>
            <a:r>
              <a:rPr lang="ru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25208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dirty="0"/>
              <a:t>Модели с базисными функциями (1)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/>
              <a:t>Пример: полиномиальная аппроксимация кривой</a:t>
            </a: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2009757" y="2357430"/>
            <a:ext cx="5122131" cy="3739467"/>
            <a:chOff x="1644889" y="1524000"/>
            <a:chExt cx="6026036" cy="4399373"/>
          </a:xfrm>
        </p:grpSpPr>
        <p:pic>
          <p:nvPicPr>
            <p:cNvPr id="6" name="Content Placeholder 7" descr="Figure1.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1200" y="1524000"/>
              <a:ext cx="4800598" cy="3566160"/>
            </a:xfrm>
            <a:prstGeom prst="rect">
              <a:avLst/>
            </a:prstGeom>
          </p:spPr>
        </p:pic>
        <p:pic>
          <p:nvPicPr>
            <p:cNvPr id="7" name="Picture 6" descr="TP_tmp.emf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 bwMode="auto">
            <a:xfrm>
              <a:off x="1644889" y="5105400"/>
              <a:ext cx="6026036" cy="817973"/>
            </a:xfrm>
            <a:prstGeom prst="rect">
              <a:avLst/>
            </a:prstGeom>
            <a:noFill/>
            <a:ln/>
            <a:effectLst/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Модели с базисными функциями</a:t>
            </a:r>
            <a:r>
              <a:rPr lang="ru" sz="2800" dirty="0"/>
              <a:t>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" dirty="0"/>
              <a:t>В формуле:</a:t>
            </a:r>
          </a:p>
          <a:p>
            <a:endParaRPr lang="en-GB" dirty="0"/>
          </a:p>
          <a:p>
            <a:endParaRPr lang="en-GB" dirty="0"/>
          </a:p>
          <a:p>
            <a:r>
              <a:rPr lang="ru" dirty="0">
                <a:latin typeface="CMMI12" pitchFamily="34" charset="2"/>
              </a:rPr>
              <a:t>Á </a:t>
            </a:r>
            <a:r>
              <a:rPr lang="ru" baseline="-20000" dirty="0">
                <a:latin typeface="CMMI12" pitchFamily="34" charset="2"/>
              </a:rPr>
              <a:t>j </a:t>
            </a:r>
            <a:r>
              <a:rPr lang="ru" dirty="0">
                <a:latin typeface="CMR12" pitchFamily="34" charset="2"/>
              </a:rPr>
              <a:t>( </a:t>
            </a:r>
            <a:r>
              <a:rPr lang="ru" dirty="0">
                <a:latin typeface="CMBX10" pitchFamily="34" charset="2"/>
              </a:rPr>
              <a:t>x </a:t>
            </a:r>
            <a:r>
              <a:rPr lang="ru" dirty="0">
                <a:latin typeface="CMR12" pitchFamily="34" charset="2"/>
              </a:rPr>
              <a:t>) </a:t>
            </a:r>
            <a:r>
              <a:rPr lang="ru" dirty="0"/>
              <a:t>называются </a:t>
            </a:r>
            <a:r>
              <a:rPr lang="ru" i="1" dirty="0"/>
              <a:t>базисными функциями</a:t>
            </a:r>
            <a:r>
              <a:rPr lang="ru" dirty="0"/>
              <a:t>.</a:t>
            </a:r>
          </a:p>
          <a:p>
            <a:r>
              <a:rPr lang="ru" dirty="0"/>
              <a:t>Обычно </a:t>
            </a:r>
            <a:r>
              <a:rPr lang="ru" dirty="0">
                <a:latin typeface="CMMI12" pitchFamily="34" charset="2"/>
              </a:rPr>
              <a:t>Á </a:t>
            </a:r>
            <a:r>
              <a:rPr lang="ru" baseline="-20000" dirty="0">
                <a:latin typeface="CMR12" pitchFamily="34" charset="2"/>
              </a:rPr>
              <a:t>0 </a:t>
            </a:r>
            <a:r>
              <a:rPr lang="ru" dirty="0">
                <a:latin typeface="CMR12" pitchFamily="34" charset="2"/>
              </a:rPr>
              <a:t>( </a:t>
            </a:r>
            <a:r>
              <a:rPr lang="ru" dirty="0">
                <a:latin typeface="CMBX10" pitchFamily="34" charset="2"/>
              </a:rPr>
              <a:t>x </a:t>
            </a:r>
            <a:r>
              <a:rPr lang="ru" dirty="0">
                <a:latin typeface="CMR12" pitchFamily="34" charset="2"/>
              </a:rPr>
              <a:t>) = 1 </a:t>
            </a:r>
            <a:r>
              <a:rPr lang="ru" dirty="0"/>
              <a:t>, так что </a:t>
            </a:r>
            <a:r>
              <a:rPr lang="ru" dirty="0">
                <a:latin typeface="CMMI12" pitchFamily="34" charset="2"/>
              </a:rPr>
              <a:t>w </a:t>
            </a:r>
            <a:r>
              <a:rPr lang="ru" baseline="-20000" dirty="0">
                <a:latin typeface="CMR12" pitchFamily="34" charset="2"/>
              </a:rPr>
              <a:t>0 </a:t>
            </a:r>
            <a:r>
              <a:rPr lang="ru" dirty="0"/>
              <a:t>действует как смещение.</a:t>
            </a:r>
          </a:p>
          <a:p>
            <a:r>
              <a:rPr lang="ru" dirty="0"/>
              <a:t>В простейшем случае мы используем линейные базисные функции: </a:t>
            </a:r>
            <a:r>
              <a:rPr lang="ru" dirty="0" err="1">
                <a:latin typeface="CMMI12" pitchFamily="34" charset="2"/>
              </a:rPr>
              <a:t>Á </a:t>
            </a:r>
            <a:r>
              <a:rPr lang="ru" baseline="-20000" dirty="0" err="1">
                <a:latin typeface="cmmi12" pitchFamily="34" charset="0"/>
              </a:rPr>
              <a:t>d </a:t>
            </a:r>
            <a:r>
              <a:rPr lang="ru" dirty="0">
                <a:latin typeface="CMR12" pitchFamily="34" charset="2"/>
              </a:rPr>
              <a:t>( </a:t>
            </a:r>
            <a:r>
              <a:rPr lang="ru" dirty="0">
                <a:latin typeface="CMBX10" pitchFamily="34" charset="2"/>
              </a:rPr>
              <a:t>x </a:t>
            </a:r>
            <a:r>
              <a:rPr lang="ru" dirty="0">
                <a:latin typeface="CMR12" pitchFamily="34" charset="2"/>
              </a:rPr>
              <a:t>) = </a:t>
            </a:r>
            <a:r>
              <a:rPr lang="ru" dirty="0" err="1">
                <a:latin typeface="cmmi12" pitchFamily="34" charset="0"/>
              </a:rPr>
              <a:t>x </a:t>
            </a:r>
            <a:r>
              <a:rPr lang="ru" baseline="-20000" dirty="0" err="1">
                <a:latin typeface="cmmi12" pitchFamily="34" charset="0"/>
              </a:rPr>
              <a:t>d </a:t>
            </a:r>
            <a:r>
              <a:rPr lang="ru" dirty="0"/>
              <a:t>.</a:t>
            </a:r>
          </a:p>
        </p:txBody>
      </p:sp>
      <p:pic>
        <p:nvPicPr>
          <p:cNvPr id="9" name="Picture 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97424" y="2197413"/>
            <a:ext cx="4732030" cy="10172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Модели с базисными функциями</a:t>
            </a:r>
            <a:r>
              <a:rPr lang="ru" dirty="0"/>
              <a:t> (3)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" dirty="0"/>
              <a:t>Полиномиальные базисные функции:</a:t>
            </a:r>
          </a:p>
          <a:p>
            <a:endParaRPr lang="en-GB" dirty="0"/>
          </a:p>
          <a:p>
            <a:endParaRPr lang="en-GB" dirty="0"/>
          </a:p>
          <a:p>
            <a:pPr marL="0" indent="0"/>
            <a:r>
              <a:rPr lang="ru" dirty="0"/>
              <a:t>Они глобальны: небольшое изменение </a:t>
            </a:r>
            <a:r>
              <a:rPr lang="ru" dirty="0">
                <a:latin typeface="cmmi12" pitchFamily="34" charset="0"/>
              </a:rPr>
              <a:t>x     </a:t>
            </a:r>
            <a:r>
              <a:rPr lang="ru" dirty="0"/>
              <a:t> </a:t>
            </a:r>
            <a:r>
              <a:rPr lang="ru" dirty="0">
                <a:latin typeface="cmmi12" pitchFamily="34" charset="0"/>
              </a:rPr>
              <a:t> </a:t>
            </a:r>
            <a:r>
              <a:rPr lang="ru" dirty="0"/>
              <a:t>влияет на все базисные функции.</a:t>
            </a:r>
          </a:p>
        </p:txBody>
      </p:sp>
      <p:pic>
        <p:nvPicPr>
          <p:cNvPr id="11" name="Content Placeholder 6" descr="Figure3.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7" y="2295515"/>
            <a:ext cx="3300990" cy="3148590"/>
          </a:xfrm>
          <a:prstGeom prst="rect">
            <a:avLst/>
          </a:prstGeom>
        </p:spPr>
      </p:pic>
      <p:pic>
        <p:nvPicPr>
          <p:cNvPr id="15" name="Content Placeholder 14" descr="TP_tmp.png"/>
          <p:cNvPicPr>
            <a:picLocks noGrp="1"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855247" y="2708920"/>
            <a:ext cx="1242506" cy="304535"/>
          </a:xfrm>
          <a:noFill/>
          <a:ln/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Модели с базисными функциями</a:t>
            </a:r>
            <a:r>
              <a:rPr lang="ru" dirty="0"/>
              <a:t> (4)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" dirty="0"/>
              <a:t>Базисные функции Гаусса: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/>
            <a:r>
              <a:rPr lang="ru" dirty="0"/>
              <a:t>Они локальны: небольшое изменение </a:t>
            </a:r>
            <a:r>
              <a:rPr lang="ru" dirty="0">
                <a:latin typeface="cmmi12" pitchFamily="34" charset="0"/>
              </a:rPr>
              <a:t>x </a:t>
            </a:r>
            <a:r>
              <a:rPr lang="ru" dirty="0"/>
              <a:t> влияет только на близлежащие базисные функции. </a:t>
            </a:r>
            <a:r>
              <a:rPr lang="ru" dirty="0">
                <a:latin typeface="CMMI12" pitchFamily="34" charset="2"/>
              </a:rPr>
              <a:t>¹ </a:t>
            </a:r>
            <a:r>
              <a:rPr lang="ru" baseline="-20000" dirty="0">
                <a:latin typeface="CMMI12" pitchFamily="34" charset="2"/>
              </a:rPr>
              <a:t>j </a:t>
            </a:r>
            <a:r>
              <a:rPr lang="ru" dirty="0"/>
              <a:t> и </a:t>
            </a:r>
            <a:r>
              <a:rPr lang="ru" dirty="0">
                <a:latin typeface="cmmi12" pitchFamily="34" charset="0"/>
              </a:rPr>
              <a:t>s </a:t>
            </a:r>
            <a:r>
              <a:rPr lang="ru" dirty="0"/>
              <a:t> управляют местоположением и масштабом (шириной).</a:t>
            </a:r>
          </a:p>
        </p:txBody>
      </p:sp>
      <p:pic>
        <p:nvPicPr>
          <p:cNvPr id="11" name="Content Placeholder 6" descr="Figure3.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19" y="2295515"/>
            <a:ext cx="3276605" cy="3148590"/>
          </a:xfrm>
          <a:prstGeom prst="rect">
            <a:avLst/>
          </a:prstGeom>
        </p:spPr>
      </p:pic>
      <p:pic>
        <p:nvPicPr>
          <p:cNvPr id="8" name="Content Placeholder 7" descr="TP_tmp.png"/>
          <p:cNvPicPr>
            <a:picLocks noGrp="1"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856130" y="2338914"/>
            <a:ext cx="2996372" cy="661458"/>
          </a:xfrm>
          <a:noFill/>
          <a:ln/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Модели с базисными функциями</a:t>
            </a:r>
            <a:r>
              <a:rPr lang="ru" dirty="0"/>
              <a:t> (5)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" dirty="0" err="1"/>
              <a:t>Сигмоидальные </a:t>
            </a:r>
            <a:r>
              <a:rPr lang="ru" dirty="0"/>
              <a:t>базисные функции:</a:t>
            </a:r>
          </a:p>
          <a:p>
            <a:endParaRPr lang="en-GB" dirty="0"/>
          </a:p>
          <a:p>
            <a:endParaRPr lang="en-GB" dirty="0"/>
          </a:p>
          <a:p>
            <a:r>
              <a:rPr lang="ru" dirty="0"/>
              <a:t>где</a:t>
            </a:r>
          </a:p>
          <a:p>
            <a:endParaRPr lang="en-GB" dirty="0"/>
          </a:p>
          <a:p>
            <a:endParaRPr lang="en-GB" dirty="0"/>
          </a:p>
          <a:p>
            <a:pPr marL="0" indent="0"/>
            <a:r>
              <a:rPr lang="ru" dirty="0"/>
              <a:t>они локальны: небольшое изменение </a:t>
            </a:r>
            <a:r>
              <a:rPr lang="ru" dirty="0">
                <a:latin typeface="cmmi12" pitchFamily="34" charset="0"/>
              </a:rPr>
              <a:t>x </a:t>
            </a:r>
            <a:r>
              <a:rPr lang="ru" dirty="0"/>
              <a:t> влияет только на близлежащие базисные функции. </a:t>
            </a:r>
            <a:r>
              <a:rPr lang="ru" dirty="0">
                <a:latin typeface="CMMI12" pitchFamily="34" charset="2"/>
              </a:rPr>
              <a:t>¹ </a:t>
            </a:r>
            <a:r>
              <a:rPr lang="ru" baseline="-20000" dirty="0">
                <a:latin typeface="CMMI12" pitchFamily="34" charset="2"/>
              </a:rPr>
              <a:t>j </a:t>
            </a:r>
            <a:r>
              <a:rPr lang="ru" dirty="0"/>
              <a:t> и </a:t>
            </a:r>
            <a:r>
              <a:rPr lang="ru" dirty="0">
                <a:latin typeface="cmmi12" pitchFamily="34" charset="0"/>
              </a:rPr>
              <a:t>s</a:t>
            </a:r>
            <a:r>
              <a:rPr lang="ru" dirty="0"/>
              <a:t> </a:t>
            </a:r>
            <a:r>
              <a:rPr lang="ru" dirty="0">
                <a:latin typeface="cmmi12" pitchFamily="34" charset="0"/>
              </a:rPr>
              <a:t> </a:t>
            </a:r>
            <a:r>
              <a:rPr lang="ru" dirty="0"/>
              <a:t>управляют местоположением и масштабом (наклоном).</a:t>
            </a:r>
          </a:p>
        </p:txBody>
      </p:sp>
      <p:pic>
        <p:nvPicPr>
          <p:cNvPr id="11" name="Content Placeholder 6" descr="Figure3.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519" y="2295515"/>
            <a:ext cx="3276605" cy="3148589"/>
          </a:xfrm>
          <a:prstGeom prst="rect">
            <a:avLst/>
          </a:prstGeom>
        </p:spPr>
      </p:pic>
      <p:pic>
        <p:nvPicPr>
          <p:cNvPr id="9" name="Content Placeholder 8" descr="TP_tmp.png"/>
          <p:cNvPicPr>
            <a:picLocks noGrp="1"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202250" y="2214553"/>
            <a:ext cx="2234327" cy="634025"/>
          </a:xfrm>
          <a:noFill/>
          <a:ln/>
          <a:effectLst/>
        </p:spPr>
      </p:pic>
      <p:pic>
        <p:nvPicPr>
          <p:cNvPr id="13" name="Picture 12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176834" y="3248264"/>
            <a:ext cx="2309485" cy="609364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400" dirty="0"/>
              <a:t>Максимальное правдоподобие и наименьшие квадраты (1)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Предположим, что наблюдения производятся с помощью детерминированной функции с добавлением гауссовского шума:</a:t>
            </a:r>
          </a:p>
          <a:p>
            <a:endParaRPr lang="en-GB" sz="2800" dirty="0"/>
          </a:p>
          <a:p>
            <a:r>
              <a:rPr lang="ru" sz="2800" dirty="0"/>
              <a:t>что то же самое, что сказать:</a:t>
            </a:r>
          </a:p>
          <a:p>
            <a:endParaRPr lang="en-GB" sz="2800" dirty="0"/>
          </a:p>
          <a:p>
            <a:pPr>
              <a:spcBef>
                <a:spcPts val="1800"/>
              </a:spcBef>
            </a:pPr>
            <a:r>
              <a:rPr lang="ru" sz="2800" dirty="0"/>
              <a:t>Учитывая наблюдаемые входные данные, и цели </a:t>
            </a:r>
            <a:br>
              <a:rPr lang="en-GB" sz="2800" dirty="0"/>
            </a:br>
            <a:r>
              <a:rPr lang="ru-RU" sz="2800" dirty="0"/>
              <a:t>                   </a:t>
            </a:r>
            <a:r>
              <a:rPr lang="ru" sz="2800" dirty="0"/>
              <a:t>, получаем функцию правдоподобия</a:t>
            </a:r>
          </a:p>
          <a:p>
            <a:endParaRPr lang="en-GB" sz="2800" dirty="0"/>
          </a:p>
        </p:txBody>
      </p:sp>
      <p:grpSp>
        <p:nvGrpSpPr>
          <p:cNvPr id="19" name="Group 18"/>
          <p:cNvGrpSpPr/>
          <p:nvPr/>
        </p:nvGrpSpPr>
        <p:grpSpPr bwMode="auto">
          <a:xfrm>
            <a:off x="2195736" y="3040246"/>
            <a:ext cx="5367296" cy="369332"/>
            <a:chOff x="2192645" y="2643182"/>
            <a:chExt cx="5367296" cy="369332"/>
          </a:xfrm>
        </p:grpSpPr>
        <p:pic>
          <p:nvPicPr>
            <p:cNvPr id="7" name="Picture 6" descr="TP_tmp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2192645" y="2705095"/>
              <a:ext cx="1652020" cy="280416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7" name="Picture 16" descr="TP_tmp.png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5272936" y="2676522"/>
              <a:ext cx="2287005" cy="304933"/>
            </a:xfrm>
            <a:prstGeom prst="rect">
              <a:avLst/>
            </a:prstGeom>
            <a:noFill/>
            <a:ln/>
            <a:effectLst/>
          </p:spPr>
        </p:pic>
        <p:sp>
          <p:nvSpPr>
            <p:cNvPr id="10" name="TextBox 9"/>
            <p:cNvSpPr txBox="1"/>
            <p:nvPr/>
          </p:nvSpPr>
          <p:spPr bwMode="auto">
            <a:xfrm>
              <a:off x="4130417" y="2643182"/>
              <a:ext cx="857256" cy="369332"/>
            </a:xfrm>
            <a:prstGeom prst="rect">
              <a:avLst/>
            </a:prstGeom>
            <a:noFill/>
            <a:ln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ru" dirty="0"/>
                <a:t>где</a:t>
              </a:r>
            </a:p>
          </p:txBody>
        </p:sp>
      </p:grpSp>
      <p:pic>
        <p:nvPicPr>
          <p:cNvPr id="13" name="Picture 12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69103" y="3971138"/>
            <a:ext cx="3605791" cy="304800"/>
          </a:xfrm>
          <a:prstGeom prst="rect">
            <a:avLst/>
          </a:prstGeom>
          <a:noFill/>
        </p:spPr>
      </p:pic>
      <p:pic>
        <p:nvPicPr>
          <p:cNvPr id="21" name="Picture 20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0225" y="4367219"/>
            <a:ext cx="2256287" cy="315468"/>
          </a:xfrm>
          <a:prstGeom prst="rect">
            <a:avLst/>
          </a:prstGeom>
          <a:noFill/>
        </p:spPr>
      </p:pic>
      <p:pic>
        <p:nvPicPr>
          <p:cNvPr id="24" name="Picture 23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36088" y="5156564"/>
            <a:ext cx="1804423" cy="329185"/>
          </a:xfrm>
          <a:prstGeom prst="rect">
            <a:avLst/>
          </a:prstGeom>
          <a:noFill/>
          <a:ln/>
          <a:effectLst/>
        </p:spPr>
      </p:pic>
      <p:pic>
        <p:nvPicPr>
          <p:cNvPr id="29" name="Picture 28" descr="TP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326419" y="5445224"/>
            <a:ext cx="4471434" cy="762003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400" dirty="0"/>
              <a:t>Максимальное правдоподобие и наименьшие квадраты (2)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Логарифмируя, получаем</a:t>
            </a:r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  <a:p>
            <a:r>
              <a:rPr lang="ru" sz="2800" dirty="0"/>
              <a:t>где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ru" sz="2800" dirty="0"/>
              <a:t>— ошибка суммы квадратов.</a:t>
            </a:r>
          </a:p>
          <a:p>
            <a:endParaRPr lang="en-GB" sz="2800" dirty="0"/>
          </a:p>
        </p:txBody>
      </p:sp>
      <p:pic>
        <p:nvPicPr>
          <p:cNvPr id="12" name="Picture 11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938319" y="2220294"/>
            <a:ext cx="5256339" cy="1423020"/>
          </a:xfrm>
          <a:prstGeom prst="rect">
            <a:avLst/>
          </a:prstGeom>
          <a:noFill/>
          <a:ln/>
          <a:effectLst/>
        </p:spPr>
      </p:pic>
      <p:pic>
        <p:nvPicPr>
          <p:cNvPr id="15" name="Picture 1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494017" y="4143380"/>
            <a:ext cx="4140160" cy="85682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400" dirty="0"/>
              <a:t>Вычисление градиента и </a:t>
            </a:r>
            <a:r>
              <a:rPr lang="en-US" sz="2400" dirty="0" err="1"/>
              <a:t>у</a:t>
            </a:r>
            <a:r>
              <a:rPr lang="ru-RU" sz="2400" dirty="0"/>
              <a:t>установка его в ноль </a:t>
            </a:r>
            <a:r>
              <a:rPr lang="ru" sz="2400" dirty="0"/>
              <a:t> дает</a:t>
            </a:r>
          </a:p>
          <a:p>
            <a:endParaRPr lang="en-GB" sz="2800" dirty="0"/>
          </a:p>
          <a:p>
            <a:pPr>
              <a:spcBef>
                <a:spcPts val="1800"/>
              </a:spcBef>
            </a:pPr>
            <a:r>
              <a:rPr lang="ru" sz="2800" dirty="0"/>
              <a:t>Решая относительно </a:t>
            </a:r>
            <a:r>
              <a:rPr lang="ru" sz="2800" dirty="0">
                <a:latin typeface="cmbx10" pitchFamily="34" charset="0"/>
              </a:rPr>
              <a:t>w </a:t>
            </a:r>
            <a:r>
              <a:rPr lang="ru" sz="2800" dirty="0"/>
              <a:t>, получаем</a:t>
            </a:r>
          </a:p>
          <a:p>
            <a:endParaRPr lang="en-GB" sz="2800" dirty="0"/>
          </a:p>
          <a:p>
            <a:r>
              <a:rPr lang="ru" sz="2800" dirty="0"/>
              <a:t>где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400" dirty="0"/>
              <a:t>Максимальное правдоподобие и наименьшие квадраты (3)</a:t>
            </a:r>
          </a:p>
        </p:txBody>
      </p:sp>
      <p:pic>
        <p:nvPicPr>
          <p:cNvPr id="10" name="Picture 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899592" y="2015453"/>
            <a:ext cx="6652871" cy="856446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3941" y="3371381"/>
            <a:ext cx="2538990" cy="533402"/>
          </a:xfrm>
          <a:prstGeom prst="rect">
            <a:avLst/>
          </a:prstGeom>
          <a:noFill/>
        </p:spPr>
      </p:pic>
      <p:pic>
        <p:nvPicPr>
          <p:cNvPr id="16" name="Picture 15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6723" y="4455755"/>
            <a:ext cx="5233426" cy="1395986"/>
          </a:xfrm>
          <a:prstGeom prst="rect">
            <a:avLst/>
          </a:prstGeom>
          <a:noFill/>
        </p:spPr>
      </p:pic>
      <p:sp>
        <p:nvSpPr>
          <p:cNvPr id="17" name="Right Brace 16"/>
          <p:cNvSpPr/>
          <p:nvPr/>
        </p:nvSpPr>
        <p:spPr>
          <a:xfrm rot="16200000">
            <a:off x="4868293" y="2561434"/>
            <a:ext cx="142876" cy="1500198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2" name="Group 41"/>
          <p:cNvGrpSpPr/>
          <p:nvPr/>
        </p:nvGrpSpPr>
        <p:grpSpPr>
          <a:xfrm>
            <a:off x="6500826" y="2926465"/>
            <a:ext cx="1928826" cy="931475"/>
            <a:chOff x="6357950" y="3214686"/>
            <a:chExt cx="1928826" cy="584775"/>
          </a:xfrm>
        </p:grpSpPr>
        <p:sp>
          <p:nvSpPr>
            <p:cNvPr id="40" name="TextBox 39"/>
            <p:cNvSpPr txBox="1"/>
            <p:nvPr/>
          </p:nvSpPr>
          <p:spPr>
            <a:xfrm>
              <a:off x="6357950" y="3214686"/>
              <a:ext cx="1928826" cy="58477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" sz="1600" dirty="0"/>
                <a:t>Псевдообратная матрица Мура-Пенроуза.</a:t>
              </a:r>
            </a:p>
          </p:txBody>
        </p:sp>
        <p:pic>
          <p:nvPicPr>
            <p:cNvPr id="41" name="Picture 40" descr="TP_tmp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7858148" y="3480091"/>
              <a:ext cx="245364" cy="221361"/>
            </a:xfrm>
            <a:prstGeom prst="rect">
              <a:avLst/>
            </a:prstGeom>
            <a:noFill/>
            <a:ln/>
            <a:effectLst/>
          </p:spPr>
        </p:pic>
      </p:grpSp>
      <p:cxnSp>
        <p:nvCxnSpPr>
          <p:cNvPr id="23" name="Elbow Connector 22"/>
          <p:cNvCxnSpPr/>
          <p:nvPr/>
        </p:nvCxnSpPr>
        <p:spPr>
          <a:xfrm flipV="1">
            <a:off x="4940563" y="3088896"/>
            <a:ext cx="1455515" cy="163050"/>
          </a:xfrm>
          <a:prstGeom prst="bentConnector3">
            <a:avLst>
              <a:gd name="adj1" fmla="val -33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400" dirty="0"/>
              <a:t>Максимальное правдоподобие и наименьшие квадраты (4)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Максимизируя только смещение </a:t>
            </a:r>
            <a:r>
              <a:rPr lang="ru" sz="2800" dirty="0">
                <a:latin typeface="cmmi12" pitchFamily="34" charset="0"/>
              </a:rPr>
              <a:t>w </a:t>
            </a:r>
            <a:r>
              <a:rPr lang="ru" sz="2800" baseline="-20000" dirty="0">
                <a:latin typeface="cmr12" pitchFamily="34" charset="0"/>
              </a:rPr>
              <a:t>0 </a:t>
            </a:r>
            <a:r>
              <a:rPr lang="ru" sz="2800" dirty="0"/>
              <a:t>, мы видим, что</a:t>
            </a:r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  <a:p>
            <a:pPr>
              <a:spcBef>
                <a:spcPts val="3600"/>
              </a:spcBef>
            </a:pPr>
            <a:r>
              <a:rPr lang="ru" sz="2800" dirty="0"/>
              <a:t>Мы также можем максимизировать по </a:t>
            </a:r>
            <a:r>
              <a:rPr lang="ru" sz="2800" dirty="0">
                <a:latin typeface="cmmi12" pitchFamily="34" charset="0"/>
              </a:rPr>
              <a:t>¯ </a:t>
            </a:r>
            <a:endParaRPr lang="ru" sz="2800" dirty="0"/>
          </a:p>
        </p:txBody>
      </p:sp>
      <p:pic>
        <p:nvPicPr>
          <p:cNvPr id="20" name="Picture 1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242209" y="2357428"/>
            <a:ext cx="4647003" cy="1928887"/>
          </a:xfrm>
          <a:prstGeom prst="rect">
            <a:avLst/>
          </a:prstGeom>
          <a:noFill/>
          <a:ln/>
          <a:effectLst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508578" y="5144181"/>
            <a:ext cx="4111616" cy="856587"/>
          </a:xfrm>
          <a:prstGeom prst="rect">
            <a:avLst/>
          </a:prstGeom>
          <a:noFill/>
          <a:ln/>
          <a:effectLst/>
        </p:spPr>
      </p:pic>
      <p:sp>
        <p:nvSpPr>
          <p:cNvPr id="18" name="Right Brace 17"/>
          <p:cNvSpPr/>
          <p:nvPr/>
        </p:nvSpPr>
        <p:spPr>
          <a:xfrm rot="16200000">
            <a:off x="5999535" y="2678901"/>
            <a:ext cx="142876" cy="1500198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Brace 18"/>
          <p:cNvSpPr/>
          <p:nvPr/>
        </p:nvSpPr>
        <p:spPr>
          <a:xfrm rot="16200000">
            <a:off x="3679025" y="2893216"/>
            <a:ext cx="142876" cy="107157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Arrow Connector 41"/>
          <p:cNvCxnSpPr/>
          <p:nvPr/>
        </p:nvCxnSpPr>
        <p:spPr>
          <a:xfrm rot="5400000" flipH="1">
            <a:off x="3303976" y="2863469"/>
            <a:ext cx="428627" cy="464346"/>
          </a:xfrm>
          <a:prstGeom prst="bentConnector4">
            <a:avLst>
              <a:gd name="adj1" fmla="val 23800"/>
              <a:gd name="adj2" fmla="val 100027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41"/>
          <p:cNvCxnSpPr/>
          <p:nvPr/>
        </p:nvCxnSpPr>
        <p:spPr>
          <a:xfrm rot="5400000" flipH="1">
            <a:off x="5082382" y="2339752"/>
            <a:ext cx="428627" cy="1532342"/>
          </a:xfrm>
          <a:prstGeom prst="bentConnector4">
            <a:avLst>
              <a:gd name="adj1" fmla="val 23800"/>
              <a:gd name="adj2" fmla="val 100027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Геометрия наименьших квадратов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ru" dirty="0"/>
              <a:t>Учитывать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ru" dirty="0">
                <a:latin typeface="cmsy10" pitchFamily="34" charset="0"/>
              </a:rPr>
              <a:t>S </a:t>
            </a:r>
            <a:r>
              <a:rPr lang="ru" dirty="0"/>
              <a:t>охватывается .</a:t>
            </a:r>
          </a:p>
          <a:p>
            <a:pPr marL="0" indent="0"/>
            <a:r>
              <a:rPr lang="ru" dirty="0" err="1">
                <a:latin typeface="cmbx12" pitchFamily="34" charset="0"/>
              </a:rPr>
              <a:t>w </a:t>
            </a:r>
            <a:r>
              <a:rPr lang="ru" baseline="-20000" dirty="0" err="1">
                <a:latin typeface="cmr12" pitchFamily="34" charset="0"/>
              </a:rPr>
              <a:t>ML </a:t>
            </a:r>
            <a:r>
              <a:rPr lang="ru" dirty="0"/>
              <a:t>минимизирует расстояние между </a:t>
            </a:r>
            <a:r>
              <a:rPr lang="ru" dirty="0">
                <a:latin typeface="cmssbx10" pitchFamily="34" charset="0"/>
              </a:rPr>
              <a:t>t </a:t>
            </a:r>
            <a:r>
              <a:rPr lang="ru" dirty="0"/>
              <a:t>и его ортогональной проекцией на </a:t>
            </a:r>
            <a:r>
              <a:rPr lang="ru" dirty="0">
                <a:latin typeface="cmsy10" pitchFamily="34" charset="0"/>
              </a:rPr>
              <a:t>S </a:t>
            </a:r>
            <a:r>
              <a:rPr lang="ru" dirty="0"/>
              <a:t>, т.е. </a:t>
            </a:r>
            <a:r>
              <a:rPr lang="ru" dirty="0">
                <a:latin typeface="cmssbx10" pitchFamily="34" charset="0"/>
              </a:rPr>
              <a:t>y </a:t>
            </a:r>
            <a:r>
              <a:rPr lang="ru" dirty="0"/>
              <a:t>.</a:t>
            </a:r>
          </a:p>
        </p:txBody>
      </p:sp>
      <p:pic>
        <p:nvPicPr>
          <p:cNvPr id="10" name="Content Placeholder 9" descr="TP_tmp.png"/>
          <p:cNvPicPr>
            <a:picLocks noGrp="1"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85861" y="2285992"/>
            <a:ext cx="3582625" cy="280511"/>
          </a:xfrm>
          <a:noFill/>
          <a:ln/>
          <a:effectLst/>
        </p:spPr>
      </p:pic>
      <p:pic>
        <p:nvPicPr>
          <p:cNvPr id="4" name="Picture 3" descr="Figure3.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38392"/>
            <a:ext cx="3938024" cy="2590806"/>
          </a:xfrm>
          <a:prstGeom prst="rect">
            <a:avLst/>
          </a:prstGeom>
        </p:spPr>
      </p:pic>
      <p:pic>
        <p:nvPicPr>
          <p:cNvPr id="17" name="Picture 1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226599" y="2890262"/>
            <a:ext cx="2490233" cy="252985"/>
          </a:xfrm>
          <a:prstGeom prst="rect">
            <a:avLst/>
          </a:prstGeom>
          <a:noFill/>
          <a:ln/>
          <a:effectLst/>
        </p:spPr>
      </p:pic>
      <p:sp>
        <p:nvSpPr>
          <p:cNvPr id="16" name="TextBox 15"/>
          <p:cNvSpPr txBox="1"/>
          <p:nvPr/>
        </p:nvSpPr>
        <p:spPr>
          <a:xfrm>
            <a:off x="1857356" y="3233348"/>
            <a:ext cx="1714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4013"/>
            <a:r>
              <a:rPr lang="ru" sz="1400" dirty="0">
                <a:latin typeface="cmmi12" pitchFamily="34" charset="0"/>
              </a:rPr>
              <a:t>N </a:t>
            </a:r>
            <a:r>
              <a:rPr lang="ru" sz="1400" dirty="0"/>
              <a:t>-мерный</a:t>
            </a:r>
          </a:p>
          <a:p>
            <a:r>
              <a:rPr lang="ru" sz="1400" dirty="0">
                <a:latin typeface="cmmi12" pitchFamily="34" charset="0"/>
              </a:rPr>
              <a:t>M </a:t>
            </a:r>
            <a:r>
              <a:rPr lang="ru" sz="1400" dirty="0"/>
              <a:t>-мерный</a:t>
            </a:r>
          </a:p>
        </p:txBody>
      </p:sp>
      <p:cxnSp>
        <p:nvCxnSpPr>
          <p:cNvPr id="19" name="Elbow Connector 18"/>
          <p:cNvCxnSpPr/>
          <p:nvPr/>
        </p:nvCxnSpPr>
        <p:spPr>
          <a:xfrm rot="16200000" flipV="1">
            <a:off x="1619851" y="3250405"/>
            <a:ext cx="428628" cy="214314"/>
          </a:xfrm>
          <a:prstGeom prst="bentConnector3">
            <a:avLst>
              <a:gd name="adj1" fmla="val -125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16200000" flipV="1">
            <a:off x="2145635" y="3224688"/>
            <a:ext cx="231459" cy="68581"/>
          </a:xfrm>
          <a:prstGeom prst="bentConnector3">
            <a:avLst>
              <a:gd name="adj1" fmla="val -125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571736" y="3997832"/>
            <a:ext cx="1295845" cy="204286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Последовательное обучение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" dirty="0"/>
              <a:t>Элементы данных рассматриваются по одному за раз (так называемое онлайн-обучение); используется стохастический (последовательный) градиентный спуск:</a:t>
            </a:r>
          </a:p>
          <a:p>
            <a:endParaRPr lang="en-GB" dirty="0"/>
          </a:p>
          <a:p>
            <a:endParaRPr lang="en-GB" dirty="0"/>
          </a:p>
          <a:p>
            <a:r>
              <a:rPr lang="ru" dirty="0"/>
              <a:t>Этот метод называется </a:t>
            </a:r>
            <a:r>
              <a:rPr lang="ru" i="1" dirty="0"/>
              <a:t>алгоритм наименьших средних квадратов (LMS) </a:t>
            </a:r>
            <a:r>
              <a:rPr lang="ru" dirty="0"/>
              <a:t>. Вопрос: как выбрать </a:t>
            </a:r>
            <a:r>
              <a:rPr lang="ru" dirty="0">
                <a:latin typeface="cmmi12" pitchFamily="34" charset="0"/>
              </a:rPr>
              <a:t>´ </a:t>
            </a:r>
            <a:r>
              <a:rPr lang="ru" dirty="0"/>
              <a:t>?</a:t>
            </a:r>
          </a:p>
        </p:txBody>
      </p:sp>
      <p:pic>
        <p:nvPicPr>
          <p:cNvPr id="8" name="Picture 7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657339" y="3573016"/>
            <a:ext cx="5829322" cy="79896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r>
              <a:rPr lang="ru" sz="2800" dirty="0"/>
              <a:t>Регуляризованный метод наименьших квадратов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Рассмотрим функцию ошибки:</a:t>
            </a:r>
          </a:p>
          <a:p>
            <a:endParaRPr lang="en-GB" sz="2800" dirty="0"/>
          </a:p>
          <a:p>
            <a:pPr>
              <a:spcBef>
                <a:spcPts val="3600"/>
              </a:spcBef>
            </a:pPr>
            <a:r>
              <a:rPr lang="ru" sz="2800" dirty="0"/>
              <a:t>С функцией ошибки суммы квадратов и квадратичным регуляризатором мы получаем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ru" sz="2800" dirty="0"/>
              <a:t>который сводится к минимуму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348223" y="2285992"/>
            <a:ext cx="4071966" cy="642942"/>
            <a:chOff x="3348223" y="2214554"/>
            <a:chExt cx="4071966" cy="642942"/>
          </a:xfrm>
        </p:grpSpPr>
        <p:pic>
          <p:nvPicPr>
            <p:cNvPr id="5" name="Picture 4" descr="TP_tmp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543298" y="2214554"/>
              <a:ext cx="2057404" cy="280416"/>
            </a:xfrm>
            <a:prstGeom prst="rect">
              <a:avLst/>
            </a:prstGeom>
            <a:noFill/>
          </p:spPr>
        </p:pic>
        <p:sp>
          <p:nvSpPr>
            <p:cNvPr id="36" name="TextBox 35"/>
            <p:cNvSpPr txBox="1"/>
            <p:nvPr/>
          </p:nvSpPr>
          <p:spPr>
            <a:xfrm>
              <a:off x="3348223" y="2488164"/>
              <a:ext cx="40719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" dirty="0">
                  <a:solidFill>
                    <a:srgbClr val="FF0000"/>
                  </a:solidFill>
                </a:rPr>
                <a:t>Ошибка данных + Регуляризация</a:t>
              </a:r>
            </a:p>
          </p:txBody>
        </p:sp>
      </p:grpSp>
      <p:pic>
        <p:nvPicPr>
          <p:cNvPr id="44" name="Picture 4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742691" y="4000504"/>
            <a:ext cx="3658617" cy="762212"/>
          </a:xfrm>
          <a:prstGeom prst="rect">
            <a:avLst/>
          </a:prstGeom>
          <a:noFill/>
          <a:ln/>
          <a:effectLst/>
        </p:spPr>
      </p:pic>
      <p:pic>
        <p:nvPicPr>
          <p:cNvPr id="46" name="Picture 45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33301" y="5429264"/>
            <a:ext cx="2871222" cy="533402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6858016" y="4648810"/>
            <a:ext cx="1962456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" dirty="0">
                <a:latin typeface="cmmi12" pitchFamily="34" charset="0"/>
              </a:rPr>
              <a:t>¸ </a:t>
            </a:r>
            <a:r>
              <a:rPr lang="ru" dirty="0"/>
              <a:t> называется коэффициентом регуляризации.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r>
              <a:rPr lang="ru" sz="2800" dirty="0"/>
              <a:t>Регуляризованный метод наименьших квадратов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С более общим регуляризатором мы имеем</a:t>
            </a:r>
          </a:p>
          <a:p>
            <a:endParaRPr lang="en-GB" sz="2800" dirty="0"/>
          </a:p>
        </p:txBody>
      </p:sp>
      <p:pic>
        <p:nvPicPr>
          <p:cNvPr id="10" name="Picture 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542059" y="2257766"/>
            <a:ext cx="4039730" cy="814044"/>
          </a:xfrm>
          <a:prstGeom prst="rect">
            <a:avLst/>
          </a:prstGeom>
          <a:noFill/>
          <a:ln/>
          <a:effectLst/>
        </p:spPr>
      </p:pic>
      <p:pic>
        <p:nvPicPr>
          <p:cNvPr id="11" name="Picture 10" descr="Figure3.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47" y="3371859"/>
            <a:ext cx="7925579" cy="2057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2405" y="5581471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Лассо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662" y="5581471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Квадратичный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643174" y="2428868"/>
            <a:ext cx="6000792" cy="3786213"/>
            <a:chOff x="2500298" y="2428868"/>
            <a:chExt cx="6000792" cy="3786213"/>
          </a:xfrm>
        </p:grpSpPr>
        <p:pic>
          <p:nvPicPr>
            <p:cNvPr id="9" name="Picture 8" descr="Figure3.4a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0298" y="2428868"/>
              <a:ext cx="2888366" cy="3779146"/>
            </a:xfrm>
            <a:prstGeom prst="rect">
              <a:avLst/>
            </a:prstGeom>
          </p:spPr>
        </p:pic>
        <p:pic>
          <p:nvPicPr>
            <p:cNvPr id="15" name="Picture 14" descr="Figure3.4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2724" y="2435936"/>
              <a:ext cx="2888366" cy="377914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r>
              <a:rPr lang="ru" sz="2800" dirty="0"/>
              <a:t>Регуляризованный метод наименьших квадратов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8763"/>
            <a:ext cx="7962928" cy="2257427"/>
          </a:xfrm>
        </p:spPr>
        <p:txBody>
          <a:bodyPr>
            <a:normAutofit/>
          </a:bodyPr>
          <a:lstStyle/>
          <a:p>
            <a:pPr marL="0" indent="0"/>
            <a:r>
              <a:rPr lang="ru" sz="2800" dirty="0"/>
              <a:t>Лассо имеет тенденцию генерировать более разреженные решения, чем квадратичный </a:t>
            </a:r>
            <a:br>
              <a:rPr lang="en-GB" sz="2800" dirty="0"/>
            </a:br>
            <a:r>
              <a:rPr lang="ru" sz="2800" dirty="0"/>
              <a:t>регуляризатор.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Несколько выходов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400" dirty="0"/>
              <a:t>Аналогично случаю с одним выходом имеем: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ru" sz="2400" dirty="0"/>
              <a:t>Учитывая наблюдаемые входные данные                                 , и цели, </a:t>
            </a:r>
            <a:r>
              <a:rPr lang="ru-RU" sz="2400" dirty="0"/>
              <a:t>                              </a:t>
            </a:r>
            <a:r>
              <a:rPr lang="ru" sz="2400" dirty="0"/>
              <a:t>мы получаем логарифмическую функцию правдоподобия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74387" y="2163893"/>
            <a:ext cx="4395223" cy="685802"/>
          </a:xfrm>
          <a:prstGeom prst="rect">
            <a:avLst/>
          </a:prstGeom>
          <a:noFill/>
        </p:spPr>
      </p:pic>
      <p:pic>
        <p:nvPicPr>
          <p:cNvPr id="6" name="Picture 5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6176" y="3032257"/>
            <a:ext cx="2256287" cy="315468"/>
          </a:xfrm>
          <a:prstGeom prst="rect">
            <a:avLst/>
          </a:prstGeom>
          <a:noFill/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051720" y="3362967"/>
            <a:ext cx="1906084" cy="329371"/>
          </a:xfrm>
          <a:prstGeom prst="rect">
            <a:avLst/>
          </a:prstGeom>
          <a:noFill/>
          <a:ln/>
          <a:effectLst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0593" y="4143380"/>
            <a:ext cx="7162813" cy="16520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Несколько выходов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Максимизируя по </a:t>
            </a:r>
            <a:r>
              <a:rPr lang="ru" sz="2800" dirty="0">
                <a:latin typeface="cmbx10" pitchFamily="34" charset="0"/>
              </a:rPr>
              <a:t>W </a:t>
            </a:r>
            <a:r>
              <a:rPr lang="ru" sz="2800" dirty="0"/>
              <a:t>, получаем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ru" sz="2800" dirty="0"/>
              <a:t>Если мы рассмотрим одну целевую переменную,   </a:t>
            </a:r>
            <a:r>
              <a:rPr lang="ru" sz="2800" dirty="0">
                <a:latin typeface="cmmi12" pitchFamily="34" charset="0"/>
              </a:rPr>
              <a:t>t </a:t>
            </a:r>
            <a:r>
              <a:rPr lang="ru" sz="2800" baseline="-20000" dirty="0">
                <a:latin typeface="cmmi12" pitchFamily="34" charset="0"/>
              </a:rPr>
              <a:t>k </a:t>
            </a:r>
            <a:r>
              <a:rPr lang="ru" sz="2800" dirty="0"/>
              <a:t>, мы увидим, что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ru" sz="2800" dirty="0"/>
              <a:t>где                                 , что идентично случаю с одним выходом.</a:t>
            </a:r>
          </a:p>
        </p:txBody>
      </p:sp>
      <p:pic>
        <p:nvPicPr>
          <p:cNvPr id="11" name="Picture 10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91033" y="2357430"/>
            <a:ext cx="3144400" cy="600077"/>
          </a:xfrm>
          <a:prstGeom prst="rect">
            <a:avLst/>
          </a:prstGeom>
          <a:noFill/>
        </p:spPr>
      </p:pic>
      <p:pic>
        <p:nvPicPr>
          <p:cNvPr id="13" name="Picture 12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90995" y="4160731"/>
            <a:ext cx="3744475" cy="600077"/>
          </a:xfrm>
          <a:prstGeom prst="rect">
            <a:avLst/>
          </a:prstGeom>
          <a:noFill/>
        </p:spPr>
      </p:pic>
      <p:pic>
        <p:nvPicPr>
          <p:cNvPr id="15" name="Picture 14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259632" y="5168559"/>
            <a:ext cx="2400305" cy="37033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Разложение смещения и дисперсии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" sz="2800" dirty="0"/>
              <a:t>Напомним, что мат.ошидание ошибки </a:t>
            </a:r>
            <a:endParaRPr lang="en-GB" sz="2800" i="1" dirty="0"/>
          </a:p>
          <a:p>
            <a:endParaRPr lang="en-GB" sz="2800" dirty="0"/>
          </a:p>
          <a:p>
            <a:pPr>
              <a:spcBef>
                <a:spcPts val="2400"/>
              </a:spcBef>
            </a:pPr>
            <a:r>
              <a:rPr lang="ru" sz="2800" dirty="0"/>
              <a:t>где</a:t>
            </a:r>
          </a:p>
          <a:p>
            <a:pPr>
              <a:spcBef>
                <a:spcPts val="0"/>
              </a:spcBef>
            </a:pPr>
            <a:endParaRPr lang="en-GB" sz="2800" dirty="0"/>
          </a:p>
          <a:p>
            <a:pPr>
              <a:spcBef>
                <a:spcPts val="1800"/>
              </a:spcBef>
            </a:pPr>
            <a:endParaRPr lang="ru" sz="2800" dirty="0"/>
          </a:p>
          <a:p>
            <a:pPr>
              <a:spcBef>
                <a:spcPts val="1800"/>
              </a:spcBef>
            </a:pPr>
            <a:r>
              <a:rPr lang="ru" sz="2800" dirty="0"/>
              <a:t>                                                              Второй член </a:t>
            </a:r>
            <a:r>
              <a:rPr lang="ru" sz="2800" dirty="0">
                <a:latin typeface="msbm10" pitchFamily="34" charset="0"/>
              </a:rPr>
              <a:t>E </a:t>
            </a:r>
            <a:r>
              <a:rPr lang="ru" sz="2800" dirty="0">
                <a:latin typeface="cmr12" pitchFamily="34" charset="0"/>
              </a:rPr>
              <a:t>[ </a:t>
            </a:r>
            <a:r>
              <a:rPr lang="ru" sz="2800" dirty="0">
                <a:latin typeface="cmmi12" pitchFamily="34" charset="0"/>
              </a:rPr>
              <a:t>L </a:t>
            </a:r>
            <a:r>
              <a:rPr lang="ru" sz="2800" dirty="0">
                <a:latin typeface="cmr12" pitchFamily="34" charset="0"/>
              </a:rPr>
              <a:t>] 					</a:t>
            </a:r>
            <a:r>
              <a:rPr lang="ru" sz="2800" dirty="0"/>
              <a:t>соответствует шуму, 					присущему случайной 					величине </a:t>
            </a:r>
            <a:r>
              <a:rPr lang="ru" sz="2800" dirty="0">
                <a:latin typeface="cmmi12" pitchFamily="34" charset="0"/>
              </a:rPr>
              <a:t>t </a:t>
            </a:r>
            <a:r>
              <a:rPr lang="ru" sz="2800" dirty="0"/>
              <a:t>.</a:t>
            </a:r>
          </a:p>
          <a:p>
            <a:pPr>
              <a:spcBef>
                <a:spcPts val="1800"/>
              </a:spcBef>
            </a:pPr>
            <a:r>
              <a:rPr lang="ru" sz="2800" dirty="0"/>
              <a:t>А как насчет первого слогаемого?</a:t>
            </a:r>
          </a:p>
          <a:p>
            <a:pPr>
              <a:spcBef>
                <a:spcPts val="2400"/>
              </a:spcBef>
            </a:pPr>
            <a:endParaRPr lang="en-GB" sz="2800" dirty="0"/>
          </a:p>
        </p:txBody>
      </p:sp>
      <p:pic>
        <p:nvPicPr>
          <p:cNvPr id="10" name="Picture 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104363" y="2214553"/>
            <a:ext cx="6935271" cy="609695"/>
          </a:xfrm>
          <a:prstGeom prst="rect">
            <a:avLst/>
          </a:prstGeom>
          <a:noFill/>
          <a:ln/>
          <a:effectLst/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83988" y="3176588"/>
            <a:ext cx="3176022" cy="609602"/>
          </a:xfrm>
          <a:prstGeom prst="rect">
            <a:avLst/>
          </a:prstGeom>
          <a:noFill/>
        </p:spPr>
      </p:pic>
      <p:sp>
        <p:nvSpPr>
          <p:cNvPr id="8" name="Left Brace 7"/>
          <p:cNvSpPr/>
          <p:nvPr/>
        </p:nvSpPr>
        <p:spPr>
          <a:xfrm rot="16200000">
            <a:off x="6477498" y="1343301"/>
            <a:ext cx="124214" cy="304705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Brace 8"/>
          <p:cNvSpPr/>
          <p:nvPr/>
        </p:nvSpPr>
        <p:spPr>
          <a:xfrm rot="5400000">
            <a:off x="7477922" y="3514726"/>
            <a:ext cx="140017" cy="83153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Elbow Connector 10"/>
          <p:cNvCxnSpPr/>
          <p:nvPr/>
        </p:nvCxnSpPr>
        <p:spPr>
          <a:xfrm rot="16200000" flipV="1">
            <a:off x="6651472" y="2889730"/>
            <a:ext cx="779929" cy="1012991"/>
          </a:xfrm>
          <a:prstGeom prst="bentConnector5">
            <a:avLst>
              <a:gd name="adj1" fmla="val 26379"/>
              <a:gd name="adj2" fmla="val 49929"/>
              <a:gd name="adj3" fmla="val 73621"/>
            </a:avLst>
          </a:prstGeom>
          <a:ln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Разложение смещения-дисперсии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Предположим, нам даны несколько наборов данных, каждый размером </a:t>
            </a:r>
            <a:r>
              <a:rPr lang="ru" sz="2800" dirty="0">
                <a:latin typeface="cmmi12" pitchFamily="34" charset="0"/>
              </a:rPr>
              <a:t>N</a:t>
            </a:r>
            <a:r>
              <a:rPr lang="en-US" sz="2800" dirty="0"/>
              <a:t>.</a:t>
            </a:r>
            <a:r>
              <a:rPr lang="ru" sz="2800" dirty="0">
                <a:latin typeface="cmmi12" pitchFamily="34" charset="0"/>
              </a:rPr>
              <a:t>    </a:t>
            </a:r>
            <a:r>
              <a:rPr lang="en-US" sz="2800" dirty="0">
                <a:latin typeface="cmmi12" pitchFamily="34" charset="0"/>
              </a:rPr>
              <a:t>  </a:t>
            </a:r>
            <a:r>
              <a:rPr lang="en-US" sz="2800" dirty="0"/>
              <a:t>   </a:t>
            </a:r>
            <a:r>
              <a:rPr lang="ru" sz="2800" dirty="0"/>
              <a:t>Любой конкретный набор данных </a:t>
            </a:r>
            <a:r>
              <a:rPr lang="ru" sz="2800" dirty="0">
                <a:latin typeface="cmsy10" pitchFamily="34" charset="0"/>
              </a:rPr>
              <a:t>D </a:t>
            </a:r>
            <a:r>
              <a:rPr lang="ru" sz="2800" dirty="0"/>
              <a:t>даст</a:t>
            </a:r>
            <a:r>
              <a:rPr lang="en-US" sz="2800" dirty="0"/>
              <a:t> </a:t>
            </a:r>
            <a:r>
              <a:rPr lang="ru" sz="2800" dirty="0"/>
              <a:t>определённую функцию </a:t>
            </a:r>
            <a:r>
              <a:rPr lang="ru" sz="2800" dirty="0">
                <a:latin typeface="cmmi12" pitchFamily="34" charset="0"/>
              </a:rPr>
              <a:t>y </a:t>
            </a:r>
            <a:r>
              <a:rPr lang="ru" sz="2800" dirty="0">
                <a:latin typeface="cmr12" pitchFamily="34" charset="0"/>
              </a:rPr>
              <a:t>( </a:t>
            </a:r>
            <a:r>
              <a:rPr lang="ru" sz="2800" dirty="0">
                <a:latin typeface="cmbx10" pitchFamily="34" charset="0"/>
              </a:rPr>
              <a:t>x </a:t>
            </a:r>
            <a:r>
              <a:rPr lang="ru" sz="2800" dirty="0">
                <a:latin typeface="cmr12" pitchFamily="34" charset="0"/>
              </a:rPr>
              <a:t>; </a:t>
            </a:r>
            <a:r>
              <a:rPr lang="ru" sz="2800" dirty="0">
                <a:latin typeface="cmsy10" pitchFamily="34" charset="0"/>
              </a:rPr>
              <a:t>D </a:t>
            </a:r>
            <a:r>
              <a:rPr lang="ru" sz="2800" dirty="0">
                <a:latin typeface="cmr12" pitchFamily="34" charset="0"/>
              </a:rPr>
              <a:t>) </a:t>
            </a:r>
            <a:r>
              <a:rPr lang="ru" sz="2800" dirty="0"/>
              <a:t>. Тогда мы имеем</a:t>
            </a:r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753080" y="4005064"/>
            <a:ext cx="7781320" cy="181005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Разложение смещения-дисперсии (3)</a:t>
            </a:r>
          </a:p>
        </p:txBody>
      </p:sp>
      <p:pic>
        <p:nvPicPr>
          <p:cNvPr id="8" name="Picture 7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084" y="2357430"/>
            <a:ext cx="6909830" cy="11948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Разложение смещения и дисперсии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dirty="0"/>
              <a:t>Таким образом, мы можем написать</a:t>
            </a:r>
          </a:p>
          <a:p>
            <a:endParaRPr lang="en-GB" dirty="0"/>
          </a:p>
          <a:p>
            <a:r>
              <a:rPr lang="ru" dirty="0"/>
              <a:t>где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125474" y="3473015"/>
            <a:ext cx="6884316" cy="2170205"/>
          </a:xfrm>
          <a:prstGeom prst="rect">
            <a:avLst/>
          </a:prstGeom>
          <a:noFill/>
          <a:ln/>
          <a:effectLst/>
        </p:spPr>
      </p:pic>
      <p:pic>
        <p:nvPicPr>
          <p:cNvPr id="9" name="Picture 8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0626" y="2371720"/>
            <a:ext cx="5201804" cy="342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Разложение смещения и дисперсии (5)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Пример: 25 наборов данных из синусоиды, различающихся степенью регуляризации, </a:t>
            </a:r>
            <a:r>
              <a:rPr lang="ru" sz="2800" dirty="0">
                <a:latin typeface="cmmi12" pitchFamily="34" charset="0"/>
              </a:rPr>
              <a:t>¸ </a:t>
            </a:r>
            <a:r>
              <a:rPr lang="ru" sz="2800" dirty="0"/>
              <a:t>.</a:t>
            </a:r>
          </a:p>
        </p:txBody>
      </p:sp>
      <p:pic>
        <p:nvPicPr>
          <p:cNvPr id="12" name="Content Placeholder 5" descr="Figure3.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83" y="2786058"/>
            <a:ext cx="4000507" cy="2971805"/>
          </a:xfrm>
          <a:prstGeom prst="rect">
            <a:avLst/>
          </a:prstGeom>
        </p:spPr>
      </p:pic>
      <p:pic>
        <p:nvPicPr>
          <p:cNvPr id="13" name="Content Placeholder 5" descr="Figure3.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58" y="2786058"/>
            <a:ext cx="4000506" cy="29718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Разложение смещения и дисперсии (6)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Пример: 25 наборов данных из синусоиды, различающихся степенью регуляризации, </a:t>
            </a:r>
            <a:r>
              <a:rPr lang="ru" sz="2800" dirty="0">
                <a:latin typeface="cmmi12" pitchFamily="34" charset="0"/>
              </a:rPr>
              <a:t>¸ </a:t>
            </a:r>
            <a:r>
              <a:rPr lang="ru" sz="2800" dirty="0"/>
              <a:t>.</a:t>
            </a:r>
          </a:p>
        </p:txBody>
      </p:sp>
      <p:pic>
        <p:nvPicPr>
          <p:cNvPr id="12" name="Content Placeholder 5" descr="Figure3.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83" y="2786058"/>
            <a:ext cx="4000507" cy="2971806"/>
          </a:xfrm>
          <a:prstGeom prst="rect">
            <a:avLst/>
          </a:prstGeom>
        </p:spPr>
      </p:pic>
      <p:pic>
        <p:nvPicPr>
          <p:cNvPr id="13" name="Content Placeholder 5" descr="Figure3.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58" y="2786058"/>
            <a:ext cx="4000507" cy="29718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Разложение смещения и дисперсии (7)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Пример: 25 наборов данных из синусоиды, различающихся степенью регуляризации, </a:t>
            </a:r>
            <a:r>
              <a:rPr lang="ru" sz="2800" dirty="0">
                <a:latin typeface="cmmi12" pitchFamily="34" charset="0"/>
              </a:rPr>
              <a:t>¸ </a:t>
            </a:r>
            <a:r>
              <a:rPr lang="ru" sz="2800" dirty="0"/>
              <a:t>.</a:t>
            </a:r>
          </a:p>
        </p:txBody>
      </p:sp>
      <p:pic>
        <p:nvPicPr>
          <p:cNvPr id="12" name="Content Placeholder 5" descr="Figure3.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83" y="2786058"/>
            <a:ext cx="4000507" cy="2971805"/>
          </a:xfrm>
          <a:prstGeom prst="rect">
            <a:avLst/>
          </a:prstGeom>
        </p:spPr>
      </p:pic>
      <p:pic>
        <p:nvPicPr>
          <p:cNvPr id="13" name="Content Placeholder 5" descr="Figure3.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58" y="2786058"/>
            <a:ext cx="4000506" cy="29718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3200" dirty="0"/>
              <a:t>Компромисс между смещением и дисперсией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829048" cy="4525963"/>
          </a:xfrm>
        </p:spPr>
        <p:txBody>
          <a:bodyPr/>
          <a:lstStyle/>
          <a:p>
            <a:pPr marL="0" indent="1588"/>
            <a:r>
              <a:rPr lang="ru" dirty="0"/>
              <a:t>Из этих графиков мы видим, что чрезмерно регуляризованная модель (большое </a:t>
            </a:r>
            <a:r>
              <a:rPr lang="ru" dirty="0">
                <a:latin typeface="cmmi12" pitchFamily="34" charset="0"/>
              </a:rPr>
              <a:t>¸ </a:t>
            </a:r>
            <a:r>
              <a:rPr lang="ru" dirty="0"/>
              <a:t>) будет иметь высокое смещение, тогда как недостаточно регуляризованная модель (маленькое </a:t>
            </a:r>
            <a:r>
              <a:rPr lang="ru" dirty="0">
                <a:latin typeface="cmmi12" pitchFamily="34" charset="0"/>
              </a:rPr>
              <a:t>¸ </a:t>
            </a:r>
            <a:r>
              <a:rPr lang="ru" dirty="0"/>
              <a:t>) будет иметь высокую дисперсию.</a:t>
            </a:r>
          </a:p>
        </p:txBody>
      </p:sp>
      <p:pic>
        <p:nvPicPr>
          <p:cNvPr id="8" name="Content Placeholder 7" descr="Figure3.6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14810" y="1571612"/>
            <a:ext cx="4488570" cy="3355093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Байесовская линейная регрессия (1)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4525963"/>
          </a:xfrm>
        </p:spPr>
        <p:txBody>
          <a:bodyPr/>
          <a:lstStyle/>
          <a:p>
            <a:r>
              <a:rPr lang="ru" sz="2800" dirty="0"/>
              <a:t>Определим сопряженную априорную функцию по</a:t>
            </a:r>
            <a:r>
              <a:rPr lang="en-US" sz="2800" dirty="0"/>
              <a:t> </a:t>
            </a:r>
            <a:r>
              <a:rPr lang="ru" sz="2800" dirty="0">
                <a:latin typeface="cmbx10" pitchFamily="34" charset="0"/>
              </a:rPr>
              <a:t>w</a:t>
            </a:r>
          </a:p>
          <a:p>
            <a:endParaRPr lang="en-GB" sz="2800" dirty="0"/>
          </a:p>
          <a:p>
            <a:pPr marL="0" indent="0"/>
            <a:r>
              <a:rPr lang="ru" sz="2800" dirty="0"/>
              <a:t>Объединяя это с функцией правдоподобия и используя результаты для маргинальных и условных гауссовых распределений, получаем апостериорную</a:t>
            </a:r>
          </a:p>
          <a:p>
            <a:endParaRPr lang="en-GB" sz="2800" dirty="0"/>
          </a:p>
          <a:p>
            <a:r>
              <a:rPr lang="ru" sz="2800" dirty="0"/>
              <a:t>где</a:t>
            </a:r>
          </a:p>
        </p:txBody>
      </p:sp>
      <p:pic>
        <p:nvPicPr>
          <p:cNvPr id="8" name="Picture 7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52798" y="2214554"/>
            <a:ext cx="2438404" cy="280416"/>
          </a:xfrm>
          <a:prstGeom prst="rect">
            <a:avLst/>
          </a:prstGeom>
          <a:noFill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26305" y="4291592"/>
            <a:ext cx="2691389" cy="280416"/>
          </a:xfrm>
          <a:prstGeom prst="rect">
            <a:avLst/>
          </a:prstGeom>
          <a:noFill/>
        </p:spPr>
      </p:pic>
      <p:pic>
        <p:nvPicPr>
          <p:cNvPr id="12" name="Picture 11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7204" y="5039312"/>
            <a:ext cx="3529591" cy="8900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Байесовская линейная регрессия (2)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sz="2800" dirty="0"/>
              <a:t>Обычный выбор для априора — это</a:t>
            </a:r>
            <a:endParaRPr lang="en-GB" sz="2800" dirty="0">
              <a:latin typeface="cmbx10" pitchFamily="34" charset="0"/>
            </a:endParaRPr>
          </a:p>
          <a:p>
            <a:endParaRPr lang="en-GB" sz="2800" dirty="0"/>
          </a:p>
          <a:p>
            <a:pPr marL="0" indent="0"/>
            <a:r>
              <a:rPr lang="ru" sz="2800" dirty="0"/>
              <a:t>для которого</a:t>
            </a:r>
          </a:p>
          <a:p>
            <a:pPr marL="0" indent="0"/>
            <a:endParaRPr lang="en-GB" sz="2800" dirty="0"/>
          </a:p>
          <a:p>
            <a:pPr marL="0" indent="0"/>
            <a:endParaRPr lang="en-GB" sz="2800" dirty="0"/>
          </a:p>
          <a:p>
            <a:pPr marL="0" indent="0"/>
            <a:r>
              <a:rPr lang="ru" sz="2800" dirty="0"/>
              <a:t>Далее рассмотрим пример…</a:t>
            </a:r>
          </a:p>
        </p:txBody>
      </p:sp>
      <p:pic>
        <p:nvPicPr>
          <p:cNvPr id="7" name="Picture 6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3365560" y="2214553"/>
            <a:ext cx="2412879" cy="304656"/>
          </a:xfrm>
          <a:prstGeom prst="rect">
            <a:avLst/>
          </a:prstGeom>
          <a:noFill/>
          <a:ln/>
          <a:effectLst/>
        </p:spPr>
      </p:pic>
      <p:pic>
        <p:nvPicPr>
          <p:cNvPr id="11" name="Picture 10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3315056" y="3071810"/>
            <a:ext cx="2513887" cy="709983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Байесовская линейная регрессия (3)</a:t>
            </a:r>
          </a:p>
        </p:txBody>
      </p:sp>
      <p:pic>
        <p:nvPicPr>
          <p:cNvPr id="7" name="Content Placeholder 6" descr="Figure3.7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9527" y="3407048"/>
            <a:ext cx="8843927" cy="2515944"/>
          </a:xfrm>
        </p:spPr>
      </p:pic>
      <p:sp>
        <p:nvSpPr>
          <p:cNvPr id="8" name="Content Placeholder 5"/>
          <p:cNvSpPr txBox="1">
            <a:spLocks/>
          </p:cNvSpPr>
          <p:nvPr/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" sz="2800" dirty="0"/>
              <a:t>0 наблюдаемых точек данных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0034" y="2609934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Априорное</a:t>
            </a:r>
            <a:endParaRPr lang="ru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2413944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Пространство данных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Байесовская линейная регрессия (4)</a:t>
            </a:r>
          </a:p>
        </p:txBody>
      </p:sp>
      <p:pic>
        <p:nvPicPr>
          <p:cNvPr id="7" name="Content Placeholder 6" descr="Figure3.7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340" y="2890493"/>
            <a:ext cx="7734643" cy="2200372"/>
          </a:xfrm>
        </p:spPr>
      </p:pic>
      <p:sp>
        <p:nvSpPr>
          <p:cNvPr id="8" name="Content Placeholder 5"/>
          <p:cNvSpPr txBox="1">
            <a:spLocks/>
          </p:cNvSpPr>
          <p:nvPr/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" sz="2800" dirty="0"/>
              <a:t>Наблюдается 1 точка данных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7305" y="2429820"/>
            <a:ext cx="16430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sz="1600" dirty="0"/>
              <a:t>Правдоподобие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3753" y="2432398"/>
            <a:ext cx="1861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Апостериорное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8889" y="2428868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Пространство данных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Байесовская линейная регрессия (5)</a:t>
            </a:r>
          </a:p>
        </p:txBody>
      </p:sp>
      <p:pic>
        <p:nvPicPr>
          <p:cNvPr id="7" name="Content Placeholder 6" descr="Figure3.7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342" y="2890493"/>
            <a:ext cx="7734639" cy="2200372"/>
          </a:xfrm>
        </p:spPr>
      </p:pic>
      <p:sp>
        <p:nvSpPr>
          <p:cNvPr id="8" name="Content Placeholder 5"/>
          <p:cNvSpPr txBox="1">
            <a:spLocks/>
          </p:cNvSpPr>
          <p:nvPr/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" sz="2800" dirty="0"/>
              <a:t>Наблюдалось 2 точки данных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7304" y="2429820"/>
            <a:ext cx="178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Правдоподобие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4374" y="2430202"/>
            <a:ext cx="1861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Апостериорное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8889" y="2428868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Пространство данных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Байесовская линейная регрессия (6)</a:t>
            </a:r>
          </a:p>
        </p:txBody>
      </p:sp>
      <p:pic>
        <p:nvPicPr>
          <p:cNvPr id="7" name="Content Placeholder 6" descr="Figure3.7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342" y="2890493"/>
            <a:ext cx="7734639" cy="2200371"/>
          </a:xfrm>
        </p:spPr>
      </p:pic>
      <p:sp>
        <p:nvSpPr>
          <p:cNvPr id="8" name="Content Placeholder 5"/>
          <p:cNvSpPr txBox="1">
            <a:spLocks/>
          </p:cNvSpPr>
          <p:nvPr/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" sz="2800" dirty="0"/>
              <a:t>20 наблюдаемых точек данных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7304" y="2429820"/>
            <a:ext cx="18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Правдоподобие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4374" y="2430202"/>
            <a:ext cx="178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Апостериорное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8889" y="2428868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Пространство данных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Предиктивное распределение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/>
              <a:t>Предсказать </a:t>
            </a:r>
            <a:r>
              <a:rPr lang="ru" dirty="0">
                <a:latin typeface="cmmi12" pitchFamily="34" charset="0"/>
              </a:rPr>
              <a:t>t</a:t>
            </a:r>
            <a:r>
              <a:rPr lang="ru" dirty="0"/>
              <a:t> </a:t>
            </a:r>
            <a:r>
              <a:rPr lang="ru" dirty="0">
                <a:latin typeface="cmmi12" pitchFamily="34" charset="0"/>
              </a:rPr>
              <a:t> </a:t>
            </a:r>
            <a:r>
              <a:rPr lang="ru" dirty="0"/>
              <a:t>для новых значений </a:t>
            </a:r>
            <a:r>
              <a:rPr lang="ru" dirty="0">
                <a:latin typeface="cmbx12" pitchFamily="34" charset="0"/>
              </a:rPr>
              <a:t>x </a:t>
            </a:r>
            <a:r>
              <a:rPr lang="ru" dirty="0"/>
              <a:t>путем интегрирования по </a:t>
            </a:r>
            <a:r>
              <a:rPr lang="ru" dirty="0">
                <a:latin typeface="cmbx12" pitchFamily="34" charset="0"/>
              </a:rPr>
              <a:t>w </a:t>
            </a:r>
            <a:r>
              <a:rPr lang="ru" dirty="0"/>
              <a:t>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ru" dirty="0"/>
              <a:t>где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81436" y="2905127"/>
            <a:ext cx="5970283" cy="1238253"/>
          </a:xfrm>
          <a:prstGeom prst="rect">
            <a:avLst/>
          </a:prstGeom>
          <a:noFill/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1568" y="5072074"/>
            <a:ext cx="3970028" cy="7315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Предиктивное распределение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Пример: синусоидальные данные, 9 базисных функций Гаусса, 1 точка данных</a:t>
            </a:r>
          </a:p>
        </p:txBody>
      </p:sp>
      <p:pic>
        <p:nvPicPr>
          <p:cNvPr id="8" name="Picture 7" descr="Figure3.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2724922"/>
            <a:ext cx="4000508" cy="2990094"/>
          </a:xfrm>
          <a:prstGeom prst="rect">
            <a:avLst/>
          </a:prstGeom>
        </p:spPr>
      </p:pic>
      <p:pic>
        <p:nvPicPr>
          <p:cNvPr id="10" name="Picture 9" descr="Figure3.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0" y="2724922"/>
            <a:ext cx="4000507" cy="299009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Предиктивное распределение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Пример: синусоидальные данные, 9 базисных функций Гаусса, 2 точки данных</a:t>
            </a:r>
          </a:p>
        </p:txBody>
      </p:sp>
      <p:pic>
        <p:nvPicPr>
          <p:cNvPr id="8" name="Picture 7" descr="Figure3.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2724922"/>
            <a:ext cx="4000507" cy="2990094"/>
          </a:xfrm>
          <a:prstGeom prst="rect">
            <a:avLst/>
          </a:prstGeom>
        </p:spPr>
      </p:pic>
      <p:pic>
        <p:nvPicPr>
          <p:cNvPr id="10" name="Picture 9" descr="Figure3.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0" y="2724922"/>
            <a:ext cx="4000507" cy="299009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Предиктивное распределение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Пример: синусоидальные данные, 9 базисных функций Гаусса, 4 точки данных</a:t>
            </a:r>
          </a:p>
        </p:txBody>
      </p:sp>
      <p:pic>
        <p:nvPicPr>
          <p:cNvPr id="8" name="Picture 7" descr="Figure3.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2724922"/>
            <a:ext cx="4000507" cy="2990093"/>
          </a:xfrm>
          <a:prstGeom prst="rect">
            <a:avLst/>
          </a:prstGeom>
        </p:spPr>
      </p:pic>
      <p:pic>
        <p:nvPicPr>
          <p:cNvPr id="10" name="Picture 9" descr="Figure3.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0" y="2724922"/>
            <a:ext cx="4000506" cy="299009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Предиктивное распределение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Пример: синусоидальные данные, 9 базисных функций Гаусса, 25 точек данных</a:t>
            </a:r>
          </a:p>
        </p:txBody>
      </p:sp>
      <p:pic>
        <p:nvPicPr>
          <p:cNvPr id="8" name="Picture 7" descr="Figure3.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2724922"/>
            <a:ext cx="4000507" cy="2990093"/>
          </a:xfrm>
          <a:prstGeom prst="rect">
            <a:avLst/>
          </a:prstGeom>
        </p:spPr>
      </p:pic>
      <p:pic>
        <p:nvPicPr>
          <p:cNvPr id="10" name="Picture 9" descr="Figure3.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0" y="2724922"/>
            <a:ext cx="4000506" cy="299009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Эквивалентное ядро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" dirty="0"/>
              <a:t>Предсказательное среднее можно записать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spcBef>
                <a:spcPts val="3000"/>
              </a:spcBef>
            </a:pPr>
            <a:endParaRPr lang="ru" dirty="0"/>
          </a:p>
          <a:p>
            <a:pPr>
              <a:spcBef>
                <a:spcPts val="3000"/>
              </a:spcBef>
            </a:pPr>
            <a:r>
              <a:rPr lang="ru" dirty="0"/>
              <a:t>Это взвешенная сумма целевых значений обучающих данных, </a:t>
            </a:r>
            <a:r>
              <a:rPr lang="ru" dirty="0">
                <a:latin typeface="cmmi12" pitchFamily="34" charset="0"/>
              </a:rPr>
              <a:t>t </a:t>
            </a:r>
            <a:r>
              <a:rPr lang="ru" baseline="-20000" dirty="0">
                <a:latin typeface="cmmi12" pitchFamily="34" charset="0"/>
              </a:rPr>
              <a:t>n </a:t>
            </a:r>
            <a:r>
              <a:rPr lang="ru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34" name="Group 33"/>
          <p:cNvGrpSpPr/>
          <p:nvPr/>
        </p:nvGrpSpPr>
        <p:grpSpPr>
          <a:xfrm>
            <a:off x="2214546" y="2443737"/>
            <a:ext cx="4723098" cy="2056833"/>
            <a:chOff x="2214546" y="2357430"/>
            <a:chExt cx="4723098" cy="2056833"/>
          </a:xfrm>
        </p:grpSpPr>
        <p:pic>
          <p:nvPicPr>
            <p:cNvPr id="7" name="Picture 6" descr="TP_tmp.png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2214546" y="2357430"/>
              <a:ext cx="4723098" cy="2056833"/>
            </a:xfrm>
            <a:prstGeom prst="rect">
              <a:avLst/>
            </a:prstGeom>
            <a:noFill/>
            <a:ln/>
            <a:effectLst/>
          </p:spPr>
        </p:pic>
        <p:sp>
          <p:nvSpPr>
            <p:cNvPr id="8" name="Left Brace 7"/>
            <p:cNvSpPr/>
            <p:nvPr/>
          </p:nvSpPr>
          <p:spPr>
            <a:xfrm rot="5400000">
              <a:off x="4714876" y="3357562"/>
              <a:ext cx="142876" cy="857256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Left Brace 8"/>
            <p:cNvSpPr/>
            <p:nvPr/>
          </p:nvSpPr>
          <p:spPr>
            <a:xfrm rot="16200000">
              <a:off x="5214942" y="2500306"/>
              <a:ext cx="142876" cy="1857388"/>
            </a:xfrm>
            <a:prstGeom prst="leftBrace">
              <a:avLst/>
            </a:prstGeom>
            <a:ln>
              <a:solidFill>
                <a:srgbClr val="FF0000"/>
              </a:solidFill>
              <a:headEnd type="none" w="sm" len="med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hape 15"/>
            <p:cNvCxnSpPr>
              <a:endCxn id="9" idx="1"/>
            </p:cNvCxnSpPr>
            <p:nvPr/>
          </p:nvCxnSpPr>
          <p:spPr>
            <a:xfrm flipV="1">
              <a:off x="4786314" y="3500438"/>
              <a:ext cx="500066" cy="214314"/>
            </a:xfrm>
            <a:prstGeom prst="bentConnector4">
              <a:avLst>
                <a:gd name="adj1" fmla="val 119"/>
                <a:gd name="adj2" fmla="val 45089"/>
              </a:avLst>
            </a:prstGeom>
            <a:ln>
              <a:solidFill>
                <a:srgbClr val="FF0000"/>
              </a:solidFill>
              <a:headEnd type="none" w="sm" len="med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6215074" y="4071942"/>
            <a:ext cx="207170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" i="1" dirty="0"/>
              <a:t>Эквивалентное ядро </a:t>
            </a:r>
            <a:r>
              <a:rPr lang="ru" dirty="0"/>
              <a:t>или </a:t>
            </a:r>
            <a:r>
              <a:rPr lang="ru" i="1" dirty="0"/>
              <a:t>более сглаженная матрица </a:t>
            </a:r>
            <a:r>
              <a:rPr lang="ru" dirty="0"/>
              <a:t>.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5286380" y="3714752"/>
            <a:ext cx="928694" cy="3571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Эквивалентное ядро (2)</a:t>
            </a:r>
          </a:p>
        </p:txBody>
      </p:sp>
      <p:pic>
        <p:nvPicPr>
          <p:cNvPr id="12" name="Content Placeholder 11" descr="Figure3.10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214414" y="1571612"/>
            <a:ext cx="7492000" cy="3404622"/>
          </a:xfrm>
        </p:spPr>
      </p:pic>
      <p:pic>
        <p:nvPicPr>
          <p:cNvPr id="20" name="Picture 1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357157" y="3101305"/>
            <a:ext cx="838204" cy="280417"/>
          </a:xfrm>
          <a:prstGeom prst="rect">
            <a:avLst/>
          </a:prstGeom>
          <a:noFill/>
          <a:ln/>
          <a:effectLst/>
        </p:spPr>
      </p:pic>
      <p:pic>
        <p:nvPicPr>
          <p:cNvPr id="21" name="Picture 20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350303" y="3924570"/>
            <a:ext cx="890020" cy="280417"/>
          </a:xfrm>
          <a:prstGeom prst="rect">
            <a:avLst/>
          </a:prstGeom>
          <a:noFill/>
          <a:ln/>
          <a:effectLst/>
        </p:spPr>
      </p:pic>
      <p:pic>
        <p:nvPicPr>
          <p:cNvPr id="18" name="Picture 17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6212" y="1958298"/>
            <a:ext cx="838202" cy="280416"/>
          </a:xfrm>
          <a:prstGeom prst="rect">
            <a:avLst/>
          </a:prstGeom>
          <a:noFill/>
        </p:spPr>
      </p:pic>
      <p:cxnSp>
        <p:nvCxnSpPr>
          <p:cNvPr id="23" name="Straight Connector 22"/>
          <p:cNvCxnSpPr/>
          <p:nvPr/>
        </p:nvCxnSpPr>
        <p:spPr>
          <a:xfrm rot="5400000" flipH="1" flipV="1">
            <a:off x="461500" y="3214686"/>
            <a:ext cx="3143272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 flipH="1" flipV="1">
            <a:off x="2457561" y="3213892"/>
            <a:ext cx="3143272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5400000" flipH="1" flipV="1">
            <a:off x="1306310" y="3213892"/>
            <a:ext cx="3143272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TP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48722" y="4895290"/>
            <a:ext cx="228600" cy="176784"/>
          </a:xfrm>
          <a:prstGeom prst="rect">
            <a:avLst/>
          </a:prstGeom>
          <a:noFill/>
        </p:spPr>
      </p:pic>
      <p:pic>
        <p:nvPicPr>
          <p:cNvPr id="39" name="Picture 38" descr="TP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953795" y="4895289"/>
            <a:ext cx="280415" cy="176783"/>
          </a:xfrm>
          <a:prstGeom prst="rect">
            <a:avLst/>
          </a:prstGeom>
          <a:noFill/>
          <a:ln/>
          <a:effectLst/>
        </p:spPr>
      </p:pic>
      <p:pic>
        <p:nvPicPr>
          <p:cNvPr id="38" name="Picture 37" descr="TP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779235" y="4895289"/>
            <a:ext cx="252984" cy="204216"/>
          </a:xfrm>
          <a:prstGeom prst="rect">
            <a:avLst/>
          </a:prstGeom>
          <a:noFill/>
          <a:ln/>
          <a:effectLst/>
        </p:spPr>
      </p:pic>
      <p:sp>
        <p:nvSpPr>
          <p:cNvPr id="40" name="TextBox 39"/>
          <p:cNvSpPr txBox="1"/>
          <p:nvPr/>
        </p:nvSpPr>
        <p:spPr>
          <a:xfrm>
            <a:off x="481216" y="5084407"/>
            <a:ext cx="7929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" sz="2800" dirty="0"/>
              <a:t>Вес </a:t>
            </a:r>
            <a:r>
              <a:rPr lang="ru" sz="2800" dirty="0">
                <a:latin typeface="cmmi12" pitchFamily="34" charset="0"/>
              </a:rPr>
              <a:t>t </a:t>
            </a:r>
            <a:r>
              <a:rPr lang="ru" sz="2800" baseline="-20000" dirty="0">
                <a:latin typeface="cmmi12" pitchFamily="34" charset="0"/>
              </a:rPr>
              <a:t>n </a:t>
            </a:r>
            <a:r>
              <a:rPr lang="ru" sz="4400" dirty="0"/>
              <a:t> </a:t>
            </a:r>
            <a:r>
              <a:rPr lang="ru" sz="2800" dirty="0"/>
              <a:t>зависит от расстояния между </a:t>
            </a:r>
            <a:r>
              <a:rPr lang="ru" sz="2800" dirty="0">
                <a:latin typeface="cmbx12" pitchFamily="34" charset="0"/>
              </a:rPr>
              <a:t>x </a:t>
            </a:r>
            <a:r>
              <a:rPr lang="ru" sz="2800" dirty="0"/>
              <a:t>и </a:t>
            </a:r>
            <a:r>
              <a:rPr lang="ru" sz="2800" dirty="0">
                <a:latin typeface="cmbx12" pitchFamily="34" charset="0"/>
              </a:rPr>
              <a:t>x</a:t>
            </a:r>
            <a:r>
              <a:rPr lang="ru" sz="2800" baseline="-20000" dirty="0">
                <a:latin typeface="cmmi12" pitchFamily="34" charset="0"/>
              </a:rPr>
              <a:t>n </a:t>
            </a:r>
            <a:r>
              <a:rPr lang="ru" sz="2800" dirty="0"/>
              <a:t>; близлежащие </a:t>
            </a:r>
            <a:r>
              <a:rPr lang="ru" sz="2800" dirty="0">
                <a:latin typeface="cmbx12" pitchFamily="34" charset="0"/>
              </a:rPr>
              <a:t>x</a:t>
            </a:r>
            <a:r>
              <a:rPr lang="ru" sz="2800" baseline="-20000" dirty="0">
                <a:latin typeface="cmmi12" pitchFamily="34" charset="0"/>
              </a:rPr>
              <a:t>n </a:t>
            </a:r>
            <a:r>
              <a:rPr lang="en-US" sz="2800" dirty="0"/>
              <a:t> </a:t>
            </a:r>
            <a:r>
              <a:rPr lang="ru-RU" sz="2800" dirty="0"/>
              <a:t>н</a:t>
            </a:r>
            <a:r>
              <a:rPr lang="ru" sz="2800" dirty="0"/>
              <a:t>есут больший вес.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Эквивалентное ядро (3)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/>
              <a:t>Нелокальные базисные функции имеют локальные эквивалентные ядра: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266188" y="2800347"/>
            <a:ext cx="6605046" cy="2514606"/>
            <a:chOff x="1110226" y="2800347"/>
            <a:chExt cx="6605046" cy="2514606"/>
          </a:xfrm>
        </p:grpSpPr>
        <p:pic>
          <p:nvPicPr>
            <p:cNvPr id="4" name="Picture 3" descr="Figure3.11a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0226" y="2800347"/>
              <a:ext cx="3176022" cy="2514606"/>
            </a:xfrm>
            <a:prstGeom prst="rect">
              <a:avLst/>
            </a:prstGeom>
          </p:spPr>
        </p:pic>
        <p:pic>
          <p:nvPicPr>
            <p:cNvPr id="5" name="Picture 4" descr="Figure3.11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9250" y="2800347"/>
              <a:ext cx="3176022" cy="2514606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2042174" y="5335852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Многочлен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1198" y="5335852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 err="1"/>
              <a:t>Сигмоидальный</a:t>
            </a:r>
            <a:endParaRPr lang="en-GB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Эквивалентное ядро (4)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/>
              <a:t>Ядро как ковариационная функция: рассмотрим</a:t>
            </a:r>
          </a:p>
          <a:p>
            <a:endParaRPr lang="en-GB" dirty="0"/>
          </a:p>
          <a:p>
            <a:endParaRPr lang="en-GB" dirty="0"/>
          </a:p>
          <a:p>
            <a:r>
              <a:rPr lang="ru" dirty="0"/>
              <a:t>Можно избежать использования базисных функций и определить функцию ядра напрямую, что приведет к </a:t>
            </a:r>
            <a:r>
              <a:rPr lang="ru" i="1" dirty="0"/>
              <a:t>гауссовым процессам</a:t>
            </a:r>
            <a:r>
              <a:rPr lang="ru" dirty="0"/>
              <a:t>.</a:t>
            </a:r>
          </a:p>
        </p:txBody>
      </p:sp>
      <p:pic>
        <p:nvPicPr>
          <p:cNvPr id="19" name="Picture 1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835696" y="2924944"/>
            <a:ext cx="5662178" cy="710058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Эквивалентное ядро (5)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GB" sz="2800" dirty="0"/>
          </a:p>
          <a:p>
            <a:endParaRPr lang="en-GB" sz="2800" dirty="0"/>
          </a:p>
          <a:p>
            <a:pPr marL="0" indent="1588"/>
            <a:r>
              <a:rPr lang="ru" sz="2800" dirty="0"/>
              <a:t>для всех значений </a:t>
            </a:r>
            <a:r>
              <a:rPr lang="ru" sz="2800" dirty="0">
                <a:latin typeface="cmbx12" pitchFamily="34" charset="0"/>
              </a:rPr>
              <a:t>x</a:t>
            </a:r>
            <a:r>
              <a:rPr lang="ru" sz="2800" dirty="0"/>
              <a:t>; однако эквивалентное ядро может быть отрицательным для некоторых значений </a:t>
            </a:r>
            <a:r>
              <a:rPr lang="ru" sz="2800" dirty="0">
                <a:latin typeface="cmbx12" pitchFamily="34" charset="0"/>
              </a:rPr>
              <a:t>x </a:t>
            </a:r>
            <a:r>
              <a:rPr lang="ru" sz="2800" dirty="0"/>
              <a:t>.</a:t>
            </a:r>
          </a:p>
          <a:p>
            <a:pPr marL="0" indent="1588">
              <a:spcBef>
                <a:spcPts val="1800"/>
              </a:spcBef>
            </a:pPr>
            <a:r>
              <a:rPr lang="ru" sz="2800" dirty="0"/>
              <a:t>Как и все функции ядра, эквивалентное ядро можно выразить в виде скалярного произведения:</a:t>
            </a:r>
          </a:p>
          <a:p>
            <a:pPr marL="0" indent="1588"/>
            <a:endParaRPr lang="en-GB" sz="2800" dirty="0"/>
          </a:p>
          <a:p>
            <a:pPr marL="0" indent="1588">
              <a:spcBef>
                <a:spcPts val="2400"/>
              </a:spcBef>
            </a:pPr>
            <a:r>
              <a:rPr lang="ru" sz="2800" dirty="0"/>
              <a:t>где .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68028" y="1457782"/>
            <a:ext cx="1999112" cy="857252"/>
          </a:xfrm>
          <a:prstGeom prst="rect">
            <a:avLst/>
          </a:prstGeom>
          <a:noFill/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68028" y="4786322"/>
            <a:ext cx="2599187" cy="370332"/>
          </a:xfrm>
          <a:prstGeom prst="rect">
            <a:avLst/>
          </a:prstGeom>
          <a:noFill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00206" y="5429264"/>
            <a:ext cx="2657480" cy="4011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Сравнение байесовских моделей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Как выбрать «правильную» модель?</a:t>
            </a:r>
          </a:p>
          <a:p>
            <a:r>
              <a:rPr lang="ru" sz="2800" dirty="0"/>
              <a:t>Предположим, мы хотим сравнить модели </a:t>
            </a:r>
            <a:r>
              <a:rPr lang="ru" sz="2800" dirty="0">
                <a:latin typeface="cmsy10" pitchFamily="34" charset="0"/>
              </a:rPr>
              <a:t>M</a:t>
            </a:r>
            <a:r>
              <a:rPr lang="ru" sz="2800" baseline="-20000" dirty="0">
                <a:latin typeface="cmmi12" pitchFamily="34" charset="0"/>
              </a:rPr>
              <a:t>i </a:t>
            </a:r>
            <a:r>
              <a:rPr lang="ru" sz="2800" dirty="0">
                <a:latin typeface="cmr12" pitchFamily="34" charset="0"/>
              </a:rPr>
              <a:t>, </a:t>
            </a:r>
          </a:p>
          <a:p>
            <a:r>
              <a:rPr lang="ru" sz="2800" dirty="0">
                <a:latin typeface="cmmi12" pitchFamily="34" charset="0"/>
              </a:rPr>
              <a:t>i </a:t>
            </a:r>
            <a:r>
              <a:rPr lang="ru" sz="2800" dirty="0">
                <a:latin typeface="cmr12" pitchFamily="34" charset="0"/>
              </a:rPr>
              <a:t>=1, …, </a:t>
            </a:r>
            <a:r>
              <a:rPr lang="ru" sz="2800" dirty="0">
                <a:latin typeface="cmmi12" pitchFamily="34" charset="0"/>
              </a:rPr>
              <a:t>L </a:t>
            </a:r>
            <a:r>
              <a:rPr lang="ru" sz="2800" dirty="0"/>
              <a:t>, используя данные </a:t>
            </a:r>
            <a:r>
              <a:rPr lang="ru" sz="2800" dirty="0">
                <a:latin typeface="cmsy10" pitchFamily="34" charset="0"/>
              </a:rPr>
              <a:t>D </a:t>
            </a:r>
            <a:r>
              <a:rPr lang="ru" sz="2800" dirty="0"/>
              <a:t>; это требует вычислений</a:t>
            </a:r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  <a:p>
            <a:pPr>
              <a:spcBef>
                <a:spcPts val="1200"/>
              </a:spcBef>
            </a:pPr>
            <a:r>
              <a:rPr lang="ru" sz="2800" i="1" dirty="0"/>
              <a:t>Фактор Байеса </a:t>
            </a:r>
            <a:r>
              <a:rPr lang="ru" sz="2800" dirty="0"/>
              <a:t>: соотношение доказательств для двух моделей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245599" y="3593154"/>
            <a:ext cx="4652801" cy="1074959"/>
            <a:chOff x="2633843" y="3357562"/>
            <a:chExt cx="4652801" cy="1074959"/>
          </a:xfrm>
        </p:grpSpPr>
        <p:pic>
          <p:nvPicPr>
            <p:cNvPr id="5" name="Picture 4" descr="TP_tmp.png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633843" y="3357562"/>
              <a:ext cx="3874778" cy="350520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2714612" y="3786190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" dirty="0"/>
                <a:t>Новый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26886" y="3786190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" dirty="0"/>
                <a:t>Прежний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86380" y="3786190"/>
              <a:ext cx="2000264" cy="6463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" i="1" dirty="0"/>
                <a:t>Модель доказательств </a:t>
              </a:r>
              <a:r>
                <a:rPr lang="ru" dirty="0"/>
                <a:t>или </a:t>
              </a:r>
              <a:r>
                <a:rPr lang="ru" i="1" dirty="0"/>
                <a:t>предельной вероятности</a:t>
              </a:r>
            </a:p>
          </p:txBody>
        </p:sp>
      </p:grpSp>
      <p:pic>
        <p:nvPicPr>
          <p:cNvPr id="14" name="Picture 1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96802" y="5562694"/>
            <a:ext cx="1054899" cy="6415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Сравнение байесовских моделей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" dirty="0"/>
              <a:t>Вычислив </a:t>
            </a:r>
            <a:r>
              <a:rPr lang="ru" dirty="0">
                <a:latin typeface="cmmi12" pitchFamily="34" charset="0"/>
              </a:rPr>
              <a:t>p </a:t>
            </a:r>
            <a:r>
              <a:rPr lang="ru" dirty="0">
                <a:latin typeface="cmr12" pitchFamily="34" charset="0"/>
              </a:rPr>
              <a:t>(</a:t>
            </a:r>
            <a:r>
              <a:rPr lang="ru" dirty="0">
                <a:latin typeface="cmsy10" pitchFamily="34" charset="0"/>
              </a:rPr>
              <a:t>M </a:t>
            </a:r>
            <a:r>
              <a:rPr lang="ru" baseline="-20000" dirty="0">
                <a:latin typeface="cmmi12" pitchFamily="34" charset="0"/>
              </a:rPr>
              <a:t>i </a:t>
            </a:r>
            <a:r>
              <a:rPr lang="ru" dirty="0">
                <a:latin typeface="cmsy10" pitchFamily="34" charset="0"/>
              </a:rPr>
              <a:t>jD </a:t>
            </a:r>
            <a:r>
              <a:rPr lang="ru" dirty="0">
                <a:latin typeface="cmr12" pitchFamily="34" charset="0"/>
              </a:rPr>
              <a:t>) </a:t>
            </a:r>
            <a:r>
              <a:rPr lang="ru" dirty="0"/>
              <a:t>, мы можем вычислить предсказательное (смешанное) распределение</a:t>
            </a:r>
          </a:p>
          <a:p>
            <a:endParaRPr lang="en-GB" dirty="0"/>
          </a:p>
          <a:p>
            <a:endParaRPr lang="en-GB" dirty="0"/>
          </a:p>
          <a:p>
            <a:r>
              <a:rPr lang="ru" dirty="0"/>
              <a:t>Более простое приближение, известное как </a:t>
            </a:r>
            <a:r>
              <a:rPr lang="ru" i="1" dirty="0"/>
              <a:t>выбор модели </a:t>
            </a:r>
            <a:r>
              <a:rPr lang="ru" dirty="0"/>
              <a:t>, заключается в использовании модели с наибольшим количеством доказательств.</a:t>
            </a:r>
          </a:p>
        </p:txBody>
      </p:sp>
      <p:pic>
        <p:nvPicPr>
          <p:cNvPr id="13" name="Picture 12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936506" y="2952591"/>
            <a:ext cx="5270987" cy="952818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Сравнение байесовских моделей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/>
              <a:t>Для модели с параметрами </a:t>
            </a:r>
            <a:r>
              <a:rPr lang="ru" dirty="0">
                <a:latin typeface="cmbx12" pitchFamily="34" charset="0"/>
              </a:rPr>
              <a:t>w </a:t>
            </a:r>
            <a:r>
              <a:rPr lang="ru" dirty="0"/>
              <a:t>мы получаем модельное доказательство путем маргинализации по </a:t>
            </a:r>
            <a:r>
              <a:rPr lang="ru" dirty="0">
                <a:latin typeface="cmbx12" pitchFamily="34" charset="0"/>
              </a:rPr>
              <a:t>w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spcBef>
                <a:spcPts val="1200"/>
              </a:spcBef>
            </a:pPr>
            <a:r>
              <a:rPr lang="ru" dirty="0"/>
              <a:t>Обратите внимание, что</a:t>
            </a:r>
          </a:p>
        </p:txBody>
      </p:sp>
      <p:pic>
        <p:nvPicPr>
          <p:cNvPr id="12" name="Picture 11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870967" y="3036115"/>
            <a:ext cx="5526332" cy="762254"/>
          </a:xfrm>
          <a:prstGeom prst="rect">
            <a:avLst/>
          </a:prstGeom>
          <a:noFill/>
          <a:ln/>
          <a:effectLst/>
        </p:spPr>
      </p:pic>
      <p:pic>
        <p:nvPicPr>
          <p:cNvPr id="15" name="Picture 1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25243" y="4958086"/>
            <a:ext cx="5017780" cy="792483"/>
          </a:xfrm>
          <a:prstGeom prst="rect">
            <a:avLst/>
          </a:prstGeom>
          <a:noFill/>
        </p:spPr>
      </p:pic>
      <p:grpSp>
        <p:nvGrpSpPr>
          <p:cNvPr id="32" name="Group 31"/>
          <p:cNvGrpSpPr/>
          <p:nvPr/>
        </p:nvGrpSpPr>
        <p:grpSpPr>
          <a:xfrm>
            <a:off x="2280928" y="3752688"/>
            <a:ext cx="5526332" cy="2358248"/>
            <a:chOff x="2428066" y="3429794"/>
            <a:chExt cx="5288000" cy="2358248"/>
          </a:xfrm>
        </p:grpSpPr>
        <p:cxnSp>
          <p:nvCxnSpPr>
            <p:cNvPr id="22" name="Straight Arrow Connector 21"/>
            <p:cNvCxnSpPr/>
            <p:nvPr/>
          </p:nvCxnSpPr>
          <p:spPr>
            <a:xfrm rot="5400000" flipH="1" flipV="1">
              <a:off x="5394331" y="5607065"/>
              <a:ext cx="357190" cy="1588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rot="5400000" flipH="1" flipV="1">
              <a:off x="2250265" y="3607595"/>
              <a:ext cx="357190" cy="1588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428860" y="3786190"/>
              <a:ext cx="5286412" cy="1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6715140" y="4786322"/>
              <a:ext cx="2000264" cy="1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0800000">
              <a:off x="5572132" y="5786454"/>
              <a:ext cx="2143140" cy="1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Сравнение байесовских моделей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471858" cy="4525963"/>
          </a:xfrm>
        </p:spPr>
        <p:txBody>
          <a:bodyPr/>
          <a:lstStyle/>
          <a:p>
            <a:pPr marL="0" indent="0"/>
            <a:r>
              <a:rPr lang="ru" dirty="0"/>
              <a:t>Для данной модели с одним параметром </a:t>
            </a:r>
            <a:r>
              <a:rPr lang="ru" dirty="0">
                <a:latin typeface="cmmi12" pitchFamily="34" charset="0"/>
              </a:rPr>
              <a:t>w </a:t>
            </a:r>
            <a:r>
              <a:rPr lang="ru" dirty="0"/>
              <a:t>рассмотрим </a:t>
            </a:r>
            <a:r>
              <a:rPr lang="ru" dirty="0" err="1"/>
              <a:t>приближение</a:t>
            </a:r>
          </a:p>
          <a:p>
            <a:pPr marL="0" indent="0"/>
            <a:endParaRPr lang="en-GB" dirty="0"/>
          </a:p>
          <a:p>
            <a:pPr marL="0" indent="0"/>
            <a:endParaRPr lang="en-GB" dirty="0"/>
          </a:p>
          <a:p>
            <a:pPr marL="0" indent="0"/>
            <a:endParaRPr lang="en-GB" dirty="0"/>
          </a:p>
          <a:p>
            <a:pPr marL="0" indent="0"/>
            <a:endParaRPr lang="en-GB" dirty="0"/>
          </a:p>
          <a:p>
            <a:pPr marL="0" indent="0"/>
            <a:r>
              <a:rPr lang="ru" dirty="0"/>
              <a:t>где предполагается, что апостериор имеет острый пик.</a:t>
            </a:r>
          </a:p>
        </p:txBody>
      </p:sp>
      <p:pic>
        <p:nvPicPr>
          <p:cNvPr id="13" name="Picture 12" descr="Figure3.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58" y="2143116"/>
            <a:ext cx="4700026" cy="3505208"/>
          </a:xfrm>
          <a:prstGeom prst="rect">
            <a:avLst/>
          </a:prstGeom>
        </p:spPr>
      </p:pic>
      <p:pic>
        <p:nvPicPr>
          <p:cNvPr id="18" name="Picture 17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729511" y="3429000"/>
            <a:ext cx="3199547" cy="1295054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Сравнение байесовских моделей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Логарифмируя, получаем</a:t>
            </a:r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  <a:p>
            <a:r>
              <a:rPr lang="ru" sz="2800" dirty="0"/>
              <a:t>При </a:t>
            </a:r>
            <a:r>
              <a:rPr lang="ru" sz="2800" dirty="0">
                <a:latin typeface="cmmi12" pitchFamily="34" charset="0"/>
              </a:rPr>
              <a:t>M </a:t>
            </a:r>
            <a:r>
              <a:rPr lang="ru" sz="2800" dirty="0"/>
              <a:t> параметрах, предполагая, что все они имеют одинаковое соотношение, мы получаем</a:t>
            </a:r>
          </a:p>
        </p:txBody>
      </p:sp>
      <p:pic>
        <p:nvPicPr>
          <p:cNvPr id="14" name="Picture 1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13911" y="2285992"/>
            <a:ext cx="5513843" cy="713234"/>
          </a:xfrm>
          <a:prstGeom prst="rect">
            <a:avLst/>
          </a:prstGeom>
          <a:noFill/>
        </p:spPr>
      </p:pic>
      <p:sp>
        <p:nvSpPr>
          <p:cNvPr id="16" name="Left Brace 15"/>
          <p:cNvSpPr/>
          <p:nvPr/>
        </p:nvSpPr>
        <p:spPr>
          <a:xfrm rot="-5400000">
            <a:off x="6055141" y="2035959"/>
            <a:ext cx="142876" cy="207170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5385810" y="3143248"/>
            <a:ext cx="1776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Отрицательно</a:t>
            </a:r>
          </a:p>
        </p:txBody>
      </p:sp>
      <p:pic>
        <p:nvPicPr>
          <p:cNvPr id="19" name="Picture 18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8025" y="4509120"/>
            <a:ext cx="2697485" cy="350520"/>
          </a:xfrm>
          <a:prstGeom prst="rect">
            <a:avLst/>
          </a:prstGeom>
          <a:noFill/>
        </p:spPr>
      </p:pic>
      <p:pic>
        <p:nvPicPr>
          <p:cNvPr id="23" name="Picture 22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5718" y="4797152"/>
            <a:ext cx="5915036" cy="713234"/>
          </a:xfrm>
          <a:prstGeom prst="rect">
            <a:avLst/>
          </a:prstGeom>
          <a:noFill/>
        </p:spPr>
      </p:pic>
      <p:sp>
        <p:nvSpPr>
          <p:cNvPr id="24" name="Left Brace 23"/>
          <p:cNvSpPr/>
          <p:nvPr/>
        </p:nvSpPr>
        <p:spPr>
          <a:xfrm rot="-5400000">
            <a:off x="6066127" y="4361307"/>
            <a:ext cx="155018" cy="242889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4472569" y="5641120"/>
            <a:ext cx="3357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" dirty="0"/>
              <a:t>Отрицательный и линейный по </a:t>
            </a:r>
            <a:r>
              <a:rPr lang="ru" dirty="0">
                <a:latin typeface="cmmi12" pitchFamily="34" charset="0"/>
              </a:rPr>
              <a:t>М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Сравнение байесовских моделей 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Сопоставление данных и сложности модели</a:t>
            </a:r>
          </a:p>
        </p:txBody>
      </p:sp>
      <p:pic>
        <p:nvPicPr>
          <p:cNvPr id="11" name="Picture 10" descr="Figure3.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11" y="2433648"/>
            <a:ext cx="5690628" cy="335280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Эффективное количество параметров </a:t>
            </a:r>
            <a:endParaRPr lang="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Пример: синусоидальные данные, многочлен</a:t>
            </a:r>
            <a:r>
              <a:rPr lang="ru" sz="2800" baseline="30000" dirty="0"/>
              <a:t>  </a:t>
            </a:r>
            <a:r>
              <a:rPr lang="ru" sz="2800" dirty="0"/>
              <a:t>степени </a:t>
            </a:r>
            <a:r>
              <a:rPr lang="ru" sz="2800" dirty="0">
                <a:latin typeface="cmmi12" pitchFamily="34" charset="0"/>
              </a:rPr>
              <a:t>М</a:t>
            </a:r>
            <a:r>
              <a:rPr lang="ru" sz="2800" dirty="0"/>
              <a:t>,</a:t>
            </a:r>
          </a:p>
          <a:p>
            <a:endParaRPr lang="en-GB" sz="2800" dirty="0"/>
          </a:p>
        </p:txBody>
      </p:sp>
      <p:pic>
        <p:nvPicPr>
          <p:cNvPr id="7" name="Picture 6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915816" y="2101918"/>
            <a:ext cx="1809753" cy="316230"/>
          </a:xfrm>
          <a:prstGeom prst="rect">
            <a:avLst/>
          </a:prstGeom>
          <a:noFill/>
          <a:ln/>
          <a:effectLst/>
        </p:spPr>
      </p:pic>
      <p:grpSp>
        <p:nvGrpSpPr>
          <p:cNvPr id="12" name="Group 11"/>
          <p:cNvGrpSpPr/>
          <p:nvPr/>
        </p:nvGrpSpPr>
        <p:grpSpPr>
          <a:xfrm>
            <a:off x="1329297" y="2590406"/>
            <a:ext cx="6472865" cy="3657608"/>
            <a:chOff x="552810" y="2566805"/>
            <a:chExt cx="6472865" cy="3657608"/>
          </a:xfrm>
        </p:grpSpPr>
        <p:pic>
          <p:nvPicPr>
            <p:cNvPr id="8" name="Picture 7" descr="Figure3.1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43481" y="2566805"/>
              <a:ext cx="5282194" cy="3657608"/>
            </a:xfrm>
            <a:prstGeom prst="rect">
              <a:avLst/>
            </a:prstGeom>
          </p:spPr>
        </p:pic>
        <p:pic>
          <p:nvPicPr>
            <p:cNvPr id="11" name="Picture 10" descr="TP_tmp.png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2810" y="3834027"/>
              <a:ext cx="1167386" cy="280416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Максимизация правдоподобия </a:t>
            </a:r>
            <a:r>
              <a:rPr lang="ru" sz="3200" dirty="0"/>
              <a:t>по </a:t>
            </a:r>
            <a:r>
              <a:rPr lang="ru" sz="3200" dirty="0">
                <a:latin typeface="cmmi12" pitchFamily="34" charset="0"/>
              </a:rPr>
              <a:t>®</a:t>
            </a:r>
            <a:r>
              <a:rPr lang="ru" sz="3200" dirty="0"/>
              <a:t> </a:t>
            </a:r>
            <a:r>
              <a:rPr lang="ru" sz="3200" dirty="0">
                <a:latin typeface="cmmi12" pitchFamily="34" charset="0"/>
              </a:rPr>
              <a:t> </a:t>
            </a:r>
            <a:r>
              <a:rPr lang="ru" sz="3200" dirty="0"/>
              <a:t>и </a:t>
            </a:r>
            <a:r>
              <a:rPr lang="ru" sz="3200" dirty="0">
                <a:latin typeface="cmmi12" pitchFamily="34" charset="0"/>
              </a:rPr>
              <a:t>¯</a:t>
            </a:r>
            <a:r>
              <a:rPr lang="ru-RU" sz="3200" dirty="0"/>
              <a:t> </a:t>
            </a:r>
            <a:r>
              <a:rPr lang="ru" sz="3200" dirty="0"/>
              <a:t>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Чтобы максимизировать                     по </a:t>
            </a:r>
            <a:r>
              <a:rPr lang="ru" sz="2800" dirty="0">
                <a:latin typeface="cmmi12" pitchFamily="34" charset="0"/>
              </a:rPr>
              <a:t>®</a:t>
            </a:r>
            <a:r>
              <a:rPr lang="ru" sz="2800" dirty="0"/>
              <a:t> </a:t>
            </a:r>
            <a:r>
              <a:rPr lang="ru" sz="2800" dirty="0">
                <a:latin typeface="cmmi12" pitchFamily="34" charset="0"/>
              </a:rPr>
              <a:t> </a:t>
            </a:r>
            <a:r>
              <a:rPr lang="ru" sz="2800" dirty="0"/>
              <a:t>и </a:t>
            </a:r>
            <a:r>
              <a:rPr lang="ru" sz="2800" dirty="0">
                <a:latin typeface="cmmi12" pitchFamily="34" charset="0"/>
              </a:rPr>
              <a:t>¯ </a:t>
            </a:r>
            <a:r>
              <a:rPr lang="ru" sz="2800" dirty="0"/>
              <a:t>, мы определяем уравнение собственного вектора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ru" sz="2800" dirty="0"/>
              <a:t>Таким образом</a:t>
            </a:r>
          </a:p>
          <a:p>
            <a:endParaRPr lang="en-GB" sz="2800" dirty="0"/>
          </a:p>
          <a:p>
            <a:r>
              <a:rPr lang="ru" sz="2800" dirty="0"/>
              <a:t>имеет собственные значения </a:t>
            </a:r>
            <a:r>
              <a:rPr lang="ru" sz="2800" dirty="0">
                <a:latin typeface="cmmi12" pitchFamily="34" charset="0"/>
              </a:rPr>
              <a:t>¸ </a:t>
            </a:r>
            <a:r>
              <a:rPr lang="ru" sz="2800" baseline="-20000" dirty="0">
                <a:latin typeface="cmmi12" pitchFamily="34" charset="0"/>
              </a:rPr>
              <a:t>i </a:t>
            </a:r>
            <a:r>
              <a:rPr lang="ru" sz="2800" dirty="0">
                <a:latin typeface="cmr12" pitchFamily="34" charset="0"/>
              </a:rPr>
              <a:t> + </a:t>
            </a:r>
            <a:r>
              <a:rPr lang="ru" sz="2800" dirty="0">
                <a:latin typeface="cmmi12" pitchFamily="34" charset="0"/>
              </a:rPr>
              <a:t>® </a:t>
            </a:r>
            <a:r>
              <a:rPr lang="ru" sz="2800" dirty="0"/>
              <a:t>.</a:t>
            </a:r>
          </a:p>
        </p:txBody>
      </p:sp>
      <p:pic>
        <p:nvPicPr>
          <p:cNvPr id="9" name="Picture 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69502" y="1713228"/>
            <a:ext cx="1459233" cy="350520"/>
          </a:xfrm>
          <a:prstGeom prst="rect">
            <a:avLst/>
          </a:prstGeom>
          <a:noFill/>
        </p:spPr>
      </p:pic>
      <p:pic>
        <p:nvPicPr>
          <p:cNvPr id="12" name="Picture 11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20760" y="2804540"/>
            <a:ext cx="2697485" cy="601980"/>
          </a:xfrm>
          <a:prstGeom prst="rect">
            <a:avLst/>
          </a:prstGeom>
          <a:noFill/>
        </p:spPr>
      </p:pic>
      <p:pic>
        <p:nvPicPr>
          <p:cNvPr id="14" name="Picture 13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66250" y="4071942"/>
            <a:ext cx="3333758" cy="4114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Максимизация правдоподобия </a:t>
            </a:r>
            <a:r>
              <a:rPr lang="ru" sz="3200" dirty="0"/>
              <a:t>по </a:t>
            </a:r>
            <a:r>
              <a:rPr lang="ru" sz="3200" dirty="0">
                <a:latin typeface="cmmi12" pitchFamily="34" charset="0"/>
              </a:rPr>
              <a:t>®</a:t>
            </a:r>
            <a:r>
              <a:rPr lang="ru" sz="3200" dirty="0"/>
              <a:t> </a:t>
            </a:r>
            <a:r>
              <a:rPr lang="ru" sz="3200" dirty="0">
                <a:latin typeface="cmmi12" pitchFamily="34" charset="0"/>
              </a:rPr>
              <a:t> </a:t>
            </a:r>
            <a:r>
              <a:rPr lang="ru" sz="3200" dirty="0"/>
              <a:t>и </a:t>
            </a:r>
            <a:r>
              <a:rPr lang="ru" sz="3200" dirty="0">
                <a:latin typeface="cmmi12" pitchFamily="34" charset="0"/>
              </a:rPr>
              <a:t>¯</a:t>
            </a:r>
            <a:r>
              <a:rPr lang="ru-RU" sz="3200" dirty="0"/>
              <a:t> </a:t>
            </a:r>
            <a:r>
              <a:rPr lang="ru" sz="3200" dirty="0"/>
              <a:t>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" sz="2800" dirty="0"/>
              <a:t>Теперь мы можем продифференцировать            </a:t>
            </a:r>
          </a:p>
          <a:p>
            <a:r>
              <a:rPr lang="en-US" sz="2800" dirty="0" err="1"/>
              <a:t>п</a:t>
            </a:r>
            <a:r>
              <a:rPr lang="ru-RU" sz="2800" dirty="0"/>
              <a:t>о</a:t>
            </a:r>
            <a:r>
              <a:rPr lang="ru" sz="2800" dirty="0"/>
              <a:t> </a:t>
            </a:r>
            <a:r>
              <a:rPr lang="ru" sz="2800" dirty="0">
                <a:latin typeface="cmmi12" pitchFamily="34" charset="0"/>
              </a:rPr>
              <a:t>® </a:t>
            </a:r>
            <a:r>
              <a:rPr lang="ru" sz="2800" dirty="0"/>
              <a:t> и </a:t>
            </a:r>
            <a:r>
              <a:rPr lang="ru" sz="2800" dirty="0">
                <a:latin typeface="cmmi12" pitchFamily="34" charset="0"/>
              </a:rPr>
              <a:t>¯ </a:t>
            </a:r>
            <a:r>
              <a:rPr lang="ru" sz="2800" dirty="0"/>
              <a:t> и приравнять результаты к нулю. </a:t>
            </a:r>
          </a:p>
          <a:p>
            <a:r>
              <a:rPr lang="ru" sz="2800" dirty="0"/>
              <a:t>Получим</a:t>
            </a:r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  <a:p>
            <a:r>
              <a:rPr lang="ru" sz="2800" dirty="0"/>
              <a:t>где</a:t>
            </a:r>
          </a:p>
          <a:p>
            <a:endParaRPr lang="en-GB" sz="2800" dirty="0"/>
          </a:p>
        </p:txBody>
      </p:sp>
      <p:pic>
        <p:nvPicPr>
          <p:cNvPr id="9" name="Picture 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82205" y="1700808"/>
            <a:ext cx="1459233" cy="350520"/>
          </a:xfrm>
          <a:prstGeom prst="rect">
            <a:avLst/>
          </a:prstGeom>
          <a:noFill/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88687" y="2919987"/>
            <a:ext cx="4166623" cy="1423418"/>
          </a:xfrm>
          <a:prstGeom prst="rect">
            <a:avLst/>
          </a:prstGeom>
          <a:noFill/>
        </p:spPr>
      </p:pic>
      <p:pic>
        <p:nvPicPr>
          <p:cNvPr id="11" name="Picture 10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01036" y="4500570"/>
            <a:ext cx="1728220" cy="685802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2857488" y="5500702"/>
            <a:ext cx="407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2357422" y="5500702"/>
            <a:ext cx="5958994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" sz="2400" dirty="0"/>
              <a:t>Примечание: </a:t>
            </a:r>
            <a:r>
              <a:rPr lang="ru" sz="2400" dirty="0">
                <a:latin typeface="cmmi12" pitchFamily="34" charset="0"/>
              </a:rPr>
              <a:t>° </a:t>
            </a:r>
            <a:r>
              <a:rPr lang="ru" sz="2400" dirty="0"/>
              <a:t> зависит как от </a:t>
            </a:r>
            <a:r>
              <a:rPr lang="ru" sz="2400" dirty="0">
                <a:latin typeface="cmmi12" pitchFamily="34" charset="0"/>
              </a:rPr>
              <a:t>®</a:t>
            </a:r>
            <a:r>
              <a:rPr lang="ru" sz="2400" dirty="0"/>
              <a:t> </a:t>
            </a:r>
            <a:r>
              <a:rPr lang="ru" sz="2400" dirty="0">
                <a:latin typeface="cmmi12" pitchFamily="34" charset="0"/>
              </a:rPr>
              <a:t>так </a:t>
            </a:r>
            <a:r>
              <a:rPr lang="ru" sz="2400" dirty="0"/>
              <a:t>и </a:t>
            </a:r>
            <a:r>
              <a:rPr lang="ru" sz="2400" dirty="0">
                <a:latin typeface="cmmi12" pitchFamily="34" charset="0"/>
              </a:rPr>
              <a:t>от</a:t>
            </a:r>
            <a:r>
              <a:rPr lang="ru" sz="2400" dirty="0"/>
              <a:t> </a:t>
            </a:r>
            <a:r>
              <a:rPr lang="ru" sz="2400" dirty="0">
                <a:latin typeface="cmmi12" pitchFamily="34" charset="0"/>
              </a:rPr>
              <a:t> ¯ </a:t>
            </a:r>
            <a:r>
              <a:rPr lang="ru" sz="2400" dirty="0"/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igure3.1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494" y="2447530"/>
            <a:ext cx="5040873" cy="3785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Эффективное количество параметров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28736"/>
            <a:ext cx="7924800" cy="4525963"/>
          </a:xfrm>
        </p:spPr>
        <p:txBody>
          <a:bodyPr>
            <a:normAutofit/>
          </a:bodyPr>
          <a:lstStyle/>
          <a:p>
            <a:r>
              <a:rPr lang="ru" sz="2800" dirty="0"/>
              <a:t>Пример: синусоидальные данные, 9 базисных функций Гаусса, </a:t>
            </a:r>
            <a:r>
              <a:rPr lang="ru" sz="2800" dirty="0">
                <a:latin typeface="cmmi12" pitchFamily="34" charset="0"/>
              </a:rPr>
              <a:t>¯ </a:t>
            </a:r>
            <a:r>
              <a:rPr lang="ru" sz="2800" dirty="0">
                <a:latin typeface="cmr12" pitchFamily="34" charset="0"/>
              </a:rPr>
              <a:t>= 11.1</a:t>
            </a:r>
            <a:r>
              <a:rPr lang="ru" sz="2800" dirty="0"/>
              <a:t>.</a:t>
            </a:r>
          </a:p>
          <a:p>
            <a:endParaRPr lang="en-GB" sz="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Максимизация правдоподобия </a:t>
            </a:r>
            <a:r>
              <a:rPr lang="ru" sz="3200" dirty="0"/>
              <a:t>по </a:t>
            </a:r>
            <a:r>
              <a:rPr lang="ru" sz="3200" dirty="0">
                <a:latin typeface="cmmi12" pitchFamily="34" charset="0"/>
              </a:rPr>
              <a:t>®</a:t>
            </a:r>
            <a:r>
              <a:rPr lang="ru" sz="3200" dirty="0"/>
              <a:t> </a:t>
            </a:r>
            <a:r>
              <a:rPr lang="ru" sz="3200" dirty="0">
                <a:latin typeface="cmmi12" pitchFamily="34" charset="0"/>
              </a:rPr>
              <a:t> </a:t>
            </a:r>
            <a:r>
              <a:rPr lang="ru" sz="3200" dirty="0"/>
              <a:t>и </a:t>
            </a:r>
            <a:r>
              <a:rPr lang="ru" sz="3200" dirty="0">
                <a:latin typeface="cmmi12" pitchFamily="34" charset="0"/>
              </a:rPr>
              <a:t>¯</a:t>
            </a:r>
            <a:r>
              <a:rPr lang="ru" sz="3200" dirty="0"/>
              <a:t>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7681"/>
            <a:ext cx="7924800" cy="4525963"/>
          </a:xfrm>
        </p:spPr>
        <p:txBody>
          <a:bodyPr>
            <a:normAutofit/>
          </a:bodyPr>
          <a:lstStyle/>
          <a:p>
            <a:r>
              <a:rPr lang="ru" sz="2800" dirty="0"/>
              <a:t>В пределе </a:t>
            </a:r>
            <a:r>
              <a:rPr lang="ru" sz="2800" dirty="0">
                <a:latin typeface="cmmi12" pitchFamily="34" charset="0"/>
              </a:rPr>
              <a:t>° </a:t>
            </a:r>
            <a:r>
              <a:rPr lang="ru" sz="2800" dirty="0">
                <a:latin typeface="cmr12" pitchFamily="34" charset="0"/>
              </a:rPr>
              <a:t>=</a:t>
            </a:r>
            <a:r>
              <a:rPr lang="ru" sz="2800" dirty="0">
                <a:latin typeface="cmmi12" pitchFamily="34" charset="0"/>
              </a:rPr>
              <a:t>M        </a:t>
            </a:r>
            <a:r>
              <a:rPr lang="ru" sz="2800" dirty="0"/>
              <a:t>                  и мы можем рассмотреть возможность использования легко вычисляемого приближения</a:t>
            </a:r>
          </a:p>
          <a:p>
            <a:endParaRPr lang="en-GB" sz="2800" dirty="0"/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75856" y="1700808"/>
            <a:ext cx="1143003" cy="285750"/>
          </a:xfrm>
          <a:prstGeom prst="rect">
            <a:avLst/>
          </a:prstGeom>
          <a:noFill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666002" y="3429000"/>
            <a:ext cx="3811996" cy="150040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Ограничения фиксированных базисных функций</a:t>
            </a:r>
            <a:endParaRPr lang="ru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922840" cy="4781128"/>
          </a:xfrm>
        </p:spPr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ru" sz="2000" dirty="0">
                <a:latin typeface="cmmi12" pitchFamily="34" charset="0"/>
              </a:rPr>
              <a:t>M </a:t>
            </a:r>
            <a:r>
              <a:rPr lang="ru" sz="2000" dirty="0"/>
              <a:t> по каждому измерению </a:t>
            </a:r>
            <a:r>
              <a:rPr lang="ru" sz="2000" dirty="0">
                <a:latin typeface="cmmi12" pitchFamily="34" charset="0"/>
              </a:rPr>
              <a:t>D </a:t>
            </a:r>
            <a:r>
              <a:rPr lang="ru" sz="2000" dirty="0"/>
              <a:t>-мерного входного пространства требует </a:t>
            </a:r>
            <a:r>
              <a:rPr lang="ru" sz="2000" dirty="0">
                <a:latin typeface="cmmi12" pitchFamily="34" charset="0"/>
              </a:rPr>
              <a:t>M </a:t>
            </a:r>
            <a:r>
              <a:rPr lang="ru" sz="2000" baseline="25000" dirty="0">
                <a:latin typeface="cmmi12" pitchFamily="34" charset="0"/>
              </a:rPr>
              <a:t>D</a:t>
            </a:r>
            <a:r>
              <a:rPr lang="ru" sz="2000" dirty="0"/>
              <a:t> базисных функций -  проклятие размерности.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/>
              <a:t>Если мы используем локализованные ба­зисные функции, то можем распределить их в пространстве входных данных только в областях, содержащих данные. Этот подход используется в сетях ради­ально-базисных функций, а также в методах опорных и релевантных векторов. 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/>
              <a:t>Модели нейронных сетей, которые используют адаптивные базисные функции, имеющие сигмоидальные нелинейности, могут настраивать параметры так, что­ бы области пространства входных переменных, по которым изменяются базисные функции, соответствовали многообразию данных. 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/>
              <a:t>Целевые переменные могут иметь существенную зависимость лишь от небольшого числа возможных направлений в многообразии данных. Нейронные сети могут использовать это свойство, выбирая направления в пространстве входных переменных, на которые реагируют базисные функции.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DISPLAYSOURCE" val="\documentclass{book}&#10;\pagestyle{empty}&#10;\input{C:/Users/markussv/depots/CMBBOOK/latex/prml-utils}&#10;\begin{document}&#10;\[&#10;&#10;\]&#10;\end{document}&#10;"/>
  <p:tag name="EMBEDFONTS" val="1"/>
  <p:tag name="FIRSTMARKUSSV@9CFEVIMFUVWXY5M7" val="28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    y(x, \bfw) = w_0 + w_1 x + w_2 x^2 + \ldots + w_M x^M =&#10;    \sum_{j=0}^M w_j x^j&#10;\]&#10;\end{document}&#10;"/>
  <p:tag name="FILENAME" val="TP_tmp"/>
  <p:tag name="FORMAT" val="png256"/>
  <p:tag name="RES" val="600"/>
  <p:tag name="BLEND" val="0"/>
  <p:tag name="TRANSPARENT" val="0"/>
  <p:tag name="TBUG" val="0"/>
  <p:tag name="ALLOWFS" val="0"/>
  <p:tag name="ORIGWIDTH" val="236"/>
  <p:tag name="PICTUREFILESIZE" val="725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y(\bfx, \bfw) = \sum_{j=0}^{M-1} w_j \phi_j(\bfx) =&#10;  \bfw^\T \boldphi(\bfx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49"/>
  <p:tag name="PICTUREFILESIZE" val="597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phi_{j}(x) = x^{j}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49"/>
  <p:tag name="PICTUREFILESIZE" val="217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phi_j(x) = \exp \left\{ - \frac{ (x - \mu_j)^2}{2s^2}  \right\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18"/>
  <p:tag name="PICTUREFILESIZE" val="49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phi_j(x) = \sigma\left( \frac{x - \mu_j}{s} \right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88"/>
  <p:tag name="PICTUREFILESIZE" val="387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sigma(a) = \frac{1}{1 + \exp( - a ) }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1"/>
  <p:tag name="PICTUREFILESIZE" val="339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p(t|\bfx, \bfw, \beta) = {\cal N}(t|y(\bfx, \bfw), \beta^{-1})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42"/>
  <p:tag name="PICTUREFILESIZE" val="454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X = \{ \bfx_1, \ldots, \bfx_N \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79"/>
  <p:tag name="PICTUREFILESIZE" val="234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vectt = [ t_1, \ldots, t_N ]^{\T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71"/>
  <p:tag name="PICTUREFILESIZE" val="206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p(\vectt|\bfX, \bfw, \beta) =&#10;  \prod_{n=1}^N  {\cal N}(t_n|\bfw^\T \boldphi(\bfx_n),&#10;  \beta^{-1})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76"/>
  <p:tag name="PICTUREFILESIZE" val="705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t = y(\bfx, \bfw) + \epsilon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65"/>
  <p:tag name="PICTUREFILESIZE" val="233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p(\epsilon|\beta) = {\cal N}(\epsilon|0, \beta^{-1}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0"/>
  <p:tag name="PICTUREFILESIZE" val="324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  \ln p(\vectt|\bfw, \beta) &amp;=&amp; \sum_{n=1}^N \ln {\cal N}(t_n| \bfw^\T&#10;  \boldphi(\bfx_n), \beta^{-1}) \\&#10;  &amp;=&amp; \frac{N}{2} \ln \beta - \frac{N}{2}&#10;  \ln (2\pi) -  \beta E_D(\bfw)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07"/>
  <p:tag name="PICTUREFILESIZE" val="1177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E_D(\bfw) = \frac{1}{2} \sum_{n=1}^N&#10;  \{ t_n - \bfw^\T \boldphi(\bfx_n) \}^2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45"/>
  <p:tag name="PICTUREFILESIZE" val="585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nabla_{\bfw} \ln p(\vectt|\bfw, \beta) = \beta \sum_{n=1}^N&#10;  \left\{ t_n - \bfw^\T \boldphi(\bfx_n) \right\} \boldphi(\bfx_n)^\T = &#10;\boldsymbol{0}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33"/>
  <p:tag name="PICTUREFILESIZE" val="795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w_{\rm ML} = \left(\boldPhi^\T \boldPhi \right)^{-1}&#10;  \boldPhi^\T \vectt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00"/>
  <p:tag name="PICTUREFILESIZE" val="340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oldPhi = \left( \begin{array}{cccc}&#10;\phi_0(\bfx_1) &amp; \phi_1(\bfx_1) &amp; \cdots &amp; \phi_{M-1}(\bfx_1) \\&#10;\phi_0(\bfx_2) &amp; \phi_1(\bfx_2) &amp; \cdots &amp; \phi_{M-1}(\bfx_2) \\&#10;\vdots      &amp; \vdots      &amp; \ddots &amp; \vdots      \\&#10;\phi_0(\bfx_N) &amp; \phi_1(\bfx_N) &amp; \cdots &amp; \phi_{M-1}(\bfx_N)&#10;\end{array} \right)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06"/>
  <p:tag name="PICTUREFILESIZE" val="1240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oldPhi^\dag  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1"/>
  <p:tag name="PICTUREFILESIZE" val="114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  w_0 &amp; = &amp; \overline{t} &#10; - \sum_{j=1}^{M-1} w_j &#10;\overline{\phi_j}\\ &#10;&amp; &amp; \phantom{x} \\&#10;&amp; = &amp; \frac{1}{N} \sum_{n=1}^N t_n &#10;- \sum_{j=1}^{M-1} w_j &#10;\frac{1}{N} \sum_{n=1}^N \phi_j(\bfx_n).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83"/>
  <p:tag name="PICTUREFILESIZE" val="1047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frac{1}{\beta_{\rm ML}} = \frac{1}{N} \sum_{n=1}^N&#10;  \{ t_n - \bfw_{\rm ML}^\T \boldphi(\bfx_n) \}^2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44"/>
  <p:tag name="PICTUREFILESIZE" val="604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vecty = \boldPhi \bfw_{\rm ML} = \left[ \vectphi_1, \ldots, &#10;\vectphi_M \right] \bfw_{\rm ML} . 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41"/>
  <p:tag name="PICTUREFILESIZE" val="352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vecty \in\mathcal{S} \subseteq \mathcal{T}  &#10; \hspace{10mm} \vectt \in \mathcal{T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8"/>
  <p:tag name="PICTUREFILESIZE" val="235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 \vectphi_1, \ldots, \vectphi_M 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51"/>
  <p:tag name="PICTUREFILESIZE" val="18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\bfw^{(\tau+1)} &amp; = &amp; \bfw^{(\tau)} - \eta \nabla E_n \\&#10;&amp; = &amp; \bfw^{(\tau)} + \eta (t_n - \bfw^{(\tau) \T}&#10;  \boldphi(\bfx_{n})) \boldphi(\bfx_{n}).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04"/>
  <p:tag name="PICTUREFILESIZE" val="678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frac{1}{2} \sum_{n=1}^N&#10;  \{ t_n - \bfw^\T \boldphi(\bfx_n) \}^2 + \frac{\lambda}{2}&#10;  \bfw^\T \bfw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44"/>
  <p:tag name="PICTUREFILESIZE" val="554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 \bfw = \left( \lambda \bfI + \boldPhi^\T \boldPhi \right)^{-1}&#10;  \boldPhi^\T \vectt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13"/>
  <p:tag name="PICTUREFILESIZE" val="352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E_D(\bfw) + \lambda E_W(\bfw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81"/>
  <p:tag name="PICTUREFILESIZE" val="296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frac{1}{2} \sum_{n=1}^N&#10;  \{ t_n - \bfw^\T \boldphi(\bfx_n) \}^2 + \frac{\lambda}{2}&#10;  \sum_{j=1}^M |w_j|^q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59"/>
  <p:tag name="PICTUREFILESIZE" val="686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  p(\bft|\bfx, \bfW, \beta) &amp; = &amp; {\cal N}(\bft|\bfy(\bfW, \bfx),&#10;  \beta^{-1} \bfI) \\&#10;&amp; = &amp; {\cal N}(\bft|\bfW^\T \boldphi(\bfx),&#10;  \beta^{-1} \bfI).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73"/>
  <p:tag name="PICTUREFILESIZE" val="809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X = \{ \bfx_1, \ldots, \bfx_N \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79"/>
  <p:tag name="PICTUREFILESIZE" val="234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T = [ \bft_1, \ldots, \bft_N ]^{\T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75"/>
  <p:tag name="PICTUREFILESIZE" val="203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  \ln p(\bfT |\bfX, \bfW, \beta) &amp;=&amp; \sum_{n=1}^N \ln {\cal N}(\bft_n| \bfW^\T&#10;  \boldphi(\bfx_n),&#10;  \beta^{-1} \bfI) \\&#10;  &amp;=&amp; \frac{NK}{2} \ln \left( \frac{\beta}{2\pi} \right) - \frac{\beta}{2} \sum_{n=1}^N&#10;  \left\| \bft_n - \bfW^\T \boldphi(\bfx_n) \right\|^2.&#10;  \hspace*{3mm}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82"/>
  <p:tag name="PICTUREFILESIZE" val="1636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W_{\rm ML} = \left(\boldPhi^\T \boldPhi \right)^{-1}&#10;  \boldPhi^\T \bfT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10"/>
  <p:tag name="PICTUREFILESIZE" val="36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w_k = \left(\boldPhi^\T \boldPhi \right)^{-1}&#10;  \boldPhi^\T \vectt_k = \boldPhi^\dag \vectt_k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31"/>
  <p:tag name="PICTUREFILESIZE" val="397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vectt_{k} = [ t_{1k}, \ldots, t_{N k} ]^{\T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84"/>
  <p:tag name="PICTUREFILESIZE" val="243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  \expect[L] = \int \left\{y(\bfx) - h(\bfx) \right\}^2&#10;  p(\bfx) \diff{\bfx} + \iint \{ h(\bfx) - t\}^2&#10;  p(\bfx, t) \diff{\bfx} \diff{t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73"/>
  <p:tag name="PICTUREFILESIZE" val="848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h(\bfx) = \expect[t|\bfx] = \int t p(t | \bfx) \diff{t}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25"/>
  <p:tag name="PICTUREFILESIZE" val="475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\lefteqn{\{ y(\bfx; {\cal D}) - h(\bfx) \}^2} \\&#10; &amp; = &amp; \{y(\bfx; {\cal D})&#10;  - \expect_{\cal D}[y(\bfx;{\cal D})]&#10;  + \expect_{\cal D}[y(\bfx; {\cal D})] - h(\bfx) \}^2 \\&#10;  &amp;=&amp; \{ y(\bfx; {\cal D})&#10;  - \expect_{\cal D}[y(\bfx;{\cal D})] \}^2&#10;  + \{ \expect_{\cal D}[y(\bfx; {\cal D})] - h(\bfx) \}^2 \nonumber \\&#10;  &amp; &amp; +&#10;  2 \{ y(\bfx; {\cal D})&#10;  - \expect_{\cal D}[y(\bfx;{\cal D})] \}&#10;  \{ \expect_{\cal D}[y(\bfx; {\cal D})] - h(\bfx) \}.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45"/>
  <p:tag name="PICTUREFILESIZE" val="1806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usepackage{color}&#10;\input{C:/Users/markussv/depots/CMBBOOK/latex/prml-utils}&#10;\begin{document}&#10;\begin{eqnarray*}&#10;  \lefteqn{ \expect_{\cal D} \left[ \{ y(\bfx; {\cal D}) - h(\bfx) \}^2&#10;  \right] }  \\&#10;  &amp;=&amp; \underbrace{ \{&#10;  \expect_{\cal D}[y(\bfx; {\cal D})] - h(\bfx) \}^2&#10;  }_{\mbox{\color{blue} $(\mbox{bias})^2$} } + \underbrace{ \large&#10;  \expect_{\cal D} \left[ \{ y(\bfx; {\cal D})&#10;  - \expect_{\cal D}[y(\bfx;{\cal D})] \}^2 \right]&#10;  }_{\mbox{\color{red} variance} }.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72"/>
  <p:tag name="PICTUREFILESIZE" val="1352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usepackage{color}&#10;\input{C:/Users/markussv/depots/CMBBOOK/latex/prml-utils}&#10;\begin{document}&#10;\begin{eqnarray*}&#10;   ({\rm bias})^2 &amp;=&amp;  \int \{&#10;  \expect_{\cal D}[y(\bfx; {\cal D})] - h(\bfx) \}^2 p(\bfx)&#10;  \diff{\bfx} \\&#10;  {\rm variance} &amp;=&amp;  \int&#10;  \expect_{\cal D} \left[ \{ y(\bfx; {\cal D})&#10;  - \expect_{\cal D}[y(\bfx;{\cal D})] \}^2 \right] p(\bfx)&#10;  \diff{\bfx} \\&#10;  {\rm noise} &amp;=&amp; \iint \{ h(\bfx) - t\}^2&#10;  p(\bfx, t) \diff{\bfx} \diff{t}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41"/>
  <p:tag name="PICTUREFILESIZE" val="1890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mbox{expected loss} = (\mbox{bias})^2 + \mbox{variance} + \mbox{noise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82"/>
  <p:tag name="PICTUREFILESIZE" val="504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p(\bfw) = {\cal N}(\bfw|\bfm_0, \bfS_0)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6"/>
  <p:tag name="PICTUREFILESIZE" val="329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p(\bfw|\vectt) = {\cal N}(\bfw|\bfm_N, \bfS_N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06"/>
  <p:tag name="PICTUREFILESIZE" val="364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  \bfm_N &amp;=&amp; \bfS_N \left( \bfS_0^{-1} \bfm_0 + \beta&#10;  \boldPhi^\T \vectt \right) \\&#10;  \bfS_N^{-1} &amp;=&amp; \bfS_0^{-1} + \beta \boldPhi^\T \boldPhi.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39"/>
  <p:tag name="PICTUREFILESIZE" val="638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p(\bfw) = {\cal N}(\bfw|{\bf 0}, \alpha^{-1} \bfI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5"/>
  <p:tag name="PICTUREFILESIZE" val="323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  \bfm_N &amp;=&amp; \beta \bfS_N \boldPhi^\T \vectt \\&#10;  \bfS_N^{-1} &amp;=&amp; \alpha \bfI + \beta \boldPhi^\T \boldPhi.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9"/>
  <p:tag name="PICTUREFILESIZE" val="448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 &#10;  p(t|\vectt, \alpha, \beta) &amp; = &amp; \int p(t|\bfw, \beta)&#10;  p(\bfw|\vectt, \alpha, \beta) \diff{\bfw} \\&#10;&amp; = &amp; {\cal N}(t|\bfm_N^\T \boldphi(\bfx),&#10;  \sigma^2_N(\bfx))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88"/>
  <p:tag name="PICTUREFILESIZE" val="934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sigma^2_N(\bfx) = \frac{1}{\beta} + \boldphi(\bfx)^\T \bfS_N&#10;  \boldphi(\bfx)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25"/>
  <p:tag name="PICTUREFILESIZE" val="471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y(\bfx, \bfm_N) &amp; = &amp; \bfm_N^\T \boldphi(\bfx)&#10;  = \beta \boldphi(\bfx)^\T \bfS_N&#10;  \boldPhi^\T \vectt \\&#10;&amp; = &amp; \sum_{n=1}^N&#10;  \beta \boldphi(\bfx)^\T \bfS_N \boldphi(\bfx_n) t_n \\&#10;&amp; = &amp; \sum_{n=1}^N k(\bfx, \bfx_n) t_n. 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86"/>
  <p:tag name="PICTUREFILESIZE" val="1344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k(\bfx,\bfx_{j}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33"/>
  <p:tag name="PICTUREFILESIZE" val="189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k(\bfx,\bfx_{k}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35"/>
  <p:tag name="PICTUREFILESIZE" val="193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k(\bfx,\bfx_{i}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33"/>
  <p:tag name="PICTUREFILESIZE" val="184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x_{i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"/>
  <p:tag name="PICTUREFILESIZE" val="117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x_{k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1"/>
  <p:tag name="PICTUREFILESIZE" val="12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x_{j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0"/>
  <p:tag name="PICTUREFILESIZE" val="119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  {\rm cov}[y(\bfx), y(\bfx^\prime)] &amp;=&amp; {\rm cov}[\boldphi(\bfx)^\T&#10;  \bfw,  \bfw^\T \boldphi(\bfx^\prime)] \nonumber \\&#10;  &amp;=&amp;  \boldphi(\bfx)^\T&#10;  \bfS_N \boldphi(\bfx^\prime) = \beta^{-1} k(\bfx, \bfx^\prime).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23"/>
  <p:tag name="PICTUREFILESIZE" val="930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sum_{n=1}^N k(\bfx, \bfx_n) = 1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70"/>
  <p:tag name="PICTUREFILESIZE" val="347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k(\bfx, \bfz) = \boldpsi(\bfx)^\T \boldpsi(\bfz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1"/>
  <p:tag name="PICTUREFILESIZE" val="319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oldpsi(\bfx) = \beta^{1/2} \bfS_N^{1/2} \boldphi(\bfx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3"/>
  <p:tag name="PICTUREFILESIZE" val="365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frac{p({\cal D} | {\cal M}_i)}{p({\cal D} | {\cal M}_j)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41"/>
  <p:tag name="PICTUREFILESIZE" val="364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p({\cal M}_i|{\cal D}) \propto p({\cal M}_i)&#10;  p({\cal D} | {\cal M}_i)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22"/>
  <p:tag name="PICTUREFILESIZE" val="394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 p(t|\bfx, {\cal D}) = \sum_{i=1}^L p(t | \bfx, {\cal M}_i, {\cal D})&#10;    p({\cal M}_i| {\cal D})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66"/>
  <p:tag name="PICTUREFILESIZE" val="629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p({\cal D} | {\cal M}_i) = \int p({\cal D} | \bfw,&#10;    {\cal M}_i) p(\bfw | {\cal M}_i) \diff{\bfw}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74"/>
  <p:tag name="PICTUREFILESIZE" val="571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p(\bfw|{\cal D}, {\cal M}_i) = \frac{ p({\cal D} | \bfw,&#10;    {\cal M}_i) p(\bfw | {\cal M}_i) }{ p({\cal D} | {\cal M}_i) 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58"/>
  <p:tag name="PICTUREFILESIZE" val="727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 &#10;  \lefteqn{p({\cal D})  =  \int p({\cal D}|w) p(w) \diff{w}} \\&#10;  &amp; \simeq &amp; p({\cal D}|w_{\rm MAP}) \frac{\Delta w_{\rm posterior}}&#10;  {\Delta w_{\rm prior}}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26"/>
  <p:tag name="PICTUREFILESIZE" val="884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ln p({\cal D}) \simeq \ln p({\cal D}|w_{\rm MAP}) +&#10;  \ln \left( \frac{\Delta w_{\rm posterior}}&#10;  {\Delta w_{\rm prior}} \right)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93"/>
  <p:tag name="PICTUREFILESIZE" val="694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textstyle &#10;\Delta w_{\rm posterior} / \Delta&#10;w_{\rm prior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85"/>
  <p:tag name="PICTUREFILESIZE" val="265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  \ln p({\cal D}) \simeq \ln p({\cal D}|\bfw_{\rm MAP})&#10;  + M \ln \left( \frac{\Delta w_{\rm posterior}}&#10;  {\Delta w_{\rm prior}} \right)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207"/>
  <p:tag name="PICTUREFILESIZE" val="754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alpha = 5 \times 10^{-3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57"/>
  <p:tag name="PICTUREFILESIZE" val="194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 \ln p(\vectt|\alpha, \beta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46"/>
  <p:tag name="PICTUREFILESIZE" val="217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 \ln p(\vectt|\alpha, \beta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46"/>
  <p:tag name="PICTUREFILESIZE" val="217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left( \beta \boldPhi^\T \boldPhi \right) \bfu_i = \lambda_i \bfu_i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85"/>
  <p:tag name="PICTUREFILESIZE" val="312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bfA = \bfS_{N}^{-1} = \alpha \bfI + \beta \boldPhi^\T \boldPhi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05"/>
  <p:tag name="PICTUREFILESIZE" val="300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 \ln p(\vectt|\alpha, \beta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46"/>
  <p:tag name="PICTUREFILESIZE" val="217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\alpha &amp; = &amp; \frac{\gamma}{\bfm_N^\T \bfm_N} \\&#10;\frac{1}{\beta} &amp; = &amp; \frac{1}{N - \gamma}&#10;  \sum_{n=1}^N \left\{ t_n -&#10;  \bfm_N^\T \boldphi(\bfx_n) \right\}^2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64"/>
  <p:tag name="PICTUREFILESIZE" val="8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gamma = \sum_i&#10;  \frac{\lambda_i}{\alpha + \lambda_i}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68"/>
  <p:tag name="PICTUREFILESIZE" val="307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N \gg M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36"/>
  <p:tag name="PICTUREFILESIZE" val="182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begin{eqnarray*}&#10;\alpha &amp; = &amp; \frac{M}{\bfm_N^\T \bfm_N} \\&#10;\frac{1}{\beta} &amp; = &amp; \frac{1}{N}&#10;  \sum_{n=1}^N \left\{ t_n -&#10;  \bfm_N^\T \boldphi(\bfx_n) \right\}^2 .&#10;\end{eqnarray*}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50"/>
  <p:tag name="PICTUREFILESIZE" val="8010"/>
</p:tagLst>
</file>

<file path=ppt/theme/theme1.xml><?xml version="1.0" encoding="utf-8"?>
<a:theme xmlns:a="http://schemas.openxmlformats.org/drawingml/2006/main" name="prm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3738</TotalTime>
  <Words>1448</Words>
  <Application>Microsoft Macintosh PowerPoint</Application>
  <PresentationFormat>Экран (4:3)</PresentationFormat>
  <Paragraphs>269</Paragraphs>
  <Slides>53</Slides>
  <Notes>1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66" baseType="lpstr">
      <vt:lpstr>CMBX10</vt:lpstr>
      <vt:lpstr>CMR12</vt:lpstr>
      <vt:lpstr>msbm10</vt:lpstr>
      <vt:lpstr>CMR12</vt:lpstr>
      <vt:lpstr>CMMI12</vt:lpstr>
      <vt:lpstr>cmsy10</vt:lpstr>
      <vt:lpstr>Calibri</vt:lpstr>
      <vt:lpstr>CMBX10</vt:lpstr>
      <vt:lpstr>cmssbx10</vt:lpstr>
      <vt:lpstr>cmbx12</vt:lpstr>
      <vt:lpstr>Arial</vt:lpstr>
      <vt:lpstr>CMMI12</vt:lpstr>
      <vt:lpstr>prml</vt:lpstr>
      <vt:lpstr>Модели линейной регрессии</vt:lpstr>
      <vt:lpstr>Модели с базисными функциями (1)</vt:lpstr>
      <vt:lpstr>Модели с базисными функциями (2)</vt:lpstr>
      <vt:lpstr>Модели с базисными функциями (3)</vt:lpstr>
      <vt:lpstr>Модели с базисными функциями (4)</vt:lpstr>
      <vt:lpstr>Модели с базисными функциями (5)</vt:lpstr>
      <vt:lpstr>Максимальное правдоподобие и наименьшие квадраты (1)</vt:lpstr>
      <vt:lpstr>Максимальное правдоподобие и наименьшие квадраты (2)</vt:lpstr>
      <vt:lpstr>Максимальное правдоподобие и наименьшие квадраты (3)</vt:lpstr>
      <vt:lpstr>Максимальное правдоподобие и наименьшие квадраты (4)</vt:lpstr>
      <vt:lpstr>Геометрия наименьших квадратов</vt:lpstr>
      <vt:lpstr>Последовательное обучение</vt:lpstr>
      <vt:lpstr>Регуляризованный метод наименьших квадратов (1)</vt:lpstr>
      <vt:lpstr>Регуляризованный метод наименьших квадратов (2)</vt:lpstr>
      <vt:lpstr>Регуляризованный метод наименьших квадратов (3)</vt:lpstr>
      <vt:lpstr>Несколько выходов (1)</vt:lpstr>
      <vt:lpstr>Несколько выходов (2)</vt:lpstr>
      <vt:lpstr>Разложение смещения и дисперсии (1)</vt:lpstr>
      <vt:lpstr>Разложение смещения-дисперсии (2)</vt:lpstr>
      <vt:lpstr>Разложение смещения-дисперсии (3)</vt:lpstr>
      <vt:lpstr>Разложение смещения и дисперсии (4)</vt:lpstr>
      <vt:lpstr>Разложение смещения и дисперсии (5)</vt:lpstr>
      <vt:lpstr>Разложение смещения и дисперсии (6)</vt:lpstr>
      <vt:lpstr>Разложение смещения и дисперсии (7)</vt:lpstr>
      <vt:lpstr>Компромисс между смещением и дисперсией</vt:lpstr>
      <vt:lpstr>Байесовская линейная регрессия (1)</vt:lpstr>
      <vt:lpstr>Байесовская линейная регрессия (2)</vt:lpstr>
      <vt:lpstr>Байесовская линейная регрессия (3)</vt:lpstr>
      <vt:lpstr>Байесовская линейная регрессия (4)</vt:lpstr>
      <vt:lpstr>Байесовская линейная регрессия (5)</vt:lpstr>
      <vt:lpstr>Байесовская линейная регрессия (6)</vt:lpstr>
      <vt:lpstr>Предиктивное распределение (1)</vt:lpstr>
      <vt:lpstr>Предиктивное распределение (2)</vt:lpstr>
      <vt:lpstr>Предиктивное распределение (3)</vt:lpstr>
      <vt:lpstr>Предиктивное распределение (4)</vt:lpstr>
      <vt:lpstr>Предиктивное распределение (5)</vt:lpstr>
      <vt:lpstr>Эквивалентное ядро (1)</vt:lpstr>
      <vt:lpstr>Эквивалентное ядро (2)</vt:lpstr>
      <vt:lpstr>Эквивалентное ядро (3)</vt:lpstr>
      <vt:lpstr>Эквивалентное ядро (4)</vt:lpstr>
      <vt:lpstr>Эквивалентное ядро (5)</vt:lpstr>
      <vt:lpstr>Сравнение байесовских моделей (1)</vt:lpstr>
      <vt:lpstr>Сравнение байесовских моделей (2)</vt:lpstr>
      <vt:lpstr>Сравнение байесовских моделей (3)</vt:lpstr>
      <vt:lpstr>Сравнение байесовских моделей (4)</vt:lpstr>
      <vt:lpstr>Сравнение байесовских моделей (5)</vt:lpstr>
      <vt:lpstr>Сравнение байесовских моделей (6)</vt:lpstr>
      <vt:lpstr>Эффективное количество параметров </vt:lpstr>
      <vt:lpstr>Максимизация правдоподобия по ®  и ¯ (1)</vt:lpstr>
      <vt:lpstr>Максимизация правдоподобия по ®  и ¯ (2)</vt:lpstr>
      <vt:lpstr>Эффективное количество параметров (4)</vt:lpstr>
      <vt:lpstr>Максимизация правдоподобия по ®  и ¯ (5)</vt:lpstr>
      <vt:lpstr>Ограничения фиксированных базисных функций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2</dc:title>
  <dc:subject/>
  <dc:creator/>
  <cp:keywords/>
  <dc:description/>
  <cp:lastModifiedBy>Microsoft Office User</cp:lastModifiedBy>
  <cp:revision>219</cp:revision>
  <cp:lastPrinted>2025-10-06T14:47:14Z</cp:lastPrinted>
  <dcterms:created xsi:type="dcterms:W3CDTF">2008-06-05T15:27:54Z</dcterms:created>
  <dcterms:modified xsi:type="dcterms:W3CDTF">2025-10-12T11:14:10Z</dcterms:modified>
  <cp:category/>
</cp:coreProperties>
</file>