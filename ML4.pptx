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handoutMasterIdLst>
    <p:handoutMasterId r:id="rId33"/>
  </p:handoutMasterIdLst>
  <p:sldIdLst>
    <p:sldId id="256" r:id="rId2"/>
    <p:sldId id="324" r:id="rId3"/>
    <p:sldId id="340" r:id="rId4"/>
    <p:sldId id="341" r:id="rId5"/>
    <p:sldId id="342" r:id="rId6"/>
    <p:sldId id="389" r:id="rId7"/>
    <p:sldId id="347" r:id="rId8"/>
    <p:sldId id="344" r:id="rId9"/>
    <p:sldId id="325" r:id="rId10"/>
    <p:sldId id="326" r:id="rId11"/>
    <p:sldId id="327" r:id="rId12"/>
    <p:sldId id="328" r:id="rId13"/>
    <p:sldId id="329" r:id="rId14"/>
    <p:sldId id="330" r:id="rId15"/>
    <p:sldId id="331" r:id="rId16"/>
    <p:sldId id="332" r:id="rId17"/>
    <p:sldId id="333" r:id="rId18"/>
    <p:sldId id="334" r:id="rId19"/>
    <p:sldId id="335" r:id="rId20"/>
    <p:sldId id="336" r:id="rId21"/>
    <p:sldId id="337" r:id="rId22"/>
    <p:sldId id="390" r:id="rId23"/>
    <p:sldId id="391" r:id="rId24"/>
    <p:sldId id="349" r:id="rId25"/>
    <p:sldId id="350" r:id="rId26"/>
    <p:sldId id="351" r:id="rId27"/>
    <p:sldId id="352" r:id="rId28"/>
    <p:sldId id="353" r:id="rId29"/>
    <p:sldId id="354" r:id="rId30"/>
    <p:sldId id="355" r:id="rId31"/>
    <p:sldId id="356" r:id="rId32"/>
  </p:sldIdLst>
  <p:sldSz cx="9144000" cy="6858000" type="screen4x3"/>
  <p:notesSz cx="9144000" cy="6858000"/>
  <p:defaultTextStyle>
    <a:defPPr>
      <a:defRPr lang="ru"/>
    </a:defPPr>
    <a:lvl1pPr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96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94"/>
    <p:restoredTop sz="94573"/>
  </p:normalViewPr>
  <p:slideViewPr>
    <p:cSldViewPr>
      <p:cViewPr varScale="1">
        <p:scale>
          <a:sx n="113" d="100"/>
          <a:sy n="113" d="100"/>
        </p:scale>
        <p:origin x="1848" y="176"/>
      </p:cViewPr>
      <p:guideLst>
        <p:guide orient="horz" pos="2296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308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image" Target="../media/image6.emf"/><Relationship Id="rId4" Type="http://schemas.openxmlformats.org/officeDocument/2006/relationships/image" Target="../media/image9.e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image" Target="../media/image10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image" Target="../media/image13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338" name="Rectangle 2">
            <a:extLst>
              <a:ext uri="{FF2B5EF4-FFF2-40B4-BE49-F238E27FC236}">
                <a16:creationId xmlns:a16="http://schemas.microsoft.com/office/drawing/2014/main" id="{94166DB4-3A81-FA4F-9EF3-B6CB5ACB230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ru-RU"/>
          </a:p>
        </p:txBody>
      </p:sp>
      <p:sp>
        <p:nvSpPr>
          <p:cNvPr id="270339" name="Rectangle 3">
            <a:extLst>
              <a:ext uri="{FF2B5EF4-FFF2-40B4-BE49-F238E27FC236}">
                <a16:creationId xmlns:a16="http://schemas.microsoft.com/office/drawing/2014/main" id="{C561A3B6-13E1-EC4F-B3F3-7BEB6A8297B7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 altLang="ru-RU"/>
          </a:p>
        </p:txBody>
      </p:sp>
      <p:sp>
        <p:nvSpPr>
          <p:cNvPr id="270340" name="Rectangle 4">
            <a:extLst>
              <a:ext uri="{FF2B5EF4-FFF2-40B4-BE49-F238E27FC236}">
                <a16:creationId xmlns:a16="http://schemas.microsoft.com/office/drawing/2014/main" id="{41AB25D4-D3BB-E240-97A7-A136D85083DF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513513"/>
            <a:ext cx="3962400" cy="3429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ru-RU"/>
          </a:p>
        </p:txBody>
      </p:sp>
      <p:sp>
        <p:nvSpPr>
          <p:cNvPr id="270341" name="Rectangle 5">
            <a:extLst>
              <a:ext uri="{FF2B5EF4-FFF2-40B4-BE49-F238E27FC236}">
                <a16:creationId xmlns:a16="http://schemas.microsoft.com/office/drawing/2014/main" id="{550E002A-FA60-7945-8981-13F92988C17A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5BB0547E-9887-F242-B20A-3EC35440A2B0}" type="slidenum">
              <a:rPr lang="en-US" altLang="ru-RU"/>
              <a:pPr>
                <a:defRPr/>
              </a:pPr>
              <a:t>‹#›</a:t>
            </a:fld>
            <a:endParaRPr lang="en-US" alt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3086680-8016-FB4D-B2BC-9274654A2AC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u-RU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80992CF-BB17-CC40-AB52-21F3BAE989D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u-RU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190F8FC-D0CE-374B-9F7F-2D633BDA1E4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4F7864-420B-9A4F-8281-4E7E756992EC}" type="slidenum">
              <a:rPr lang="en-US" altLang="ru-RU"/>
              <a:pPr>
                <a:defRPr/>
              </a:pPr>
              <a:t>‹#›</a:t>
            </a:fld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39429291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F46ED35-1186-4542-A9F4-06862C88989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u-RU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65C031F-30C0-0644-9479-BFFDF0B1497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u-RU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BF39878-A85A-C148-87A1-984E559E880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460790-ECD6-AE42-80E9-05B67B51D13D}" type="slidenum">
              <a:rPr lang="en-US" altLang="ru-RU"/>
              <a:pPr>
                <a:defRPr/>
              </a:pPr>
              <a:t>‹#›</a:t>
            </a:fld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8941614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DF58CA7-16A7-5C40-8D0B-7728A171968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u-RU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1ED203D-8497-EC4A-89D0-B7412858B20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u-RU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8D19E96-C126-DC45-8AE2-80B13E9F8AA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573A98-9DB7-8043-B012-AD6C68CFE72F}" type="slidenum">
              <a:rPr lang="en-US" altLang="ru-RU"/>
              <a:pPr>
                <a:defRPr/>
              </a:pPr>
              <a:t>‹#›</a:t>
            </a:fld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2426444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D154639-E9F2-FC42-ABFA-29DB311B639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u-R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BA3A101-9CD0-8345-A3C5-1E698156860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u-RU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8FCD4EE-CDF3-134B-95D3-0D443766D1B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143906-E400-9648-8BE0-DA47D583C683}" type="slidenum">
              <a:rPr lang="en-US" altLang="ru-RU"/>
              <a:pPr>
                <a:defRPr/>
              </a:pPr>
              <a:t>‹#›</a:t>
            </a:fld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41019493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2A9A8FC4-6F49-7241-AF66-2E4A6128B02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u-RU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15138B6F-7589-4F4F-A1D1-10450497AFE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u-RU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26853A40-6AC0-DC49-88A7-11B261E6E11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B30598-70A2-C242-B521-5B1732E1E788}" type="slidenum">
              <a:rPr lang="en-US" altLang="ru-RU"/>
              <a:pPr>
                <a:defRPr/>
              </a:pPr>
              <a:t>‹#›</a:t>
            </a:fld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13752879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6041C960-62BE-2A46-A998-85EB2DF2337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u-RU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5CDC61F3-4CB5-4A49-8BB3-A354854B898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u-RU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E7A85A67-1F09-B041-BCD8-D9D90E32026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C4EEA3-8BCD-544F-B146-CEC3F96890E9}" type="slidenum">
              <a:rPr lang="en-US" altLang="ru-RU"/>
              <a:pPr>
                <a:defRPr/>
              </a:pPr>
              <a:t>‹#›</a:t>
            </a:fld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20530878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565D6A58-071C-C849-B472-C232163C617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u-RU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6B55A438-054F-1647-A86D-9D37BA8B1EB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u-RU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5914C61B-7AAC-CD43-A7F5-C663E1EE414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52D68D-13F1-6649-84AF-1E044B233C4B}" type="slidenum">
              <a:rPr lang="en-US" altLang="ru-RU"/>
              <a:pPr>
                <a:defRPr/>
              </a:pPr>
              <a:t>‹#›</a:t>
            </a:fld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16417568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C787F18-7576-9E4C-B892-7E28B33D764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u-R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782E066-3D93-8048-A816-06F33AE7125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u-RU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7733923-0A2C-CA49-AC8D-5127432626B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3A3588-FC07-FF48-BB46-0F2D37E01314}" type="slidenum">
              <a:rPr lang="en-US" altLang="ru-RU"/>
              <a:pPr>
                <a:defRPr/>
              </a:pPr>
              <a:t>‹#›</a:t>
            </a:fld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13621925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CF17894-5958-214D-A3DF-8E57C549C70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u-R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4C46ED-5759-6E4C-BB43-7FDF5D8FC7F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u-RU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3224BE7-0541-874C-9FEE-BDA0209509C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0B745D-0E51-2740-913B-6714A71D3A90}" type="slidenum">
              <a:rPr lang="en-US" altLang="ru-RU"/>
              <a:pPr>
                <a:defRPr/>
              </a:pPr>
              <a:t>‹#›</a:t>
            </a:fld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28638282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0DF53E7-FE87-0049-858D-BEBA9CF149D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u-RU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546EBAF-CCD8-CD41-AE56-F8956B684A8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u-RU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2E7C2CC-1F89-7D49-BE28-51890694921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0B1AD5-E526-4740-94F4-B8F905F13B6F}" type="slidenum">
              <a:rPr lang="en-US" altLang="ru-RU"/>
              <a:pPr>
                <a:defRPr/>
              </a:pPr>
              <a:t>‹#›</a:t>
            </a:fld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13027808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CD23DE1-5D1A-9740-8442-EE7171DB917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u-RU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4074E15-AE6C-424D-8959-0BA364A9419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u-RU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56DD4A7-CB5F-5743-9822-B2091521FBE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F7908D7-819D-E248-9E90-366B683F046D}" type="slidenum">
              <a:rPr lang="en-US" altLang="ru-RU"/>
              <a:pPr>
                <a:defRPr/>
              </a:pPr>
              <a:t>‹#›</a:t>
            </a:fld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33331579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Заголовок, текст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726FFC-4023-814A-8E3D-79666880C45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u-R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9583CFB-F6C6-5340-919D-74844740DE0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u-RU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4AD3ABB-8654-7A4B-BDA3-279416D9C7E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1F2F62-B913-1E4C-B07A-4973747F510F}" type="slidenum">
              <a:rPr lang="en-US" altLang="ru-RU"/>
              <a:pPr>
                <a:defRPr/>
              </a:pPr>
              <a:t>‹#›</a:t>
            </a:fld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11259784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Заголовок, текст и 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Объект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C04468B5-055C-F74C-9C28-06C9B73C6AB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u-RU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B8A54A4B-3201-1040-A6D6-064B37F254F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u-RU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2425866C-ED52-2543-A6E6-B4AFC0DF130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D09DE5-4B4F-BC4B-9F1B-14EEB2D19764}" type="slidenum">
              <a:rPr lang="en-US" altLang="ru-RU"/>
              <a:pPr>
                <a:defRPr/>
              </a:pPr>
              <a:t>‹#›</a:t>
            </a:fld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32623802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B7CC1DD0-646B-6644-8DD0-DAD065E00E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u-RU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4CB3E134-453D-7842-B39F-F2B7194FFA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u-RU"/>
              <a:t>Click to edit Master text styles</a:t>
            </a:r>
          </a:p>
          <a:p>
            <a:pPr lvl="1"/>
            <a:r>
              <a:rPr lang="en-US" altLang="ru-RU"/>
              <a:t>Second level</a:t>
            </a:r>
          </a:p>
          <a:p>
            <a:pPr lvl="2"/>
            <a:r>
              <a:rPr lang="en-US" altLang="ru-RU"/>
              <a:t>Third level</a:t>
            </a:r>
          </a:p>
          <a:p>
            <a:pPr lvl="3"/>
            <a:r>
              <a:rPr lang="en-US" altLang="ru-RU"/>
              <a:t>Fourth level</a:t>
            </a:r>
          </a:p>
          <a:p>
            <a:pPr lvl="4"/>
            <a:r>
              <a:rPr lang="en-US" altLang="ru-RU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C301E108-8869-F84E-AB47-BF0BE178415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US" altLang="ru-RU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80D30BC6-8D71-4549-9AFD-026F7BEE15B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US" altLang="ru-RU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FDF1D99F-ADE5-E54E-9DAB-570FE124159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smtClean="0"/>
            </a:lvl1pPr>
          </a:lstStyle>
          <a:p>
            <a:pPr>
              <a:defRPr/>
            </a:pPr>
            <a:fld id="{49B34BEB-3577-CE47-B0C2-E6C3CF35D8FF}" type="slidenum">
              <a:rPr lang="en-US" altLang="ru-RU"/>
              <a:pPr>
                <a:defRPr/>
              </a:pPr>
              <a:t>‹#›</a:t>
            </a:fld>
            <a:endParaRPr lang="en-US" alt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kern="1200">
          <a:solidFill>
            <a:srgbClr val="000099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0099"/>
          </a:solidFill>
          <a:latin typeface="Arial" panose="020B06040202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0099"/>
          </a:solidFill>
          <a:latin typeface="Arial" panose="020B06040202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0099"/>
          </a:solidFill>
          <a:latin typeface="Arial" panose="020B06040202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0099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>
          <a:solidFill>
            <a:srgbClr val="000099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>
          <a:solidFill>
            <a:srgbClr val="000099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>
          <a:solidFill>
            <a:srgbClr val="000099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>
          <a:solidFill>
            <a:srgbClr val="000099"/>
          </a:solidFill>
          <a:latin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rgbClr val="009900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rgbClr val="FF0000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4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5.e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emf"/><Relationship Id="rId3" Type="http://schemas.openxmlformats.org/officeDocument/2006/relationships/oleObject" Target="../embeddings/oleObject3.bin"/><Relationship Id="rId7" Type="http://schemas.openxmlformats.org/officeDocument/2006/relationships/oleObject" Target="../embeddings/oleObject5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7.emf"/><Relationship Id="rId5" Type="http://schemas.openxmlformats.org/officeDocument/2006/relationships/oleObject" Target="../embeddings/oleObject4.bin"/><Relationship Id="rId10" Type="http://schemas.openxmlformats.org/officeDocument/2006/relationships/image" Target="../media/image9.emf"/><Relationship Id="rId4" Type="http://schemas.openxmlformats.org/officeDocument/2006/relationships/image" Target="../media/image6.emf"/><Relationship Id="rId9" Type="http://schemas.openxmlformats.org/officeDocument/2006/relationships/oleObject" Target="../embeddings/oleObject6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1.e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10.emf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12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14.emf"/><Relationship Id="rId5" Type="http://schemas.openxmlformats.org/officeDocument/2006/relationships/oleObject" Target="../embeddings/oleObject11.bin"/><Relationship Id="rId4" Type="http://schemas.openxmlformats.org/officeDocument/2006/relationships/image" Target="../media/image13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15.emf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Rectangle 2">
            <a:extLst>
              <a:ext uri="{FF2B5EF4-FFF2-40B4-BE49-F238E27FC236}">
                <a16:creationId xmlns:a16="http://schemas.microsoft.com/office/drawing/2014/main" id="{81C776BF-CBE1-844D-8ACD-CFD1D3A3C18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1052513"/>
            <a:ext cx="7772400" cy="1470025"/>
          </a:xfrm>
        </p:spPr>
        <p:txBody>
          <a:bodyPr anchor="ctr"/>
          <a:lstStyle/>
          <a:p>
            <a:pPr eaLnBrk="1" hangingPunct="1"/>
            <a:br>
              <a:rPr lang="en-US" altLang="ru-RU" sz="3200"/>
            </a:br>
            <a:br>
              <a:rPr lang="en-US" altLang="ru-RU" sz="3200"/>
            </a:br>
            <a:r>
              <a:rPr lang="ru" altLang="ru-RU" sz="3200"/>
              <a:t>Деревья решений и смеси экспертов</a:t>
            </a:r>
          </a:p>
        </p:txBody>
      </p:sp>
      <p:sp>
        <p:nvSpPr>
          <p:cNvPr id="3074" name="Rectangle 3">
            <a:extLst>
              <a:ext uri="{FF2B5EF4-FFF2-40B4-BE49-F238E27FC236}">
                <a16:creationId xmlns:a16="http://schemas.microsoft.com/office/drawing/2014/main" id="{E3A6D1B0-0484-E340-8C40-520295F5F79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-73025" y="3357563"/>
            <a:ext cx="9324975" cy="2281237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endParaRPr lang="en-US" altLang="ru-RU" sz="2000"/>
          </a:p>
          <a:p>
            <a:pPr eaLnBrk="1" hangingPunct="1">
              <a:lnSpc>
                <a:spcPct val="80000"/>
              </a:lnSpc>
            </a:pPr>
            <a:endParaRPr lang="en-US" altLang="ru-RU" sz="2000"/>
          </a:p>
          <a:p>
            <a:pPr eaLnBrk="1" hangingPunct="1">
              <a:lnSpc>
                <a:spcPct val="80000"/>
              </a:lnSpc>
            </a:pPr>
            <a:endParaRPr lang="en-US" altLang="ru-RU" sz="2000"/>
          </a:p>
          <a:p>
            <a:pPr eaLnBrk="1" hangingPunct="1">
              <a:lnSpc>
                <a:spcPct val="80000"/>
              </a:lnSpc>
            </a:pPr>
            <a:r>
              <a:rPr lang="ru" altLang="ru-RU" sz="2000">
                <a:solidFill>
                  <a:srgbClr val="3333CC"/>
                </a:solidFill>
              </a:rPr>
              <a:t>На основе </a:t>
            </a:r>
            <a:r>
              <a:rPr lang="ru" altLang="ru-RU" sz="2000"/>
              <a:t>CSC2515</a:t>
            </a:r>
            <a:endParaRPr lang="en-US" altLang="ru-RU" sz="2000">
              <a:solidFill>
                <a:srgbClr val="3333CC"/>
              </a:solidFill>
            </a:endParaRPr>
          </a:p>
          <a:p>
            <a:pPr eaLnBrk="1" hangingPunct="1">
              <a:lnSpc>
                <a:spcPct val="80000"/>
              </a:lnSpc>
            </a:pPr>
            <a:endParaRPr lang="en-US" altLang="ru-RU" sz="2000">
              <a:solidFill>
                <a:srgbClr val="3333CC"/>
              </a:solidFill>
            </a:endParaRPr>
          </a:p>
          <a:p>
            <a:pPr eaLnBrk="1" hangingPunct="1">
              <a:lnSpc>
                <a:spcPct val="80000"/>
              </a:lnSpc>
            </a:pPr>
            <a:r>
              <a:rPr lang="ru" altLang="ru-RU" sz="2000">
                <a:solidFill>
                  <a:srgbClr val="3333CC"/>
                </a:solidFill>
              </a:rPr>
              <a:t>Владимир Судаков</a:t>
            </a:r>
          </a:p>
          <a:p>
            <a:pPr eaLnBrk="1" hangingPunct="1">
              <a:lnSpc>
                <a:spcPct val="80000"/>
              </a:lnSpc>
            </a:pPr>
            <a:endParaRPr lang="en-US" altLang="ru-RU" sz="2000">
              <a:solidFill>
                <a:srgbClr val="3333CC"/>
              </a:solidFill>
            </a:endParaRPr>
          </a:p>
          <a:p>
            <a:pPr eaLnBrk="1" hangingPunct="1">
              <a:lnSpc>
                <a:spcPct val="80000"/>
              </a:lnSpc>
            </a:pPr>
            <a:endParaRPr lang="en-US" altLang="ru-RU" sz="2000"/>
          </a:p>
          <a:p>
            <a:pPr eaLnBrk="1" hangingPunct="1">
              <a:lnSpc>
                <a:spcPct val="80000"/>
              </a:lnSpc>
            </a:pPr>
            <a:endParaRPr lang="en-US" altLang="ru-RU" sz="2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Rectangle 2">
            <a:extLst>
              <a:ext uri="{FF2B5EF4-FFF2-40B4-BE49-F238E27FC236}">
                <a16:creationId xmlns:a16="http://schemas.microsoft.com/office/drawing/2014/main" id="{B3ECCAAC-3A73-2D4C-9702-62D8D3D052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" altLang="ru-RU" sz="3200"/>
              <a:t>Деревья решений: нелинейная регрессия или классификация с минимальным объемом вычислений</a:t>
            </a:r>
          </a:p>
        </p:txBody>
      </p:sp>
      <p:sp>
        <p:nvSpPr>
          <p:cNvPr id="4098" name="Rectangle 3">
            <a:extLst>
              <a:ext uri="{FF2B5EF4-FFF2-40B4-BE49-F238E27FC236}">
                <a16:creationId xmlns:a16="http://schemas.microsoft.com/office/drawing/2014/main" id="{AEC75C9F-51A4-2042-888F-08CC015915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ru" altLang="ru-RU" sz="2000"/>
              <a:t>Идея состоит в том, чтобы разделить входное пространство на непересекающийся набор областей и использовать очень простую оценку выходных данных для каждой области.</a:t>
            </a:r>
          </a:p>
          <a:p>
            <a:pPr lvl="1" eaLnBrk="1" hangingPunct="1">
              <a:lnSpc>
                <a:spcPct val="90000"/>
              </a:lnSpc>
            </a:pPr>
            <a:r>
              <a:rPr lang="ru" altLang="ru-RU" sz="2000"/>
              <a:t>Для регрессии прогнозируемый результат — это просто среднее значение обучающих данных в этом регионе.</a:t>
            </a:r>
          </a:p>
          <a:p>
            <a:pPr lvl="2" eaLnBrk="1" hangingPunct="1">
              <a:lnSpc>
                <a:spcPct val="90000"/>
              </a:lnSpc>
            </a:pPr>
            <a:r>
              <a:rPr lang="ru" altLang="ru-RU" sz="1800"/>
              <a:t>Но мы могли бы подогнать линейную функцию под каждую область</a:t>
            </a:r>
          </a:p>
          <a:p>
            <a:pPr lvl="1" eaLnBrk="1" hangingPunct="1">
              <a:lnSpc>
                <a:spcPct val="90000"/>
              </a:lnSpc>
            </a:pPr>
            <a:r>
              <a:rPr lang="ru" altLang="ru-RU" sz="2000"/>
              <a:t>Для классификации предсказанный класс — это просто наиболее часто встречающийся класс в обучающих данных в этом регионе.</a:t>
            </a:r>
          </a:p>
          <a:p>
            <a:pPr lvl="2" eaLnBrk="1" hangingPunct="1">
              <a:lnSpc>
                <a:spcPct val="90000"/>
              </a:lnSpc>
            </a:pPr>
            <a:r>
              <a:rPr lang="ru" altLang="ru-RU" sz="1800"/>
              <a:t>Мы могли бы оценить вероятности классов по частотам в обучающих данных в этом регионе.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2">
            <a:extLst>
              <a:ext uri="{FF2B5EF4-FFF2-40B4-BE49-F238E27FC236}">
                <a16:creationId xmlns:a16="http://schemas.microsoft.com/office/drawing/2014/main" id="{BCB680B4-F47E-8844-83D4-C5FFEB3372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" altLang="ru-RU" sz="3200" dirty="0"/>
              <a:t>Очень быстрый способ определить, находится ли точка данных в </a:t>
            </a:r>
            <a:r>
              <a:rPr lang="en-US" altLang="ru-RU" sz="3200" dirty="0" err="1"/>
              <a:t>о</a:t>
            </a:r>
            <a:r>
              <a:rPr lang="ru-RU" altLang="ru-RU" sz="3200" dirty="0" err="1"/>
              <a:t>бласти</a:t>
            </a:r>
            <a:endParaRPr lang="ru" altLang="ru-RU" sz="3200" dirty="0"/>
          </a:p>
        </p:txBody>
      </p:sp>
      <p:sp>
        <p:nvSpPr>
          <p:cNvPr id="5122" name="Rectangle 5">
            <a:extLst>
              <a:ext uri="{FF2B5EF4-FFF2-40B4-BE49-F238E27FC236}">
                <a16:creationId xmlns:a16="http://schemas.microsoft.com/office/drawing/2014/main" id="{AB869967-34A4-8E48-AAAE-05FD0154C01A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07504" y="1556792"/>
            <a:ext cx="3348038" cy="4132262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ru" altLang="ru-RU" sz="2000" dirty="0"/>
              <a:t>Границы решений мы делаем ортогональными одной оси пространства и параллельными всем остальным осям.</a:t>
            </a:r>
          </a:p>
          <a:p>
            <a:pPr lvl="1" eaLnBrk="1" hangingPunct="1">
              <a:lnSpc>
                <a:spcPct val="90000"/>
              </a:lnSpc>
            </a:pPr>
            <a:r>
              <a:rPr lang="ru" altLang="ru-RU" sz="2000" dirty="0"/>
              <a:t>Это легко проиллюстрировать в двумерном пространстве.</a:t>
            </a:r>
          </a:p>
          <a:p>
            <a:pPr eaLnBrk="1" hangingPunct="1">
              <a:lnSpc>
                <a:spcPct val="90000"/>
              </a:lnSpc>
            </a:pPr>
            <a:r>
              <a:rPr lang="ru" altLang="ru-RU" sz="2000" dirty="0"/>
              <a:t>Затем мы можем определить область, в которой находится точка данных, используя ряд очень простых тестов, сложность –логариф от числа областей.</a:t>
            </a:r>
          </a:p>
        </p:txBody>
      </p:sp>
      <p:pic>
        <p:nvPicPr>
          <p:cNvPr id="5123" name="Picture 4">
            <a:extLst>
              <a:ext uri="{FF2B5EF4-FFF2-40B4-BE49-F238E27FC236}">
                <a16:creationId xmlns:a16="http://schemas.microsoft.com/office/drawing/2014/main" id="{BECD9FD4-51B9-2D46-98B9-A14C53E6F7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5506" y="1738313"/>
            <a:ext cx="5267669" cy="43549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5">
            <a:extLst>
              <a:ext uri="{FF2B5EF4-FFF2-40B4-BE49-F238E27FC236}">
                <a16:creationId xmlns:a16="http://schemas.microsoft.com/office/drawing/2014/main" id="{DC1AA4C3-31DB-5043-A5D2-BD23FBCC86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" altLang="ru-RU"/>
              <a:t>Дерево решений, выровненное по осям</a:t>
            </a:r>
          </a:p>
        </p:txBody>
      </p:sp>
      <p:pic>
        <p:nvPicPr>
          <p:cNvPr id="6146" name="Picture 4">
            <a:extLst>
              <a:ext uri="{FF2B5EF4-FFF2-40B4-BE49-F238E27FC236}">
                <a16:creationId xmlns:a16="http://schemas.microsoft.com/office/drawing/2014/main" id="{C3FD1983-298E-F34F-837C-47D75FC934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6375" y="1916113"/>
            <a:ext cx="5734050" cy="4106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2">
            <a:extLst>
              <a:ext uri="{FF2B5EF4-FFF2-40B4-BE49-F238E27FC236}">
                <a16:creationId xmlns:a16="http://schemas.microsoft.com/office/drawing/2014/main" id="{4420CFA3-FC5A-5E45-AD1E-51387F7A62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" altLang="ru-RU"/>
              <a:t>Как мы решаем, какие тесты использовать?</a:t>
            </a:r>
          </a:p>
        </p:txBody>
      </p:sp>
      <p:sp>
        <p:nvSpPr>
          <p:cNvPr id="7170" name="Rectangle 3">
            <a:extLst>
              <a:ext uri="{FF2B5EF4-FFF2-40B4-BE49-F238E27FC236}">
                <a16:creationId xmlns:a16="http://schemas.microsoft.com/office/drawing/2014/main" id="{5206A34D-D700-AE45-AF90-52ADA89A21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3350" y="1600200"/>
            <a:ext cx="8686800" cy="4525963"/>
          </a:xfrm>
        </p:spPr>
        <p:txBody>
          <a:bodyPr/>
          <a:lstStyle/>
          <a:p>
            <a:pPr eaLnBrk="1" hangingPunct="1"/>
            <a:r>
              <a:rPr lang="ru" altLang="ru-RU" sz="2000" dirty="0"/>
              <a:t>Существует множество вариаций (CART, ID3, C4.5), но основная идея заключается в рекурсивном разбиении пространства путем жадного выбора наилучшего теста из фиксированного набора возможных тестов на каждом этапе.</a:t>
            </a:r>
          </a:p>
          <a:p>
            <a:pPr lvl="1" eaLnBrk="1" hangingPunct="1"/>
            <a:r>
              <a:rPr lang="ru" altLang="ru-RU" sz="2000" dirty="0"/>
              <a:t>Нам нужно определиться с набором возможных тестов.</a:t>
            </a:r>
          </a:p>
          <a:p>
            <a:pPr lvl="2" eaLnBrk="1" hangingPunct="1"/>
            <a:r>
              <a:rPr lang="ru" altLang="ru-RU" sz="1800" dirty="0"/>
              <a:t>Рассмотрите разбиения в каждой координате каждой точки в обучающих данных (т.е. все выровненные по осям гиперплоскости, которые касаются точек данных)</a:t>
            </a:r>
          </a:p>
          <a:p>
            <a:pPr lvl="2" eaLnBrk="1" hangingPunct="1"/>
            <a:r>
              <a:rPr lang="ru" altLang="ru-RU" sz="1800" dirty="0"/>
              <a:t>Мы могли бы рассмотреть все возможные гиперплоскости, но это обычно слишком затратно с точки зрения времени подгонки и сложности модели.</a:t>
            </a:r>
          </a:p>
          <a:p>
            <a:pPr lvl="1" eaLnBrk="1" hangingPunct="1"/>
            <a:r>
              <a:rPr lang="ru" altLang="ru-RU" sz="2000" dirty="0"/>
              <a:t>Нам нужна мера того, насколько хорош тест («чистота»).</a:t>
            </a:r>
          </a:p>
          <a:p>
            <a:pPr lvl="2" eaLnBrk="1" hangingPunct="1"/>
            <a:r>
              <a:rPr lang="ru" altLang="ru-RU" sz="1800" dirty="0"/>
              <a:t>Для регрессии вычислите результирующую сумму квадратов ошибок по всем разделам.</a:t>
            </a:r>
          </a:p>
          <a:p>
            <a:pPr lvl="2" eaLnBrk="1" hangingPunct="1"/>
            <a:r>
              <a:rPr lang="ru" altLang="ru-RU" sz="1800" dirty="0"/>
              <a:t>С классификацией все немного сложнее.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3F632B-4A6C-704B-86F3-2B5286E1F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Дерево решений и алгоритм </a:t>
            </a:r>
            <a:r>
              <a:rPr lang="en-US" dirty="0"/>
              <a:t>ID3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5F41D81-F27E-C146-BFA9-E1166B1D3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A858D-DC13-7F48-8EE5-FA8D0F7167EE}" type="slidenum">
              <a:rPr lang="ru-RU" smtClean="0"/>
              <a:t>6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74FADA1-5835-DE48-BEDF-9E6510AE91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7784" y="1234818"/>
            <a:ext cx="4625603" cy="220472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E1D6481-0E9E-8E47-9031-D8ACF404634F}"/>
                  </a:ext>
                </a:extLst>
              </p:cNvPr>
              <p:cNvSpPr txBox="1"/>
              <p:nvPr/>
            </p:nvSpPr>
            <p:spPr>
              <a:xfrm>
                <a:off x="482398" y="3619356"/>
                <a:ext cx="8229599" cy="28693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Bef>
                    <a:spcPts val="900"/>
                  </a:spcBef>
                  <a:spcAft>
                    <a:spcPts val="900"/>
                  </a:spcAft>
                </a:pPr>
                <a14:m>
                  <m:oMath xmlns:m="http://schemas.openxmlformats.org/officeDocument/2006/math">
                    <m:r>
                      <a:rPr lang="ru-RU" sz="120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𝐼𝐺</m:t>
                    </m:r>
                    <m:r>
                      <a:rPr lang="ru-RU" sz="12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ru-RU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𝐴</m:t>
                    </m:r>
                    <m:r>
                      <a:rPr lang="ru-RU" sz="12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sz="1200" dirty="0">
                    <a:effectLst/>
                    <a:latin typeface="Aptos" panose="020B00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— это мера разницы в энтропии до и после разделения набора </a:t>
                </a:r>
                <a14:m>
                  <m:oMath xmlns:m="http://schemas.openxmlformats.org/officeDocument/2006/math">
                    <m:r>
                      <a:rPr lang="ru-RU" sz="12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𝑆</m:t>
                    </m:r>
                    <m:r>
                      <a:rPr lang="ru-RU" sz="12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ru-RU" sz="1200" dirty="0">
                    <a:effectLst/>
                    <a:latin typeface="Aptos" panose="020B00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по атрибуту </a:t>
                </a:r>
                <a14:m>
                  <m:oMath xmlns:m="http://schemas.openxmlformats.org/officeDocument/2006/math">
                    <m:r>
                      <a:rPr lang="ru-RU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r>
                  <a:rPr lang="ru-RU" sz="1200" dirty="0">
                    <a:effectLst/>
                    <a:latin typeface="Aptos" panose="020B00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 Другими словами, насколько </a:t>
                </a:r>
                <a14:m>
                  <m:oMath xmlns:m="http://schemas.openxmlformats.org/officeDocument/2006/math">
                    <m:r>
                      <a:rPr lang="ru-RU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𝑆</m:t>
                    </m:r>
                  </m:oMath>
                </a14:m>
                <a:r>
                  <a:rPr lang="ru-RU" sz="1200" dirty="0">
                    <a:effectLst/>
                    <a:latin typeface="Aptos" panose="020B00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снижает неопределенность после разделения набора </a:t>
                </a:r>
                <a14:m>
                  <m:oMath xmlns:m="http://schemas.openxmlformats.org/officeDocument/2006/math">
                    <m:r>
                      <a:rPr lang="ru-RU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𝑆</m:t>
                    </m:r>
                  </m:oMath>
                </a14:m>
                <a:r>
                  <a:rPr lang="ru-RU" sz="1200" dirty="0">
                    <a:effectLst/>
                    <a:latin typeface="Aptos" panose="020B00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по атрибуту </a:t>
                </a:r>
                <a14:m>
                  <m:oMath xmlns:m="http://schemas.openxmlformats.org/officeDocument/2006/math">
                    <m:r>
                      <a:rPr lang="ru-RU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r>
                  <a:rPr lang="ru-RU" sz="1200" dirty="0">
                    <a:effectLst/>
                    <a:latin typeface="Aptos" panose="020B00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2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𝐼𝐺</m:t>
                      </m:r>
                      <m:d>
                        <m:dPr>
                          <m:ctrlPr>
                            <a:rPr lang="ru-RU" sz="12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ru-RU" sz="12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  <m:r>
                            <a:rPr lang="ru-RU" sz="12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ru-RU" sz="12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𝐴</m:t>
                          </m:r>
                        </m:e>
                      </m:d>
                      <m:r>
                        <a:rPr lang="ru-RU" sz="12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ru-RU" sz="12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Η</m:t>
                      </m:r>
                      <m:d>
                        <m:dPr>
                          <m:ctrlPr>
                            <a:rPr lang="ru-RU" sz="12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ru-RU" sz="12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</m:d>
                      <m:r>
                        <a:rPr lang="ru-RU" sz="12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ru-RU" sz="12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ru-RU" sz="12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ru-RU" sz="12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∈</m:t>
                          </m:r>
                          <m:r>
                            <a:rPr lang="ru-RU" sz="12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𝑇</m:t>
                          </m:r>
                        </m:sub>
                        <m:sup>
                          <m:r>
                            <a:rPr lang="ru-RU" sz="12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​</m:t>
                          </m:r>
                        </m:sup>
                        <m:e>
                          <m:r>
                            <a:rPr lang="ru-RU" sz="12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𝑝</m:t>
                          </m:r>
                        </m:e>
                      </m:nary>
                      <m:d>
                        <m:dPr>
                          <m:ctrlPr>
                            <a:rPr lang="ru-RU" sz="12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ru-RU" sz="12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</m:d>
                      <m:r>
                        <m:rPr>
                          <m:sty m:val="p"/>
                        </m:rPr>
                        <a:rPr lang="ru-RU" sz="12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Η</m:t>
                      </m:r>
                      <m:d>
                        <m:dPr>
                          <m:ctrlPr>
                            <a:rPr lang="ru-RU" sz="12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ru-RU" sz="12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</m:d>
                      <m:r>
                        <a:rPr lang="ru-RU" sz="12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ru-RU" sz="12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Η</m:t>
                      </m:r>
                      <m:d>
                        <m:dPr>
                          <m:ctrlPr>
                            <a:rPr lang="ru-RU" sz="12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ru-RU" sz="12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</m:d>
                      <m:r>
                        <a:rPr lang="ru-RU" sz="12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ru-RU" sz="12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Η</m:t>
                      </m:r>
                      <m:d>
                        <m:dPr>
                          <m:ctrlPr>
                            <a:rPr lang="ru-RU" sz="12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ru-RU" sz="12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e>
                          <m:r>
                            <a:rPr lang="ru-RU" sz="12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𝐴</m:t>
                          </m:r>
                        </m:e>
                      </m:d>
                      <m:r>
                        <a:rPr lang="ru-RU" sz="1200" b="0" i="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,</m:t>
                      </m:r>
                    </m:oMath>
                  </m:oMathPara>
                </a14:m>
                <a:endParaRPr lang="en-US" sz="1200" dirty="0">
                  <a:latin typeface="Aptos" panose="020B000402020202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en-US" sz="1200" dirty="0" err="1">
                    <a:latin typeface="Aptos" panose="020B00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г</a:t>
                </a:r>
                <a:r>
                  <a:rPr lang="ru-RU" sz="1200" dirty="0">
                    <a:effectLst/>
                    <a:latin typeface="Aptos" panose="020B00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де</a:t>
                </a:r>
              </a:p>
              <a:p>
                <a:pPr marL="342900" lvl="0" indent="-342900">
                  <a:spcBef>
                    <a:spcPts val="180"/>
                  </a:spcBef>
                  <a:spcAft>
                    <a:spcPts val="180"/>
                  </a:spcAft>
                  <a:buFont typeface="Symbol" pitchFamily="2" charset="2"/>
                  <a:buChar char="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u-RU" sz="12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Symbol" pitchFamily="2" charset="2"/>
                      </a:rPr>
                      <m:t>Η</m:t>
                    </m:r>
                    <m:r>
                      <a:rPr lang="ru-RU" sz="12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Symbol" pitchFamily="2" charset="2"/>
                      </a:rPr>
                      <m:t>(</m:t>
                    </m:r>
                    <m:r>
                      <a:rPr lang="ru-RU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Symbol" pitchFamily="2" charset="2"/>
                      </a:rPr>
                      <m:t>𝑆</m:t>
                    </m:r>
                    <m:r>
                      <a:rPr lang="ru-RU" sz="12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Symbol" pitchFamily="2" charset="2"/>
                      </a:rPr>
                      <m:t>)</m:t>
                    </m:r>
                  </m:oMath>
                </a14:m>
                <a:r>
                  <a:rPr lang="ru-RU" sz="1200" dirty="0">
                    <a:effectLst/>
                    <a:latin typeface="Aptos" panose="020B0004020202020204" pitchFamily="34" charset="0"/>
                    <a:ea typeface="Times New Roman" panose="02020603050405020304" pitchFamily="18" charset="0"/>
                    <a:cs typeface="Symbol" pitchFamily="2" charset="2"/>
                  </a:rPr>
                  <a:t>– Энтропия множества</a:t>
                </a:r>
                <a:r>
                  <a:rPr lang="en-US" sz="1200" dirty="0">
                    <a:effectLst/>
                    <a:latin typeface="Aptos" panose="020B0004020202020204" pitchFamily="34" charset="0"/>
                    <a:ea typeface="Times New Roman" panose="02020603050405020304" pitchFamily="18" charset="0"/>
                    <a:cs typeface="Symbol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ru-RU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Symbol" pitchFamily="2" charset="2"/>
                      </a:rPr>
                      <m:t>𝑆</m:t>
                    </m:r>
                  </m:oMath>
                </a14:m>
                <a:endParaRPr lang="ru-RU" sz="1200" dirty="0">
                  <a:effectLst/>
                  <a:latin typeface="Aptos" panose="020B0004020202020204" pitchFamily="34" charset="0"/>
                  <a:ea typeface="Times New Roman" panose="02020603050405020304" pitchFamily="18" charset="0"/>
                  <a:cs typeface="Symbol" pitchFamily="2" charset="2"/>
                </a:endParaRPr>
              </a:p>
              <a:p>
                <a:pPr marL="342900" lvl="0" indent="-342900">
                  <a:spcBef>
                    <a:spcPts val="180"/>
                  </a:spcBef>
                  <a:spcAft>
                    <a:spcPts val="180"/>
                  </a:spcAft>
                  <a:buFont typeface="Symbol" pitchFamily="2" charset="2"/>
                  <a:buChar char=""/>
                </a:pPr>
                <a14:m>
                  <m:oMath xmlns:m="http://schemas.openxmlformats.org/officeDocument/2006/math">
                    <m:r>
                      <a:rPr lang="ru-RU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Symbol" pitchFamily="2" charset="2"/>
                      </a:rPr>
                      <m:t>𝑇</m:t>
                    </m:r>
                  </m:oMath>
                </a14:m>
                <a:r>
                  <a:rPr lang="ru-RU" sz="1200" dirty="0">
                    <a:effectLst/>
                    <a:latin typeface="Aptos" panose="020B0004020202020204" pitchFamily="34" charset="0"/>
                    <a:ea typeface="Times New Roman" panose="02020603050405020304" pitchFamily="18" charset="0"/>
                    <a:cs typeface="Symbol" pitchFamily="2" charset="2"/>
                  </a:rPr>
                  <a:t>– Подмножества, созданные путем разделения набора </a:t>
                </a:r>
                <a14:m>
                  <m:oMath xmlns:m="http://schemas.openxmlformats.org/officeDocument/2006/math">
                    <m:r>
                      <a:rPr lang="ru-RU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Symbol" pitchFamily="2" charset="2"/>
                      </a:rPr>
                      <m:t>𝑆</m:t>
                    </m:r>
                  </m:oMath>
                </a14:m>
                <a:r>
                  <a:rPr lang="ru-RU" sz="1200" dirty="0">
                    <a:effectLst/>
                    <a:latin typeface="Aptos" panose="020B0004020202020204" pitchFamily="34" charset="0"/>
                    <a:ea typeface="Times New Roman" panose="02020603050405020304" pitchFamily="18" charset="0"/>
                    <a:cs typeface="Symbol" pitchFamily="2" charset="2"/>
                  </a:rPr>
                  <a:t>по атрибуту </a:t>
                </a:r>
                <a14:m>
                  <m:oMath xmlns:m="http://schemas.openxmlformats.org/officeDocument/2006/math">
                    <m:r>
                      <a:rPr lang="ru-RU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Symbol" pitchFamily="2" charset="2"/>
                      </a:rPr>
                      <m:t>𝐴</m:t>
                    </m:r>
                  </m:oMath>
                </a14:m>
                <a:r>
                  <a:rPr lang="ru-RU" sz="1200" dirty="0">
                    <a:effectLst/>
                    <a:latin typeface="Aptos" panose="020B0004020202020204" pitchFamily="34" charset="0"/>
                    <a:ea typeface="Times New Roman" panose="02020603050405020304" pitchFamily="18" charset="0"/>
                    <a:cs typeface="Symbol" pitchFamily="2" charset="2"/>
                  </a:rPr>
                  <a:t>таким образом, что</a:t>
                </a:r>
                <a:r>
                  <a:rPr lang="en-US" sz="1200" dirty="0">
                    <a:effectLst/>
                    <a:latin typeface="Aptos" panose="020B0004020202020204" pitchFamily="34" charset="0"/>
                    <a:ea typeface="Times New Roman" panose="02020603050405020304" pitchFamily="18" charset="0"/>
                    <a:cs typeface="Symbol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ru-RU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Symbol" pitchFamily="2" charset="2"/>
                      </a:rPr>
                      <m:t>𝑆</m:t>
                    </m:r>
                    <m:r>
                      <a:rPr lang="ru-RU" sz="12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Symbol" pitchFamily="2" charset="2"/>
                      </a:rPr>
                      <m:t>=</m:t>
                    </m:r>
                    <m:sSub>
                      <m:sSubPr>
                        <m:ctrlPr>
                          <a:rPr lang="ru-RU" sz="1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Symbol" pitchFamily="2" charset="2"/>
                          </a:rPr>
                        </m:ctrlPr>
                      </m:sSubPr>
                      <m:e>
                        <m:r>
                          <a:rPr lang="ru-RU" sz="12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Symbol" pitchFamily="2" charset="2"/>
                          </a:rPr>
                          <m:t>⋃</m:t>
                        </m:r>
                      </m:e>
                      <m:sub>
                        <m:r>
                          <a:rPr lang="ru-RU" sz="1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Symbol" pitchFamily="2" charset="2"/>
                          </a:rPr>
                          <m:t>𝑡</m:t>
                        </m:r>
                        <m:r>
                          <a:rPr lang="ru-RU" sz="12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Symbol" pitchFamily="2" charset="2"/>
                          </a:rPr>
                          <m:t>∈</m:t>
                        </m:r>
                        <m:r>
                          <a:rPr lang="ru-RU" sz="1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Symbol" pitchFamily="2" charset="2"/>
                          </a:rPr>
                          <m:t>𝑇</m:t>
                        </m:r>
                      </m:sub>
                    </m:sSub>
                    <m:r>
                      <a:rPr lang="ru-RU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Symbol" pitchFamily="2" charset="2"/>
                      </a:rPr>
                      <m:t>𝑡</m:t>
                    </m:r>
                  </m:oMath>
                </a14:m>
                <a:endParaRPr lang="ru-RU" sz="1200" dirty="0">
                  <a:effectLst/>
                  <a:latin typeface="Aptos" panose="020B0004020202020204" pitchFamily="34" charset="0"/>
                  <a:ea typeface="Times New Roman" panose="02020603050405020304" pitchFamily="18" charset="0"/>
                  <a:cs typeface="Symbol" pitchFamily="2" charset="2"/>
                </a:endParaRPr>
              </a:p>
              <a:p>
                <a:pPr marL="342900" lvl="0" indent="-342900">
                  <a:spcBef>
                    <a:spcPts val="180"/>
                  </a:spcBef>
                  <a:spcAft>
                    <a:spcPts val="180"/>
                  </a:spcAft>
                  <a:buFont typeface="Symbol" pitchFamily="2" charset="2"/>
                  <a:buChar char=""/>
                </a:pPr>
                <a14:m>
                  <m:oMath xmlns:m="http://schemas.openxmlformats.org/officeDocument/2006/math">
                    <m:r>
                      <a:rPr lang="ru-RU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Symbol" pitchFamily="2" charset="2"/>
                      </a:rPr>
                      <m:t>𝑝</m:t>
                    </m:r>
                    <m:r>
                      <a:rPr lang="ru-RU" sz="12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Symbol" pitchFamily="2" charset="2"/>
                      </a:rPr>
                      <m:t>(</m:t>
                    </m:r>
                    <m:r>
                      <a:rPr lang="ru-RU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Symbol" pitchFamily="2" charset="2"/>
                      </a:rPr>
                      <m:t>𝑡</m:t>
                    </m:r>
                    <m:r>
                      <a:rPr lang="ru-RU" sz="12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Symbol" pitchFamily="2" charset="2"/>
                      </a:rPr>
                      <m:t>)</m:t>
                    </m:r>
                  </m:oMath>
                </a14:m>
                <a:r>
                  <a:rPr lang="ru-RU" sz="1200" dirty="0">
                    <a:effectLst/>
                    <a:latin typeface="Aptos" panose="020B0004020202020204" pitchFamily="34" charset="0"/>
                    <a:ea typeface="Times New Roman" panose="02020603050405020304" pitchFamily="18" charset="0"/>
                    <a:cs typeface="Symbol" pitchFamily="2" charset="2"/>
                  </a:rPr>
                  <a:t>– Отношение числа элементов к </a:t>
                </a:r>
                <a14:m>
                  <m:oMath xmlns:m="http://schemas.openxmlformats.org/officeDocument/2006/math">
                    <m:r>
                      <a:rPr lang="ru-RU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Symbol" pitchFamily="2" charset="2"/>
                      </a:rPr>
                      <m:t>𝑡</m:t>
                    </m:r>
                    <m:r>
                      <a:rPr lang="en-US" sz="1200" b="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Symbol" pitchFamily="2" charset="2"/>
                      </a:rPr>
                      <m:t> </m:t>
                    </m:r>
                  </m:oMath>
                </a14:m>
                <a:r>
                  <a:rPr lang="ru-RU" sz="1200" dirty="0">
                    <a:effectLst/>
                    <a:latin typeface="Aptos" panose="020B0004020202020204" pitchFamily="34" charset="0"/>
                    <a:ea typeface="Times New Roman" panose="02020603050405020304" pitchFamily="18" charset="0"/>
                    <a:cs typeface="Symbol" pitchFamily="2" charset="2"/>
                  </a:rPr>
                  <a:t>числу элементов в множестве</a:t>
                </a:r>
                <a14:m>
                  <m:oMath xmlns:m="http://schemas.openxmlformats.org/officeDocument/2006/math">
                    <m:r>
                      <a:rPr lang="en-US" sz="1200" b="0" i="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Symbol" pitchFamily="2" charset="2"/>
                      </a:rPr>
                      <m:t> </m:t>
                    </m:r>
                    <m:r>
                      <a:rPr lang="ru-RU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Symbol" pitchFamily="2" charset="2"/>
                      </a:rPr>
                      <m:t>𝑆</m:t>
                    </m:r>
                  </m:oMath>
                </a14:m>
                <a:endParaRPr lang="ru-RU" sz="1200" dirty="0">
                  <a:effectLst/>
                  <a:latin typeface="Aptos" panose="020B0004020202020204" pitchFamily="34" charset="0"/>
                  <a:ea typeface="Times New Roman" panose="02020603050405020304" pitchFamily="18" charset="0"/>
                  <a:cs typeface="Symbol" pitchFamily="2" charset="2"/>
                </a:endParaRPr>
              </a:p>
              <a:p>
                <a:pPr marL="342900" lvl="0" indent="-342900">
                  <a:spcBef>
                    <a:spcPts val="180"/>
                  </a:spcBef>
                  <a:spcAft>
                    <a:spcPts val="180"/>
                  </a:spcAft>
                  <a:buFont typeface="Symbol" pitchFamily="2" charset="2"/>
                  <a:buChar char="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u-RU" sz="12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Symbol" pitchFamily="2" charset="2"/>
                      </a:rPr>
                      <m:t>Η</m:t>
                    </m:r>
                    <m:r>
                      <a:rPr lang="ru-RU" sz="12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Symbol" pitchFamily="2" charset="2"/>
                      </a:rPr>
                      <m:t>(</m:t>
                    </m:r>
                    <m:r>
                      <a:rPr lang="ru-RU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Symbol" pitchFamily="2" charset="2"/>
                      </a:rPr>
                      <m:t>𝑡</m:t>
                    </m:r>
                    <m:r>
                      <a:rPr lang="ru-RU" sz="12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Symbol" pitchFamily="2" charset="2"/>
                      </a:rPr>
                      <m:t>)</m:t>
                    </m:r>
                  </m:oMath>
                </a14:m>
                <a:r>
                  <a:rPr lang="ru-RU" sz="1200" dirty="0">
                    <a:effectLst/>
                    <a:latin typeface="Aptos" panose="020B0004020202020204" pitchFamily="34" charset="0"/>
                    <a:ea typeface="Times New Roman" panose="02020603050405020304" pitchFamily="18" charset="0"/>
                    <a:cs typeface="Symbol" pitchFamily="2" charset="2"/>
                  </a:rPr>
                  <a:t>– Энтропия подмножества</a:t>
                </a:r>
                <a14:m>
                  <m:oMath xmlns:m="http://schemas.openxmlformats.org/officeDocument/2006/math">
                    <m:r>
                      <a:rPr lang="en-US" sz="1200" b="0" i="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Symbol" pitchFamily="2" charset="2"/>
                      </a:rPr>
                      <m:t> </m:t>
                    </m:r>
                    <m:r>
                      <a:rPr lang="ru-RU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Symbol" pitchFamily="2" charset="2"/>
                      </a:rPr>
                      <m:t>𝑡</m:t>
                    </m:r>
                  </m:oMath>
                </a14:m>
                <a:endParaRPr lang="ru-RU" sz="1200" dirty="0">
                  <a:effectLst/>
                  <a:latin typeface="Aptos" panose="020B0004020202020204" pitchFamily="34" charset="0"/>
                  <a:ea typeface="Times New Roman" panose="02020603050405020304" pitchFamily="18" charset="0"/>
                  <a:cs typeface="Symbol" pitchFamily="2" charset="2"/>
                </a:endParaRPr>
              </a:p>
              <a:p>
                <a:r>
                  <a:rPr lang="ru-RU" sz="1200" dirty="0">
                    <a:effectLst/>
                    <a:latin typeface="Aptos" panose="020B00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В ID3 для каждого оставшегося атрибута можно рассчитать прирост информации (вместо энтропии). Атрибут с </a:t>
                </a:r>
                <a:r>
                  <a:rPr lang="ru-RU" sz="1200" b="1" dirty="0">
                    <a:effectLst/>
                    <a:latin typeface="Aptos" panose="020B00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наибольшим </a:t>
                </a:r>
                <a:r>
                  <a:rPr lang="ru-RU" sz="1200" dirty="0">
                    <a:effectLst/>
                    <a:latin typeface="Aptos" panose="020B00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приростом информации используется для разделения набора </a:t>
                </a:r>
                <a14:m>
                  <m:oMath xmlns:m="http://schemas.openxmlformats.org/officeDocument/2006/math">
                    <m:r>
                      <a:rPr lang="ru-RU" sz="1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𝑆</m:t>
                    </m:r>
                  </m:oMath>
                </a14:m>
                <a:r>
                  <a:rPr lang="en-US" sz="1200" dirty="0">
                    <a:effectLst/>
                    <a:latin typeface="Aptos" panose="020B00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1200" dirty="0">
                    <a:effectLst/>
                    <a:latin typeface="Aptos" panose="020B00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на этой итерации.</a:t>
                </a:r>
                <a:r>
                  <a:rPr lang="ru-RU" sz="1200" dirty="0">
                    <a:effectLst/>
                  </a:rPr>
                  <a:t> </a:t>
                </a:r>
                <a:endParaRPr lang="ru-RU" sz="12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E1D6481-0E9E-8E47-9031-D8ACF40463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398" y="3619356"/>
                <a:ext cx="8229599" cy="2869312"/>
              </a:xfrm>
              <a:prstGeom prst="rect">
                <a:avLst/>
              </a:prstGeom>
              <a:blipFill>
                <a:blip r:embed="rId3"/>
                <a:stretch>
                  <a:fillRect t="-5310" b="-44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124346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Rectangle 2">
            <a:extLst>
              <a:ext uri="{FF2B5EF4-FFF2-40B4-BE49-F238E27FC236}">
                <a16:creationId xmlns:a16="http://schemas.microsoft.com/office/drawing/2014/main" id="{9D56EEB1-806D-B348-B92A-383D2DBE3A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" altLang="ru-RU"/>
              <a:t>Когда следует прекратить добавление узлов?</a:t>
            </a:r>
          </a:p>
        </p:txBody>
      </p:sp>
      <p:sp>
        <p:nvSpPr>
          <p:cNvPr id="9218" name="Rectangle 3">
            <a:extLst>
              <a:ext uri="{FF2B5EF4-FFF2-40B4-BE49-F238E27FC236}">
                <a16:creationId xmlns:a16="http://schemas.microsoft.com/office/drawing/2014/main" id="{3A08EE58-E5FC-694A-9035-C95424CCA4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ru" altLang="ru-RU" sz="2400" dirty="0"/>
              <a:t>Иногда ошибка остается постоянной некоторое время, пока добавляются узлы, а затем она уменьшается.</a:t>
            </a:r>
          </a:p>
          <a:p>
            <a:pPr lvl="1" eaLnBrk="1" hangingPunct="1"/>
            <a:r>
              <a:rPr lang="ru" altLang="ru-RU" sz="2400" dirty="0"/>
              <a:t>Поэтому мы не можем прекратить добавление узлов, как только ошибка перестанет падать.</a:t>
            </a:r>
          </a:p>
          <a:p>
            <a:pPr eaLnBrk="1" hangingPunct="1"/>
            <a:r>
              <a:rPr lang="ru" altLang="ru-RU" sz="2400" dirty="0"/>
              <a:t>Обычно лучше всего подогнать дерево под слишком большой размер, а затем отсечь наименее полезные узлы, чтобы сбалансировать сложность с ошибками.</a:t>
            </a:r>
          </a:p>
          <a:p>
            <a:pPr lvl="1" eaLnBrk="1" hangingPunct="1"/>
            <a:r>
              <a:rPr lang="ru" altLang="ru-RU" sz="2400" dirty="0"/>
              <a:t>Для выполнения обрезки мы могли бы использовать проверочный набор.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2">
            <a:extLst>
              <a:ext uri="{FF2B5EF4-FFF2-40B4-BE49-F238E27FC236}">
                <a16:creationId xmlns:a16="http://schemas.microsoft.com/office/drawing/2014/main" id="{02962D39-A70E-8E42-9148-BFCDFBEB48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" altLang="ru-RU" sz="3200"/>
              <a:t>Преимущества и недостатки деревьев решений</a:t>
            </a:r>
          </a:p>
        </p:txBody>
      </p:sp>
      <p:sp>
        <p:nvSpPr>
          <p:cNvPr id="10242" name="Rectangle 3">
            <a:extLst>
              <a:ext uri="{FF2B5EF4-FFF2-40B4-BE49-F238E27FC236}">
                <a16:creationId xmlns:a16="http://schemas.microsoft.com/office/drawing/2014/main" id="{3C48C71D-29ED-7F4C-B741-6E3163E3CCC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ru" altLang="ru-RU" sz="2000" dirty="0"/>
              <a:t>Их легко устанавливать, использовать и интерпретировать как фиксированную последовательность простых тестов. (Врачи их любят.)</a:t>
            </a:r>
          </a:p>
          <a:p>
            <a:pPr eaLnBrk="1" hangingPunct="1"/>
            <a:r>
              <a:rPr lang="ru" altLang="ru-RU" sz="2000" dirty="0"/>
              <a:t>Они нелинейны, поэтому работают гораздо лучше линейных моделей для сильно нелинейных функций.</a:t>
            </a:r>
          </a:p>
          <a:p>
            <a:pPr eaLnBrk="1" hangingPunct="1"/>
            <a:r>
              <a:rPr lang="ru" altLang="ru-RU" sz="2000" dirty="0"/>
              <a:t>Они обычно обобщают хуже, чем нелинейные модели, использующие адаптивные базисные функции, но их легко улучшить, усредняя прогнозы многих деревьев.</a:t>
            </a:r>
          </a:p>
          <a:p>
            <a:pPr lvl="1" eaLnBrk="1" hangingPunct="1"/>
            <a:r>
              <a:rPr lang="ru" altLang="ru-RU" sz="2000" dirty="0"/>
              <a:t>Каждое дерево подгоняется под обучающий набор, созданный путем выборки набора данных с заменой («бэггинг»).</a:t>
            </a:r>
          </a:p>
          <a:p>
            <a:pPr lvl="1" eaLnBrk="1" hangingPunct="1"/>
            <a:r>
              <a:rPr lang="ru" altLang="ru-RU" sz="2000" dirty="0"/>
              <a:t>Вот вам и интерпретируемость!</a:t>
            </a:r>
          </a:p>
          <a:p>
            <a:pPr eaLnBrk="1" hangingPunct="1"/>
            <a:endParaRPr lang="en-US" altLang="ru-RU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2">
            <a:extLst>
              <a:ext uri="{FF2B5EF4-FFF2-40B4-BE49-F238E27FC236}">
                <a16:creationId xmlns:a16="http://schemas.microsoft.com/office/drawing/2014/main" id="{3AD61E4C-181C-5142-9FBA-48A647E0DE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6213" y="4437063"/>
            <a:ext cx="3203575" cy="18716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13314" name="Rectangle 3">
            <a:extLst>
              <a:ext uri="{FF2B5EF4-FFF2-40B4-BE49-F238E27FC236}">
                <a16:creationId xmlns:a16="http://schemas.microsoft.com/office/drawing/2014/main" id="{DE293D43-33D9-0840-847D-E604D18CBC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" altLang="ru-RU"/>
              <a:t>Спектр моделей</a:t>
            </a:r>
          </a:p>
        </p:txBody>
      </p:sp>
      <p:sp>
        <p:nvSpPr>
          <p:cNvPr id="13315" name="Rectangle 4">
            <a:extLst>
              <a:ext uri="{FF2B5EF4-FFF2-40B4-BE49-F238E27FC236}">
                <a16:creationId xmlns:a16="http://schemas.microsoft.com/office/drawing/2014/main" id="{31D892BA-1496-5942-9D56-3DD321E8852A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250825" y="1600200"/>
            <a:ext cx="4244975" cy="4525963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ru" altLang="ru-RU" sz="2400" dirty="0">
                <a:solidFill>
                  <a:srgbClr val="3333CC"/>
                </a:solidFill>
              </a:rPr>
              <a:t>Очень локальные модели</a:t>
            </a:r>
          </a:p>
          <a:p>
            <a:pPr lvl="1" eaLnBrk="1" hangingPunct="1"/>
            <a:r>
              <a:rPr lang="ru" altLang="ru-RU" sz="1800" dirty="0"/>
              <a:t>например, Ближайшие соседи</a:t>
            </a:r>
          </a:p>
          <a:p>
            <a:pPr eaLnBrk="1" hangingPunct="1"/>
            <a:r>
              <a:rPr lang="ru" altLang="ru-RU" sz="1800" dirty="0"/>
              <a:t>Очень быстро устанавливается</a:t>
            </a:r>
          </a:p>
          <a:p>
            <a:pPr lvl="1" eaLnBrk="1" hangingPunct="1"/>
            <a:r>
              <a:rPr lang="ru" altLang="ru-RU" sz="1800" dirty="0"/>
              <a:t>Просто храните учебные кейсы</a:t>
            </a:r>
          </a:p>
          <a:p>
            <a:pPr eaLnBrk="1" hangingPunct="1"/>
            <a:r>
              <a:rPr lang="ru" altLang="ru-RU" sz="1800" dirty="0"/>
              <a:t>Локальное сглаживание, очевидно, улучшает ситуацию.</a:t>
            </a:r>
          </a:p>
        </p:txBody>
      </p:sp>
      <p:sp>
        <p:nvSpPr>
          <p:cNvPr id="13316" name="Rectangle 5">
            <a:extLst>
              <a:ext uri="{FF2B5EF4-FFF2-40B4-BE49-F238E27FC236}">
                <a16:creationId xmlns:a16="http://schemas.microsoft.com/office/drawing/2014/main" id="{B6FB67A1-2065-A749-8E7E-798C1DBB48F6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4643438" y="1566863"/>
            <a:ext cx="4279900" cy="4525962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ru" altLang="ru-RU" dirty="0">
                <a:solidFill>
                  <a:srgbClr val="3333CC"/>
                </a:solidFill>
              </a:rPr>
              <a:t>Полностью глобальные модели</a:t>
            </a:r>
          </a:p>
          <a:p>
            <a:pPr lvl="1" eaLnBrk="1" hangingPunct="1"/>
            <a:r>
              <a:rPr lang="ru" altLang="ru-RU" sz="2000" dirty="0"/>
              <a:t>например, многочлен</a:t>
            </a:r>
          </a:p>
          <a:p>
            <a:pPr eaLnBrk="1" hangingPunct="1"/>
            <a:r>
              <a:rPr lang="ru" altLang="ru-RU" sz="2000" dirty="0"/>
              <a:t>Может быть медленно вписывается</a:t>
            </a:r>
          </a:p>
          <a:p>
            <a:pPr lvl="1" eaLnBrk="1" hangingPunct="1"/>
            <a:r>
              <a:rPr lang="ru" altLang="ru-RU" sz="2000" dirty="0"/>
              <a:t>Каждый параметр зависит от всех данных</a:t>
            </a:r>
          </a:p>
        </p:txBody>
      </p:sp>
      <p:sp>
        <p:nvSpPr>
          <p:cNvPr id="13317" name="Freeform 6">
            <a:extLst>
              <a:ext uri="{FF2B5EF4-FFF2-40B4-BE49-F238E27FC236}">
                <a16:creationId xmlns:a16="http://schemas.microsoft.com/office/drawing/2014/main" id="{9D6CE3CB-97A2-8347-BB5F-5902CF8EFEE3}"/>
              </a:ext>
            </a:extLst>
          </p:cNvPr>
          <p:cNvSpPr>
            <a:spLocks/>
          </p:cNvSpPr>
          <p:nvPr/>
        </p:nvSpPr>
        <p:spPr bwMode="auto">
          <a:xfrm>
            <a:off x="5292725" y="4797425"/>
            <a:ext cx="3167063" cy="1044575"/>
          </a:xfrm>
          <a:custGeom>
            <a:avLst/>
            <a:gdLst>
              <a:gd name="T0" fmla="*/ 0 w 1995"/>
              <a:gd name="T1" fmla="*/ 1044575 h 658"/>
              <a:gd name="T2" fmla="*/ 323850 w 1995"/>
              <a:gd name="T3" fmla="*/ 755650 h 658"/>
              <a:gd name="T4" fmla="*/ 900113 w 1995"/>
              <a:gd name="T5" fmla="*/ 360363 h 658"/>
              <a:gd name="T6" fmla="*/ 1511300 w 1995"/>
              <a:gd name="T7" fmla="*/ 323850 h 658"/>
              <a:gd name="T8" fmla="*/ 1908175 w 1995"/>
              <a:gd name="T9" fmla="*/ 684213 h 658"/>
              <a:gd name="T10" fmla="*/ 2339975 w 1995"/>
              <a:gd name="T11" fmla="*/ 863600 h 658"/>
              <a:gd name="T12" fmla="*/ 2843213 w 1995"/>
              <a:gd name="T13" fmla="*/ 468313 h 658"/>
              <a:gd name="T14" fmla="*/ 3167063 w 1995"/>
              <a:gd name="T15" fmla="*/ 0 h 658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1995" h="658">
                <a:moveTo>
                  <a:pt x="0" y="658"/>
                </a:moveTo>
                <a:cubicBezTo>
                  <a:pt x="55" y="603"/>
                  <a:pt x="110" y="548"/>
                  <a:pt x="204" y="476"/>
                </a:cubicBezTo>
                <a:cubicBezTo>
                  <a:pt x="298" y="404"/>
                  <a:pt x="442" y="272"/>
                  <a:pt x="567" y="227"/>
                </a:cubicBezTo>
                <a:cubicBezTo>
                  <a:pt x="692" y="182"/>
                  <a:pt x="846" y="170"/>
                  <a:pt x="952" y="204"/>
                </a:cubicBezTo>
                <a:cubicBezTo>
                  <a:pt x="1058" y="238"/>
                  <a:pt x="1115" y="374"/>
                  <a:pt x="1202" y="431"/>
                </a:cubicBezTo>
                <a:cubicBezTo>
                  <a:pt x="1289" y="488"/>
                  <a:pt x="1376" y="567"/>
                  <a:pt x="1474" y="544"/>
                </a:cubicBezTo>
                <a:cubicBezTo>
                  <a:pt x="1572" y="521"/>
                  <a:pt x="1704" y="386"/>
                  <a:pt x="1791" y="295"/>
                </a:cubicBezTo>
                <a:cubicBezTo>
                  <a:pt x="1878" y="204"/>
                  <a:pt x="1961" y="49"/>
                  <a:pt x="1995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3318" name="Oval 7">
            <a:extLst>
              <a:ext uri="{FF2B5EF4-FFF2-40B4-BE49-F238E27FC236}">
                <a16:creationId xmlns:a16="http://schemas.microsoft.com/office/drawing/2014/main" id="{AAC5B6F6-DCFF-AD4E-9D09-5BE63B0A7D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6575" y="5481638"/>
            <a:ext cx="71438" cy="71437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13319" name="Oval 8">
            <a:extLst>
              <a:ext uri="{FF2B5EF4-FFF2-40B4-BE49-F238E27FC236}">
                <a16:creationId xmlns:a16="http://schemas.microsoft.com/office/drawing/2014/main" id="{D685CC8C-6D97-A34D-9123-B76F6DB049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4888" y="5156200"/>
            <a:ext cx="71437" cy="71438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13320" name="Oval 9">
            <a:extLst>
              <a:ext uri="{FF2B5EF4-FFF2-40B4-BE49-F238E27FC236}">
                <a16:creationId xmlns:a16="http://schemas.microsoft.com/office/drawing/2014/main" id="{FCAF84B5-BAF6-FD4B-83F2-648BDB5719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5250" y="5084763"/>
            <a:ext cx="71438" cy="71437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13321" name="Oval 10">
            <a:extLst>
              <a:ext uri="{FF2B5EF4-FFF2-40B4-BE49-F238E27FC236}">
                <a16:creationId xmlns:a16="http://schemas.microsoft.com/office/drawing/2014/main" id="{19D5D54C-CEE1-B845-BF49-A24C5A7346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58025" y="5300663"/>
            <a:ext cx="71438" cy="71437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13322" name="Oval 11">
            <a:extLst>
              <a:ext uri="{FF2B5EF4-FFF2-40B4-BE49-F238E27FC236}">
                <a16:creationId xmlns:a16="http://schemas.microsoft.com/office/drawing/2014/main" id="{BCBDCE9B-8C2A-D245-9220-5CB43BD88B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7413" y="5480050"/>
            <a:ext cx="71437" cy="71438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13323" name="Oval 12">
            <a:extLst>
              <a:ext uri="{FF2B5EF4-FFF2-40B4-BE49-F238E27FC236}">
                <a16:creationId xmlns:a16="http://schemas.microsoft.com/office/drawing/2014/main" id="{65D5940F-441B-3F4C-BF01-B45B970045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93063" y="5373688"/>
            <a:ext cx="71437" cy="71437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13324" name="Text Box 13">
            <a:extLst>
              <a:ext uri="{FF2B5EF4-FFF2-40B4-BE49-F238E27FC236}">
                <a16:creationId xmlns:a16="http://schemas.microsoft.com/office/drawing/2014/main" id="{0B059894-9E86-3742-A0C9-A3EA9DCB7F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2588" y="6248400"/>
            <a:ext cx="43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ru" altLang="ru-RU" sz="2400"/>
              <a:t>х</a:t>
            </a:r>
          </a:p>
        </p:txBody>
      </p:sp>
      <p:sp>
        <p:nvSpPr>
          <p:cNvPr id="13325" name="Text Box 14">
            <a:extLst>
              <a:ext uri="{FF2B5EF4-FFF2-40B4-BE49-F238E27FC236}">
                <a16:creationId xmlns:a16="http://schemas.microsoft.com/office/drawing/2014/main" id="{B228D619-B7CC-834E-A157-1B67C88C9F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32363" y="5157788"/>
            <a:ext cx="6111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ru" altLang="ru-RU" sz="2400"/>
              <a:t>у</a:t>
            </a:r>
          </a:p>
        </p:txBody>
      </p:sp>
      <p:sp>
        <p:nvSpPr>
          <p:cNvPr id="13326" name="Rectangle 15">
            <a:extLst>
              <a:ext uri="{FF2B5EF4-FFF2-40B4-BE49-F238E27FC236}">
                <a16:creationId xmlns:a16="http://schemas.microsoft.com/office/drawing/2014/main" id="{A47921F9-4624-9040-9301-EC3C56AC8A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4473575"/>
            <a:ext cx="3203575" cy="187166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13327" name="Oval 16">
            <a:extLst>
              <a:ext uri="{FF2B5EF4-FFF2-40B4-BE49-F238E27FC236}">
                <a16:creationId xmlns:a16="http://schemas.microsoft.com/office/drawing/2014/main" id="{EA1385BA-B45C-2447-B4E2-C1C56DB2A1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7450" y="5518150"/>
            <a:ext cx="71438" cy="71438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13328" name="Oval 17">
            <a:extLst>
              <a:ext uri="{FF2B5EF4-FFF2-40B4-BE49-F238E27FC236}">
                <a16:creationId xmlns:a16="http://schemas.microsoft.com/office/drawing/2014/main" id="{C7FD02D6-8759-2F45-876D-FDA88F3B0C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5763" y="5192713"/>
            <a:ext cx="71437" cy="71437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13329" name="Oval 18">
            <a:extLst>
              <a:ext uri="{FF2B5EF4-FFF2-40B4-BE49-F238E27FC236}">
                <a16:creationId xmlns:a16="http://schemas.microsoft.com/office/drawing/2014/main" id="{C9E28572-A37D-9840-8461-4AF722928A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16125" y="5121275"/>
            <a:ext cx="71438" cy="71438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13330" name="Oval 19">
            <a:extLst>
              <a:ext uri="{FF2B5EF4-FFF2-40B4-BE49-F238E27FC236}">
                <a16:creationId xmlns:a16="http://schemas.microsoft.com/office/drawing/2014/main" id="{A964A54D-238E-6549-9E42-0294A2CC67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00" y="5337175"/>
            <a:ext cx="71438" cy="71438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13331" name="Oval 20">
            <a:extLst>
              <a:ext uri="{FF2B5EF4-FFF2-40B4-BE49-F238E27FC236}">
                <a16:creationId xmlns:a16="http://schemas.microsoft.com/office/drawing/2014/main" id="{8DB66F9A-DDA2-D843-B951-86A57C9A74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08288" y="5516563"/>
            <a:ext cx="71437" cy="71437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13332" name="Oval 21">
            <a:extLst>
              <a:ext uri="{FF2B5EF4-FFF2-40B4-BE49-F238E27FC236}">
                <a16:creationId xmlns:a16="http://schemas.microsoft.com/office/drawing/2014/main" id="{0F022415-13E7-744D-8A0F-F727584C55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3938" y="5410200"/>
            <a:ext cx="71437" cy="71438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13333" name="Text Box 22">
            <a:extLst>
              <a:ext uri="{FF2B5EF4-FFF2-40B4-BE49-F238E27FC236}">
                <a16:creationId xmlns:a16="http://schemas.microsoft.com/office/drawing/2014/main" id="{CD37BCB6-B2B2-294C-AF50-93E4BC8AEC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3463" y="6284913"/>
            <a:ext cx="43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ru" altLang="ru-RU" sz="2400"/>
              <a:t>х</a:t>
            </a:r>
          </a:p>
        </p:txBody>
      </p:sp>
      <p:sp>
        <p:nvSpPr>
          <p:cNvPr id="13334" name="Text Box 23">
            <a:extLst>
              <a:ext uri="{FF2B5EF4-FFF2-40B4-BE49-F238E27FC236}">
                <a16:creationId xmlns:a16="http://schemas.microsoft.com/office/drawing/2014/main" id="{15B401C2-F3A9-854D-875E-79B963C688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238" y="5194300"/>
            <a:ext cx="6111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ru" altLang="ru-RU" sz="2400"/>
              <a:t>у</a:t>
            </a:r>
          </a:p>
        </p:txBody>
      </p:sp>
      <p:sp>
        <p:nvSpPr>
          <p:cNvPr id="13335" name="Line 24">
            <a:extLst>
              <a:ext uri="{FF2B5EF4-FFF2-40B4-BE49-F238E27FC236}">
                <a16:creationId xmlns:a16="http://schemas.microsoft.com/office/drawing/2014/main" id="{A9F997E6-832A-ED41-88FF-3E14544CD2D0}"/>
              </a:ext>
            </a:extLst>
          </p:cNvPr>
          <p:cNvSpPr>
            <a:spLocks noChangeShapeType="1"/>
          </p:cNvSpPr>
          <p:nvPr/>
        </p:nvSpPr>
        <p:spPr bwMode="auto">
          <a:xfrm>
            <a:off x="827088" y="5553075"/>
            <a:ext cx="6492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3336" name="Line 25">
            <a:extLst>
              <a:ext uri="{FF2B5EF4-FFF2-40B4-BE49-F238E27FC236}">
                <a16:creationId xmlns:a16="http://schemas.microsoft.com/office/drawing/2014/main" id="{9F8882FF-CB4F-3741-BF29-E8B93557B62A}"/>
              </a:ext>
            </a:extLst>
          </p:cNvPr>
          <p:cNvSpPr>
            <a:spLocks noChangeShapeType="1"/>
          </p:cNvSpPr>
          <p:nvPr/>
        </p:nvSpPr>
        <p:spPr bwMode="auto">
          <a:xfrm>
            <a:off x="1511300" y="5229225"/>
            <a:ext cx="3603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3337" name="Line 26">
            <a:extLst>
              <a:ext uri="{FF2B5EF4-FFF2-40B4-BE49-F238E27FC236}">
                <a16:creationId xmlns:a16="http://schemas.microsoft.com/office/drawing/2014/main" id="{ADEBF00A-3875-844B-BB9F-D034971B30DF}"/>
              </a:ext>
            </a:extLst>
          </p:cNvPr>
          <p:cNvSpPr>
            <a:spLocks noChangeShapeType="1"/>
          </p:cNvSpPr>
          <p:nvPr/>
        </p:nvSpPr>
        <p:spPr bwMode="auto">
          <a:xfrm>
            <a:off x="1871663" y="5157788"/>
            <a:ext cx="4683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3338" name="Line 27">
            <a:extLst>
              <a:ext uri="{FF2B5EF4-FFF2-40B4-BE49-F238E27FC236}">
                <a16:creationId xmlns:a16="http://schemas.microsoft.com/office/drawing/2014/main" id="{0313E824-EB35-4D46-9CA5-10F825FD0711}"/>
              </a:ext>
            </a:extLst>
          </p:cNvPr>
          <p:cNvSpPr>
            <a:spLocks noChangeShapeType="1"/>
          </p:cNvSpPr>
          <p:nvPr/>
        </p:nvSpPr>
        <p:spPr bwMode="auto">
          <a:xfrm>
            <a:off x="2411413" y="5373688"/>
            <a:ext cx="3603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3339" name="Line 28">
            <a:extLst>
              <a:ext uri="{FF2B5EF4-FFF2-40B4-BE49-F238E27FC236}">
                <a16:creationId xmlns:a16="http://schemas.microsoft.com/office/drawing/2014/main" id="{87193499-9247-1D4D-83FC-B52B78B09E2C}"/>
              </a:ext>
            </a:extLst>
          </p:cNvPr>
          <p:cNvSpPr>
            <a:spLocks noChangeShapeType="1"/>
          </p:cNvSpPr>
          <p:nvPr/>
        </p:nvSpPr>
        <p:spPr bwMode="auto">
          <a:xfrm>
            <a:off x="2771775" y="5553075"/>
            <a:ext cx="4683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3340" name="Line 29">
            <a:extLst>
              <a:ext uri="{FF2B5EF4-FFF2-40B4-BE49-F238E27FC236}">
                <a16:creationId xmlns:a16="http://schemas.microsoft.com/office/drawing/2014/main" id="{9BF872BB-6A36-2342-BCD0-E43CF0A66A5A}"/>
              </a:ext>
            </a:extLst>
          </p:cNvPr>
          <p:cNvSpPr>
            <a:spLocks noChangeShapeType="1"/>
          </p:cNvSpPr>
          <p:nvPr/>
        </p:nvSpPr>
        <p:spPr bwMode="auto">
          <a:xfrm>
            <a:off x="3240088" y="5445125"/>
            <a:ext cx="7921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3341" name="Line 30">
            <a:extLst>
              <a:ext uri="{FF2B5EF4-FFF2-40B4-BE49-F238E27FC236}">
                <a16:creationId xmlns:a16="http://schemas.microsoft.com/office/drawing/2014/main" id="{5A1BF719-BECD-C442-ABAD-5E94CB78A6BE}"/>
              </a:ext>
            </a:extLst>
          </p:cNvPr>
          <p:cNvSpPr>
            <a:spLocks noChangeShapeType="1"/>
          </p:cNvSpPr>
          <p:nvPr/>
        </p:nvSpPr>
        <p:spPr bwMode="auto">
          <a:xfrm>
            <a:off x="1476375" y="5229225"/>
            <a:ext cx="0" cy="3238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3342" name="Line 31">
            <a:extLst>
              <a:ext uri="{FF2B5EF4-FFF2-40B4-BE49-F238E27FC236}">
                <a16:creationId xmlns:a16="http://schemas.microsoft.com/office/drawing/2014/main" id="{D4C4A8BA-347C-FA4C-BE03-751F232C9BE4}"/>
              </a:ext>
            </a:extLst>
          </p:cNvPr>
          <p:cNvSpPr>
            <a:spLocks noChangeShapeType="1"/>
          </p:cNvSpPr>
          <p:nvPr/>
        </p:nvSpPr>
        <p:spPr bwMode="auto">
          <a:xfrm>
            <a:off x="1871663" y="5157788"/>
            <a:ext cx="0" cy="714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3343" name="Line 32">
            <a:extLst>
              <a:ext uri="{FF2B5EF4-FFF2-40B4-BE49-F238E27FC236}">
                <a16:creationId xmlns:a16="http://schemas.microsoft.com/office/drawing/2014/main" id="{BA52EB2D-AC2B-6E4B-8F1E-211E0C82E8BD}"/>
              </a:ext>
            </a:extLst>
          </p:cNvPr>
          <p:cNvSpPr>
            <a:spLocks noChangeShapeType="1"/>
          </p:cNvSpPr>
          <p:nvPr/>
        </p:nvSpPr>
        <p:spPr bwMode="auto">
          <a:xfrm>
            <a:off x="2376488" y="5157788"/>
            <a:ext cx="0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3344" name="Line 33">
            <a:extLst>
              <a:ext uri="{FF2B5EF4-FFF2-40B4-BE49-F238E27FC236}">
                <a16:creationId xmlns:a16="http://schemas.microsoft.com/office/drawing/2014/main" id="{2D857561-8134-864C-83EE-0107C96C6017}"/>
              </a:ext>
            </a:extLst>
          </p:cNvPr>
          <p:cNvSpPr>
            <a:spLocks noChangeShapeType="1"/>
          </p:cNvSpPr>
          <p:nvPr/>
        </p:nvSpPr>
        <p:spPr bwMode="auto">
          <a:xfrm>
            <a:off x="2771775" y="5373688"/>
            <a:ext cx="0" cy="1793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3345" name="Line 34">
            <a:extLst>
              <a:ext uri="{FF2B5EF4-FFF2-40B4-BE49-F238E27FC236}">
                <a16:creationId xmlns:a16="http://schemas.microsoft.com/office/drawing/2014/main" id="{A839B805-51B7-004B-AD41-ABCA297DEE1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40088" y="5445125"/>
            <a:ext cx="0" cy="1079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3346" name="Line 35">
            <a:extLst>
              <a:ext uri="{FF2B5EF4-FFF2-40B4-BE49-F238E27FC236}">
                <a16:creationId xmlns:a16="http://schemas.microsoft.com/office/drawing/2014/main" id="{AE45AD94-54CD-DA4B-813B-98D9A1939539}"/>
              </a:ext>
            </a:extLst>
          </p:cNvPr>
          <p:cNvSpPr>
            <a:spLocks noChangeShapeType="1"/>
          </p:cNvSpPr>
          <p:nvPr/>
        </p:nvSpPr>
        <p:spPr bwMode="auto">
          <a:xfrm>
            <a:off x="1476375" y="6237288"/>
            <a:ext cx="0" cy="25241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2">
            <a:extLst>
              <a:ext uri="{FF2B5EF4-FFF2-40B4-BE49-F238E27FC236}">
                <a16:creationId xmlns:a16="http://schemas.microsoft.com/office/drawing/2014/main" id="{80263910-4617-924E-BD7C-4AD375C7D9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" altLang="ru-RU"/>
              <a:t>Несколько локальных моделей</a:t>
            </a:r>
          </a:p>
        </p:txBody>
      </p:sp>
      <p:sp>
        <p:nvSpPr>
          <p:cNvPr id="14338" name="Rectangle 3">
            <a:extLst>
              <a:ext uri="{FF2B5EF4-FFF2-40B4-BE49-F238E27FC236}">
                <a16:creationId xmlns:a16="http://schemas.microsoft.com/office/drawing/2014/main" id="{6D39A344-09BD-B043-B412-088589D543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ru" altLang="ru-RU" dirty="0"/>
              <a:t>Вместо использования одной глобальной модели или множества локальных моделей используйте несколько моделей промежуточной сложности.</a:t>
            </a:r>
          </a:p>
          <a:p>
            <a:pPr lvl="1" eaLnBrk="1" hangingPunct="1"/>
            <a:r>
              <a:rPr lang="ru" altLang="ru-RU" dirty="0"/>
              <a:t>Хорошо, если набор данных содержит несколько различных режимов, которые имеют разные соотношения между входными и выходными данными.</a:t>
            </a:r>
          </a:p>
          <a:p>
            <a:pPr lvl="1" eaLnBrk="1" hangingPunct="1"/>
            <a:r>
              <a:rPr lang="ru" altLang="ru-RU" dirty="0">
                <a:solidFill>
                  <a:srgbClr val="FF0000"/>
                </a:solidFill>
              </a:rPr>
              <a:t>Но как разделить набор данных на подмножества для каждого эксперта?</a:t>
            </a:r>
            <a:r>
              <a:rPr lang="ru" altLang="ru-RU" dirty="0"/>
              <a:t>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>
            <a:extLst>
              <a:ext uri="{FF2B5EF4-FFF2-40B4-BE49-F238E27FC236}">
                <a16:creationId xmlns:a16="http://schemas.microsoft.com/office/drawing/2014/main" id="{84737A50-760E-3D46-8FEA-7CC321F76D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1525" y="4221163"/>
            <a:ext cx="2374900" cy="18002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15362" name="Rectangle 3">
            <a:extLst>
              <a:ext uri="{FF2B5EF4-FFF2-40B4-BE49-F238E27FC236}">
                <a16:creationId xmlns:a16="http://schemas.microsoft.com/office/drawing/2014/main" id="{50006E7A-7B41-4A47-B950-B3D12D5913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5900" y="274638"/>
            <a:ext cx="8470900" cy="1143000"/>
          </a:xfrm>
        </p:spPr>
        <p:txBody>
          <a:bodyPr/>
          <a:lstStyle/>
          <a:p>
            <a:pPr eaLnBrk="1" hangingPunct="1"/>
            <a:r>
              <a:rPr lang="ru" altLang="ru-RU" sz="2800" dirty="0"/>
              <a:t>Разделение, основанное только на входе, в сравнении с разделением, основанным на отношении вход-выход</a:t>
            </a:r>
          </a:p>
        </p:txBody>
      </p:sp>
      <p:sp>
        <p:nvSpPr>
          <p:cNvPr id="15363" name="Rectangle 4">
            <a:extLst>
              <a:ext uri="{FF2B5EF4-FFF2-40B4-BE49-F238E27FC236}">
                <a16:creationId xmlns:a16="http://schemas.microsoft.com/office/drawing/2014/main" id="{13DE7C67-6828-5445-B5A6-8D07330000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2944813"/>
          </a:xfrm>
        </p:spPr>
        <p:txBody>
          <a:bodyPr/>
          <a:lstStyle/>
          <a:p>
            <a:pPr eaLnBrk="1" hangingPunct="1"/>
            <a:r>
              <a:rPr lang="ru" altLang="ru-RU" sz="2000" dirty="0"/>
              <a:t>Нам необходимо сгруппировать обучающие случаи в подмножества, по одному для каждой локальной модели.</a:t>
            </a:r>
          </a:p>
          <a:p>
            <a:pPr lvl="1" eaLnBrk="1" hangingPunct="1"/>
            <a:r>
              <a:rPr lang="ru" altLang="ru-RU" sz="2000" dirty="0"/>
              <a:t>Целью кластеризации НЕ является поиск кластеров схожих входных векторов.</a:t>
            </a:r>
          </a:p>
          <a:p>
            <a:pPr lvl="1" eaLnBrk="1" hangingPunct="1"/>
            <a:r>
              <a:rPr lang="ru" altLang="ru-RU" sz="2000" dirty="0"/>
              <a:t>Мы хотим, чтобы каждый кластер имел взаимосвязь между входом и выходом, которую можно было бы хорошо смоделировать с помощью одной локальной модели.</a:t>
            </a:r>
          </a:p>
        </p:txBody>
      </p:sp>
      <p:sp>
        <p:nvSpPr>
          <p:cNvPr id="15364" name="Freeform 5">
            <a:extLst>
              <a:ext uri="{FF2B5EF4-FFF2-40B4-BE49-F238E27FC236}">
                <a16:creationId xmlns:a16="http://schemas.microsoft.com/office/drawing/2014/main" id="{1E45379B-EA0F-374B-8C1C-ED5DDFAC950A}"/>
              </a:ext>
            </a:extLst>
          </p:cNvPr>
          <p:cNvSpPr>
            <a:spLocks/>
          </p:cNvSpPr>
          <p:nvPr/>
        </p:nvSpPr>
        <p:spPr bwMode="auto">
          <a:xfrm>
            <a:off x="3492500" y="4700588"/>
            <a:ext cx="695325" cy="636587"/>
          </a:xfrm>
          <a:custGeom>
            <a:avLst/>
            <a:gdLst>
              <a:gd name="T0" fmla="*/ 0 w 386"/>
              <a:gd name="T1" fmla="*/ 636587 h 401"/>
              <a:gd name="T2" fmla="*/ 122492 w 386"/>
              <a:gd name="T3" fmla="*/ 384175 h 401"/>
              <a:gd name="T4" fmla="*/ 286416 w 386"/>
              <a:gd name="T5" fmla="*/ 168275 h 401"/>
              <a:gd name="T6" fmla="*/ 531401 w 386"/>
              <a:gd name="T7" fmla="*/ 23812 h 401"/>
              <a:gd name="T8" fmla="*/ 695325 w 386"/>
              <a:gd name="T9" fmla="*/ 23812 h 40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86" h="401">
                <a:moveTo>
                  <a:pt x="0" y="401"/>
                </a:moveTo>
                <a:cubicBezTo>
                  <a:pt x="21" y="346"/>
                  <a:pt x="42" y="291"/>
                  <a:pt x="68" y="242"/>
                </a:cubicBezTo>
                <a:cubicBezTo>
                  <a:pt x="94" y="193"/>
                  <a:pt x="121" y="144"/>
                  <a:pt x="159" y="106"/>
                </a:cubicBezTo>
                <a:cubicBezTo>
                  <a:pt x="197" y="68"/>
                  <a:pt x="257" y="30"/>
                  <a:pt x="295" y="15"/>
                </a:cubicBezTo>
                <a:cubicBezTo>
                  <a:pt x="333" y="0"/>
                  <a:pt x="359" y="7"/>
                  <a:pt x="386" y="15"/>
                </a:cubicBezTo>
              </a:path>
            </a:pathLst>
          </a:custGeom>
          <a:noFill/>
          <a:ln w="28575" cmpd="sng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5365" name="Freeform 6">
            <a:extLst>
              <a:ext uri="{FF2B5EF4-FFF2-40B4-BE49-F238E27FC236}">
                <a16:creationId xmlns:a16="http://schemas.microsoft.com/office/drawing/2014/main" id="{437059DA-1786-134D-A791-22234430E492}"/>
              </a:ext>
            </a:extLst>
          </p:cNvPr>
          <p:cNvSpPr>
            <a:spLocks/>
          </p:cNvSpPr>
          <p:nvPr/>
        </p:nvSpPr>
        <p:spPr bwMode="auto">
          <a:xfrm flipH="1">
            <a:off x="4068763" y="4700588"/>
            <a:ext cx="612775" cy="636587"/>
          </a:xfrm>
          <a:custGeom>
            <a:avLst/>
            <a:gdLst>
              <a:gd name="T0" fmla="*/ 0 w 386"/>
              <a:gd name="T1" fmla="*/ 636587 h 401"/>
              <a:gd name="T2" fmla="*/ 107950 w 386"/>
              <a:gd name="T3" fmla="*/ 384175 h 401"/>
              <a:gd name="T4" fmla="*/ 252413 w 386"/>
              <a:gd name="T5" fmla="*/ 168275 h 401"/>
              <a:gd name="T6" fmla="*/ 468313 w 386"/>
              <a:gd name="T7" fmla="*/ 23812 h 401"/>
              <a:gd name="T8" fmla="*/ 612775 w 386"/>
              <a:gd name="T9" fmla="*/ 23812 h 40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86" h="401">
                <a:moveTo>
                  <a:pt x="0" y="401"/>
                </a:moveTo>
                <a:cubicBezTo>
                  <a:pt x="21" y="346"/>
                  <a:pt x="42" y="291"/>
                  <a:pt x="68" y="242"/>
                </a:cubicBezTo>
                <a:cubicBezTo>
                  <a:pt x="94" y="193"/>
                  <a:pt x="121" y="144"/>
                  <a:pt x="159" y="106"/>
                </a:cubicBezTo>
                <a:cubicBezTo>
                  <a:pt x="197" y="68"/>
                  <a:pt x="257" y="30"/>
                  <a:pt x="295" y="15"/>
                </a:cubicBezTo>
                <a:cubicBezTo>
                  <a:pt x="333" y="0"/>
                  <a:pt x="359" y="7"/>
                  <a:pt x="386" y="15"/>
                </a:cubicBezTo>
              </a:path>
            </a:pathLst>
          </a:custGeom>
          <a:noFill/>
          <a:ln w="28575" cmpd="sng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5366" name="Freeform 7">
            <a:extLst>
              <a:ext uri="{FF2B5EF4-FFF2-40B4-BE49-F238E27FC236}">
                <a16:creationId xmlns:a16="http://schemas.microsoft.com/office/drawing/2014/main" id="{B5BDBCB2-BDC7-B44D-A5A8-15C82D2432F3}"/>
              </a:ext>
            </a:extLst>
          </p:cNvPr>
          <p:cNvSpPr>
            <a:spLocks/>
          </p:cNvSpPr>
          <p:nvPr/>
        </p:nvSpPr>
        <p:spPr bwMode="auto">
          <a:xfrm flipV="1">
            <a:off x="4546600" y="4581525"/>
            <a:ext cx="530225" cy="1055688"/>
          </a:xfrm>
          <a:custGeom>
            <a:avLst/>
            <a:gdLst>
              <a:gd name="T0" fmla="*/ 0 w 386"/>
              <a:gd name="T1" fmla="*/ 1055688 h 401"/>
              <a:gd name="T2" fmla="*/ 93408 w 386"/>
              <a:gd name="T3" fmla="*/ 637098 h 401"/>
              <a:gd name="T4" fmla="*/ 218409 w 386"/>
              <a:gd name="T5" fmla="*/ 279060 h 401"/>
              <a:gd name="T6" fmla="*/ 405224 w 386"/>
              <a:gd name="T7" fmla="*/ 39490 h 401"/>
              <a:gd name="T8" fmla="*/ 530225 w 386"/>
              <a:gd name="T9" fmla="*/ 39490 h 40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86" h="401">
                <a:moveTo>
                  <a:pt x="0" y="401"/>
                </a:moveTo>
                <a:cubicBezTo>
                  <a:pt x="21" y="346"/>
                  <a:pt x="42" y="291"/>
                  <a:pt x="68" y="242"/>
                </a:cubicBezTo>
                <a:cubicBezTo>
                  <a:pt x="94" y="193"/>
                  <a:pt x="121" y="144"/>
                  <a:pt x="159" y="106"/>
                </a:cubicBezTo>
                <a:cubicBezTo>
                  <a:pt x="197" y="68"/>
                  <a:pt x="257" y="30"/>
                  <a:pt x="295" y="15"/>
                </a:cubicBezTo>
                <a:cubicBezTo>
                  <a:pt x="333" y="0"/>
                  <a:pt x="359" y="7"/>
                  <a:pt x="386" y="15"/>
                </a:cubicBezTo>
              </a:path>
            </a:pathLst>
          </a:custGeom>
          <a:noFill/>
          <a:ln w="28575" cmpd="sng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5367" name="Freeform 8">
            <a:extLst>
              <a:ext uri="{FF2B5EF4-FFF2-40B4-BE49-F238E27FC236}">
                <a16:creationId xmlns:a16="http://schemas.microsoft.com/office/drawing/2014/main" id="{97670003-E704-1F42-B053-D09692F39BE0}"/>
              </a:ext>
            </a:extLst>
          </p:cNvPr>
          <p:cNvSpPr>
            <a:spLocks/>
          </p:cNvSpPr>
          <p:nvPr/>
        </p:nvSpPr>
        <p:spPr bwMode="auto">
          <a:xfrm flipH="1" flipV="1">
            <a:off x="5005388" y="4581525"/>
            <a:ext cx="466725" cy="1055688"/>
          </a:xfrm>
          <a:custGeom>
            <a:avLst/>
            <a:gdLst>
              <a:gd name="T0" fmla="*/ 0 w 386"/>
              <a:gd name="T1" fmla="*/ 1055688 h 401"/>
              <a:gd name="T2" fmla="*/ 82221 w 386"/>
              <a:gd name="T3" fmla="*/ 637098 h 401"/>
              <a:gd name="T4" fmla="*/ 192252 w 386"/>
              <a:gd name="T5" fmla="*/ 279060 h 401"/>
              <a:gd name="T6" fmla="*/ 356694 w 386"/>
              <a:gd name="T7" fmla="*/ 39490 h 401"/>
              <a:gd name="T8" fmla="*/ 466725 w 386"/>
              <a:gd name="T9" fmla="*/ 39490 h 40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86" h="401">
                <a:moveTo>
                  <a:pt x="0" y="401"/>
                </a:moveTo>
                <a:cubicBezTo>
                  <a:pt x="21" y="346"/>
                  <a:pt x="42" y="291"/>
                  <a:pt x="68" y="242"/>
                </a:cubicBezTo>
                <a:cubicBezTo>
                  <a:pt x="94" y="193"/>
                  <a:pt x="121" y="144"/>
                  <a:pt x="159" y="106"/>
                </a:cubicBezTo>
                <a:cubicBezTo>
                  <a:pt x="197" y="68"/>
                  <a:pt x="257" y="30"/>
                  <a:pt x="295" y="15"/>
                </a:cubicBezTo>
                <a:cubicBezTo>
                  <a:pt x="333" y="0"/>
                  <a:pt x="359" y="7"/>
                  <a:pt x="386" y="15"/>
                </a:cubicBezTo>
              </a:path>
            </a:pathLst>
          </a:custGeom>
          <a:noFill/>
          <a:ln w="28575" cmpd="sng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5368" name="Oval 9">
            <a:extLst>
              <a:ext uri="{FF2B5EF4-FFF2-40B4-BE49-F238E27FC236}">
                <a16:creationId xmlns:a16="http://schemas.microsoft.com/office/drawing/2014/main" id="{C71AFAFF-1FD5-5846-9C87-1B7AD88440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35488" y="4545013"/>
            <a:ext cx="73025" cy="71437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15369" name="Oval 10">
            <a:extLst>
              <a:ext uri="{FF2B5EF4-FFF2-40B4-BE49-F238E27FC236}">
                <a16:creationId xmlns:a16="http://schemas.microsoft.com/office/drawing/2014/main" id="{BBF1C3BE-4256-2D4E-BDD5-8CBC537918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2363" y="5553075"/>
            <a:ext cx="73025" cy="71438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15370" name="Oval 11">
            <a:extLst>
              <a:ext uri="{FF2B5EF4-FFF2-40B4-BE49-F238E27FC236}">
                <a16:creationId xmlns:a16="http://schemas.microsoft.com/office/drawing/2014/main" id="{B59D4232-E6FC-0444-AF56-0806F7DEBD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1750" y="5518150"/>
            <a:ext cx="73025" cy="71438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15371" name="Oval 12">
            <a:extLst>
              <a:ext uri="{FF2B5EF4-FFF2-40B4-BE49-F238E27FC236}">
                <a16:creationId xmlns:a16="http://schemas.microsoft.com/office/drawing/2014/main" id="{D4C80369-BD98-2541-BD68-C24BCC67DF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9088" y="4797425"/>
            <a:ext cx="73025" cy="71438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15372" name="Oval 13">
            <a:extLst>
              <a:ext uri="{FF2B5EF4-FFF2-40B4-BE49-F238E27FC236}">
                <a16:creationId xmlns:a16="http://schemas.microsoft.com/office/drawing/2014/main" id="{D4B318E1-7D0C-894D-BC04-9CA938FD42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3938" y="5049838"/>
            <a:ext cx="73025" cy="71437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15373" name="Oval 14">
            <a:extLst>
              <a:ext uri="{FF2B5EF4-FFF2-40B4-BE49-F238E27FC236}">
                <a16:creationId xmlns:a16="http://schemas.microsoft.com/office/drawing/2014/main" id="{D8DFAC54-5681-1941-A774-E844A99325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0663" y="4687888"/>
            <a:ext cx="73025" cy="71437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15374" name="Oval 15">
            <a:extLst>
              <a:ext uri="{FF2B5EF4-FFF2-40B4-BE49-F238E27FC236}">
                <a16:creationId xmlns:a16="http://schemas.microsoft.com/office/drawing/2014/main" id="{DDAFAA7B-A878-FA45-A01F-D85BF7D436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46563" y="4724400"/>
            <a:ext cx="73025" cy="71438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15375" name="Oval 16">
            <a:extLst>
              <a:ext uri="{FF2B5EF4-FFF2-40B4-BE49-F238E27FC236}">
                <a16:creationId xmlns:a16="http://schemas.microsoft.com/office/drawing/2014/main" id="{F7FFC1B7-E733-834A-863A-B795890F7D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2613" y="4833938"/>
            <a:ext cx="73025" cy="71437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15376" name="Line 17">
            <a:extLst>
              <a:ext uri="{FF2B5EF4-FFF2-40B4-BE49-F238E27FC236}">
                <a16:creationId xmlns:a16="http://schemas.microsoft.com/office/drawing/2014/main" id="{82BE47F2-41E1-E442-8857-2154F4B06CE6}"/>
              </a:ext>
            </a:extLst>
          </p:cNvPr>
          <p:cNvSpPr>
            <a:spLocks noChangeShapeType="1"/>
          </p:cNvSpPr>
          <p:nvPr/>
        </p:nvSpPr>
        <p:spPr bwMode="auto">
          <a:xfrm>
            <a:off x="4500563" y="4221163"/>
            <a:ext cx="0" cy="1728787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5377" name="Line 18">
            <a:extLst>
              <a:ext uri="{FF2B5EF4-FFF2-40B4-BE49-F238E27FC236}">
                <a16:creationId xmlns:a16="http://schemas.microsoft.com/office/drawing/2014/main" id="{D08C2204-CCED-3543-9A00-497D97CB6708}"/>
              </a:ext>
            </a:extLst>
          </p:cNvPr>
          <p:cNvSpPr>
            <a:spLocks noChangeShapeType="1"/>
          </p:cNvSpPr>
          <p:nvPr/>
        </p:nvSpPr>
        <p:spPr bwMode="auto">
          <a:xfrm>
            <a:off x="4787900" y="4184650"/>
            <a:ext cx="0" cy="1765300"/>
          </a:xfrm>
          <a:prstGeom prst="line">
            <a:avLst/>
          </a:prstGeom>
          <a:noFill/>
          <a:ln w="9525">
            <a:solidFill>
              <a:srgbClr val="CC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5378" name="Text Box 19">
            <a:extLst>
              <a:ext uri="{FF2B5EF4-FFF2-40B4-BE49-F238E27FC236}">
                <a16:creationId xmlns:a16="http://schemas.microsoft.com/office/drawing/2014/main" id="{2250D59B-D6F0-4747-9DE3-26925F11D0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1437" y="6177315"/>
            <a:ext cx="641032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ru" altLang="ru-RU" sz="1400" dirty="0">
                <a:solidFill>
                  <a:srgbClr val="3333CC"/>
                </a:solidFill>
              </a:rPr>
              <a:t>Какое разделение лучше: </a:t>
            </a:r>
            <a:r>
              <a:rPr lang="ru" altLang="ru-RU" sz="1400" dirty="0">
                <a:solidFill>
                  <a:srgbClr val="CC9900"/>
                </a:solidFill>
              </a:rPr>
              <a:t>I </a:t>
            </a:r>
            <a:r>
              <a:rPr lang="ru" altLang="ru-RU" sz="1400" dirty="0">
                <a:solidFill>
                  <a:srgbClr val="3333CC"/>
                </a:solidFill>
              </a:rPr>
              <a:t>= только вход или </a:t>
            </a:r>
            <a:r>
              <a:rPr lang="ru" altLang="ru-RU" sz="1400" dirty="0">
                <a:solidFill>
                  <a:schemeClr val="accent2"/>
                </a:solidFill>
              </a:rPr>
              <a:t>I/O </a:t>
            </a:r>
            <a:r>
              <a:rPr lang="ru" altLang="ru-RU" sz="1400" dirty="0">
                <a:solidFill>
                  <a:srgbClr val="3333CC"/>
                </a:solidFill>
              </a:rPr>
              <a:t>= </a:t>
            </a:r>
            <a:r>
              <a:rPr lang="ru" altLang="ru-RU" sz="1400" dirty="0">
                <a:solidFill>
                  <a:srgbClr val="3333CC"/>
                </a:solidFill>
                <a:sym typeface="Wingdings" pitchFamily="2" charset="2"/>
              </a:rPr>
              <a:t>отображение входных данных выходных данных </a:t>
            </a:r>
            <a:r>
              <a:rPr lang="ru" altLang="ru-RU" sz="1400" dirty="0">
                <a:solidFill>
                  <a:srgbClr val="3333CC"/>
                </a:solidFill>
              </a:rPr>
              <a:t>?</a:t>
            </a:r>
          </a:p>
        </p:txBody>
      </p:sp>
      <p:sp>
        <p:nvSpPr>
          <p:cNvPr id="15379" name="Text Box 20">
            <a:extLst>
              <a:ext uri="{FF2B5EF4-FFF2-40B4-BE49-F238E27FC236}">
                <a16:creationId xmlns:a16="http://schemas.microsoft.com/office/drawing/2014/main" id="{FFC9291A-2182-F641-A838-69B9A41EDF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6313" y="5635625"/>
            <a:ext cx="6492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ru" altLang="ru-RU" sz="2400" dirty="0">
                <a:solidFill>
                  <a:srgbClr val="CC9900"/>
                </a:solidFill>
              </a:rPr>
              <a:t>I</a:t>
            </a:r>
          </a:p>
        </p:txBody>
      </p:sp>
      <p:sp>
        <p:nvSpPr>
          <p:cNvPr id="15380" name="Text Box 21">
            <a:extLst>
              <a:ext uri="{FF2B5EF4-FFF2-40B4-BE49-F238E27FC236}">
                <a16:creationId xmlns:a16="http://schemas.microsoft.com/office/drawing/2014/main" id="{86B7BBAE-8D40-C94C-A846-A687F1FB3B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0813" y="5635625"/>
            <a:ext cx="611187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ru-RU" sz="1100" dirty="0">
                <a:solidFill>
                  <a:schemeClr val="accent2"/>
                </a:solidFill>
              </a:rPr>
              <a:t>I/O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9B9BF2B1-C1F9-3546-A5BD-FD2D09E54A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8775" y="706"/>
            <a:ext cx="8229600" cy="1143000"/>
          </a:xfrm>
        </p:spPr>
        <p:txBody>
          <a:bodyPr/>
          <a:lstStyle/>
          <a:p>
            <a:pPr eaLnBrk="1" hangingPunct="1"/>
            <a:r>
              <a:rPr lang="ru" altLang="ru-RU" dirty="0"/>
              <a:t>Смеси экспертов</a:t>
            </a:r>
          </a:p>
        </p:txBody>
      </p:sp>
      <p:sp>
        <p:nvSpPr>
          <p:cNvPr id="16386" name="Rectangle 3">
            <a:extLst>
              <a:ext uri="{FF2B5EF4-FFF2-40B4-BE49-F238E27FC236}">
                <a16:creationId xmlns:a16="http://schemas.microsoft.com/office/drawing/2014/main" id="{CC0DDE38-83D9-9541-B1C0-3B1FB955AA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58775" y="1412776"/>
            <a:ext cx="8458200" cy="499745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ru" altLang="ru-RU" sz="2000" dirty="0"/>
              <a:t>Можем ли мы добиться большего, чем просто усреднение предикторов, не завися от конкретного случая обучения?</a:t>
            </a:r>
          </a:p>
          <a:p>
            <a:pPr lvl="1" eaLnBrk="1" hangingPunct="1">
              <a:lnSpc>
                <a:spcPct val="80000"/>
              </a:lnSpc>
            </a:pPr>
            <a:r>
              <a:rPr lang="ru" altLang="ru-RU" sz="2000" dirty="0"/>
              <a:t>Возможно, мы сможем рассмотреть входные данные для конкретного случая, чтобы решить, на какую модель положиться.</a:t>
            </a:r>
          </a:p>
          <a:p>
            <a:pPr lvl="2" eaLnBrk="1" hangingPunct="1">
              <a:lnSpc>
                <a:spcPct val="80000"/>
              </a:lnSpc>
            </a:pPr>
            <a:r>
              <a:rPr lang="ru" altLang="ru-RU" sz="1800" dirty="0"/>
              <a:t>Это может позволить определенным моделям специализироваться на подмножестве обучающих случаев. Они не обучаются на случаях, для которых они не были выбраны. Поэтому они могут игнорировать то, что они плохо моделируют.</a:t>
            </a:r>
          </a:p>
          <a:p>
            <a:pPr eaLnBrk="1" hangingPunct="1">
              <a:lnSpc>
                <a:spcPct val="80000"/>
              </a:lnSpc>
            </a:pPr>
            <a:r>
              <a:rPr lang="ru" altLang="ru-RU" sz="2000" dirty="0"/>
              <a:t>Основная идея заключается в том, чтобы заставить каждого эксперта сосредоточиться на прогнозировании правильного ответа в тех случаях, когда он уже справляется лучше других экспертов.</a:t>
            </a:r>
          </a:p>
          <a:p>
            <a:pPr lvl="1" eaLnBrk="1" hangingPunct="1">
              <a:lnSpc>
                <a:spcPct val="80000"/>
              </a:lnSpc>
            </a:pPr>
            <a:r>
              <a:rPr lang="ru" altLang="ru-RU" sz="2000" dirty="0"/>
              <a:t>Это приводит к специализации.</a:t>
            </a:r>
          </a:p>
          <a:p>
            <a:pPr lvl="1" eaLnBrk="1" hangingPunct="1">
              <a:lnSpc>
                <a:spcPct val="80000"/>
              </a:lnSpc>
            </a:pPr>
            <a:r>
              <a:rPr lang="ru" altLang="ru-RU" sz="2000" dirty="0"/>
              <a:t>Если мы всегда усредняем все предикторы, каждая модель пытается компенсировать объединенную ошибку, допущенную всеми остальными моделями.</a:t>
            </a:r>
          </a:p>
          <a:p>
            <a:pPr eaLnBrk="1" hangingPunct="1">
              <a:lnSpc>
                <a:spcPct val="80000"/>
              </a:lnSpc>
            </a:pPr>
            <a:endParaRPr lang="en-US" altLang="ru-RU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>
            <a:extLst>
              <a:ext uri="{FF2B5EF4-FFF2-40B4-BE49-F238E27FC236}">
                <a16:creationId xmlns:a16="http://schemas.microsoft.com/office/drawing/2014/main" id="{B48B25EA-AB51-6E42-A44B-E0613939D4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" altLang="ru-RU"/>
              <a:t>Иллюстрация того, почему усреднение — это плохо</a:t>
            </a:r>
          </a:p>
        </p:txBody>
      </p:sp>
      <p:sp>
        <p:nvSpPr>
          <p:cNvPr id="17410" name="Line 3">
            <a:extLst>
              <a:ext uri="{FF2B5EF4-FFF2-40B4-BE49-F238E27FC236}">
                <a16:creationId xmlns:a16="http://schemas.microsoft.com/office/drawing/2014/main" id="{FF3EED59-ECD3-B749-B33E-F03A3013A1D0}"/>
              </a:ext>
            </a:extLst>
          </p:cNvPr>
          <p:cNvSpPr>
            <a:spLocks noChangeShapeType="1"/>
          </p:cNvSpPr>
          <p:nvPr/>
        </p:nvSpPr>
        <p:spPr bwMode="auto">
          <a:xfrm>
            <a:off x="1547813" y="2024063"/>
            <a:ext cx="547211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7411" name="Line 4">
            <a:extLst>
              <a:ext uri="{FF2B5EF4-FFF2-40B4-BE49-F238E27FC236}">
                <a16:creationId xmlns:a16="http://schemas.microsoft.com/office/drawing/2014/main" id="{7889E93E-5B8A-7047-B66E-87A11240427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08175" y="1844675"/>
            <a:ext cx="0" cy="1809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7412" name="Line 5">
            <a:extLst>
              <a:ext uri="{FF2B5EF4-FFF2-40B4-BE49-F238E27FC236}">
                <a16:creationId xmlns:a16="http://schemas.microsoft.com/office/drawing/2014/main" id="{AF96283A-C53F-7E4F-AC6F-3C1FE65DE82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427538" y="1844675"/>
            <a:ext cx="0" cy="1809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7413" name="Line 6">
            <a:extLst>
              <a:ext uri="{FF2B5EF4-FFF2-40B4-BE49-F238E27FC236}">
                <a16:creationId xmlns:a16="http://schemas.microsoft.com/office/drawing/2014/main" id="{C1F90FBB-7A1B-CD4E-BEE3-1A5A893CCE4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95963" y="1844675"/>
            <a:ext cx="0" cy="1809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graphicFrame>
        <p:nvGraphicFramePr>
          <p:cNvPr id="17414" name="Object 7">
            <a:extLst>
              <a:ext uri="{FF2B5EF4-FFF2-40B4-BE49-F238E27FC236}">
                <a16:creationId xmlns:a16="http://schemas.microsoft.com/office/drawing/2014/main" id="{0C219D04-F54D-2748-A15A-331AFD8AEDAA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1655763" y="2205038"/>
          <a:ext cx="4632325" cy="779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6" name="Equation" r:id="rId3" imgW="31305500" imgH="5270500" progId="Equation.3">
                  <p:embed/>
                </p:oleObj>
              </mc:Choice>
              <mc:Fallback>
                <p:oleObj name="Equation" r:id="rId3" imgW="31305500" imgH="52705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5763" y="2205038"/>
                        <a:ext cx="4632325" cy="779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5" name="Text Box 8">
            <a:extLst>
              <a:ext uri="{FF2B5EF4-FFF2-40B4-BE49-F238E27FC236}">
                <a16:creationId xmlns:a16="http://schemas.microsoft.com/office/drawing/2014/main" id="{9C95B14A-A02E-2A40-A156-242D807BEF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6213" y="3644900"/>
            <a:ext cx="2303462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ru" altLang="ru-RU" sz="2000">
                <a:solidFill>
                  <a:srgbClr val="3333CC"/>
                </a:solidFill>
              </a:rPr>
              <a:t>Среднее значение всех </a:t>
            </a:r>
            <a:r>
              <a:rPr lang="ru" altLang="ru-RU" sz="2000">
                <a:solidFill>
                  <a:schemeClr val="hlink"/>
                </a:solidFill>
              </a:rPr>
              <a:t>остальных </a:t>
            </a:r>
            <a:r>
              <a:rPr lang="ru" altLang="ru-RU" sz="2000">
                <a:solidFill>
                  <a:srgbClr val="3333CC"/>
                </a:solidFill>
              </a:rPr>
              <a:t>предикторов</a:t>
            </a:r>
          </a:p>
        </p:txBody>
      </p:sp>
      <p:sp>
        <p:nvSpPr>
          <p:cNvPr id="17416" name="AutoShape 9">
            <a:extLst>
              <a:ext uri="{FF2B5EF4-FFF2-40B4-BE49-F238E27FC236}">
                <a16:creationId xmlns:a16="http://schemas.microsoft.com/office/drawing/2014/main" id="{4636081B-3BA3-1E41-AC74-228D560C33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88013" y="3140075"/>
            <a:ext cx="179387" cy="360363"/>
          </a:xfrm>
          <a:prstGeom prst="upArrow">
            <a:avLst>
              <a:gd name="adj1" fmla="val 50000"/>
              <a:gd name="adj2" fmla="val 50221"/>
            </a:avLst>
          </a:prstGeom>
          <a:solidFill>
            <a:srgbClr val="3333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17417" name="Text Box 10">
            <a:extLst>
              <a:ext uri="{FF2B5EF4-FFF2-40B4-BE49-F238E27FC236}">
                <a16:creationId xmlns:a16="http://schemas.microsoft.com/office/drawing/2014/main" id="{ED5A5C2C-94BE-BC42-BD33-7A874A98DE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4150" y="3429000"/>
            <a:ext cx="8651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ru" altLang="ru-RU" sz="2000">
                <a:solidFill>
                  <a:srgbClr val="3333CC"/>
                </a:solidFill>
              </a:rPr>
              <a:t>цель</a:t>
            </a:r>
          </a:p>
        </p:txBody>
      </p:sp>
      <p:sp>
        <p:nvSpPr>
          <p:cNvPr id="17418" name="AutoShape 11">
            <a:extLst>
              <a:ext uri="{FF2B5EF4-FFF2-40B4-BE49-F238E27FC236}">
                <a16:creationId xmlns:a16="http://schemas.microsoft.com/office/drawing/2014/main" id="{8D1A7512-E45F-2C4A-AB63-9942D921BE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3033713"/>
            <a:ext cx="179388" cy="360362"/>
          </a:xfrm>
          <a:prstGeom prst="upArrow">
            <a:avLst>
              <a:gd name="adj1" fmla="val 50000"/>
              <a:gd name="adj2" fmla="val 50221"/>
            </a:avLst>
          </a:prstGeom>
          <a:solidFill>
            <a:srgbClr val="3333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17419" name="AutoShape 12">
            <a:extLst>
              <a:ext uri="{FF2B5EF4-FFF2-40B4-BE49-F238E27FC236}">
                <a16:creationId xmlns:a16="http://schemas.microsoft.com/office/drawing/2014/main" id="{304BEB99-BF77-CA46-8A70-E44BE3641B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1413" y="2600325"/>
            <a:ext cx="539750" cy="144463"/>
          </a:xfrm>
          <a:prstGeom prst="rightArrow">
            <a:avLst>
              <a:gd name="adj1" fmla="val 50000"/>
              <a:gd name="adj2" fmla="val 93406"/>
            </a:avLst>
          </a:prstGeom>
          <a:solidFill>
            <a:srgbClr val="0099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17420" name="AutoShape 13">
            <a:extLst>
              <a:ext uri="{FF2B5EF4-FFF2-40B4-BE49-F238E27FC236}">
                <a16:creationId xmlns:a16="http://schemas.microsoft.com/office/drawing/2014/main" id="{2DC82F4F-1375-0849-81E4-830A9FEC1A03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935038" y="2600325"/>
            <a:ext cx="539750" cy="144463"/>
          </a:xfrm>
          <a:prstGeom prst="rightArrow">
            <a:avLst>
              <a:gd name="adj1" fmla="val 50000"/>
              <a:gd name="adj2" fmla="val 93406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17421" name="Text Box 14">
            <a:extLst>
              <a:ext uri="{FF2B5EF4-FFF2-40B4-BE49-F238E27FC236}">
                <a16:creationId xmlns:a16="http://schemas.microsoft.com/office/drawing/2014/main" id="{D17E254B-8B32-9E4C-939C-4667743A44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3897313"/>
            <a:ext cx="2700337" cy="131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ru" altLang="ru-RU" sz="2000"/>
              <a:t>Действительно ли мы хотим отодвинуть выход предиктора i от целевого значения?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74F5819B-EDE0-2E45-A4CE-C374FB42C6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88913"/>
            <a:ext cx="8229600" cy="1143000"/>
          </a:xfrm>
        </p:spPr>
        <p:txBody>
          <a:bodyPr/>
          <a:lstStyle/>
          <a:p>
            <a:pPr eaLnBrk="1" hangingPunct="1"/>
            <a:r>
              <a:rPr lang="ru" altLang="ru-RU" sz="2800" dirty="0"/>
              <a:t>Создание функции ошибки, которая поощряет специализацию вместо сотрудничества</a:t>
            </a:r>
          </a:p>
        </p:txBody>
      </p:sp>
      <p:sp>
        <p:nvSpPr>
          <p:cNvPr id="18434" name="Rectangle 3">
            <a:extLst>
              <a:ext uri="{FF2B5EF4-FFF2-40B4-BE49-F238E27FC236}">
                <a16:creationId xmlns:a16="http://schemas.microsoft.com/office/drawing/2014/main" id="{8A876A54-C295-8D49-AD13-169471EA1CE3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255163" y="1367719"/>
            <a:ext cx="4943475" cy="5068888"/>
          </a:xfrm>
        </p:spPr>
        <p:txBody>
          <a:bodyPr/>
          <a:lstStyle/>
          <a:p>
            <a:pPr eaLnBrk="1" hangingPunct="1"/>
            <a:r>
              <a:rPr lang="ru" altLang="ru-RU" sz="1600" dirty="0"/>
              <a:t>Если мы хотим поощрить сотрудничество, мы сравниваем среднее значение всех предикторов с целевым значением и обучаем, чтобы уменьшить расхождение.</a:t>
            </a:r>
          </a:p>
          <a:p>
            <a:pPr lvl="1" eaLnBrk="1" hangingPunct="1"/>
            <a:r>
              <a:rPr lang="ru" altLang="ru-RU" sz="1600" dirty="0"/>
              <a:t>Это может привести к серьёзному переобучению. Это делает модель гораздо более мощной, чем обучение каждого предиктора по отдельности.</a:t>
            </a:r>
          </a:p>
          <a:p>
            <a:pPr eaLnBrk="1" hangingPunct="1"/>
            <a:r>
              <a:rPr lang="ru" altLang="ru-RU" sz="1600" dirty="0"/>
              <a:t>Если мы хотим стимулировать специализацию, мы сравниваем каждый предиктор отдельно с целевым </a:t>
            </a:r>
            <a:r>
              <a:rPr lang="ru-RU" altLang="ru-RU" sz="1600" dirty="0"/>
              <a:t>значением </a:t>
            </a:r>
            <a:r>
              <a:rPr lang="ru" altLang="ru-RU" sz="1600" dirty="0"/>
              <a:t>и обучаем, чтобы уменьшить среднее значение всех этих несоответствий.</a:t>
            </a:r>
          </a:p>
          <a:p>
            <a:pPr lvl="1" eaLnBrk="1" hangingPunct="1"/>
            <a:r>
              <a:rPr lang="ru" altLang="ru-RU" sz="1600" dirty="0"/>
              <a:t>Лучше всего использовать средневзвешенное значение, где веса p — это вероятности выбора данного «эксперта» для конкретного обучающего случая.</a:t>
            </a:r>
          </a:p>
        </p:txBody>
      </p:sp>
      <p:graphicFrame>
        <p:nvGraphicFramePr>
          <p:cNvPr id="18435" name="Object 4">
            <a:extLst>
              <a:ext uri="{FF2B5EF4-FFF2-40B4-BE49-F238E27FC236}">
                <a16:creationId xmlns:a16="http://schemas.microsoft.com/office/drawing/2014/main" id="{16831B07-6E14-724A-985F-F29B6B08E792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5724525" y="2659063"/>
          <a:ext cx="3138488" cy="2714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6" name="Equation" r:id="rId3" imgW="32473900" imgH="28092400" progId="Equation.3">
                  <p:embed/>
                </p:oleObj>
              </mc:Choice>
              <mc:Fallback>
                <p:oleObj name="Equation" r:id="rId3" imgW="32473900" imgH="280924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24525" y="2659063"/>
                        <a:ext cx="3138488" cy="2714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6" name="AutoShape 5">
            <a:extLst>
              <a:ext uri="{FF2B5EF4-FFF2-40B4-BE49-F238E27FC236}">
                <a16:creationId xmlns:a16="http://schemas.microsoft.com/office/drawing/2014/main" id="{2BDA4A67-BD26-B24F-AE61-69E38AA653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6016" y="2817813"/>
            <a:ext cx="719584" cy="179387"/>
          </a:xfrm>
          <a:prstGeom prst="rightArrow">
            <a:avLst>
              <a:gd name="adj1" fmla="val 50000"/>
              <a:gd name="adj2" fmla="val 261814"/>
            </a:avLst>
          </a:prstGeom>
          <a:solidFill>
            <a:srgbClr val="CC99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18437" name="AutoShape 6">
            <a:extLst>
              <a:ext uri="{FF2B5EF4-FFF2-40B4-BE49-F238E27FC236}">
                <a16:creationId xmlns:a16="http://schemas.microsoft.com/office/drawing/2014/main" id="{1819709F-3BAE-CF48-AD28-5E14BAE4AF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2363" y="5049838"/>
            <a:ext cx="541337" cy="179387"/>
          </a:xfrm>
          <a:prstGeom prst="rightArrow">
            <a:avLst>
              <a:gd name="adj1" fmla="val 50000"/>
              <a:gd name="adj2" fmla="val 75443"/>
            </a:avLst>
          </a:prstGeom>
          <a:solidFill>
            <a:srgbClr val="CC99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18438" name="Text Box 7">
            <a:extLst>
              <a:ext uri="{FF2B5EF4-FFF2-40B4-BE49-F238E27FC236}">
                <a16:creationId xmlns:a16="http://schemas.microsoft.com/office/drawing/2014/main" id="{0AD831CB-E6B5-CE4E-B72F-D131C32EFA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4525" y="5949950"/>
            <a:ext cx="2771775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ru" altLang="ru-RU" sz="1600" dirty="0">
                <a:solidFill>
                  <a:srgbClr val="3333CC"/>
                </a:solidFill>
              </a:rPr>
              <a:t>вероятность выбора эксперта i для этого случая</a:t>
            </a:r>
          </a:p>
        </p:txBody>
      </p:sp>
      <p:sp>
        <p:nvSpPr>
          <p:cNvPr id="18439" name="AutoShape 8">
            <a:extLst>
              <a:ext uri="{FF2B5EF4-FFF2-40B4-BE49-F238E27FC236}">
                <a16:creationId xmlns:a16="http://schemas.microsoft.com/office/drawing/2014/main" id="{7336E4DB-534C-1A41-956D-FF3E561A17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7050" y="5410200"/>
            <a:ext cx="107950" cy="431800"/>
          </a:xfrm>
          <a:prstGeom prst="upArrow">
            <a:avLst>
              <a:gd name="adj1" fmla="val 50000"/>
              <a:gd name="adj2" fmla="val 100000"/>
            </a:avLst>
          </a:prstGeom>
          <a:solidFill>
            <a:srgbClr val="3333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18440" name="Text Box 9">
            <a:extLst>
              <a:ext uri="{FF2B5EF4-FFF2-40B4-BE49-F238E27FC236}">
                <a16:creationId xmlns:a16="http://schemas.microsoft.com/office/drawing/2014/main" id="{5B744F3F-F7C5-5041-B439-39AC97CA6A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96075" y="1557338"/>
            <a:ext cx="190817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ru" altLang="ru-RU" sz="1400" dirty="0">
                <a:solidFill>
                  <a:srgbClr val="3333CC"/>
                </a:solidFill>
              </a:rPr>
              <a:t>Среднее значение всех предикторов</a:t>
            </a:r>
          </a:p>
        </p:txBody>
      </p:sp>
      <p:sp>
        <p:nvSpPr>
          <p:cNvPr id="18441" name="AutoShape 10">
            <a:extLst>
              <a:ext uri="{FF2B5EF4-FFF2-40B4-BE49-F238E27FC236}">
                <a16:creationId xmlns:a16="http://schemas.microsoft.com/office/drawing/2014/main" id="{FB90CC3F-1D0A-024E-BE49-D332505FB6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16800" y="2276475"/>
            <a:ext cx="144463" cy="396875"/>
          </a:xfrm>
          <a:prstGeom prst="downArrow">
            <a:avLst>
              <a:gd name="adj1" fmla="val 50000"/>
              <a:gd name="adj2" fmla="val 68681"/>
            </a:avLst>
          </a:prstGeom>
          <a:solidFill>
            <a:srgbClr val="3333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>
            <a:extLst>
              <a:ext uri="{FF2B5EF4-FFF2-40B4-BE49-F238E27FC236}">
                <a16:creationId xmlns:a16="http://schemas.microsoft.com/office/drawing/2014/main" id="{F7839087-4C73-2B47-84CB-32C667AFE9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" altLang="ru-RU" sz="3200"/>
              <a:t>Смесь экспертов архитектуры</a:t>
            </a:r>
          </a:p>
        </p:txBody>
      </p:sp>
      <p:sp>
        <p:nvSpPr>
          <p:cNvPr id="19458" name="Rectangle 3">
            <a:extLst>
              <a:ext uri="{FF2B5EF4-FFF2-40B4-BE49-F238E27FC236}">
                <a16:creationId xmlns:a16="http://schemas.microsoft.com/office/drawing/2014/main" id="{608B4380-8854-324F-8EC0-E745D0458723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ru" altLang="ru-RU" sz="2000" dirty="0"/>
              <a:t>Комбинированный предиктор:</a:t>
            </a:r>
          </a:p>
          <a:p>
            <a:pPr eaLnBrk="1" hangingPunct="1"/>
            <a:endParaRPr lang="en-US" altLang="ru-RU" sz="2000" dirty="0"/>
          </a:p>
          <a:p>
            <a:pPr eaLnBrk="1" hangingPunct="1">
              <a:buFontTx/>
              <a:buNone/>
            </a:pPr>
            <a:r>
              <a:rPr lang="ru" altLang="ru-RU" sz="1800" dirty="0"/>
              <a:t>Простая функция ошибки для обучения </a:t>
            </a:r>
            <a:r>
              <a:rPr lang="ru" altLang="ru-RU" sz="2000" dirty="0"/>
              <a:t>:</a:t>
            </a:r>
          </a:p>
          <a:p>
            <a:pPr eaLnBrk="1" hangingPunct="1">
              <a:buFontTx/>
              <a:buNone/>
            </a:pPr>
            <a:r>
              <a:rPr lang="ru" altLang="ru-RU" sz="2000" dirty="0">
                <a:solidFill>
                  <a:srgbClr val="009900"/>
                </a:solidFill>
              </a:rPr>
              <a:t>(</a:t>
            </a:r>
            <a:r>
              <a:rPr lang="ru" altLang="ru-RU" sz="1800" dirty="0">
                <a:solidFill>
                  <a:srgbClr val="009900"/>
                </a:solidFill>
              </a:rPr>
              <a:t>Эта функция ошибки лучше</a:t>
            </a:r>
            <a:r>
              <a:rPr lang="ru" altLang="ru-RU" sz="2000" dirty="0">
                <a:solidFill>
                  <a:srgbClr val="009900"/>
                </a:solidFill>
              </a:rPr>
              <a:t>)</a:t>
            </a:r>
            <a:endParaRPr lang="en-US" altLang="ru-RU" sz="2400" dirty="0"/>
          </a:p>
        </p:txBody>
      </p:sp>
      <p:graphicFrame>
        <p:nvGraphicFramePr>
          <p:cNvPr id="19459" name="Object 4">
            <a:extLst>
              <a:ext uri="{FF2B5EF4-FFF2-40B4-BE49-F238E27FC236}">
                <a16:creationId xmlns:a16="http://schemas.microsoft.com/office/drawing/2014/main" id="{E97A9D84-1D0A-D647-A2FE-D412ECE97E1B}"/>
              </a:ext>
            </a:extLst>
          </p:cNvPr>
          <p:cNvGraphicFramePr>
            <a:graphicFrameLocks noGrp="1" noChangeAspect="1"/>
          </p:cNvGraphicFramePr>
          <p:nvPr>
            <p:ph sz="quarter" idx="2"/>
          </p:nvPr>
        </p:nvGraphicFramePr>
        <p:xfrm>
          <a:off x="4541838" y="2419350"/>
          <a:ext cx="2909887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00" name="Equation" r:id="rId3" imgW="29260800" imgH="9067800" progId="Equation.3">
                  <p:embed/>
                </p:oleObj>
              </mc:Choice>
              <mc:Fallback>
                <p:oleObj name="Equation" r:id="rId3" imgW="29260800" imgH="90678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41838" y="2419350"/>
                        <a:ext cx="2909887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0" name="Object 5">
            <a:extLst>
              <a:ext uri="{FF2B5EF4-FFF2-40B4-BE49-F238E27FC236}">
                <a16:creationId xmlns:a16="http://schemas.microsoft.com/office/drawing/2014/main" id="{058D86FE-C2A4-4247-9FBC-BDA1ACB9926A}"/>
              </a:ext>
            </a:extLst>
          </p:cNvPr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863600" y="3254375"/>
          <a:ext cx="3059113" cy="534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01" name="Equation" r:id="rId5" imgW="33350200" imgH="5854700" progId="Equation.3">
                  <p:embed/>
                </p:oleObj>
              </mc:Choice>
              <mc:Fallback>
                <p:oleObj name="Equation" r:id="rId5" imgW="33350200" imgH="58547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3600" y="3254375"/>
                        <a:ext cx="3059113" cy="534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1" name="Object 6">
            <a:extLst>
              <a:ext uri="{FF2B5EF4-FFF2-40B4-BE49-F238E27FC236}">
                <a16:creationId xmlns:a16="http://schemas.microsoft.com/office/drawing/2014/main" id="{101540E8-4528-CE4B-8494-73461DD5E488}"/>
              </a:ext>
            </a:extLst>
          </p:cNvPr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4895850" y="3236913"/>
          <a:ext cx="3455988" cy="623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02" name="Equation" r:id="rId7" imgW="32473900" imgH="5854700" progId="Equation.3">
                  <p:embed/>
                </p:oleObj>
              </mc:Choice>
              <mc:Fallback>
                <p:oleObj name="Equation" r:id="rId7" imgW="32473900" imgH="58547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95850" y="3236913"/>
                        <a:ext cx="3455988" cy="623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2" name="Rectangle 7">
            <a:extLst>
              <a:ext uri="{FF2B5EF4-FFF2-40B4-BE49-F238E27FC236}">
                <a16:creationId xmlns:a16="http://schemas.microsoft.com/office/drawing/2014/main" id="{74D4501B-62E0-ED4B-AE5C-2146987294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8625" y="5840413"/>
            <a:ext cx="2089150" cy="5762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19463" name="Rectangle 8">
            <a:extLst>
              <a:ext uri="{FF2B5EF4-FFF2-40B4-BE49-F238E27FC236}">
                <a16:creationId xmlns:a16="http://schemas.microsoft.com/office/drawing/2014/main" id="{C066EBAB-107B-F64C-BC53-AD9832BEC3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8513" y="4292600"/>
            <a:ext cx="1079500" cy="68421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19464" name="Rectangle 9">
            <a:extLst>
              <a:ext uri="{FF2B5EF4-FFF2-40B4-BE49-F238E27FC236}">
                <a16:creationId xmlns:a16="http://schemas.microsoft.com/office/drawing/2014/main" id="{45CF0271-A556-AC40-BC69-2A16426892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9813" y="4292600"/>
            <a:ext cx="1081087" cy="68421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19465" name="Rectangle 10">
            <a:extLst>
              <a:ext uri="{FF2B5EF4-FFF2-40B4-BE49-F238E27FC236}">
                <a16:creationId xmlns:a16="http://schemas.microsoft.com/office/drawing/2014/main" id="{4782184C-F666-8A4F-84FB-7045F1E78E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9675" y="4292600"/>
            <a:ext cx="1081088" cy="68421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19466" name="Text Box 11">
            <a:extLst>
              <a:ext uri="{FF2B5EF4-FFF2-40B4-BE49-F238E27FC236}">
                <a16:creationId xmlns:a16="http://schemas.microsoft.com/office/drawing/2014/main" id="{6EA0C4BD-2070-5B43-93A7-912CF54942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4437063"/>
            <a:ext cx="406876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ru" altLang="ru-RU" sz="1600" dirty="0">
                <a:solidFill>
                  <a:srgbClr val="3333CC"/>
                </a:solidFill>
              </a:rPr>
              <a:t>Эксперт 1           Эксперт 2        Эксперт 3</a:t>
            </a:r>
          </a:p>
        </p:txBody>
      </p:sp>
      <p:sp>
        <p:nvSpPr>
          <p:cNvPr id="19467" name="Text Box 12">
            <a:extLst>
              <a:ext uri="{FF2B5EF4-FFF2-40B4-BE49-F238E27FC236}">
                <a16:creationId xmlns:a16="http://schemas.microsoft.com/office/drawing/2014/main" id="{E5975CFF-9B17-6E49-9D51-2511678B53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7763" y="5911850"/>
            <a:ext cx="97313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ru" altLang="ru-RU" sz="2000">
                <a:solidFill>
                  <a:srgbClr val="3333CC"/>
                </a:solidFill>
              </a:rPr>
              <a:t>вход</a:t>
            </a:r>
          </a:p>
        </p:txBody>
      </p:sp>
      <p:sp>
        <p:nvSpPr>
          <p:cNvPr id="19468" name="Line 13">
            <a:extLst>
              <a:ext uri="{FF2B5EF4-FFF2-40B4-BE49-F238E27FC236}">
                <a16:creationId xmlns:a16="http://schemas.microsoft.com/office/drawing/2014/main" id="{60FA5063-E77D-BE40-94AB-1075DDB7163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200900" y="5084763"/>
            <a:ext cx="755650" cy="6127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9469" name="Line 14">
            <a:extLst>
              <a:ext uri="{FF2B5EF4-FFF2-40B4-BE49-F238E27FC236}">
                <a16:creationId xmlns:a16="http://schemas.microsoft.com/office/drawing/2014/main" id="{C9ACF657-E740-5047-9F75-B9D5A08090D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327650" y="5121275"/>
            <a:ext cx="468313" cy="6127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9470" name="Line 15">
            <a:extLst>
              <a:ext uri="{FF2B5EF4-FFF2-40B4-BE49-F238E27FC236}">
                <a16:creationId xmlns:a16="http://schemas.microsoft.com/office/drawing/2014/main" id="{25139C32-1CA0-C442-A1B7-D4B310D6F9B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551613" y="5121275"/>
            <a:ext cx="0" cy="57626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9471" name="Line 16">
            <a:extLst>
              <a:ext uri="{FF2B5EF4-FFF2-40B4-BE49-F238E27FC236}">
                <a16:creationId xmlns:a16="http://schemas.microsoft.com/office/drawing/2014/main" id="{C17B6FC7-B442-A447-AD98-527A7EF596E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111750" y="3860800"/>
            <a:ext cx="0" cy="431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9472" name="Line 17">
            <a:extLst>
              <a:ext uri="{FF2B5EF4-FFF2-40B4-BE49-F238E27FC236}">
                <a16:creationId xmlns:a16="http://schemas.microsoft.com/office/drawing/2014/main" id="{DFBCE505-B003-694A-914F-EEBDA8D82FA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624638" y="3860800"/>
            <a:ext cx="0" cy="431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9473" name="Line 18">
            <a:extLst>
              <a:ext uri="{FF2B5EF4-FFF2-40B4-BE49-F238E27FC236}">
                <a16:creationId xmlns:a16="http://schemas.microsoft.com/office/drawing/2014/main" id="{C162C9E2-CC21-B44F-878F-4684B225E0D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101013" y="3860800"/>
            <a:ext cx="0" cy="431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9474" name="Rectangle 19">
            <a:extLst>
              <a:ext uri="{FF2B5EF4-FFF2-40B4-BE49-F238E27FC236}">
                <a16:creationId xmlns:a16="http://schemas.microsoft.com/office/drawing/2014/main" id="{EDAA245C-AA3E-8F46-B589-0CE200F852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3968750"/>
            <a:ext cx="3417887" cy="12604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19475" name="Text Box 20">
            <a:extLst>
              <a:ext uri="{FF2B5EF4-FFF2-40B4-BE49-F238E27FC236}">
                <a16:creationId xmlns:a16="http://schemas.microsoft.com/office/drawing/2014/main" id="{3FF37E54-C3E8-6048-9F6A-D5807A0954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0938" y="4581525"/>
            <a:ext cx="3024187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ru" altLang="ru-RU" sz="1600" dirty="0">
                <a:solidFill>
                  <a:srgbClr val="3333CC"/>
                </a:solidFill>
              </a:rPr>
              <a:t>Сеть Softmax</a:t>
            </a:r>
          </a:p>
        </p:txBody>
      </p:sp>
      <p:cxnSp>
        <p:nvCxnSpPr>
          <p:cNvPr id="19476" name="AutoShape 21">
            <a:extLst>
              <a:ext uri="{FF2B5EF4-FFF2-40B4-BE49-F238E27FC236}">
                <a16:creationId xmlns:a16="http://schemas.microsoft.com/office/drawing/2014/main" id="{7C7EF9D6-81D4-3C4D-949C-63D562183FD7}"/>
              </a:ext>
            </a:extLst>
          </p:cNvPr>
          <p:cNvCxnSpPr>
            <a:cxnSpLocks noChangeShapeType="1"/>
            <a:stCxn id="19462" idx="1"/>
            <a:endCxn id="19474" idx="2"/>
          </p:cNvCxnSpPr>
          <p:nvPr/>
        </p:nvCxnSpPr>
        <p:spPr bwMode="auto">
          <a:xfrm rot="10800000">
            <a:off x="2393950" y="5229225"/>
            <a:ext cx="3114675" cy="900113"/>
          </a:xfrm>
          <a:prstGeom prst="bentConnector2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9477" name="Oval 22">
            <a:extLst>
              <a:ext uri="{FF2B5EF4-FFF2-40B4-BE49-F238E27FC236}">
                <a16:creationId xmlns:a16="http://schemas.microsoft.com/office/drawing/2014/main" id="{C6CEEC1D-0583-104B-9380-59B97E5377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4575" y="4149725"/>
            <a:ext cx="287338" cy="287338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ru-RU" altLang="ru-RU">
              <a:solidFill>
                <a:srgbClr val="3333CC"/>
              </a:solidFill>
            </a:endParaRPr>
          </a:p>
        </p:txBody>
      </p:sp>
      <p:sp>
        <p:nvSpPr>
          <p:cNvPr id="19478" name="Oval 23">
            <a:extLst>
              <a:ext uri="{FF2B5EF4-FFF2-40B4-BE49-F238E27FC236}">
                <a16:creationId xmlns:a16="http://schemas.microsoft.com/office/drawing/2014/main" id="{2621B106-D459-0043-AC61-FE9C33A87B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3463" y="4149725"/>
            <a:ext cx="287337" cy="287338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ru-RU" altLang="ru-RU">
              <a:solidFill>
                <a:srgbClr val="3333CC"/>
              </a:solidFill>
            </a:endParaRPr>
          </a:p>
        </p:txBody>
      </p:sp>
      <p:sp>
        <p:nvSpPr>
          <p:cNvPr id="19479" name="Oval 24">
            <a:extLst>
              <a:ext uri="{FF2B5EF4-FFF2-40B4-BE49-F238E27FC236}">
                <a16:creationId xmlns:a16="http://schemas.microsoft.com/office/drawing/2014/main" id="{0CE4EBCF-E7C3-B044-921B-B150ABC512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2500" y="4149725"/>
            <a:ext cx="287338" cy="287338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ru-RU" altLang="ru-RU">
              <a:solidFill>
                <a:srgbClr val="3333CC"/>
              </a:solidFill>
            </a:endParaRPr>
          </a:p>
        </p:txBody>
      </p:sp>
      <p:sp>
        <p:nvSpPr>
          <p:cNvPr id="19480" name="Line 25">
            <a:extLst>
              <a:ext uri="{FF2B5EF4-FFF2-40B4-BE49-F238E27FC236}">
                <a16:creationId xmlns:a16="http://schemas.microsoft.com/office/drawing/2014/main" id="{95B67539-5675-CE41-9538-972BF5C333B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35375" y="3717925"/>
            <a:ext cx="0" cy="431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9481" name="Line 26">
            <a:extLst>
              <a:ext uri="{FF2B5EF4-FFF2-40B4-BE49-F238E27FC236}">
                <a16:creationId xmlns:a16="http://schemas.microsoft.com/office/drawing/2014/main" id="{933D7135-BD27-D244-AB57-4D5F7266E1E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446338" y="3716338"/>
            <a:ext cx="0" cy="431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9482" name="Line 27">
            <a:extLst>
              <a:ext uri="{FF2B5EF4-FFF2-40B4-BE49-F238E27FC236}">
                <a16:creationId xmlns:a16="http://schemas.microsoft.com/office/drawing/2014/main" id="{19CC435F-3579-2041-A6E6-FE1A42056B4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187450" y="3716338"/>
            <a:ext cx="0" cy="431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graphicFrame>
        <p:nvGraphicFramePr>
          <p:cNvPr id="19483" name="Object 28">
            <a:extLst>
              <a:ext uri="{FF2B5EF4-FFF2-40B4-BE49-F238E27FC236}">
                <a16:creationId xmlns:a16="http://schemas.microsoft.com/office/drawing/2014/main" id="{0E457135-1D82-2B49-A9CE-A50C0DC2BFEA}"/>
              </a:ext>
            </a:extLst>
          </p:cNvPr>
          <p:cNvGraphicFramePr>
            <a:graphicFrameLocks noGrp="1" noChangeAspect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1886720626"/>
              </p:ext>
            </p:extLst>
          </p:nvPr>
        </p:nvGraphicFramePr>
        <p:xfrm>
          <a:off x="4569494" y="1543050"/>
          <a:ext cx="2090738" cy="841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03" name="Equation" r:id="rId9" imgW="21069300" imgH="8483600" progId="Equation.3">
                  <p:embed/>
                </p:oleObj>
              </mc:Choice>
              <mc:Fallback>
                <p:oleObj name="Equation" r:id="rId9" imgW="21069300" imgH="8483600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69494" y="1543050"/>
                        <a:ext cx="2090738" cy="841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39F228C9-9E27-544C-BFB5-7700A51D42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" altLang="ru-RU" sz="3200" dirty="0"/>
              <a:t>Производные простой функции стоимости</a:t>
            </a:r>
          </a:p>
        </p:txBody>
      </p:sp>
      <p:sp>
        <p:nvSpPr>
          <p:cNvPr id="20482" name="Rectangle 3">
            <a:extLst>
              <a:ext uri="{FF2B5EF4-FFF2-40B4-BE49-F238E27FC236}">
                <a16:creationId xmlns:a16="http://schemas.microsoft.com/office/drawing/2014/main" id="{F81D1753-4FA3-2E4C-B0E5-CF0382C87016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4038600" cy="4960938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ru" altLang="ru-RU" sz="1800" dirty="0"/>
              <a:t>Если мы продифференцируем по выходам экспертов, то получим сигнал для обучения каждого эксперта.</a:t>
            </a:r>
          </a:p>
          <a:p>
            <a:pPr eaLnBrk="1" hangingPunct="1">
              <a:lnSpc>
                <a:spcPct val="90000"/>
              </a:lnSpc>
            </a:pPr>
            <a:endParaRPr lang="en-US" altLang="ru-RU" sz="1800" dirty="0"/>
          </a:p>
          <a:p>
            <a:pPr eaLnBrk="1" hangingPunct="1">
              <a:lnSpc>
                <a:spcPct val="90000"/>
              </a:lnSpc>
            </a:pPr>
            <a:r>
              <a:rPr lang="ru" altLang="ru-RU" sz="1800" dirty="0"/>
              <a:t>Если мы дифференцируем по выходам сети </a:t>
            </a:r>
            <a:r>
              <a:rPr lang="ru" altLang="ru-RU" sz="1800" dirty="0">
                <a:solidFill>
                  <a:srgbClr val="3333CC"/>
                </a:solidFill>
              </a:rPr>
              <a:t>Softmax</a:t>
            </a:r>
            <a:r>
              <a:rPr lang="ru" altLang="ru-RU" sz="1800" dirty="0"/>
              <a:t>, то получим сигнал для обучения сети.</a:t>
            </a:r>
          </a:p>
          <a:p>
            <a:pPr lvl="1" eaLnBrk="1" hangingPunct="1">
              <a:lnSpc>
                <a:spcPct val="90000"/>
              </a:lnSpc>
            </a:pPr>
            <a:r>
              <a:rPr lang="ru" altLang="ru-RU" sz="1800" dirty="0"/>
              <a:t>Мы хотим увеличить p для всех экспертов, которые дают значение меньше, чем средняя квадратическая ошибка всех экспертов </a:t>
            </a:r>
            <a:r>
              <a:rPr lang="ru" altLang="ru-RU" sz="1600" dirty="0">
                <a:solidFill>
                  <a:schemeClr val="tx1"/>
                </a:solidFill>
              </a:rPr>
              <a:t>(взвешенная по p).</a:t>
            </a:r>
          </a:p>
        </p:txBody>
      </p:sp>
      <p:graphicFrame>
        <p:nvGraphicFramePr>
          <p:cNvPr id="20483" name="Object 4">
            <a:extLst>
              <a:ext uri="{FF2B5EF4-FFF2-40B4-BE49-F238E27FC236}">
                <a16:creationId xmlns:a16="http://schemas.microsoft.com/office/drawing/2014/main" id="{4EEDB70B-8AE5-4246-8C39-DDBBD34300F7}"/>
              </a:ext>
            </a:extLst>
          </p:cNvPr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66387484"/>
              </p:ext>
            </p:extLst>
          </p:nvPr>
        </p:nvGraphicFramePr>
        <p:xfrm>
          <a:off x="5580112" y="1600200"/>
          <a:ext cx="2967037" cy="5041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3" name="Equation" r:id="rId3" imgW="33058100" imgH="56172100" progId="Equation.3">
                  <p:embed/>
                </p:oleObj>
              </mc:Choice>
              <mc:Fallback>
                <p:oleObj name="Equation" r:id="rId3" imgW="33058100" imgH="561721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0112" y="1600200"/>
                        <a:ext cx="2967037" cy="5041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4" name="Object 5">
            <a:extLst>
              <a:ext uri="{FF2B5EF4-FFF2-40B4-BE49-F238E27FC236}">
                <a16:creationId xmlns:a16="http://schemas.microsoft.com/office/drawing/2014/main" id="{B0C5102F-FDA5-F44A-8CE0-32CDA1FBA1B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14850" y="332105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4" name="Equation" r:id="rId5" imgW="2628900" imgH="4978400" progId="Equation.3">
                  <p:embed/>
                </p:oleObj>
              </mc:Choice>
              <mc:Fallback>
                <p:oleObj name="Equation" r:id="rId5" imgW="2628900" imgH="49784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4850" y="3321050"/>
                        <a:ext cx="114300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>
            <a:extLst>
              <a:ext uri="{FF2B5EF4-FFF2-40B4-BE49-F238E27FC236}">
                <a16:creationId xmlns:a16="http://schemas.microsoft.com/office/drawing/2014/main" id="{C1C85ECD-F09A-9A4F-A686-C3B2BCE9D3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" altLang="ru-RU"/>
              <a:t>Другой взгляд на смеси экспертов</a:t>
            </a:r>
          </a:p>
        </p:txBody>
      </p:sp>
      <p:sp>
        <p:nvSpPr>
          <p:cNvPr id="21506" name="Rectangle 3">
            <a:extLst>
              <a:ext uri="{FF2B5EF4-FFF2-40B4-BE49-F238E27FC236}">
                <a16:creationId xmlns:a16="http://schemas.microsoft.com/office/drawing/2014/main" id="{E026EB99-0716-1D42-A353-76BD16DD2F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ru" altLang="ru-RU" sz="2400" dirty="0"/>
              <a:t>Одним из способов объединения результатов работы экспертов является вычисление средневзвешенного значения с использованием сети </a:t>
            </a:r>
            <a:r>
              <a:rPr lang="ru" altLang="ru-RU" sz="2400" dirty="0">
                <a:solidFill>
                  <a:srgbClr val="3333CC"/>
                </a:solidFill>
              </a:rPr>
              <a:t>Softmax</a:t>
            </a:r>
            <a:r>
              <a:rPr lang="ru" altLang="ru-RU" sz="2400" dirty="0"/>
              <a:t> для определения веса каждого эксперта.</a:t>
            </a:r>
          </a:p>
          <a:p>
            <a:pPr eaLnBrk="1" hangingPunct="1">
              <a:lnSpc>
                <a:spcPct val="90000"/>
              </a:lnSpc>
            </a:pPr>
            <a:r>
              <a:rPr lang="ru" altLang="ru-RU" sz="2400" dirty="0"/>
              <a:t>Но есть и другой способ объединить экспертов.</a:t>
            </a:r>
          </a:p>
          <a:p>
            <a:pPr lvl="1" eaLnBrk="1" hangingPunct="1">
              <a:lnSpc>
                <a:spcPct val="90000"/>
              </a:lnSpc>
            </a:pPr>
            <a:r>
              <a:rPr lang="ru" altLang="ru-RU" sz="2400" dirty="0"/>
              <a:t>Сколько раз Земля вращается вокруг своей оси в год?</a:t>
            </a:r>
          </a:p>
          <a:p>
            <a:pPr lvl="1" eaLnBrk="1" hangingPunct="1">
              <a:lnSpc>
                <a:spcPct val="90000"/>
              </a:lnSpc>
            </a:pPr>
            <a:r>
              <a:rPr lang="ru" altLang="ru-RU" sz="2400" dirty="0"/>
              <a:t>Каким будет обменный курс канадского доллара на следующий день после референдума в Квебеке?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>
            <a:extLst>
              <a:ext uri="{FF2B5EF4-FFF2-40B4-BE49-F238E27FC236}">
                <a16:creationId xmlns:a16="http://schemas.microsoft.com/office/drawing/2014/main" id="{A62EA88A-B454-0A4E-A258-4493864699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0313" y="3787775"/>
            <a:ext cx="3276600" cy="1981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22530" name="Rectangle 3">
            <a:extLst>
              <a:ext uri="{FF2B5EF4-FFF2-40B4-BE49-F238E27FC236}">
                <a16:creationId xmlns:a16="http://schemas.microsoft.com/office/drawing/2014/main" id="{0823938B-AEB3-034C-9431-2C735926C7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" altLang="ru-RU" sz="3200" dirty="0"/>
              <a:t>Выдача всего распределения в качестве выходного сигнала</a:t>
            </a:r>
          </a:p>
        </p:txBody>
      </p:sp>
      <p:sp>
        <p:nvSpPr>
          <p:cNvPr id="22531" name="Rectangle 4">
            <a:extLst>
              <a:ext uri="{FF2B5EF4-FFF2-40B4-BE49-F238E27FC236}">
                <a16:creationId xmlns:a16="http://schemas.microsoft.com/office/drawing/2014/main" id="{C3B4346C-8196-1C4F-8D54-69CD45F432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470900" cy="4525963"/>
          </a:xfrm>
        </p:spPr>
        <p:txBody>
          <a:bodyPr/>
          <a:lstStyle/>
          <a:p>
            <a:pPr eaLnBrk="1" hangingPunct="1"/>
            <a:r>
              <a:rPr lang="ru" altLang="ru-RU" sz="2400" dirty="0"/>
              <a:t>Если существует несколько возможных режимов и мы не уверены, в каком из них находимся, лучше вывести все распределение.</a:t>
            </a:r>
          </a:p>
          <a:p>
            <a:pPr lvl="1" eaLnBrk="1" hangingPunct="1"/>
            <a:r>
              <a:rPr lang="ru" altLang="ru-RU" sz="2400" dirty="0"/>
              <a:t>Ошибка — это отрицательный логарифм вероятности правильного ответа.</a:t>
            </a:r>
          </a:p>
        </p:txBody>
      </p:sp>
      <p:sp>
        <p:nvSpPr>
          <p:cNvPr id="22532" name="Rectangle 5">
            <a:extLst>
              <a:ext uri="{FF2B5EF4-FFF2-40B4-BE49-F238E27FC236}">
                <a16:creationId xmlns:a16="http://schemas.microsoft.com/office/drawing/2014/main" id="{F28009DB-ACCE-BB4B-94E3-1D6FC65F67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013" y="3752850"/>
            <a:ext cx="3276600" cy="21240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22533" name="Line 6">
            <a:extLst>
              <a:ext uri="{FF2B5EF4-FFF2-40B4-BE49-F238E27FC236}">
                <a16:creationId xmlns:a16="http://schemas.microsoft.com/office/drawing/2014/main" id="{BB08CA9F-B944-A149-8106-D71D602C96B0}"/>
              </a:ext>
            </a:extLst>
          </p:cNvPr>
          <p:cNvSpPr>
            <a:spLocks noChangeShapeType="1"/>
          </p:cNvSpPr>
          <p:nvPr/>
        </p:nvSpPr>
        <p:spPr bwMode="auto">
          <a:xfrm>
            <a:off x="2627313" y="5840413"/>
            <a:ext cx="0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22534" name="Line 7">
            <a:extLst>
              <a:ext uri="{FF2B5EF4-FFF2-40B4-BE49-F238E27FC236}">
                <a16:creationId xmlns:a16="http://schemas.microsoft.com/office/drawing/2014/main" id="{12C0C160-471C-9A47-BC3D-E4F9DBC617A2}"/>
              </a:ext>
            </a:extLst>
          </p:cNvPr>
          <p:cNvSpPr>
            <a:spLocks noChangeShapeType="1"/>
          </p:cNvSpPr>
          <p:nvPr/>
        </p:nvSpPr>
        <p:spPr bwMode="auto">
          <a:xfrm>
            <a:off x="3419475" y="5805488"/>
            <a:ext cx="0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22535" name="Line 8">
            <a:extLst>
              <a:ext uri="{FF2B5EF4-FFF2-40B4-BE49-F238E27FC236}">
                <a16:creationId xmlns:a16="http://schemas.microsoft.com/office/drawing/2014/main" id="{33B398D5-930A-0F45-90E5-AF6F2E15A40E}"/>
              </a:ext>
            </a:extLst>
          </p:cNvPr>
          <p:cNvSpPr>
            <a:spLocks noChangeShapeType="1"/>
          </p:cNvSpPr>
          <p:nvPr/>
        </p:nvSpPr>
        <p:spPr bwMode="auto">
          <a:xfrm>
            <a:off x="1835150" y="5840413"/>
            <a:ext cx="0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22536" name="Freeform 9">
            <a:extLst>
              <a:ext uri="{FF2B5EF4-FFF2-40B4-BE49-F238E27FC236}">
                <a16:creationId xmlns:a16="http://schemas.microsoft.com/office/drawing/2014/main" id="{DC80C558-2965-6440-8366-16909E419754}"/>
              </a:ext>
            </a:extLst>
          </p:cNvPr>
          <p:cNvSpPr>
            <a:spLocks/>
          </p:cNvSpPr>
          <p:nvPr/>
        </p:nvSpPr>
        <p:spPr bwMode="auto">
          <a:xfrm>
            <a:off x="1584325" y="4652963"/>
            <a:ext cx="252413" cy="1236662"/>
          </a:xfrm>
          <a:custGeom>
            <a:avLst/>
            <a:gdLst>
              <a:gd name="T0" fmla="*/ 0 w 477"/>
              <a:gd name="T1" fmla="*/ 1223962 h 779"/>
              <a:gd name="T2" fmla="*/ 71967 w 477"/>
              <a:gd name="T3" fmla="*/ 1223962 h 779"/>
              <a:gd name="T4" fmla="*/ 143934 w 477"/>
              <a:gd name="T5" fmla="*/ 1150937 h 779"/>
              <a:gd name="T6" fmla="*/ 179917 w 477"/>
              <a:gd name="T7" fmla="*/ 1008062 h 779"/>
              <a:gd name="T8" fmla="*/ 215900 w 477"/>
              <a:gd name="T9" fmla="*/ 684212 h 779"/>
              <a:gd name="T10" fmla="*/ 228071 w 477"/>
              <a:gd name="T11" fmla="*/ 323850 h 779"/>
              <a:gd name="T12" fmla="*/ 252413 w 477"/>
              <a:gd name="T13" fmla="*/ 0 h 77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477" h="779">
                <a:moveTo>
                  <a:pt x="0" y="771"/>
                </a:moveTo>
                <a:cubicBezTo>
                  <a:pt x="45" y="775"/>
                  <a:pt x="91" y="779"/>
                  <a:pt x="136" y="771"/>
                </a:cubicBezTo>
                <a:cubicBezTo>
                  <a:pt x="181" y="763"/>
                  <a:pt x="238" y="748"/>
                  <a:pt x="272" y="725"/>
                </a:cubicBezTo>
                <a:cubicBezTo>
                  <a:pt x="306" y="702"/>
                  <a:pt x="317" y="684"/>
                  <a:pt x="340" y="635"/>
                </a:cubicBezTo>
                <a:cubicBezTo>
                  <a:pt x="363" y="586"/>
                  <a:pt x="393" y="503"/>
                  <a:pt x="408" y="431"/>
                </a:cubicBezTo>
                <a:cubicBezTo>
                  <a:pt x="423" y="359"/>
                  <a:pt x="420" y="276"/>
                  <a:pt x="431" y="204"/>
                </a:cubicBezTo>
                <a:cubicBezTo>
                  <a:pt x="442" y="132"/>
                  <a:pt x="462" y="34"/>
                  <a:pt x="477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22537" name="Freeform 10">
            <a:extLst>
              <a:ext uri="{FF2B5EF4-FFF2-40B4-BE49-F238E27FC236}">
                <a16:creationId xmlns:a16="http://schemas.microsoft.com/office/drawing/2014/main" id="{0A3CB706-35F6-284E-A3B9-0B1783DDA381}"/>
              </a:ext>
            </a:extLst>
          </p:cNvPr>
          <p:cNvSpPr>
            <a:spLocks/>
          </p:cNvSpPr>
          <p:nvPr/>
        </p:nvSpPr>
        <p:spPr bwMode="auto">
          <a:xfrm flipH="1">
            <a:off x="1836738" y="4652963"/>
            <a:ext cx="287337" cy="1236662"/>
          </a:xfrm>
          <a:custGeom>
            <a:avLst/>
            <a:gdLst>
              <a:gd name="T0" fmla="*/ 0 w 477"/>
              <a:gd name="T1" fmla="*/ 1223962 h 779"/>
              <a:gd name="T2" fmla="*/ 81924 w 477"/>
              <a:gd name="T3" fmla="*/ 1223962 h 779"/>
              <a:gd name="T4" fmla="*/ 163848 w 477"/>
              <a:gd name="T5" fmla="*/ 1150937 h 779"/>
              <a:gd name="T6" fmla="*/ 204810 w 477"/>
              <a:gd name="T7" fmla="*/ 1008062 h 779"/>
              <a:gd name="T8" fmla="*/ 245773 w 477"/>
              <a:gd name="T9" fmla="*/ 684212 h 779"/>
              <a:gd name="T10" fmla="*/ 259627 w 477"/>
              <a:gd name="T11" fmla="*/ 323850 h 779"/>
              <a:gd name="T12" fmla="*/ 287337 w 477"/>
              <a:gd name="T13" fmla="*/ 0 h 77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477" h="779">
                <a:moveTo>
                  <a:pt x="0" y="771"/>
                </a:moveTo>
                <a:cubicBezTo>
                  <a:pt x="45" y="775"/>
                  <a:pt x="91" y="779"/>
                  <a:pt x="136" y="771"/>
                </a:cubicBezTo>
                <a:cubicBezTo>
                  <a:pt x="181" y="763"/>
                  <a:pt x="238" y="748"/>
                  <a:pt x="272" y="725"/>
                </a:cubicBezTo>
                <a:cubicBezTo>
                  <a:pt x="306" y="702"/>
                  <a:pt x="317" y="684"/>
                  <a:pt x="340" y="635"/>
                </a:cubicBezTo>
                <a:cubicBezTo>
                  <a:pt x="363" y="586"/>
                  <a:pt x="393" y="503"/>
                  <a:pt x="408" y="431"/>
                </a:cubicBezTo>
                <a:cubicBezTo>
                  <a:pt x="423" y="359"/>
                  <a:pt x="420" y="276"/>
                  <a:pt x="431" y="204"/>
                </a:cubicBezTo>
                <a:cubicBezTo>
                  <a:pt x="442" y="132"/>
                  <a:pt x="462" y="34"/>
                  <a:pt x="477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22538" name="Freeform 11">
            <a:extLst>
              <a:ext uri="{FF2B5EF4-FFF2-40B4-BE49-F238E27FC236}">
                <a16:creationId xmlns:a16="http://schemas.microsoft.com/office/drawing/2014/main" id="{388ACB3E-E0A2-7345-9F8E-5BD782805BF9}"/>
              </a:ext>
            </a:extLst>
          </p:cNvPr>
          <p:cNvSpPr>
            <a:spLocks/>
          </p:cNvSpPr>
          <p:nvPr/>
        </p:nvSpPr>
        <p:spPr bwMode="auto">
          <a:xfrm>
            <a:off x="3168650" y="4652963"/>
            <a:ext cx="252413" cy="1236662"/>
          </a:xfrm>
          <a:custGeom>
            <a:avLst/>
            <a:gdLst>
              <a:gd name="T0" fmla="*/ 0 w 477"/>
              <a:gd name="T1" fmla="*/ 1223962 h 779"/>
              <a:gd name="T2" fmla="*/ 71967 w 477"/>
              <a:gd name="T3" fmla="*/ 1223962 h 779"/>
              <a:gd name="T4" fmla="*/ 143934 w 477"/>
              <a:gd name="T5" fmla="*/ 1150937 h 779"/>
              <a:gd name="T6" fmla="*/ 179917 w 477"/>
              <a:gd name="T7" fmla="*/ 1008062 h 779"/>
              <a:gd name="T8" fmla="*/ 215900 w 477"/>
              <a:gd name="T9" fmla="*/ 684212 h 779"/>
              <a:gd name="T10" fmla="*/ 228071 w 477"/>
              <a:gd name="T11" fmla="*/ 323850 h 779"/>
              <a:gd name="T12" fmla="*/ 252413 w 477"/>
              <a:gd name="T13" fmla="*/ 0 h 77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477" h="779">
                <a:moveTo>
                  <a:pt x="0" y="771"/>
                </a:moveTo>
                <a:cubicBezTo>
                  <a:pt x="45" y="775"/>
                  <a:pt x="91" y="779"/>
                  <a:pt x="136" y="771"/>
                </a:cubicBezTo>
                <a:cubicBezTo>
                  <a:pt x="181" y="763"/>
                  <a:pt x="238" y="748"/>
                  <a:pt x="272" y="725"/>
                </a:cubicBezTo>
                <a:cubicBezTo>
                  <a:pt x="306" y="702"/>
                  <a:pt x="317" y="684"/>
                  <a:pt x="340" y="635"/>
                </a:cubicBezTo>
                <a:cubicBezTo>
                  <a:pt x="363" y="586"/>
                  <a:pt x="393" y="503"/>
                  <a:pt x="408" y="431"/>
                </a:cubicBezTo>
                <a:cubicBezTo>
                  <a:pt x="423" y="359"/>
                  <a:pt x="420" y="276"/>
                  <a:pt x="431" y="204"/>
                </a:cubicBezTo>
                <a:cubicBezTo>
                  <a:pt x="442" y="132"/>
                  <a:pt x="462" y="34"/>
                  <a:pt x="477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22539" name="Freeform 12">
            <a:extLst>
              <a:ext uri="{FF2B5EF4-FFF2-40B4-BE49-F238E27FC236}">
                <a16:creationId xmlns:a16="http://schemas.microsoft.com/office/drawing/2014/main" id="{1A4D17E8-D190-D047-A388-E93445FC5749}"/>
              </a:ext>
            </a:extLst>
          </p:cNvPr>
          <p:cNvSpPr>
            <a:spLocks/>
          </p:cNvSpPr>
          <p:nvPr/>
        </p:nvSpPr>
        <p:spPr bwMode="auto">
          <a:xfrm flipH="1">
            <a:off x="3421063" y="4652963"/>
            <a:ext cx="287337" cy="1236662"/>
          </a:xfrm>
          <a:custGeom>
            <a:avLst/>
            <a:gdLst>
              <a:gd name="T0" fmla="*/ 0 w 477"/>
              <a:gd name="T1" fmla="*/ 1223962 h 779"/>
              <a:gd name="T2" fmla="*/ 81924 w 477"/>
              <a:gd name="T3" fmla="*/ 1223962 h 779"/>
              <a:gd name="T4" fmla="*/ 163848 w 477"/>
              <a:gd name="T5" fmla="*/ 1150937 h 779"/>
              <a:gd name="T6" fmla="*/ 204810 w 477"/>
              <a:gd name="T7" fmla="*/ 1008062 h 779"/>
              <a:gd name="T8" fmla="*/ 245773 w 477"/>
              <a:gd name="T9" fmla="*/ 684212 h 779"/>
              <a:gd name="T10" fmla="*/ 259627 w 477"/>
              <a:gd name="T11" fmla="*/ 323850 h 779"/>
              <a:gd name="T12" fmla="*/ 287337 w 477"/>
              <a:gd name="T13" fmla="*/ 0 h 77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477" h="779">
                <a:moveTo>
                  <a:pt x="0" y="771"/>
                </a:moveTo>
                <a:cubicBezTo>
                  <a:pt x="45" y="775"/>
                  <a:pt x="91" y="779"/>
                  <a:pt x="136" y="771"/>
                </a:cubicBezTo>
                <a:cubicBezTo>
                  <a:pt x="181" y="763"/>
                  <a:pt x="238" y="748"/>
                  <a:pt x="272" y="725"/>
                </a:cubicBezTo>
                <a:cubicBezTo>
                  <a:pt x="306" y="702"/>
                  <a:pt x="317" y="684"/>
                  <a:pt x="340" y="635"/>
                </a:cubicBezTo>
                <a:cubicBezTo>
                  <a:pt x="363" y="586"/>
                  <a:pt x="393" y="503"/>
                  <a:pt x="408" y="431"/>
                </a:cubicBezTo>
                <a:cubicBezTo>
                  <a:pt x="423" y="359"/>
                  <a:pt x="420" y="276"/>
                  <a:pt x="431" y="204"/>
                </a:cubicBezTo>
                <a:cubicBezTo>
                  <a:pt x="442" y="132"/>
                  <a:pt x="462" y="34"/>
                  <a:pt x="477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22540" name="Freeform 13">
            <a:extLst>
              <a:ext uri="{FF2B5EF4-FFF2-40B4-BE49-F238E27FC236}">
                <a16:creationId xmlns:a16="http://schemas.microsoft.com/office/drawing/2014/main" id="{487844DF-5E6E-2248-8744-C9B8BFD337F3}"/>
              </a:ext>
            </a:extLst>
          </p:cNvPr>
          <p:cNvSpPr>
            <a:spLocks/>
          </p:cNvSpPr>
          <p:nvPr/>
        </p:nvSpPr>
        <p:spPr bwMode="auto">
          <a:xfrm>
            <a:off x="7092950" y="4545013"/>
            <a:ext cx="252413" cy="1236662"/>
          </a:xfrm>
          <a:custGeom>
            <a:avLst/>
            <a:gdLst>
              <a:gd name="T0" fmla="*/ 0 w 477"/>
              <a:gd name="T1" fmla="*/ 1223962 h 779"/>
              <a:gd name="T2" fmla="*/ 71967 w 477"/>
              <a:gd name="T3" fmla="*/ 1223962 h 779"/>
              <a:gd name="T4" fmla="*/ 143934 w 477"/>
              <a:gd name="T5" fmla="*/ 1150937 h 779"/>
              <a:gd name="T6" fmla="*/ 179917 w 477"/>
              <a:gd name="T7" fmla="*/ 1008062 h 779"/>
              <a:gd name="T8" fmla="*/ 215900 w 477"/>
              <a:gd name="T9" fmla="*/ 684212 h 779"/>
              <a:gd name="T10" fmla="*/ 228071 w 477"/>
              <a:gd name="T11" fmla="*/ 323850 h 779"/>
              <a:gd name="T12" fmla="*/ 252413 w 477"/>
              <a:gd name="T13" fmla="*/ 0 h 77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477" h="779">
                <a:moveTo>
                  <a:pt x="0" y="771"/>
                </a:moveTo>
                <a:cubicBezTo>
                  <a:pt x="45" y="775"/>
                  <a:pt x="91" y="779"/>
                  <a:pt x="136" y="771"/>
                </a:cubicBezTo>
                <a:cubicBezTo>
                  <a:pt x="181" y="763"/>
                  <a:pt x="238" y="748"/>
                  <a:pt x="272" y="725"/>
                </a:cubicBezTo>
                <a:cubicBezTo>
                  <a:pt x="306" y="702"/>
                  <a:pt x="317" y="684"/>
                  <a:pt x="340" y="635"/>
                </a:cubicBezTo>
                <a:cubicBezTo>
                  <a:pt x="363" y="586"/>
                  <a:pt x="393" y="503"/>
                  <a:pt x="408" y="431"/>
                </a:cubicBezTo>
                <a:cubicBezTo>
                  <a:pt x="423" y="359"/>
                  <a:pt x="420" y="276"/>
                  <a:pt x="431" y="204"/>
                </a:cubicBezTo>
                <a:cubicBezTo>
                  <a:pt x="442" y="132"/>
                  <a:pt x="462" y="34"/>
                  <a:pt x="477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22541" name="Freeform 14">
            <a:extLst>
              <a:ext uri="{FF2B5EF4-FFF2-40B4-BE49-F238E27FC236}">
                <a16:creationId xmlns:a16="http://schemas.microsoft.com/office/drawing/2014/main" id="{3DCB51D6-9542-C74E-98E5-4F2AC9D22ACA}"/>
              </a:ext>
            </a:extLst>
          </p:cNvPr>
          <p:cNvSpPr>
            <a:spLocks/>
          </p:cNvSpPr>
          <p:nvPr/>
        </p:nvSpPr>
        <p:spPr bwMode="auto">
          <a:xfrm flipH="1">
            <a:off x="7345363" y="4545013"/>
            <a:ext cx="287337" cy="1236662"/>
          </a:xfrm>
          <a:custGeom>
            <a:avLst/>
            <a:gdLst>
              <a:gd name="T0" fmla="*/ 0 w 477"/>
              <a:gd name="T1" fmla="*/ 1223962 h 779"/>
              <a:gd name="T2" fmla="*/ 81924 w 477"/>
              <a:gd name="T3" fmla="*/ 1223962 h 779"/>
              <a:gd name="T4" fmla="*/ 163848 w 477"/>
              <a:gd name="T5" fmla="*/ 1150937 h 779"/>
              <a:gd name="T6" fmla="*/ 204810 w 477"/>
              <a:gd name="T7" fmla="*/ 1008062 h 779"/>
              <a:gd name="T8" fmla="*/ 245773 w 477"/>
              <a:gd name="T9" fmla="*/ 684212 h 779"/>
              <a:gd name="T10" fmla="*/ 259627 w 477"/>
              <a:gd name="T11" fmla="*/ 323850 h 779"/>
              <a:gd name="T12" fmla="*/ 287337 w 477"/>
              <a:gd name="T13" fmla="*/ 0 h 77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477" h="779">
                <a:moveTo>
                  <a:pt x="0" y="771"/>
                </a:moveTo>
                <a:cubicBezTo>
                  <a:pt x="45" y="775"/>
                  <a:pt x="91" y="779"/>
                  <a:pt x="136" y="771"/>
                </a:cubicBezTo>
                <a:cubicBezTo>
                  <a:pt x="181" y="763"/>
                  <a:pt x="238" y="748"/>
                  <a:pt x="272" y="725"/>
                </a:cubicBezTo>
                <a:cubicBezTo>
                  <a:pt x="306" y="702"/>
                  <a:pt x="317" y="684"/>
                  <a:pt x="340" y="635"/>
                </a:cubicBezTo>
                <a:cubicBezTo>
                  <a:pt x="363" y="586"/>
                  <a:pt x="393" y="503"/>
                  <a:pt x="408" y="431"/>
                </a:cubicBezTo>
                <a:cubicBezTo>
                  <a:pt x="423" y="359"/>
                  <a:pt x="420" y="276"/>
                  <a:pt x="431" y="204"/>
                </a:cubicBezTo>
                <a:cubicBezTo>
                  <a:pt x="442" y="132"/>
                  <a:pt x="462" y="34"/>
                  <a:pt x="477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22542" name="Freeform 15">
            <a:extLst>
              <a:ext uri="{FF2B5EF4-FFF2-40B4-BE49-F238E27FC236}">
                <a16:creationId xmlns:a16="http://schemas.microsoft.com/office/drawing/2014/main" id="{3D86A635-05B4-7C4D-9F9F-81B5E1F9AD5B}"/>
              </a:ext>
            </a:extLst>
          </p:cNvPr>
          <p:cNvSpPr>
            <a:spLocks/>
          </p:cNvSpPr>
          <p:nvPr/>
        </p:nvSpPr>
        <p:spPr bwMode="auto">
          <a:xfrm>
            <a:off x="5040313" y="5553075"/>
            <a:ext cx="1476375" cy="185738"/>
          </a:xfrm>
          <a:custGeom>
            <a:avLst/>
            <a:gdLst>
              <a:gd name="T0" fmla="*/ 0 w 930"/>
              <a:gd name="T1" fmla="*/ 183046 h 276"/>
              <a:gd name="T2" fmla="*/ 215900 w 930"/>
              <a:gd name="T3" fmla="*/ 183046 h 276"/>
              <a:gd name="T4" fmla="*/ 431800 w 930"/>
              <a:gd name="T5" fmla="*/ 167568 h 276"/>
              <a:gd name="T6" fmla="*/ 719138 w 930"/>
              <a:gd name="T7" fmla="*/ 137285 h 276"/>
              <a:gd name="T8" fmla="*/ 900113 w 930"/>
              <a:gd name="T9" fmla="*/ 107001 h 276"/>
              <a:gd name="T10" fmla="*/ 1187450 w 930"/>
              <a:gd name="T11" fmla="*/ 30283 h 276"/>
              <a:gd name="T12" fmla="*/ 1368425 w 930"/>
              <a:gd name="T13" fmla="*/ 15478 h 276"/>
              <a:gd name="T14" fmla="*/ 1476375 w 930"/>
              <a:gd name="T15" fmla="*/ 0 h 27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930" h="276">
                <a:moveTo>
                  <a:pt x="0" y="272"/>
                </a:moveTo>
                <a:cubicBezTo>
                  <a:pt x="45" y="274"/>
                  <a:pt x="91" y="276"/>
                  <a:pt x="136" y="272"/>
                </a:cubicBezTo>
                <a:cubicBezTo>
                  <a:pt x="181" y="268"/>
                  <a:pt x="219" y="260"/>
                  <a:pt x="272" y="249"/>
                </a:cubicBezTo>
                <a:cubicBezTo>
                  <a:pt x="325" y="238"/>
                  <a:pt x="404" y="219"/>
                  <a:pt x="453" y="204"/>
                </a:cubicBezTo>
                <a:cubicBezTo>
                  <a:pt x="502" y="189"/>
                  <a:pt x="518" y="185"/>
                  <a:pt x="567" y="159"/>
                </a:cubicBezTo>
                <a:cubicBezTo>
                  <a:pt x="616" y="133"/>
                  <a:pt x="699" y="68"/>
                  <a:pt x="748" y="45"/>
                </a:cubicBezTo>
                <a:cubicBezTo>
                  <a:pt x="797" y="22"/>
                  <a:pt x="832" y="30"/>
                  <a:pt x="862" y="23"/>
                </a:cubicBezTo>
                <a:cubicBezTo>
                  <a:pt x="892" y="16"/>
                  <a:pt x="911" y="8"/>
                  <a:pt x="93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22543" name="Freeform 16">
            <a:extLst>
              <a:ext uri="{FF2B5EF4-FFF2-40B4-BE49-F238E27FC236}">
                <a16:creationId xmlns:a16="http://schemas.microsoft.com/office/drawing/2014/main" id="{E57E7ECE-301E-C046-AF43-B162AB3330C5}"/>
              </a:ext>
            </a:extLst>
          </p:cNvPr>
          <p:cNvSpPr>
            <a:spLocks/>
          </p:cNvSpPr>
          <p:nvPr/>
        </p:nvSpPr>
        <p:spPr bwMode="auto">
          <a:xfrm flipH="1">
            <a:off x="6516688" y="5553075"/>
            <a:ext cx="1584325" cy="215900"/>
          </a:xfrm>
          <a:custGeom>
            <a:avLst/>
            <a:gdLst>
              <a:gd name="T0" fmla="*/ 0 w 930"/>
              <a:gd name="T1" fmla="*/ 212771 h 276"/>
              <a:gd name="T2" fmla="*/ 231686 w 930"/>
              <a:gd name="T3" fmla="*/ 212771 h 276"/>
              <a:gd name="T4" fmla="*/ 463372 w 930"/>
              <a:gd name="T5" fmla="*/ 194779 h 276"/>
              <a:gd name="T6" fmla="*/ 771720 w 930"/>
              <a:gd name="T7" fmla="*/ 159578 h 276"/>
              <a:gd name="T8" fmla="*/ 965927 w 930"/>
              <a:gd name="T9" fmla="*/ 124377 h 276"/>
              <a:gd name="T10" fmla="*/ 1274274 w 930"/>
              <a:gd name="T11" fmla="*/ 35201 h 276"/>
              <a:gd name="T12" fmla="*/ 1468482 w 930"/>
              <a:gd name="T13" fmla="*/ 17992 h 276"/>
              <a:gd name="T14" fmla="*/ 1584325 w 930"/>
              <a:gd name="T15" fmla="*/ 0 h 27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930" h="276">
                <a:moveTo>
                  <a:pt x="0" y="272"/>
                </a:moveTo>
                <a:cubicBezTo>
                  <a:pt x="45" y="274"/>
                  <a:pt x="91" y="276"/>
                  <a:pt x="136" y="272"/>
                </a:cubicBezTo>
                <a:cubicBezTo>
                  <a:pt x="181" y="268"/>
                  <a:pt x="219" y="260"/>
                  <a:pt x="272" y="249"/>
                </a:cubicBezTo>
                <a:cubicBezTo>
                  <a:pt x="325" y="238"/>
                  <a:pt x="404" y="219"/>
                  <a:pt x="453" y="204"/>
                </a:cubicBezTo>
                <a:cubicBezTo>
                  <a:pt x="502" y="189"/>
                  <a:pt x="518" y="185"/>
                  <a:pt x="567" y="159"/>
                </a:cubicBezTo>
                <a:cubicBezTo>
                  <a:pt x="616" y="133"/>
                  <a:pt x="699" y="68"/>
                  <a:pt x="748" y="45"/>
                </a:cubicBezTo>
                <a:cubicBezTo>
                  <a:pt x="797" y="22"/>
                  <a:pt x="832" y="30"/>
                  <a:pt x="862" y="23"/>
                </a:cubicBezTo>
                <a:cubicBezTo>
                  <a:pt x="892" y="16"/>
                  <a:pt x="911" y="8"/>
                  <a:pt x="93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22544" name="Text Box 17">
            <a:extLst>
              <a:ext uri="{FF2B5EF4-FFF2-40B4-BE49-F238E27FC236}">
                <a16:creationId xmlns:a16="http://schemas.microsoft.com/office/drawing/2014/main" id="{9C4823EC-7740-4B4B-8ABB-53D560FB87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6988" y="6056313"/>
            <a:ext cx="32035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ru" altLang="ru-RU" sz="2000" dirty="0"/>
              <a:t>364,25             366,25</a:t>
            </a:r>
          </a:p>
        </p:txBody>
      </p:sp>
      <p:sp>
        <p:nvSpPr>
          <p:cNvPr id="22545" name="Text Box 18">
            <a:extLst>
              <a:ext uri="{FF2B5EF4-FFF2-40B4-BE49-F238E27FC236}">
                <a16:creationId xmlns:a16="http://schemas.microsoft.com/office/drawing/2014/main" id="{B50A4D94-A602-CC42-941D-DC5509589A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56325" y="5948363"/>
            <a:ext cx="20875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ru" altLang="ru-RU" sz="2000" dirty="0"/>
              <a:t>70с       75с</a:t>
            </a:r>
          </a:p>
        </p:txBody>
      </p:sp>
      <p:sp>
        <p:nvSpPr>
          <p:cNvPr id="22546" name="Line 19">
            <a:extLst>
              <a:ext uri="{FF2B5EF4-FFF2-40B4-BE49-F238E27FC236}">
                <a16:creationId xmlns:a16="http://schemas.microsoft.com/office/drawing/2014/main" id="{A972B161-6138-5D44-97C8-95802CAD4FE8}"/>
              </a:ext>
            </a:extLst>
          </p:cNvPr>
          <p:cNvSpPr>
            <a:spLocks noChangeShapeType="1"/>
          </p:cNvSpPr>
          <p:nvPr/>
        </p:nvSpPr>
        <p:spPr bwMode="auto">
          <a:xfrm>
            <a:off x="3455988" y="5408613"/>
            <a:ext cx="0" cy="468312"/>
          </a:xfrm>
          <a:prstGeom prst="line">
            <a:avLst/>
          </a:prstGeom>
          <a:noFill/>
          <a:ln w="28575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22547" name="Line 20">
            <a:extLst>
              <a:ext uri="{FF2B5EF4-FFF2-40B4-BE49-F238E27FC236}">
                <a16:creationId xmlns:a16="http://schemas.microsoft.com/office/drawing/2014/main" id="{736CBA05-D357-864F-ADD5-287BE617BBCD}"/>
              </a:ext>
            </a:extLst>
          </p:cNvPr>
          <p:cNvSpPr>
            <a:spLocks noChangeShapeType="1"/>
          </p:cNvSpPr>
          <p:nvPr/>
        </p:nvSpPr>
        <p:spPr bwMode="auto">
          <a:xfrm>
            <a:off x="7308850" y="5300663"/>
            <a:ext cx="0" cy="468312"/>
          </a:xfrm>
          <a:prstGeom prst="line">
            <a:avLst/>
          </a:prstGeom>
          <a:noFill/>
          <a:ln w="28575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>
            <a:extLst>
              <a:ext uri="{FF2B5EF4-FFF2-40B4-BE49-F238E27FC236}">
                <a16:creationId xmlns:a16="http://schemas.microsoft.com/office/drawing/2014/main" id="{D90C1633-6DB8-E54A-9006-555C3C8E2D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88913"/>
            <a:ext cx="8229600" cy="1143000"/>
          </a:xfrm>
        </p:spPr>
        <p:txBody>
          <a:bodyPr/>
          <a:lstStyle/>
          <a:p>
            <a:pPr eaLnBrk="1" hangingPunct="1"/>
            <a:r>
              <a:rPr lang="ru" altLang="ru-RU" sz="2400" dirty="0"/>
              <a:t>Распределение вероятностей, которое неявно предполагается при использовании квадрата ошибки</a:t>
            </a:r>
          </a:p>
        </p:txBody>
      </p:sp>
      <p:sp>
        <p:nvSpPr>
          <p:cNvPr id="23554" name="Rectangle 3">
            <a:extLst>
              <a:ext uri="{FF2B5EF4-FFF2-40B4-BE49-F238E27FC236}">
                <a16:creationId xmlns:a16="http://schemas.microsoft.com/office/drawing/2014/main" id="{89ACF898-ED48-804D-8C79-BBD3EF0C1817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79388" y="1600200"/>
            <a:ext cx="4320604" cy="4525963"/>
          </a:xfrm>
        </p:spPr>
        <p:txBody>
          <a:bodyPr/>
          <a:lstStyle/>
          <a:p>
            <a:pPr eaLnBrk="1" hangingPunct="1"/>
            <a:r>
              <a:rPr lang="ru" altLang="ru-RU" sz="2000" dirty="0"/>
              <a:t>Минимизация квадратов остатков эквивалентна максимизации логарифмической вероятности правильных ответов при гауссовом распределении, центрированном на предположении модели.</a:t>
            </a:r>
          </a:p>
          <a:p>
            <a:pPr lvl="1" eaLnBrk="1" hangingPunct="1"/>
            <a:r>
              <a:rPr lang="ru" altLang="ru-RU" sz="2000" dirty="0"/>
              <a:t>Если предположить, что дисперсия гауссовой функции одинакова для всех случаев, то нам не важно ее значение.</a:t>
            </a:r>
          </a:p>
        </p:txBody>
      </p:sp>
      <p:sp>
        <p:nvSpPr>
          <p:cNvPr id="23555" name="Rectangle 4">
            <a:extLst>
              <a:ext uri="{FF2B5EF4-FFF2-40B4-BE49-F238E27FC236}">
                <a16:creationId xmlns:a16="http://schemas.microsoft.com/office/drawing/2014/main" id="{C291804C-EFEB-2F4E-86B1-8554F62E30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5388" y="1520825"/>
            <a:ext cx="3851275" cy="1828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23556" name="Freeform 5">
            <a:extLst>
              <a:ext uri="{FF2B5EF4-FFF2-40B4-BE49-F238E27FC236}">
                <a16:creationId xmlns:a16="http://schemas.microsoft.com/office/drawing/2014/main" id="{E99DDBFB-6B65-BB48-81DE-3AF2758B0428}"/>
              </a:ext>
            </a:extLst>
          </p:cNvPr>
          <p:cNvSpPr>
            <a:spLocks/>
          </p:cNvSpPr>
          <p:nvPr/>
        </p:nvSpPr>
        <p:spPr bwMode="auto">
          <a:xfrm>
            <a:off x="5545138" y="1628775"/>
            <a:ext cx="1695450" cy="1576388"/>
          </a:xfrm>
          <a:custGeom>
            <a:avLst/>
            <a:gdLst>
              <a:gd name="T0" fmla="*/ 0 w 1588"/>
              <a:gd name="T1" fmla="*/ 1576388 h 1383"/>
              <a:gd name="T2" fmla="*/ 266916 w 1588"/>
              <a:gd name="T3" fmla="*/ 1525096 h 1383"/>
              <a:gd name="T4" fmla="*/ 629922 w 1588"/>
              <a:gd name="T5" fmla="*/ 1292570 h 1383"/>
              <a:gd name="T6" fmla="*/ 847725 w 1588"/>
              <a:gd name="T7" fmla="*/ 982535 h 1383"/>
              <a:gd name="T8" fmla="*/ 1040972 w 1588"/>
              <a:gd name="T9" fmla="*/ 594992 h 1383"/>
              <a:gd name="T10" fmla="*/ 1331377 w 1588"/>
              <a:gd name="T11" fmla="*/ 181233 h 1383"/>
              <a:gd name="T12" fmla="*/ 1598293 w 1588"/>
              <a:gd name="T13" fmla="*/ 26216 h 1383"/>
              <a:gd name="T14" fmla="*/ 1695450 w 1588"/>
              <a:gd name="T15" fmla="*/ 26216 h 1383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1588" h="1383">
                <a:moveTo>
                  <a:pt x="0" y="1383"/>
                </a:moveTo>
                <a:cubicBezTo>
                  <a:pt x="76" y="1381"/>
                  <a:pt x="152" y="1380"/>
                  <a:pt x="250" y="1338"/>
                </a:cubicBezTo>
                <a:cubicBezTo>
                  <a:pt x="348" y="1296"/>
                  <a:pt x="499" y="1213"/>
                  <a:pt x="590" y="1134"/>
                </a:cubicBezTo>
                <a:cubicBezTo>
                  <a:pt x="681" y="1055"/>
                  <a:pt x="730" y="964"/>
                  <a:pt x="794" y="862"/>
                </a:cubicBezTo>
                <a:cubicBezTo>
                  <a:pt x="858" y="760"/>
                  <a:pt x="900" y="639"/>
                  <a:pt x="975" y="522"/>
                </a:cubicBezTo>
                <a:cubicBezTo>
                  <a:pt x="1050" y="405"/>
                  <a:pt x="1160" y="242"/>
                  <a:pt x="1247" y="159"/>
                </a:cubicBezTo>
                <a:cubicBezTo>
                  <a:pt x="1334" y="76"/>
                  <a:pt x="1440" y="46"/>
                  <a:pt x="1497" y="23"/>
                </a:cubicBezTo>
                <a:cubicBezTo>
                  <a:pt x="1554" y="0"/>
                  <a:pt x="1573" y="23"/>
                  <a:pt x="1588" y="23"/>
                </a:cubicBezTo>
              </a:path>
            </a:pathLst>
          </a:custGeom>
          <a:noFill/>
          <a:ln w="28575" cmpd="sng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23557" name="Freeform 6">
            <a:extLst>
              <a:ext uri="{FF2B5EF4-FFF2-40B4-BE49-F238E27FC236}">
                <a16:creationId xmlns:a16="http://schemas.microsoft.com/office/drawing/2014/main" id="{75A36132-59DE-2646-8B2C-DC16BA7B6B11}"/>
              </a:ext>
            </a:extLst>
          </p:cNvPr>
          <p:cNvSpPr>
            <a:spLocks/>
          </p:cNvSpPr>
          <p:nvPr/>
        </p:nvSpPr>
        <p:spPr bwMode="auto">
          <a:xfrm flipH="1">
            <a:off x="7239000" y="1628775"/>
            <a:ext cx="1295400" cy="1576388"/>
          </a:xfrm>
          <a:custGeom>
            <a:avLst/>
            <a:gdLst>
              <a:gd name="T0" fmla="*/ 0 w 1588"/>
              <a:gd name="T1" fmla="*/ 1576388 h 1383"/>
              <a:gd name="T2" fmla="*/ 203936 w 1588"/>
              <a:gd name="T3" fmla="*/ 1525096 h 1383"/>
              <a:gd name="T4" fmla="*/ 481288 w 1588"/>
              <a:gd name="T5" fmla="*/ 1292570 h 1383"/>
              <a:gd name="T6" fmla="*/ 647700 w 1588"/>
              <a:gd name="T7" fmla="*/ 982535 h 1383"/>
              <a:gd name="T8" fmla="*/ 795349 w 1588"/>
              <a:gd name="T9" fmla="*/ 594992 h 1383"/>
              <a:gd name="T10" fmla="*/ 1017232 w 1588"/>
              <a:gd name="T11" fmla="*/ 181233 h 1383"/>
              <a:gd name="T12" fmla="*/ 1221167 w 1588"/>
              <a:gd name="T13" fmla="*/ 26216 h 1383"/>
              <a:gd name="T14" fmla="*/ 1295400 w 1588"/>
              <a:gd name="T15" fmla="*/ 26216 h 1383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1588" h="1383">
                <a:moveTo>
                  <a:pt x="0" y="1383"/>
                </a:moveTo>
                <a:cubicBezTo>
                  <a:pt x="76" y="1381"/>
                  <a:pt x="152" y="1380"/>
                  <a:pt x="250" y="1338"/>
                </a:cubicBezTo>
                <a:cubicBezTo>
                  <a:pt x="348" y="1296"/>
                  <a:pt x="499" y="1213"/>
                  <a:pt x="590" y="1134"/>
                </a:cubicBezTo>
                <a:cubicBezTo>
                  <a:pt x="681" y="1055"/>
                  <a:pt x="730" y="964"/>
                  <a:pt x="794" y="862"/>
                </a:cubicBezTo>
                <a:cubicBezTo>
                  <a:pt x="858" y="760"/>
                  <a:pt x="900" y="639"/>
                  <a:pt x="975" y="522"/>
                </a:cubicBezTo>
                <a:cubicBezTo>
                  <a:pt x="1050" y="405"/>
                  <a:pt x="1160" y="242"/>
                  <a:pt x="1247" y="159"/>
                </a:cubicBezTo>
                <a:cubicBezTo>
                  <a:pt x="1334" y="76"/>
                  <a:pt x="1440" y="46"/>
                  <a:pt x="1497" y="23"/>
                </a:cubicBezTo>
                <a:cubicBezTo>
                  <a:pt x="1554" y="0"/>
                  <a:pt x="1573" y="23"/>
                  <a:pt x="1588" y="23"/>
                </a:cubicBezTo>
              </a:path>
            </a:pathLst>
          </a:custGeom>
          <a:noFill/>
          <a:ln w="28575" cmpd="sng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23558" name="Line 7">
            <a:extLst>
              <a:ext uri="{FF2B5EF4-FFF2-40B4-BE49-F238E27FC236}">
                <a16:creationId xmlns:a16="http://schemas.microsoft.com/office/drawing/2014/main" id="{DB6D6005-FFF8-5A4A-B16B-CBA8C1AC13D2}"/>
              </a:ext>
            </a:extLst>
          </p:cNvPr>
          <p:cNvSpPr>
            <a:spLocks noChangeShapeType="1"/>
          </p:cNvSpPr>
          <p:nvPr/>
        </p:nvSpPr>
        <p:spPr bwMode="auto">
          <a:xfrm>
            <a:off x="6410325" y="2565400"/>
            <a:ext cx="1588" cy="719138"/>
          </a:xfrm>
          <a:prstGeom prst="line">
            <a:avLst/>
          </a:prstGeom>
          <a:noFill/>
          <a:ln w="28575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23559" name="Line 8">
            <a:extLst>
              <a:ext uri="{FF2B5EF4-FFF2-40B4-BE49-F238E27FC236}">
                <a16:creationId xmlns:a16="http://schemas.microsoft.com/office/drawing/2014/main" id="{A8235ED2-9F68-1D46-91BE-7E5F445C540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204075" y="3214688"/>
            <a:ext cx="0" cy="179387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23560" name="Text Box 9">
            <a:extLst>
              <a:ext uri="{FF2B5EF4-FFF2-40B4-BE49-F238E27FC236}">
                <a16:creationId xmlns:a16="http://schemas.microsoft.com/office/drawing/2014/main" id="{2D3256E6-635D-C641-9C59-99CA5EA234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97563" y="3327400"/>
            <a:ext cx="1058303" cy="861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" altLang="ru-RU" sz="1200" dirty="0">
                <a:solidFill>
                  <a:srgbClr val="009900"/>
                </a:solidFill>
              </a:rPr>
              <a:t>      </a:t>
            </a:r>
            <a:r>
              <a:rPr lang="ru" altLang="ru-RU" sz="1400" dirty="0">
                <a:solidFill>
                  <a:srgbClr val="009900"/>
                </a:solidFill>
              </a:rPr>
              <a:t>d</a:t>
            </a:r>
            <a:endParaRPr lang="ru" altLang="ru-RU" sz="1400" dirty="0"/>
          </a:p>
          <a:p>
            <a:pPr eaLnBrk="1" hangingPunct="1"/>
            <a:r>
              <a:rPr lang="ru" altLang="ru-RU" sz="1200" dirty="0">
                <a:solidFill>
                  <a:srgbClr val="009900"/>
                </a:solidFill>
              </a:rPr>
              <a:t>правильный</a:t>
            </a:r>
          </a:p>
          <a:p>
            <a:pPr eaLnBrk="1" hangingPunct="1"/>
            <a:r>
              <a:rPr lang="ru" altLang="ru-RU" sz="1200" dirty="0">
                <a:solidFill>
                  <a:srgbClr val="009900"/>
                </a:solidFill>
              </a:rPr>
              <a:t>ответ</a:t>
            </a:r>
            <a:endParaRPr lang="en-US" altLang="ru-RU" sz="1400" dirty="0"/>
          </a:p>
          <a:p>
            <a:pPr eaLnBrk="1" hangingPunct="1"/>
            <a:endParaRPr lang="en-US" altLang="ru-RU" sz="1200" dirty="0">
              <a:solidFill>
                <a:srgbClr val="009900"/>
              </a:solidFill>
            </a:endParaRPr>
          </a:p>
        </p:txBody>
      </p:sp>
      <p:sp>
        <p:nvSpPr>
          <p:cNvPr id="23561" name="Text Box 10">
            <a:extLst>
              <a:ext uri="{FF2B5EF4-FFF2-40B4-BE49-F238E27FC236}">
                <a16:creationId xmlns:a16="http://schemas.microsoft.com/office/drawing/2014/main" id="{312E7460-69CA-F544-90E0-A1343C17EA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4825" y="3321050"/>
            <a:ext cx="117475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" altLang="ru-RU" sz="1800" dirty="0">
                <a:solidFill>
                  <a:srgbClr val="FF0000"/>
                </a:solidFill>
              </a:rPr>
              <a:t>    </a:t>
            </a:r>
            <a:r>
              <a:rPr lang="ru" altLang="ru-RU" sz="2000" dirty="0"/>
              <a:t>у</a:t>
            </a:r>
          </a:p>
          <a:p>
            <a:pPr eaLnBrk="1" hangingPunct="1"/>
            <a:r>
              <a:rPr lang="ru" altLang="ru-RU" sz="1800" dirty="0">
                <a:solidFill>
                  <a:srgbClr val="FF0000"/>
                </a:solidFill>
              </a:rPr>
              <a:t>модели</a:t>
            </a:r>
          </a:p>
          <a:p>
            <a:pPr eaLnBrk="1" hangingPunct="1"/>
            <a:r>
              <a:rPr lang="ru" altLang="ru-RU" sz="1800" dirty="0">
                <a:solidFill>
                  <a:srgbClr val="FF0000"/>
                </a:solidFill>
              </a:rPr>
              <a:t>прогноз</a:t>
            </a:r>
            <a:endParaRPr lang="en-US" altLang="ru-RU" sz="2000" dirty="0"/>
          </a:p>
        </p:txBody>
      </p:sp>
      <p:graphicFrame>
        <p:nvGraphicFramePr>
          <p:cNvPr id="23562" name="Object 11">
            <a:extLst>
              <a:ext uri="{FF2B5EF4-FFF2-40B4-BE49-F238E27FC236}">
                <a16:creationId xmlns:a16="http://schemas.microsoft.com/office/drawing/2014/main" id="{9719CC02-4AD7-0749-8A5E-91CB9C6873C0}"/>
              </a:ext>
            </a:extLst>
          </p:cNvPr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5111750" y="4219575"/>
          <a:ext cx="3708400" cy="241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7" name="Equation" r:id="rId3" imgW="35991800" imgH="23406100" progId="Equation.3">
                  <p:embed/>
                </p:oleObj>
              </mc:Choice>
              <mc:Fallback>
                <p:oleObj name="Equation" r:id="rId3" imgW="35991800" imgH="234061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11750" y="4219575"/>
                        <a:ext cx="3708400" cy="2413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>
            <a:extLst>
              <a:ext uri="{FF2B5EF4-FFF2-40B4-BE49-F238E27FC236}">
                <a16:creationId xmlns:a16="http://schemas.microsoft.com/office/drawing/2014/main" id="{EFA6933E-ACDD-9D45-8846-BACAB634AB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" altLang="ru-RU" sz="3200"/>
              <a:t>Вероятность правильного ответа при смешении гауссианов</a:t>
            </a:r>
          </a:p>
        </p:txBody>
      </p:sp>
      <p:graphicFrame>
        <p:nvGraphicFramePr>
          <p:cNvPr id="24578" name="Object 3">
            <a:extLst>
              <a:ext uri="{FF2B5EF4-FFF2-40B4-BE49-F238E27FC236}">
                <a16:creationId xmlns:a16="http://schemas.microsoft.com/office/drawing/2014/main" id="{23D56B3F-DEDA-A84A-ACE1-EE52E77798B1}"/>
              </a:ext>
            </a:extLst>
          </p:cNvPr>
          <p:cNvGraphicFramePr>
            <a:graphicFrameLocks noGrp="1" noChangeAspect="1"/>
          </p:cNvGraphicFramePr>
          <p:nvPr>
            <p:ph sz="half" idx="1"/>
          </p:nvPr>
        </p:nvGraphicFramePr>
        <p:xfrm>
          <a:off x="468313" y="3041650"/>
          <a:ext cx="7823200" cy="1589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96" name="Equation" r:id="rId3" imgW="54711600" imgH="11112500" progId="Equation.3">
                  <p:embed/>
                </p:oleObj>
              </mc:Choice>
              <mc:Fallback>
                <p:oleObj name="Equation" r:id="rId3" imgW="54711600" imgH="111125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3041650"/>
                        <a:ext cx="7823200" cy="1589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79" name="Text Box 4">
            <a:extLst>
              <a:ext uri="{FF2B5EF4-FFF2-40B4-BE49-F238E27FC236}">
                <a16:creationId xmlns:a16="http://schemas.microsoft.com/office/drawing/2014/main" id="{83FCD57E-4F6E-6D4F-84D3-FEFB0523D1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5373688"/>
            <a:ext cx="2844799" cy="1323439"/>
          </a:xfrm>
          <a:prstGeom prst="rect">
            <a:avLst/>
          </a:prstGeom>
          <a:solidFill>
            <a:srgbClr val="C0C0C0">
              <a:alpha val="2196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ru" altLang="ru-RU" sz="2000" dirty="0">
                <a:solidFill>
                  <a:srgbClr val="3333CC"/>
                </a:solidFill>
              </a:rPr>
              <a:t>Вероятность желаемого результата в случае </a:t>
            </a:r>
            <a:r>
              <a:rPr lang="ru" altLang="ru-RU" sz="2000" i="1" dirty="0">
                <a:solidFill>
                  <a:srgbClr val="3333CC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с </a:t>
            </a:r>
            <a:r>
              <a:rPr lang="ru" altLang="ru-RU" sz="2000" dirty="0">
                <a:solidFill>
                  <a:srgbClr val="3333CC"/>
                </a:solidFill>
              </a:rPr>
              <a:t>c учетом смеси</a:t>
            </a:r>
          </a:p>
        </p:txBody>
      </p:sp>
      <p:sp>
        <p:nvSpPr>
          <p:cNvPr id="24580" name="Text Box 5">
            <a:extLst>
              <a:ext uri="{FF2B5EF4-FFF2-40B4-BE49-F238E27FC236}">
                <a16:creationId xmlns:a16="http://schemas.microsoft.com/office/drawing/2014/main" id="{8A310B43-6711-BA4D-9426-366AF10E17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5625" y="1628775"/>
            <a:ext cx="3852863" cy="1015663"/>
          </a:xfrm>
          <a:prstGeom prst="rect">
            <a:avLst/>
          </a:prstGeom>
          <a:solidFill>
            <a:srgbClr val="C0C0C0">
              <a:alpha val="2196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ru" altLang="ru-RU" sz="2000" dirty="0">
                <a:solidFill>
                  <a:srgbClr val="3333CC"/>
                </a:solidFill>
              </a:rPr>
              <a:t>Пропорция смешивания, назначенная эксперту i для случая c сетью управления</a:t>
            </a:r>
          </a:p>
        </p:txBody>
      </p:sp>
      <p:sp>
        <p:nvSpPr>
          <p:cNvPr id="24581" name="Text Box 6">
            <a:extLst>
              <a:ext uri="{FF2B5EF4-FFF2-40B4-BE49-F238E27FC236}">
                <a16:creationId xmlns:a16="http://schemas.microsoft.com/office/drawing/2014/main" id="{D801CAD7-3389-1F46-88A4-E975D3003C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72338" y="4652963"/>
            <a:ext cx="1439862" cy="822325"/>
          </a:xfrm>
          <a:prstGeom prst="rect">
            <a:avLst/>
          </a:prstGeom>
          <a:solidFill>
            <a:srgbClr val="C0C0C0">
              <a:alpha val="2196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ru" altLang="ru-RU" sz="2400" dirty="0">
                <a:solidFill>
                  <a:srgbClr val="3333CC"/>
                </a:solidFill>
              </a:rPr>
              <a:t>вывод эксперта i</a:t>
            </a:r>
          </a:p>
        </p:txBody>
      </p:sp>
      <p:sp>
        <p:nvSpPr>
          <p:cNvPr id="24582" name="Text Box 7">
            <a:extLst>
              <a:ext uri="{FF2B5EF4-FFF2-40B4-BE49-F238E27FC236}">
                <a16:creationId xmlns:a16="http://schemas.microsoft.com/office/drawing/2014/main" id="{DAEF56A5-FD3E-754E-8035-A8081F1B89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9838" y="5373688"/>
            <a:ext cx="2771775" cy="584775"/>
          </a:xfrm>
          <a:prstGeom prst="rect">
            <a:avLst/>
          </a:prstGeom>
          <a:solidFill>
            <a:srgbClr val="C0C0C0">
              <a:alpha val="2196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ru" altLang="ru-RU" sz="1600" dirty="0">
                <a:solidFill>
                  <a:srgbClr val="3333CC"/>
                </a:solidFill>
              </a:rPr>
              <a:t>Нормировочный член для гауссова распределения </a:t>
            </a:r>
            <a:r>
              <a:rPr lang="ru" altLang="ru-RU" sz="1600" i="1" dirty="0">
                <a:solidFill>
                  <a:srgbClr val="3333CC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с </a:t>
            </a:r>
            <a:endParaRPr lang="ru" altLang="ru-RU" sz="1600" dirty="0">
              <a:solidFill>
                <a:srgbClr val="3333CC"/>
              </a:solidFill>
            </a:endParaRPr>
          </a:p>
        </p:txBody>
      </p:sp>
      <p:graphicFrame>
        <p:nvGraphicFramePr>
          <p:cNvPr id="24583" name="Object 8">
            <a:extLst>
              <a:ext uri="{FF2B5EF4-FFF2-40B4-BE49-F238E27FC236}">
                <a16:creationId xmlns:a16="http://schemas.microsoft.com/office/drawing/2014/main" id="{73F41B8D-6C91-2147-ADC3-ED1C6645CB84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4733925" y="6022975"/>
          <a:ext cx="976313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97" name="Equation" r:id="rId5" imgW="9944100" imgH="5854700" progId="Equation.3">
                  <p:embed/>
                </p:oleObj>
              </mc:Choice>
              <mc:Fallback>
                <p:oleObj name="Equation" r:id="rId5" imgW="9944100" imgH="58547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33925" y="6022975"/>
                        <a:ext cx="976313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4" name="AutoShape 9">
            <a:extLst>
              <a:ext uri="{FF2B5EF4-FFF2-40B4-BE49-F238E27FC236}">
                <a16:creationId xmlns:a16="http://schemas.microsoft.com/office/drawing/2014/main" id="{04E3A044-E42C-3E45-B9EB-C1B7A2A2AA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9250" y="4473575"/>
            <a:ext cx="144463" cy="900113"/>
          </a:xfrm>
          <a:prstGeom prst="upArrow">
            <a:avLst>
              <a:gd name="adj1" fmla="val 50000"/>
              <a:gd name="adj2" fmla="val 155769"/>
            </a:avLst>
          </a:prstGeom>
          <a:solidFill>
            <a:srgbClr val="3333CC"/>
          </a:solidFill>
          <a:ln w="9525">
            <a:solidFill>
              <a:srgbClr val="3333C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24585" name="AutoShape 10">
            <a:extLst>
              <a:ext uri="{FF2B5EF4-FFF2-40B4-BE49-F238E27FC236}">
                <a16:creationId xmlns:a16="http://schemas.microsoft.com/office/drawing/2014/main" id="{1DF10908-6B9F-0E45-93A7-6EFBE988FE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5600" y="4473575"/>
            <a:ext cx="180975" cy="900113"/>
          </a:xfrm>
          <a:prstGeom prst="upArrow">
            <a:avLst>
              <a:gd name="adj1" fmla="val 50000"/>
              <a:gd name="adj2" fmla="val 124342"/>
            </a:avLst>
          </a:prstGeom>
          <a:solidFill>
            <a:srgbClr val="3333CC"/>
          </a:solidFill>
          <a:ln w="9525">
            <a:solidFill>
              <a:srgbClr val="3333C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24586" name="AutoShape 11">
            <a:extLst>
              <a:ext uri="{FF2B5EF4-FFF2-40B4-BE49-F238E27FC236}">
                <a16:creationId xmlns:a16="http://schemas.microsoft.com/office/drawing/2014/main" id="{A923A8E2-A552-E945-B596-DF52096B55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96188" y="4076700"/>
            <a:ext cx="179387" cy="576263"/>
          </a:xfrm>
          <a:prstGeom prst="upArrow">
            <a:avLst>
              <a:gd name="adj1" fmla="val 50000"/>
              <a:gd name="adj2" fmla="val 80310"/>
            </a:avLst>
          </a:prstGeom>
          <a:solidFill>
            <a:srgbClr val="3333CC"/>
          </a:solidFill>
          <a:ln w="9525">
            <a:solidFill>
              <a:srgbClr val="3333C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24587" name="AutoShape 12">
            <a:extLst>
              <a:ext uri="{FF2B5EF4-FFF2-40B4-BE49-F238E27FC236}">
                <a16:creationId xmlns:a16="http://schemas.microsoft.com/office/drawing/2014/main" id="{EF516E03-2858-7145-9F60-994276FD69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3438" y="2816225"/>
            <a:ext cx="144462" cy="684213"/>
          </a:xfrm>
          <a:prstGeom prst="downArrow">
            <a:avLst>
              <a:gd name="adj1" fmla="val 50000"/>
              <a:gd name="adj2" fmla="val 118407"/>
            </a:avLst>
          </a:prstGeom>
          <a:solidFill>
            <a:srgbClr val="3333CC"/>
          </a:solidFill>
          <a:ln w="9525">
            <a:solidFill>
              <a:srgbClr val="3333C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2">
            <a:extLst>
              <a:ext uri="{FF2B5EF4-FFF2-40B4-BE49-F238E27FC236}">
                <a16:creationId xmlns:a16="http://schemas.microsoft.com/office/drawing/2014/main" id="{AA414709-71C0-334A-9D9F-ADB99ECEE5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2138" y="3249613"/>
            <a:ext cx="2771775" cy="2159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25602" name="Rectangle 3">
            <a:extLst>
              <a:ext uri="{FF2B5EF4-FFF2-40B4-BE49-F238E27FC236}">
                <a16:creationId xmlns:a16="http://schemas.microsoft.com/office/drawing/2014/main" id="{24C3ED7C-9E16-484B-B4CF-89419209B4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25425"/>
            <a:ext cx="9144000" cy="1143000"/>
          </a:xfrm>
        </p:spPr>
        <p:txBody>
          <a:bodyPr/>
          <a:lstStyle/>
          <a:p>
            <a:pPr eaLnBrk="1" hangingPunct="1"/>
            <a:r>
              <a:rPr lang="ru" altLang="ru-RU" sz="3200" dirty="0"/>
              <a:t>Естественная мера погрешности для смеси экспертов</a:t>
            </a:r>
          </a:p>
        </p:txBody>
      </p:sp>
      <p:graphicFrame>
        <p:nvGraphicFramePr>
          <p:cNvPr id="25603" name="Object 4">
            <a:extLst>
              <a:ext uri="{FF2B5EF4-FFF2-40B4-BE49-F238E27FC236}">
                <a16:creationId xmlns:a16="http://schemas.microsoft.com/office/drawing/2014/main" id="{3D9F4838-6F61-6243-90A2-8CA123CA4480}"/>
              </a:ext>
            </a:extLst>
          </p:cNvPr>
          <p:cNvGraphicFramePr>
            <a:graphicFrameLocks noGrp="1" noChangeAspect="1"/>
          </p:cNvGraphicFramePr>
          <p:nvPr>
            <p:ph sz="half" idx="1"/>
          </p:nvPr>
        </p:nvGraphicFramePr>
        <p:xfrm>
          <a:off x="1223963" y="1558925"/>
          <a:ext cx="7272337" cy="488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9" name="Equation" r:id="rId3" imgW="68757800" imgH="46228000" progId="Equation.3">
                  <p:embed/>
                </p:oleObj>
              </mc:Choice>
              <mc:Fallback>
                <p:oleObj name="Equation" r:id="rId3" imgW="68757800" imgH="462280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3963" y="1558925"/>
                        <a:ext cx="7272337" cy="4889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4" name="Text Box 5">
            <a:extLst>
              <a:ext uri="{FF2B5EF4-FFF2-40B4-BE49-F238E27FC236}">
                <a16:creationId xmlns:a16="http://schemas.microsoft.com/office/drawing/2014/main" id="{39156B0D-C848-BF4D-BED8-37767A0267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30550" y="5408613"/>
            <a:ext cx="3097213" cy="923330"/>
          </a:xfrm>
          <a:prstGeom prst="rect">
            <a:avLst/>
          </a:prstGeom>
          <a:solidFill>
            <a:srgbClr val="C0C0C0">
              <a:alpha val="2196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ru" altLang="ru-RU" sz="1800" dirty="0">
                <a:solidFill>
                  <a:srgbClr val="3333CC"/>
                </a:solidFill>
              </a:rPr>
              <a:t>Эта дробь представляет собой </a:t>
            </a:r>
            <a:r>
              <a:rPr lang="ru" altLang="ru-RU" sz="1800" dirty="0">
                <a:solidFill>
                  <a:srgbClr val="FF0000"/>
                </a:solidFill>
              </a:rPr>
              <a:t>апостериорную </a:t>
            </a:r>
            <a:r>
              <a:rPr lang="ru" altLang="ru-RU" sz="1800" dirty="0">
                <a:solidFill>
                  <a:srgbClr val="3333CC"/>
                </a:solidFill>
              </a:rPr>
              <a:t>вероятность эксперта i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2">
            <a:extLst>
              <a:ext uri="{FF2B5EF4-FFF2-40B4-BE49-F238E27FC236}">
                <a16:creationId xmlns:a16="http://schemas.microsoft.com/office/drawing/2014/main" id="{20FF64DE-EE3C-D648-B6BE-CD78E7344F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" altLang="ru-RU" sz="3200" dirty="0"/>
              <a:t>Смесь двух линейных экспертов после обучения</a:t>
            </a:r>
            <a:endParaRPr lang="en-US" altLang="ru-RU" sz="3200" dirty="0"/>
          </a:p>
        </p:txBody>
      </p:sp>
      <p:sp>
        <p:nvSpPr>
          <p:cNvPr id="27650" name="Rectangle 3">
            <a:extLst>
              <a:ext uri="{FF2B5EF4-FFF2-40B4-BE49-F238E27FC236}">
                <a16:creationId xmlns:a16="http://schemas.microsoft.com/office/drawing/2014/main" id="{FDF03A40-78B1-2A4F-8F87-D89CA34749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2275" y="1736725"/>
            <a:ext cx="5724525" cy="439261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27651" name="Text Box 4">
            <a:extLst>
              <a:ext uri="{FF2B5EF4-FFF2-40B4-BE49-F238E27FC236}">
                <a16:creationId xmlns:a16="http://schemas.microsoft.com/office/drawing/2014/main" id="{0DAB6D18-A33F-3647-812E-489E79D50A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6713" y="6345238"/>
            <a:ext cx="11874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ru-RU" sz="2000"/>
              <a:t>F1</a:t>
            </a:r>
          </a:p>
        </p:txBody>
      </p:sp>
      <p:sp>
        <p:nvSpPr>
          <p:cNvPr id="27652" name="Text Box 5">
            <a:extLst>
              <a:ext uri="{FF2B5EF4-FFF2-40B4-BE49-F238E27FC236}">
                <a16:creationId xmlns:a16="http://schemas.microsoft.com/office/drawing/2014/main" id="{C914D94D-4A9D-F142-B3EF-9DB52B90AB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5038" y="3933825"/>
            <a:ext cx="5762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ru-RU" sz="2000"/>
              <a:t>F2</a:t>
            </a:r>
          </a:p>
        </p:txBody>
      </p:sp>
      <p:sp>
        <p:nvSpPr>
          <p:cNvPr id="27653" name="Oval 6">
            <a:extLst>
              <a:ext uri="{FF2B5EF4-FFF2-40B4-BE49-F238E27FC236}">
                <a16:creationId xmlns:a16="http://schemas.microsoft.com/office/drawing/2014/main" id="{7B06F4CC-2102-5E4D-A78C-53EE0E7DF5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6825" y="3860800"/>
            <a:ext cx="71438" cy="73025"/>
          </a:xfrm>
          <a:prstGeom prst="ellipse">
            <a:avLst/>
          </a:prstGeom>
          <a:solidFill>
            <a:srgbClr val="3333C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27654" name="Oval 7">
            <a:extLst>
              <a:ext uri="{FF2B5EF4-FFF2-40B4-BE49-F238E27FC236}">
                <a16:creationId xmlns:a16="http://schemas.microsoft.com/office/drawing/2014/main" id="{1AA9B340-AD07-744E-B0B6-DFB03C9662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6213" y="4040188"/>
            <a:ext cx="71437" cy="73025"/>
          </a:xfrm>
          <a:prstGeom prst="ellipse">
            <a:avLst/>
          </a:prstGeom>
          <a:solidFill>
            <a:srgbClr val="3333C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27655" name="Oval 8">
            <a:extLst>
              <a:ext uri="{FF2B5EF4-FFF2-40B4-BE49-F238E27FC236}">
                <a16:creationId xmlns:a16="http://schemas.microsoft.com/office/drawing/2014/main" id="{444BB798-F775-224A-A8D6-C24DC11FD6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5600" y="4219575"/>
            <a:ext cx="71438" cy="73025"/>
          </a:xfrm>
          <a:prstGeom prst="ellipse">
            <a:avLst/>
          </a:prstGeom>
          <a:solidFill>
            <a:srgbClr val="3333C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27656" name="Oval 9">
            <a:extLst>
              <a:ext uri="{FF2B5EF4-FFF2-40B4-BE49-F238E27FC236}">
                <a16:creationId xmlns:a16="http://schemas.microsoft.com/office/drawing/2014/main" id="{3E6A6F61-8F39-CC49-BBD2-3FD3B92EAA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6213" y="4040188"/>
            <a:ext cx="71437" cy="73025"/>
          </a:xfrm>
          <a:prstGeom prst="ellipse">
            <a:avLst/>
          </a:prstGeom>
          <a:solidFill>
            <a:srgbClr val="3333C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27657" name="Oval 10">
            <a:extLst>
              <a:ext uri="{FF2B5EF4-FFF2-40B4-BE49-F238E27FC236}">
                <a16:creationId xmlns:a16="http://schemas.microsoft.com/office/drawing/2014/main" id="{669A7166-C041-D84C-A365-865F3D2F70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5600" y="4471988"/>
            <a:ext cx="71438" cy="73025"/>
          </a:xfrm>
          <a:prstGeom prst="ellipse">
            <a:avLst/>
          </a:prstGeom>
          <a:solidFill>
            <a:srgbClr val="3333C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27658" name="Oval 11">
            <a:extLst>
              <a:ext uri="{FF2B5EF4-FFF2-40B4-BE49-F238E27FC236}">
                <a16:creationId xmlns:a16="http://schemas.microsoft.com/office/drawing/2014/main" id="{E6907173-E067-2B4B-9C59-F94FF0C5C5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4988" y="4398963"/>
            <a:ext cx="71437" cy="73025"/>
          </a:xfrm>
          <a:prstGeom prst="ellipse">
            <a:avLst/>
          </a:prstGeom>
          <a:solidFill>
            <a:srgbClr val="3333C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27659" name="Oval 12">
            <a:extLst>
              <a:ext uri="{FF2B5EF4-FFF2-40B4-BE49-F238E27FC236}">
                <a16:creationId xmlns:a16="http://schemas.microsoft.com/office/drawing/2014/main" id="{2407B534-1380-214D-B99A-C896F40867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7900" y="4041775"/>
            <a:ext cx="71438" cy="73025"/>
          </a:xfrm>
          <a:prstGeom prst="ellipse">
            <a:avLst/>
          </a:prstGeom>
          <a:solidFill>
            <a:srgbClr val="3333C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27660" name="Oval 13">
            <a:extLst>
              <a:ext uri="{FF2B5EF4-FFF2-40B4-BE49-F238E27FC236}">
                <a16:creationId xmlns:a16="http://schemas.microsoft.com/office/drawing/2014/main" id="{D6B1C44C-8786-ED44-8A24-2570C648A4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6825" y="4221163"/>
            <a:ext cx="71438" cy="73025"/>
          </a:xfrm>
          <a:prstGeom prst="ellipse">
            <a:avLst/>
          </a:prstGeom>
          <a:solidFill>
            <a:srgbClr val="3333C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27661" name="Oval 14">
            <a:extLst>
              <a:ext uri="{FF2B5EF4-FFF2-40B4-BE49-F238E27FC236}">
                <a16:creationId xmlns:a16="http://schemas.microsoft.com/office/drawing/2014/main" id="{5099A158-C087-1F49-87D8-308D1B91A5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2575" y="4687888"/>
            <a:ext cx="71438" cy="73025"/>
          </a:xfrm>
          <a:prstGeom prst="ellipse">
            <a:avLst/>
          </a:prstGeom>
          <a:solidFill>
            <a:srgbClr val="3333C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27662" name="Oval 15">
            <a:extLst>
              <a:ext uri="{FF2B5EF4-FFF2-40B4-BE49-F238E27FC236}">
                <a16:creationId xmlns:a16="http://schemas.microsoft.com/office/drawing/2014/main" id="{DFA84736-8C43-144F-90AE-17E310F7FB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2250" y="4003675"/>
            <a:ext cx="71438" cy="73025"/>
          </a:xfrm>
          <a:prstGeom prst="ellipse">
            <a:avLst/>
          </a:prstGeom>
          <a:solidFill>
            <a:srgbClr val="3333C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27663" name="Oval 16">
            <a:extLst>
              <a:ext uri="{FF2B5EF4-FFF2-40B4-BE49-F238E27FC236}">
                <a16:creationId xmlns:a16="http://schemas.microsoft.com/office/drawing/2014/main" id="{301BD46A-7552-4144-B7BC-8E573A46BC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3938" y="4041775"/>
            <a:ext cx="71437" cy="73025"/>
          </a:xfrm>
          <a:prstGeom prst="ellipse">
            <a:avLst/>
          </a:prstGeom>
          <a:solidFill>
            <a:srgbClr val="3333C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27664" name="Oval 17">
            <a:extLst>
              <a:ext uri="{FF2B5EF4-FFF2-40B4-BE49-F238E27FC236}">
                <a16:creationId xmlns:a16="http://schemas.microsoft.com/office/drawing/2014/main" id="{08318ED4-D9C1-7349-B567-5E0E64D6D4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1025" y="3535363"/>
            <a:ext cx="71438" cy="73025"/>
          </a:xfrm>
          <a:prstGeom prst="ellipse">
            <a:avLst/>
          </a:prstGeom>
          <a:solidFill>
            <a:srgbClr val="3333C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27665" name="Oval 18">
            <a:extLst>
              <a:ext uri="{FF2B5EF4-FFF2-40B4-BE49-F238E27FC236}">
                <a16:creationId xmlns:a16="http://schemas.microsoft.com/office/drawing/2014/main" id="{E268C3BD-977E-6A42-B5C9-28B8F89D55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1638" y="3608388"/>
            <a:ext cx="71437" cy="73025"/>
          </a:xfrm>
          <a:prstGeom prst="ellipse">
            <a:avLst/>
          </a:prstGeom>
          <a:solidFill>
            <a:srgbClr val="3333C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27666" name="Oval 19">
            <a:extLst>
              <a:ext uri="{FF2B5EF4-FFF2-40B4-BE49-F238E27FC236}">
                <a16:creationId xmlns:a16="http://schemas.microsoft.com/office/drawing/2014/main" id="{B8A5AEEE-062B-E74C-BC2C-10F73267CB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1025" y="3535363"/>
            <a:ext cx="71438" cy="73025"/>
          </a:xfrm>
          <a:prstGeom prst="ellipse">
            <a:avLst/>
          </a:prstGeom>
          <a:solidFill>
            <a:srgbClr val="3333C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27667" name="Oval 20">
            <a:extLst>
              <a:ext uri="{FF2B5EF4-FFF2-40B4-BE49-F238E27FC236}">
                <a16:creationId xmlns:a16="http://schemas.microsoft.com/office/drawing/2014/main" id="{7A484109-B342-6640-A051-F6087C35B1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8513" y="3751263"/>
            <a:ext cx="71437" cy="73025"/>
          </a:xfrm>
          <a:prstGeom prst="ellipse">
            <a:avLst/>
          </a:prstGeom>
          <a:solidFill>
            <a:srgbClr val="3333C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27668" name="Oval 21">
            <a:extLst>
              <a:ext uri="{FF2B5EF4-FFF2-40B4-BE49-F238E27FC236}">
                <a16:creationId xmlns:a16="http://schemas.microsoft.com/office/drawing/2014/main" id="{C89F7559-F8C6-484A-8DAC-ADA5C92CF1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9225" y="3787775"/>
            <a:ext cx="71438" cy="73025"/>
          </a:xfrm>
          <a:prstGeom prst="ellipse">
            <a:avLst/>
          </a:prstGeom>
          <a:solidFill>
            <a:srgbClr val="3333C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27669" name="Oval 22">
            <a:extLst>
              <a:ext uri="{FF2B5EF4-FFF2-40B4-BE49-F238E27FC236}">
                <a16:creationId xmlns:a16="http://schemas.microsoft.com/office/drawing/2014/main" id="{DB84F65A-CF73-CA43-9B7B-54DD443320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38613" y="3824288"/>
            <a:ext cx="71437" cy="73025"/>
          </a:xfrm>
          <a:prstGeom prst="ellipse">
            <a:avLst/>
          </a:prstGeom>
          <a:solidFill>
            <a:srgbClr val="3333C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27670" name="Oval 23">
            <a:extLst>
              <a:ext uri="{FF2B5EF4-FFF2-40B4-BE49-F238E27FC236}">
                <a16:creationId xmlns:a16="http://schemas.microsoft.com/office/drawing/2014/main" id="{EFDE65D5-5159-8445-BF51-4A368FB075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8000" y="4003675"/>
            <a:ext cx="71438" cy="73025"/>
          </a:xfrm>
          <a:prstGeom prst="ellipse">
            <a:avLst/>
          </a:prstGeom>
          <a:solidFill>
            <a:srgbClr val="3333C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27671" name="Oval 24">
            <a:extLst>
              <a:ext uri="{FF2B5EF4-FFF2-40B4-BE49-F238E27FC236}">
                <a16:creationId xmlns:a16="http://schemas.microsoft.com/office/drawing/2014/main" id="{3DDCA5AE-AD5E-2943-A25B-88D0693A79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97438" y="4508500"/>
            <a:ext cx="71437" cy="73025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27672" name="Oval 25">
            <a:extLst>
              <a:ext uri="{FF2B5EF4-FFF2-40B4-BE49-F238E27FC236}">
                <a16:creationId xmlns:a16="http://schemas.microsoft.com/office/drawing/2014/main" id="{C99F762B-D986-DF48-B932-054308E83E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6825" y="4687888"/>
            <a:ext cx="71438" cy="73025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27673" name="Oval 26">
            <a:extLst>
              <a:ext uri="{FF2B5EF4-FFF2-40B4-BE49-F238E27FC236}">
                <a16:creationId xmlns:a16="http://schemas.microsoft.com/office/drawing/2014/main" id="{D2FCA9BB-7F64-8344-AF2C-64DC1A791A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6213" y="4867275"/>
            <a:ext cx="71437" cy="73025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27674" name="Oval 27">
            <a:extLst>
              <a:ext uri="{FF2B5EF4-FFF2-40B4-BE49-F238E27FC236}">
                <a16:creationId xmlns:a16="http://schemas.microsoft.com/office/drawing/2014/main" id="{ABC94A51-096E-3E46-B271-8AE1B85BA6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6825" y="4687888"/>
            <a:ext cx="71438" cy="73025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27675" name="Oval 28">
            <a:extLst>
              <a:ext uri="{FF2B5EF4-FFF2-40B4-BE49-F238E27FC236}">
                <a16:creationId xmlns:a16="http://schemas.microsoft.com/office/drawing/2014/main" id="{A1AF14ED-8CD7-D642-BCD1-42DCE59A8B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6213" y="5119688"/>
            <a:ext cx="71437" cy="73025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27676" name="Oval 29">
            <a:extLst>
              <a:ext uri="{FF2B5EF4-FFF2-40B4-BE49-F238E27FC236}">
                <a16:creationId xmlns:a16="http://schemas.microsoft.com/office/drawing/2014/main" id="{AB623D40-376A-EB48-AF9D-0C6F778ABA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5600" y="5046663"/>
            <a:ext cx="71438" cy="73025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27677" name="Oval 30">
            <a:extLst>
              <a:ext uri="{FF2B5EF4-FFF2-40B4-BE49-F238E27FC236}">
                <a16:creationId xmlns:a16="http://schemas.microsoft.com/office/drawing/2014/main" id="{DDBBC74E-84FD-BE47-B86A-DAFB022D13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8513" y="4689475"/>
            <a:ext cx="71437" cy="73025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27678" name="Oval 31">
            <a:extLst>
              <a:ext uri="{FF2B5EF4-FFF2-40B4-BE49-F238E27FC236}">
                <a16:creationId xmlns:a16="http://schemas.microsoft.com/office/drawing/2014/main" id="{48A50026-F2F5-7648-A677-E8E1BFE3BF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97438" y="4868863"/>
            <a:ext cx="71437" cy="73025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27679" name="Oval 32">
            <a:extLst>
              <a:ext uri="{FF2B5EF4-FFF2-40B4-BE49-F238E27FC236}">
                <a16:creationId xmlns:a16="http://schemas.microsoft.com/office/drawing/2014/main" id="{F84DEDC3-C626-D74E-BBCD-704355C1B9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6825" y="4976813"/>
            <a:ext cx="71438" cy="73025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27680" name="Oval 33">
            <a:extLst>
              <a:ext uri="{FF2B5EF4-FFF2-40B4-BE49-F238E27FC236}">
                <a16:creationId xmlns:a16="http://schemas.microsoft.com/office/drawing/2014/main" id="{0EF3C166-6A7D-6340-802C-6C2E1F6062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2863" y="4651375"/>
            <a:ext cx="71437" cy="73025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27681" name="Oval 34">
            <a:extLst>
              <a:ext uri="{FF2B5EF4-FFF2-40B4-BE49-F238E27FC236}">
                <a16:creationId xmlns:a16="http://schemas.microsoft.com/office/drawing/2014/main" id="{4D5AE2FA-BFF1-784A-9707-F6DDA5EE0A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5025" y="4327525"/>
            <a:ext cx="71438" cy="73025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27682" name="Oval 35">
            <a:extLst>
              <a:ext uri="{FF2B5EF4-FFF2-40B4-BE49-F238E27FC236}">
                <a16:creationId xmlns:a16="http://schemas.microsoft.com/office/drawing/2014/main" id="{CB86381F-3556-794C-8C1C-3E78D491F8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1638" y="4183063"/>
            <a:ext cx="71437" cy="73025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27683" name="Oval 36">
            <a:extLst>
              <a:ext uri="{FF2B5EF4-FFF2-40B4-BE49-F238E27FC236}">
                <a16:creationId xmlns:a16="http://schemas.microsoft.com/office/drawing/2014/main" id="{F2449D55-09D5-8A4B-9156-AC9734411E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2250" y="4256088"/>
            <a:ext cx="71438" cy="73025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27684" name="Oval 37">
            <a:extLst>
              <a:ext uri="{FF2B5EF4-FFF2-40B4-BE49-F238E27FC236}">
                <a16:creationId xmlns:a16="http://schemas.microsoft.com/office/drawing/2014/main" id="{A9C784DF-EAEA-964D-B65D-AA718443C3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1638" y="4183063"/>
            <a:ext cx="71437" cy="73025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27685" name="Oval 38">
            <a:extLst>
              <a:ext uri="{FF2B5EF4-FFF2-40B4-BE49-F238E27FC236}">
                <a16:creationId xmlns:a16="http://schemas.microsoft.com/office/drawing/2014/main" id="{E9BF143C-8AF1-2944-9445-0AC313CF17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1025" y="4362450"/>
            <a:ext cx="71438" cy="73025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27686" name="Oval 39">
            <a:extLst>
              <a:ext uri="{FF2B5EF4-FFF2-40B4-BE49-F238E27FC236}">
                <a16:creationId xmlns:a16="http://schemas.microsoft.com/office/drawing/2014/main" id="{55E5D5F6-FB04-064A-AE7D-6C634EE35C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9838" y="4435475"/>
            <a:ext cx="71437" cy="73025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27687" name="Oval 40">
            <a:extLst>
              <a:ext uri="{FF2B5EF4-FFF2-40B4-BE49-F238E27FC236}">
                <a16:creationId xmlns:a16="http://schemas.microsoft.com/office/drawing/2014/main" id="{A37E06D2-C5B4-7C4C-847D-040FD0582C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9225" y="4471988"/>
            <a:ext cx="71438" cy="73025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27688" name="Oval 41">
            <a:extLst>
              <a:ext uri="{FF2B5EF4-FFF2-40B4-BE49-F238E27FC236}">
                <a16:creationId xmlns:a16="http://schemas.microsoft.com/office/drawing/2014/main" id="{8C113F73-2F7C-FE47-8B95-D09AF71208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38613" y="4651375"/>
            <a:ext cx="71437" cy="73025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27689" name="Line 42">
            <a:extLst>
              <a:ext uri="{FF2B5EF4-FFF2-40B4-BE49-F238E27FC236}">
                <a16:creationId xmlns:a16="http://schemas.microsoft.com/office/drawing/2014/main" id="{6076B26F-E439-FA44-9114-E0C148D20EC8}"/>
              </a:ext>
            </a:extLst>
          </p:cNvPr>
          <p:cNvSpPr>
            <a:spLocks noChangeShapeType="1"/>
          </p:cNvSpPr>
          <p:nvPr/>
        </p:nvSpPr>
        <p:spPr bwMode="auto">
          <a:xfrm>
            <a:off x="3419475" y="2960688"/>
            <a:ext cx="2844800" cy="270033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27690" name="Line 43">
            <a:extLst>
              <a:ext uri="{FF2B5EF4-FFF2-40B4-BE49-F238E27FC236}">
                <a16:creationId xmlns:a16="http://schemas.microsoft.com/office/drawing/2014/main" id="{9F8AE261-F297-284F-A915-94A2E0F3055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411413" y="4005263"/>
            <a:ext cx="3816350" cy="28733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27691" name="Line 44">
            <a:extLst>
              <a:ext uri="{FF2B5EF4-FFF2-40B4-BE49-F238E27FC236}">
                <a16:creationId xmlns:a16="http://schemas.microsoft.com/office/drawing/2014/main" id="{5AD4F59F-539B-5443-B301-FB36736324C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87788" y="2781300"/>
            <a:ext cx="1044575" cy="2952750"/>
          </a:xfrm>
          <a:prstGeom prst="line">
            <a:avLst/>
          </a:prstGeom>
          <a:noFill/>
          <a:ln w="28575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27692" name="Text Box 45">
            <a:extLst>
              <a:ext uri="{FF2B5EF4-FFF2-40B4-BE49-F238E27FC236}">
                <a16:creationId xmlns:a16="http://schemas.microsoft.com/office/drawing/2014/main" id="{72934CCB-AA4C-E645-8A23-FF43BEE8F8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97438" y="2168525"/>
            <a:ext cx="1835150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ru-RU" sz="2000">
                <a:solidFill>
                  <a:srgbClr val="009900"/>
                </a:solidFill>
              </a:rPr>
              <a:t>decision boundary of gating net</a:t>
            </a:r>
          </a:p>
        </p:txBody>
      </p:sp>
      <p:sp>
        <p:nvSpPr>
          <p:cNvPr id="27693" name="Text Box 46">
            <a:extLst>
              <a:ext uri="{FF2B5EF4-FFF2-40B4-BE49-F238E27FC236}">
                <a16:creationId xmlns:a16="http://schemas.microsoft.com/office/drawing/2014/main" id="{DCAA63DD-8DCB-0441-9800-9D99ED2750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4438" y="1989138"/>
            <a:ext cx="1439862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ru-RU" sz="2000"/>
              <a:t>decision boundary of expert 1</a:t>
            </a:r>
          </a:p>
        </p:txBody>
      </p:sp>
      <p:sp>
        <p:nvSpPr>
          <p:cNvPr id="27694" name="Text Box 47">
            <a:extLst>
              <a:ext uri="{FF2B5EF4-FFF2-40B4-BE49-F238E27FC236}">
                <a16:creationId xmlns:a16="http://schemas.microsoft.com/office/drawing/2014/main" id="{3AEDC51D-98B5-F44F-93B5-5EE8DA8053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5763" y="4186238"/>
            <a:ext cx="1439862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ru-RU" sz="2000"/>
              <a:t>decision boundary of expert 2</a:t>
            </a:r>
          </a:p>
        </p:txBody>
      </p:sp>
      <p:sp>
        <p:nvSpPr>
          <p:cNvPr id="27695" name="Text Box 48">
            <a:extLst>
              <a:ext uri="{FF2B5EF4-FFF2-40B4-BE49-F238E27FC236}">
                <a16:creationId xmlns:a16="http://schemas.microsoft.com/office/drawing/2014/main" id="{EDBECC34-B516-FB4B-B2A9-179CF92162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0200" y="5408613"/>
            <a:ext cx="158432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ru-RU" sz="2000">
                <a:solidFill>
                  <a:srgbClr val="009900"/>
                </a:solidFill>
              </a:rPr>
              <a:t>use expert 1 on this side</a:t>
            </a:r>
          </a:p>
        </p:txBody>
      </p:sp>
      <p:sp>
        <p:nvSpPr>
          <p:cNvPr id="27696" name="Text Box 49">
            <a:extLst>
              <a:ext uri="{FF2B5EF4-FFF2-40B4-BE49-F238E27FC236}">
                <a16:creationId xmlns:a16="http://schemas.microsoft.com/office/drawing/2014/main" id="{C47A97D0-61D9-8F4B-A786-096044F140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4075" y="5408613"/>
            <a:ext cx="158432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ru-RU" sz="2000">
                <a:solidFill>
                  <a:srgbClr val="009900"/>
                </a:solidFill>
              </a:rPr>
              <a:t>use expert 2 on this side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>
            <a:extLst>
              <a:ext uri="{FF2B5EF4-FFF2-40B4-BE49-F238E27FC236}">
                <a16:creationId xmlns:a16="http://schemas.microsoft.com/office/drawing/2014/main" id="{618C1882-CA61-D947-B9D7-C79B8E3BB2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" altLang="ru-RU" dirty="0"/>
              <a:t>Иерархические смеси экспертов (HMoE)</a:t>
            </a:r>
            <a:endParaRPr lang="en-US" altLang="ru-RU" dirty="0"/>
          </a:p>
        </p:txBody>
      </p:sp>
      <p:sp>
        <p:nvSpPr>
          <p:cNvPr id="28674" name="Text Box 7">
            <a:extLst>
              <a:ext uri="{FF2B5EF4-FFF2-40B4-BE49-F238E27FC236}">
                <a16:creationId xmlns:a16="http://schemas.microsoft.com/office/drawing/2014/main" id="{7526791B-0EBB-BB47-8110-04987D5C45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2988" y="5300663"/>
            <a:ext cx="1225550" cy="422275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ru-RU" sz="2000"/>
              <a:t>Expert 1</a:t>
            </a:r>
          </a:p>
        </p:txBody>
      </p:sp>
      <p:sp>
        <p:nvSpPr>
          <p:cNvPr id="28675" name="Text Box 8">
            <a:extLst>
              <a:ext uri="{FF2B5EF4-FFF2-40B4-BE49-F238E27FC236}">
                <a16:creationId xmlns:a16="http://schemas.microsoft.com/office/drawing/2014/main" id="{26BB070E-3AD5-0043-B57D-9B0158A130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46900" y="5300663"/>
            <a:ext cx="1225550" cy="422275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ru-RU" sz="2000"/>
              <a:t>Expert 4</a:t>
            </a:r>
          </a:p>
        </p:txBody>
      </p:sp>
      <p:sp>
        <p:nvSpPr>
          <p:cNvPr id="28676" name="Text Box 9">
            <a:extLst>
              <a:ext uri="{FF2B5EF4-FFF2-40B4-BE49-F238E27FC236}">
                <a16:creationId xmlns:a16="http://schemas.microsoft.com/office/drawing/2014/main" id="{ED478C2E-AC39-1647-9911-892DA679FC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75238" y="5300663"/>
            <a:ext cx="1225550" cy="422275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ru-RU" sz="2000"/>
              <a:t>Expert 3</a:t>
            </a:r>
          </a:p>
        </p:txBody>
      </p:sp>
      <p:sp>
        <p:nvSpPr>
          <p:cNvPr id="28677" name="Text Box 10">
            <a:extLst>
              <a:ext uri="{FF2B5EF4-FFF2-40B4-BE49-F238E27FC236}">
                <a16:creationId xmlns:a16="http://schemas.microsoft.com/office/drawing/2014/main" id="{45A12B3A-3A24-0F42-8051-DB28920EA2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4650" y="5300663"/>
            <a:ext cx="1225550" cy="422275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ru-RU" sz="2000"/>
              <a:t>Expert 2</a:t>
            </a:r>
          </a:p>
        </p:txBody>
      </p:sp>
      <p:sp>
        <p:nvSpPr>
          <p:cNvPr id="28678" name="Text Box 11">
            <a:extLst>
              <a:ext uri="{FF2B5EF4-FFF2-40B4-BE49-F238E27FC236}">
                <a16:creationId xmlns:a16="http://schemas.microsoft.com/office/drawing/2014/main" id="{EA702520-F70B-144F-9F76-0EE33F6BEF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2638" y="3284538"/>
            <a:ext cx="863600" cy="879475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ru-RU" sz="2000"/>
              <a:t>Gate 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ru-RU" sz="2000"/>
              <a:t>1 v 2</a:t>
            </a:r>
          </a:p>
        </p:txBody>
      </p:sp>
      <p:sp>
        <p:nvSpPr>
          <p:cNvPr id="28679" name="Text Box 12">
            <a:extLst>
              <a:ext uri="{FF2B5EF4-FFF2-40B4-BE49-F238E27FC236}">
                <a16:creationId xmlns:a16="http://schemas.microsoft.com/office/drawing/2014/main" id="{D5536508-6B23-6E47-B4EA-C2EB93E594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56325" y="3284538"/>
            <a:ext cx="792163" cy="879475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ru-RU" sz="2000"/>
              <a:t>Gate 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ru-RU" sz="2000"/>
              <a:t>3 v 4</a:t>
            </a:r>
          </a:p>
        </p:txBody>
      </p:sp>
      <p:sp>
        <p:nvSpPr>
          <p:cNvPr id="28680" name="Text Box 13">
            <a:extLst>
              <a:ext uri="{FF2B5EF4-FFF2-40B4-BE49-F238E27FC236}">
                <a16:creationId xmlns:a16="http://schemas.microsoft.com/office/drawing/2014/main" id="{F125F13C-2EE7-4E46-9FA8-474CD4C930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9838" y="1700213"/>
            <a:ext cx="1296987" cy="879475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ru-RU" sz="2000"/>
              <a:t>   Gate 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ru-RU" sz="2000"/>
              <a:t>1,2 v 3,4</a:t>
            </a:r>
          </a:p>
        </p:txBody>
      </p:sp>
      <p:cxnSp>
        <p:nvCxnSpPr>
          <p:cNvPr id="28681" name="AutoShape 14">
            <a:extLst>
              <a:ext uri="{FF2B5EF4-FFF2-40B4-BE49-F238E27FC236}">
                <a16:creationId xmlns:a16="http://schemas.microsoft.com/office/drawing/2014/main" id="{BFC7D03B-8B40-9642-8B65-E62805EA7930}"/>
              </a:ext>
            </a:extLst>
          </p:cNvPr>
          <p:cNvCxnSpPr>
            <a:cxnSpLocks noChangeShapeType="1"/>
            <a:stCxn id="28674" idx="0"/>
            <a:endCxn id="28678" idx="2"/>
          </p:cNvCxnSpPr>
          <p:nvPr/>
        </p:nvCxnSpPr>
        <p:spPr bwMode="auto">
          <a:xfrm flipV="1">
            <a:off x="1655763" y="4176713"/>
            <a:ext cx="828675" cy="11112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8682" name="AutoShape 15">
            <a:extLst>
              <a:ext uri="{FF2B5EF4-FFF2-40B4-BE49-F238E27FC236}">
                <a16:creationId xmlns:a16="http://schemas.microsoft.com/office/drawing/2014/main" id="{BF2785EF-3DAE-2746-8283-AF205A55F65A}"/>
              </a:ext>
            </a:extLst>
          </p:cNvPr>
          <p:cNvCxnSpPr>
            <a:cxnSpLocks noChangeShapeType="1"/>
            <a:stCxn id="28678" idx="2"/>
            <a:endCxn id="28677" idx="0"/>
          </p:cNvCxnSpPr>
          <p:nvPr/>
        </p:nvCxnSpPr>
        <p:spPr bwMode="auto">
          <a:xfrm>
            <a:off x="2484438" y="4176713"/>
            <a:ext cx="1042987" cy="11112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8683" name="AutoShape 16">
            <a:extLst>
              <a:ext uri="{FF2B5EF4-FFF2-40B4-BE49-F238E27FC236}">
                <a16:creationId xmlns:a16="http://schemas.microsoft.com/office/drawing/2014/main" id="{FAF10168-42C2-A442-921A-F515FE900B16}"/>
              </a:ext>
            </a:extLst>
          </p:cNvPr>
          <p:cNvCxnSpPr>
            <a:cxnSpLocks noChangeShapeType="1"/>
            <a:stCxn id="28676" idx="0"/>
            <a:endCxn id="28679" idx="2"/>
          </p:cNvCxnSpPr>
          <p:nvPr/>
        </p:nvCxnSpPr>
        <p:spPr bwMode="auto">
          <a:xfrm flipV="1">
            <a:off x="5688013" y="4176713"/>
            <a:ext cx="865187" cy="11112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8684" name="AutoShape 17">
            <a:extLst>
              <a:ext uri="{FF2B5EF4-FFF2-40B4-BE49-F238E27FC236}">
                <a16:creationId xmlns:a16="http://schemas.microsoft.com/office/drawing/2014/main" id="{43C6ABC6-40A1-8C46-8AEE-8DB3D9894355}"/>
              </a:ext>
            </a:extLst>
          </p:cNvPr>
          <p:cNvCxnSpPr>
            <a:cxnSpLocks noChangeShapeType="1"/>
            <a:stCxn id="28675" idx="0"/>
            <a:endCxn id="28679" idx="2"/>
          </p:cNvCxnSpPr>
          <p:nvPr/>
        </p:nvCxnSpPr>
        <p:spPr bwMode="auto">
          <a:xfrm flipH="1" flipV="1">
            <a:off x="6553200" y="4176713"/>
            <a:ext cx="1006475" cy="11112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8685" name="AutoShape 18">
            <a:extLst>
              <a:ext uri="{FF2B5EF4-FFF2-40B4-BE49-F238E27FC236}">
                <a16:creationId xmlns:a16="http://schemas.microsoft.com/office/drawing/2014/main" id="{C3A056A6-C31E-914C-B8E4-F7E06BCC6DA0}"/>
              </a:ext>
            </a:extLst>
          </p:cNvPr>
          <p:cNvCxnSpPr>
            <a:cxnSpLocks noChangeShapeType="1"/>
            <a:stCxn id="28678" idx="0"/>
            <a:endCxn id="28680" idx="2"/>
          </p:cNvCxnSpPr>
          <p:nvPr/>
        </p:nvCxnSpPr>
        <p:spPr bwMode="auto">
          <a:xfrm flipV="1">
            <a:off x="2484438" y="2592388"/>
            <a:ext cx="1944687" cy="6794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8686" name="AutoShape 19">
            <a:extLst>
              <a:ext uri="{FF2B5EF4-FFF2-40B4-BE49-F238E27FC236}">
                <a16:creationId xmlns:a16="http://schemas.microsoft.com/office/drawing/2014/main" id="{8A3C131E-46BF-6346-A502-005264A5EF29}"/>
              </a:ext>
            </a:extLst>
          </p:cNvPr>
          <p:cNvCxnSpPr>
            <a:cxnSpLocks noChangeShapeType="1"/>
            <a:stCxn id="28680" idx="2"/>
            <a:endCxn id="28679" idx="0"/>
          </p:cNvCxnSpPr>
          <p:nvPr/>
        </p:nvCxnSpPr>
        <p:spPr bwMode="auto">
          <a:xfrm>
            <a:off x="4429125" y="2592388"/>
            <a:ext cx="2124075" cy="6794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8687" name="Text Box 20">
            <a:extLst>
              <a:ext uri="{FF2B5EF4-FFF2-40B4-BE49-F238E27FC236}">
                <a16:creationId xmlns:a16="http://schemas.microsoft.com/office/drawing/2014/main" id="{2720E2B9-3A57-664C-9817-3BDE3D38FF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32138" y="6165850"/>
            <a:ext cx="7921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ru-RU" sz="2000"/>
              <a:t>input</a:t>
            </a:r>
          </a:p>
        </p:txBody>
      </p:sp>
      <p:sp>
        <p:nvSpPr>
          <p:cNvPr id="28688" name="Line 22">
            <a:extLst>
              <a:ext uri="{FF2B5EF4-FFF2-40B4-BE49-F238E27FC236}">
                <a16:creationId xmlns:a16="http://schemas.microsoft.com/office/drawing/2014/main" id="{00B466D1-3867-B74D-BE7E-B4985C906FC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92500" y="5805488"/>
            <a:ext cx="0" cy="3603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28689" name="Text Box 23">
            <a:extLst>
              <a:ext uri="{FF2B5EF4-FFF2-40B4-BE49-F238E27FC236}">
                <a16:creationId xmlns:a16="http://schemas.microsoft.com/office/drawing/2014/main" id="{FA5E3CBB-0440-7448-84F8-2C5F752290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4388" y="6165850"/>
            <a:ext cx="7921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ru-RU" sz="2000"/>
              <a:t>input</a:t>
            </a:r>
          </a:p>
        </p:txBody>
      </p:sp>
      <p:sp>
        <p:nvSpPr>
          <p:cNvPr id="28690" name="Line 24">
            <a:extLst>
              <a:ext uri="{FF2B5EF4-FFF2-40B4-BE49-F238E27FC236}">
                <a16:creationId xmlns:a16="http://schemas.microsoft.com/office/drawing/2014/main" id="{CB245B94-9CB8-DC47-BEC6-A0AFE19D642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524750" y="5805488"/>
            <a:ext cx="0" cy="3603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28691" name="Text Box 25">
            <a:extLst>
              <a:ext uri="{FF2B5EF4-FFF2-40B4-BE49-F238E27FC236}">
                <a16:creationId xmlns:a16="http://schemas.microsoft.com/office/drawing/2014/main" id="{DE9FAE27-D67C-2D4A-8FF9-615FB79782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92725" y="6165850"/>
            <a:ext cx="7921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ru-RU" sz="2000"/>
              <a:t>input</a:t>
            </a:r>
          </a:p>
        </p:txBody>
      </p:sp>
      <p:sp>
        <p:nvSpPr>
          <p:cNvPr id="28692" name="Line 26">
            <a:extLst>
              <a:ext uri="{FF2B5EF4-FFF2-40B4-BE49-F238E27FC236}">
                <a16:creationId xmlns:a16="http://schemas.microsoft.com/office/drawing/2014/main" id="{B21E241D-0336-EF47-909B-75E7DB03211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653088" y="5805488"/>
            <a:ext cx="0" cy="3603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28693" name="Text Box 27">
            <a:extLst>
              <a:ext uri="{FF2B5EF4-FFF2-40B4-BE49-F238E27FC236}">
                <a16:creationId xmlns:a16="http://schemas.microsoft.com/office/drawing/2014/main" id="{4BCA2AEF-286C-9A49-BB75-3111FA6509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888" y="6165850"/>
            <a:ext cx="7921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ru-RU" sz="2000"/>
              <a:t>input</a:t>
            </a:r>
          </a:p>
        </p:txBody>
      </p:sp>
      <p:sp>
        <p:nvSpPr>
          <p:cNvPr id="28694" name="Line 28">
            <a:extLst>
              <a:ext uri="{FF2B5EF4-FFF2-40B4-BE49-F238E27FC236}">
                <a16:creationId xmlns:a16="http://schemas.microsoft.com/office/drawing/2014/main" id="{91EA7EF1-15A1-8D4A-A3F0-B1505CB6C48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619250" y="5805488"/>
            <a:ext cx="0" cy="3603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28695" name="Text Box 29">
            <a:extLst>
              <a:ext uri="{FF2B5EF4-FFF2-40B4-BE49-F238E27FC236}">
                <a16:creationId xmlns:a16="http://schemas.microsoft.com/office/drawing/2014/main" id="{E192F747-215C-6740-A29B-B9D784962E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3502025"/>
            <a:ext cx="7921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ru-RU" sz="2000"/>
              <a:t>input</a:t>
            </a:r>
          </a:p>
        </p:txBody>
      </p:sp>
      <p:sp>
        <p:nvSpPr>
          <p:cNvPr id="28696" name="Line 30">
            <a:extLst>
              <a:ext uri="{FF2B5EF4-FFF2-40B4-BE49-F238E27FC236}">
                <a16:creationId xmlns:a16="http://schemas.microsoft.com/office/drawing/2014/main" id="{A288DD55-42BF-3D49-888F-C7B1B5CEB5D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403350" y="3714750"/>
            <a:ext cx="431800" cy="15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28697" name="Text Box 31">
            <a:extLst>
              <a:ext uri="{FF2B5EF4-FFF2-40B4-BE49-F238E27FC236}">
                <a16:creationId xmlns:a16="http://schemas.microsoft.com/office/drawing/2014/main" id="{EFC508FF-FB68-BC47-A89C-25903680AD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1413" y="1916113"/>
            <a:ext cx="7921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ru-RU" sz="2000"/>
              <a:t>input</a:t>
            </a:r>
          </a:p>
        </p:txBody>
      </p:sp>
      <p:sp>
        <p:nvSpPr>
          <p:cNvPr id="28698" name="Line 32">
            <a:extLst>
              <a:ext uri="{FF2B5EF4-FFF2-40B4-BE49-F238E27FC236}">
                <a16:creationId xmlns:a16="http://schemas.microsoft.com/office/drawing/2014/main" id="{E7ED3F9B-109C-3A4A-8371-D8DC65F9B76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03575" y="2128838"/>
            <a:ext cx="431800" cy="15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28699" name="Text Box 33">
            <a:extLst>
              <a:ext uri="{FF2B5EF4-FFF2-40B4-BE49-F238E27FC236}">
                <a16:creationId xmlns:a16="http://schemas.microsoft.com/office/drawing/2014/main" id="{D48E4D59-4711-234D-B7D1-0A1FFCC78D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12088" y="3500438"/>
            <a:ext cx="7921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ru-RU" sz="2000"/>
              <a:t>input</a:t>
            </a:r>
          </a:p>
        </p:txBody>
      </p:sp>
      <p:sp>
        <p:nvSpPr>
          <p:cNvPr id="28700" name="Line 34">
            <a:extLst>
              <a:ext uri="{FF2B5EF4-FFF2-40B4-BE49-F238E27FC236}">
                <a16:creationId xmlns:a16="http://schemas.microsoft.com/office/drawing/2014/main" id="{628423AB-95C4-C245-9AAC-1BFD4210940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235825" y="3714750"/>
            <a:ext cx="504825" cy="15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2">
            <a:extLst>
              <a:ext uri="{FF2B5EF4-FFF2-40B4-BE49-F238E27FC236}">
                <a16:creationId xmlns:a16="http://schemas.microsoft.com/office/drawing/2014/main" id="{EAA6B8F7-6C16-6840-89AD-278A06CF30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" altLang="ru-RU" dirty="0"/>
              <a:t>Генеративная модель для HMoE</a:t>
            </a:r>
          </a:p>
        </p:txBody>
      </p:sp>
      <p:sp>
        <p:nvSpPr>
          <p:cNvPr id="29698" name="Rectangle 3">
            <a:extLst>
              <a:ext uri="{FF2B5EF4-FFF2-40B4-BE49-F238E27FC236}">
                <a16:creationId xmlns:a16="http://schemas.microsoft.com/office/drawing/2014/main" id="{61EEF8DA-A8AF-CA43-A700-F42F22E45C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ru" altLang="ru-RU"/>
              <a:t>Сначала пусть верхний уровень шлюза выбирает одну ветвь дерева шлюзования, используя входные данные для определения относительных вероятностей</a:t>
            </a:r>
          </a:p>
          <a:p>
            <a:pPr eaLnBrk="1" hangingPunct="1"/>
            <a:r>
              <a:rPr lang="ru" altLang="ru-RU"/>
              <a:t>Затем используйте следующую сеть вентилей в выбранной ветви и т. д.</a:t>
            </a:r>
          </a:p>
          <a:p>
            <a:pPr eaLnBrk="1" hangingPunct="1"/>
            <a:r>
              <a:rPr lang="ru" altLang="ru-RU"/>
              <a:t>Наконец, сгенерируйте вывод эксперта в выбранном конечном узле.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2">
            <a:extLst>
              <a:ext uri="{FF2B5EF4-FFF2-40B4-BE49-F238E27FC236}">
                <a16:creationId xmlns:a16="http://schemas.microsoft.com/office/drawing/2014/main" id="{80A0FFFB-F44F-9F44-A587-A2A6A6BC62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" altLang="ru-RU" sz="3200"/>
              <a:t>Составление прогнозов после изучения дерева</a:t>
            </a:r>
          </a:p>
        </p:txBody>
      </p:sp>
      <p:sp>
        <p:nvSpPr>
          <p:cNvPr id="30722" name="Rectangle 3">
            <a:extLst>
              <a:ext uri="{FF2B5EF4-FFF2-40B4-BE49-F238E27FC236}">
                <a16:creationId xmlns:a16="http://schemas.microsoft.com/office/drawing/2014/main" id="{EFC9C94F-FCCA-0046-A4B3-94447244E4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ru" altLang="ru-RU" sz="2400" dirty="0"/>
              <a:t>Если мы проводим регрессию и наша функция потерь представляет собой квадрат ошибки, то усредняем результаты всех экспертов, используя вероятности путей через дерево вентилей в качестве весов.</a:t>
            </a:r>
          </a:p>
          <a:p>
            <a:pPr eaLnBrk="1" hangingPunct="1"/>
            <a:r>
              <a:rPr lang="ru" altLang="ru-RU" sz="2400" dirty="0"/>
              <a:t>Это позволяет избежать разрывов на границах между регионами, поскольку вероятности являются мягкими.</a:t>
            </a:r>
          </a:p>
          <a:p>
            <a:pPr lvl="1" eaLnBrk="1" hangingPunct="1"/>
            <a:r>
              <a:rPr lang="ru" altLang="ru-RU" sz="2400" dirty="0"/>
              <a:t>Это похоже на использование сигмоидальных единиц для обеспечения градиентного спуска в обучающих сетях прямого распространения.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2">
            <a:extLst>
              <a:ext uri="{FF2B5EF4-FFF2-40B4-BE49-F238E27FC236}">
                <a16:creationId xmlns:a16="http://schemas.microsoft.com/office/drawing/2014/main" id="{283770F1-989B-E649-BCFE-C0B124D1DC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" altLang="ru-RU"/>
              <a:t>Изучение упрощенного HMoE</a:t>
            </a:r>
          </a:p>
        </p:txBody>
      </p:sp>
      <p:sp>
        <p:nvSpPr>
          <p:cNvPr id="31746" name="Rectangle 3">
            <a:extLst>
              <a:ext uri="{FF2B5EF4-FFF2-40B4-BE49-F238E27FC236}">
                <a16:creationId xmlns:a16="http://schemas.microsoft.com/office/drawing/2014/main" id="{3A6BB1D0-7D26-0547-A173-9C34116B52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5068888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ru" altLang="ru-RU" sz="2000" dirty="0"/>
              <a:t>Существует очень эффективный способ обучения HMoE, если мы сделаем два предположения:</a:t>
            </a:r>
          </a:p>
          <a:p>
            <a:pPr eaLnBrk="1" hangingPunct="1">
              <a:lnSpc>
                <a:spcPct val="80000"/>
              </a:lnSpc>
            </a:pPr>
            <a:r>
              <a:rPr lang="ru" altLang="ru-RU" sz="2000" dirty="0">
                <a:solidFill>
                  <a:srgbClr val="000099"/>
                </a:solidFill>
              </a:rPr>
              <a:t>Линейные эксперты: </a:t>
            </a:r>
            <a:r>
              <a:rPr lang="ru" altLang="ru-RU" sz="2000" dirty="0"/>
              <a:t>заставьте каждого эксперта выдавать выходной сигнал, являющийся линейной функцией входного сигнала, и используйте квадратичную ошибку.</a:t>
            </a:r>
          </a:p>
          <a:p>
            <a:pPr lvl="1" eaLnBrk="1" hangingPunct="1">
              <a:lnSpc>
                <a:spcPct val="80000"/>
              </a:lnSpc>
            </a:pPr>
            <a:r>
              <a:rPr lang="ru" altLang="ru-RU" sz="2000" dirty="0"/>
              <a:t>Это позволяет подбирать эксперта без итеративного подхода, если мы знаем, какую долю ответственности он несет за каждый учебный случай.</a:t>
            </a:r>
          </a:p>
          <a:p>
            <a:pPr eaLnBrk="1" hangingPunct="1">
              <a:lnSpc>
                <a:spcPct val="80000"/>
              </a:lnSpc>
            </a:pPr>
            <a:r>
              <a:rPr lang="ru" altLang="ru-RU" sz="2000" dirty="0">
                <a:solidFill>
                  <a:srgbClr val="000099"/>
                </a:solidFill>
              </a:rPr>
              <a:t>Обобщенные линейные сети управления: </a:t>
            </a:r>
            <a:r>
              <a:rPr lang="ru" altLang="ru-RU" sz="2000" dirty="0"/>
              <a:t>сделать каждого эксперта софтмаксом, примененным к линейному преобразованию входного вектора.</a:t>
            </a:r>
          </a:p>
          <a:p>
            <a:pPr lvl="1" eaLnBrk="1" hangingPunct="1">
              <a:lnSpc>
                <a:spcPct val="80000"/>
              </a:lnSpc>
            </a:pPr>
            <a:r>
              <a:rPr lang="ru" altLang="ru-RU" sz="2000" dirty="0"/>
              <a:t>Это позволяет быстро настроить каждую сеть вентилей, если мы знаем, какие вероятности она должна выдавать для каждого случая. Функция стоимости выпуклая.</a:t>
            </a:r>
          </a:p>
          <a:p>
            <a:pPr lvl="1" eaLnBrk="1" hangingPunct="1">
              <a:lnSpc>
                <a:spcPct val="80000"/>
              </a:lnSpc>
            </a:pPr>
            <a:r>
              <a:rPr lang="ru" altLang="ru-RU" sz="2000" dirty="0"/>
              <a:t>Для подгонки используется метод IRLS (итеративный рекурсивный метод наименьших квадратов).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2">
            <a:extLst>
              <a:ext uri="{FF2B5EF4-FFF2-40B4-BE49-F238E27FC236}">
                <a16:creationId xmlns:a16="http://schemas.microsoft.com/office/drawing/2014/main" id="{353C6D1E-2FD2-B94F-8408-1A3ACF7778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15888"/>
            <a:ext cx="8229600" cy="1143000"/>
          </a:xfrm>
        </p:spPr>
        <p:txBody>
          <a:bodyPr/>
          <a:lstStyle/>
          <a:p>
            <a:pPr eaLnBrk="1" hangingPunct="1"/>
            <a:r>
              <a:rPr lang="ru" altLang="ru-RU" sz="3200" dirty="0"/>
              <a:t>Использование E</a:t>
            </a:r>
            <a:r>
              <a:rPr lang="en-US" altLang="ru-RU" sz="3200" dirty="0"/>
              <a:t>M</a:t>
            </a:r>
            <a:r>
              <a:rPr lang="ru" altLang="ru-RU" sz="3200" dirty="0"/>
              <a:t> для установки HMoE</a:t>
            </a:r>
          </a:p>
        </p:txBody>
      </p:sp>
      <p:sp>
        <p:nvSpPr>
          <p:cNvPr id="32770" name="Rectangle 3">
            <a:extLst>
              <a:ext uri="{FF2B5EF4-FFF2-40B4-BE49-F238E27FC236}">
                <a16:creationId xmlns:a16="http://schemas.microsoft.com/office/drawing/2014/main" id="{7D7F3D25-8254-B147-9606-97C1FD3CCEC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125538"/>
            <a:ext cx="8229600" cy="5472112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ru" altLang="ru-RU" sz="2000" dirty="0">
                <a:solidFill>
                  <a:srgbClr val="000099"/>
                </a:solidFill>
              </a:rPr>
              <a:t>Шаг E: </a:t>
            </a:r>
            <a:r>
              <a:rPr lang="ru" altLang="ru-RU" sz="2000" dirty="0"/>
              <a:t>вычислить выходные данные каждого эксперта и априорные вероятности, полученные каждой сетью фильтрации. Затем объединить априорные вероятности с вероятностью, которую каждый эксперт присваивает правильному ответу. Это даст </a:t>
            </a:r>
            <a:r>
              <a:rPr lang="ru" altLang="ru-RU" sz="2000" dirty="0">
                <a:solidFill>
                  <a:srgbClr val="FF0000"/>
                </a:solidFill>
              </a:rPr>
              <a:t>апостериорные вероятности </a:t>
            </a:r>
            <a:r>
              <a:rPr lang="ru" altLang="ru-RU" sz="2000" dirty="0"/>
              <a:t>для каждого эксперта и каждой сети фильтрации.</a:t>
            </a:r>
            <a:endParaRPr lang="en-US" altLang="ru-RU" sz="2000" dirty="0"/>
          </a:p>
          <a:p>
            <a:pPr eaLnBrk="1" hangingPunct="1">
              <a:lnSpc>
                <a:spcPct val="80000"/>
              </a:lnSpc>
            </a:pPr>
            <a:r>
              <a:rPr lang="ru" altLang="ru-RU" sz="2000" dirty="0">
                <a:solidFill>
                  <a:srgbClr val="000099"/>
                </a:solidFill>
              </a:rPr>
              <a:t>Шаг M: </a:t>
            </a:r>
            <a:r>
              <a:rPr lang="ru" altLang="ru-RU" sz="2000" dirty="0"/>
              <a:t>перенастроить каждого эксперта на данные, взвешенные по </a:t>
            </a:r>
            <a:r>
              <a:rPr lang="ru" altLang="ru-RU" sz="2000" dirty="0">
                <a:solidFill>
                  <a:srgbClr val="FF0000"/>
                </a:solidFill>
              </a:rPr>
              <a:t>апостериорной вероятности </a:t>
            </a:r>
            <a:r>
              <a:rPr lang="ru" altLang="ru-RU" sz="2000" dirty="0"/>
              <a:t>того, что каждая точка данных получена от этого эксперта. Перенастроить каждую сеть стробирования, чтобы минимизировать перекрёстную энтропию между «априорным» распределением, которое она предоставляет, и </a:t>
            </a:r>
            <a:r>
              <a:rPr lang="ru" altLang="ru-RU" sz="2000" dirty="0">
                <a:solidFill>
                  <a:srgbClr val="FF0000"/>
                </a:solidFill>
              </a:rPr>
              <a:t>апостериорным распределением, </a:t>
            </a:r>
            <a:r>
              <a:rPr lang="ru" altLang="ru-RU" sz="2000" dirty="0"/>
              <a:t>вычисленным на шаге E.</a:t>
            </a:r>
          </a:p>
          <a:p>
            <a:pPr lvl="1" eaLnBrk="1" hangingPunct="1">
              <a:lnSpc>
                <a:spcPct val="80000"/>
              </a:lnSpc>
            </a:pPr>
            <a:r>
              <a:rPr lang="ru" altLang="ru-RU" sz="2000" dirty="0"/>
              <a:t>Для этого требуется IRLS, который является итеративным, но быстро сходится к глобальному оптимуму (этой подзадачи).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2">
            <a:extLst>
              <a:ext uri="{FF2B5EF4-FFF2-40B4-BE49-F238E27FC236}">
                <a16:creationId xmlns:a16="http://schemas.microsoft.com/office/drawing/2014/main" id="{E70A0F22-BA5E-2240-B302-2B90ADDAC1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" altLang="ru-RU"/>
              <a:t>Лучше ли HMoE, чем фиксированный MoE?</a:t>
            </a:r>
          </a:p>
        </p:txBody>
      </p:sp>
      <p:sp>
        <p:nvSpPr>
          <p:cNvPr id="35842" name="Rectangle 3">
            <a:extLst>
              <a:ext uri="{FF2B5EF4-FFF2-40B4-BE49-F238E27FC236}">
                <a16:creationId xmlns:a16="http://schemas.microsoft.com/office/drawing/2014/main" id="{E3C3CF96-A52C-D347-A4A2-DABA1EC897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ru" altLang="ru-RU" sz="2400" dirty="0"/>
              <a:t>Если мы используем простые сети стробирования, которые можно быстро настроить с помощью IRLS, действительно ли HMoE мощнее плоского MoE?</a:t>
            </a:r>
          </a:p>
          <a:p>
            <a:pPr lvl="1" eaLnBrk="1" hangingPunct="1"/>
            <a:r>
              <a:rPr lang="en-US" altLang="ru-RU" sz="2400" dirty="0" err="1"/>
              <a:t>О</a:t>
            </a:r>
            <a:r>
              <a:rPr lang="ru-RU" altLang="ru-RU" sz="2400" dirty="0" err="1"/>
              <a:t>боснованый</a:t>
            </a:r>
            <a:r>
              <a:rPr lang="ru-RU" altLang="ru-RU" sz="2400" dirty="0"/>
              <a:t> ответ не найден</a:t>
            </a:r>
            <a:r>
              <a:rPr lang="ru" altLang="ru-RU" sz="2400" dirty="0"/>
              <a:t>.</a:t>
            </a:r>
          </a:p>
          <a:p>
            <a:pPr lvl="1" eaLnBrk="1" hangingPunct="1"/>
            <a:r>
              <a:rPr lang="ru" altLang="ru-RU" sz="2400" dirty="0"/>
              <a:t>HMoE, использующий бинарное дерево, имеет такое же число степеней свободы в вероятностях пути, как и один плоский softmax по всем экспертам.</a:t>
            </a:r>
          </a:p>
          <a:p>
            <a:pPr lvl="1" eaLnBrk="1" hangingPunct="1"/>
            <a:r>
              <a:rPr lang="ru" altLang="ru-RU" sz="2400" dirty="0"/>
              <a:t>Но делает ли зависимость от входного вектора два способа выполнения стробирования различными?</a:t>
            </a:r>
          </a:p>
          <a:p>
            <a:pPr eaLnBrk="1" hangingPunct="1">
              <a:buFontTx/>
              <a:buNone/>
            </a:pPr>
            <a:r>
              <a:rPr lang="ru" altLang="ru-RU" sz="2400" dirty="0"/>
              <a:t>  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2">
            <a:extLst>
              <a:ext uri="{FF2B5EF4-FFF2-40B4-BE49-F238E27FC236}">
                <a16:creationId xmlns:a16="http://schemas.microsoft.com/office/drawing/2014/main" id="{4351B1CC-C525-8D40-B4B7-66790C9D5A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" altLang="ru-RU" sz="3200" dirty="0"/>
              <a:t>Другой (</a:t>
            </a:r>
            <a:r>
              <a:rPr lang="ru-RU" altLang="ru-RU" sz="3200" dirty="0"/>
              <a:t>возможно лучший</a:t>
            </a:r>
            <a:r>
              <a:rPr lang="ru" altLang="ru-RU" sz="3200" dirty="0"/>
              <a:t>) тип иерархии для смешанного состава экспертов</a:t>
            </a:r>
          </a:p>
        </p:txBody>
      </p:sp>
      <p:sp>
        <p:nvSpPr>
          <p:cNvPr id="36866" name="Rectangle 3">
            <a:extLst>
              <a:ext uri="{FF2B5EF4-FFF2-40B4-BE49-F238E27FC236}">
                <a16:creationId xmlns:a16="http://schemas.microsoft.com/office/drawing/2014/main" id="{1460D523-11B0-454E-BE1C-E30CD3ACB7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ru" altLang="ru-RU" sz="2000" dirty="0"/>
              <a:t>Вместо использования только иерархии сетей используйте также иерархию экспертов.</a:t>
            </a:r>
          </a:p>
          <a:p>
            <a:pPr eaLnBrk="1" hangingPunct="1"/>
            <a:r>
              <a:rPr lang="ru" altLang="ru-RU" sz="2000" dirty="0"/>
              <a:t>Изучите всю систему методом жадного «разделяй и властвуй».</a:t>
            </a:r>
          </a:p>
          <a:p>
            <a:pPr lvl="1" eaLnBrk="1" hangingPunct="1"/>
            <a:r>
              <a:rPr lang="ru" altLang="ru-RU" sz="2000" dirty="0"/>
              <a:t>Начните с обучения одного эксперта.</a:t>
            </a:r>
          </a:p>
          <a:p>
            <a:pPr lvl="1" eaLnBrk="1" hangingPunct="1"/>
            <a:r>
              <a:rPr lang="ru" altLang="ru-RU" sz="2000" dirty="0"/>
              <a:t>Затем сделайте две немного отличающиеся копии эксперта и используйте E</a:t>
            </a:r>
            <a:r>
              <a:rPr lang="en-US" altLang="ru-RU" sz="2000" dirty="0"/>
              <a:t>M</a:t>
            </a:r>
            <a:r>
              <a:rPr lang="ru" altLang="ru-RU" sz="2000" dirty="0"/>
              <a:t> для быстрой подгонки MoE с одной сетью стробирования и двумя экспертами.</a:t>
            </a:r>
          </a:p>
          <a:p>
            <a:pPr lvl="1" eaLnBrk="1" hangingPunct="1"/>
            <a:r>
              <a:rPr lang="ru" altLang="ru-RU" sz="2000" dirty="0"/>
              <a:t>Теперь разделите каждого из этих двух экспертов. Используйте предыдущую сеть вентилирования в качестве начальной сети верхнего уровня и добавьте две новые сети вентилирования (с нулевыми весами) на следующем уровне ниже.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2">
            <a:extLst>
              <a:ext uri="{FF2B5EF4-FFF2-40B4-BE49-F238E27FC236}">
                <a16:creationId xmlns:a16="http://schemas.microsoft.com/office/drawing/2014/main" id="{FFBB9744-F07C-8249-BC0A-D6A4951E7B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" altLang="ru-RU"/>
              <a:t>Преимущество «видообразования»</a:t>
            </a:r>
          </a:p>
        </p:txBody>
      </p:sp>
      <p:sp>
        <p:nvSpPr>
          <p:cNvPr id="37890" name="Rectangle 3">
            <a:extLst>
              <a:ext uri="{FF2B5EF4-FFF2-40B4-BE49-F238E27FC236}">
                <a16:creationId xmlns:a16="http://schemas.microsoft.com/office/drawing/2014/main" id="{51379E56-A278-3440-97EB-EF4E784305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ru" altLang="ru-RU" dirty="0"/>
              <a:t>Знания, которыми обмениваются разные эксперты, не требуют отдельного изучения каждым из них, как это происходит в HMoE.</a:t>
            </a:r>
          </a:p>
          <a:p>
            <a:pPr lvl="1" eaLnBrk="1" hangingPunct="1"/>
            <a:r>
              <a:rPr lang="ru" altLang="ru-RU" dirty="0"/>
              <a:t>Подумайте, насколько неэффективно было бы людям и шимпанзе по отдельности изобретать глаза.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2">
            <a:extLst>
              <a:ext uri="{FF2B5EF4-FFF2-40B4-BE49-F238E27FC236}">
                <a16:creationId xmlns:a16="http://schemas.microsoft.com/office/drawing/2014/main" id="{D2896B89-0AE1-5449-8478-6050EDC8D6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" altLang="ru-RU" sz="3200"/>
              <a:t>Работает ли видообразование лучше, чем стандартный HMoE?</a:t>
            </a:r>
          </a:p>
        </p:txBody>
      </p:sp>
      <p:sp>
        <p:nvSpPr>
          <p:cNvPr id="38914" name="Rectangle 3">
            <a:extLst>
              <a:ext uri="{FF2B5EF4-FFF2-40B4-BE49-F238E27FC236}">
                <a16:creationId xmlns:a16="http://schemas.microsoft.com/office/drawing/2014/main" id="{5C9D3A26-B849-BC41-B8CA-74793EBF2A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ru" altLang="ru-RU" dirty="0"/>
              <a:t>Несмотря на то, что алгоритм видообразования был изобретен (Хинтоном и Ноуланом) до HMoE, неизветсны его сравнения с HMoE.</a:t>
            </a:r>
          </a:p>
          <a:p>
            <a:pPr lvl="1" eaLnBrk="1" hangingPunct="1"/>
            <a:r>
              <a:rPr lang="ru" altLang="ru-RU" dirty="0"/>
              <a:t>Может быть, это сработает лучше.</a:t>
            </a:r>
          </a:p>
          <a:p>
            <a:pPr lvl="1" eaLnBrk="1" hangingPunct="1"/>
            <a:endParaRPr lang="en-US" altLang="ru-RU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3">
      <a:dk1>
        <a:srgbClr val="000000"/>
      </a:dk1>
      <a:lt1>
        <a:srgbClr val="FFFFFF"/>
      </a:lt1>
      <a:dk2>
        <a:srgbClr val="000000"/>
      </a:dk2>
      <a:lt2>
        <a:srgbClr val="777777"/>
      </a:lt2>
      <a:accent1>
        <a:srgbClr val="FFFFF7"/>
      </a:accent1>
      <a:accent2>
        <a:srgbClr val="33CCCC"/>
      </a:accent2>
      <a:accent3>
        <a:srgbClr val="FFFFFF"/>
      </a:accent3>
      <a:accent4>
        <a:srgbClr val="000000"/>
      </a:accent4>
      <a:accent5>
        <a:srgbClr val="FFFFFA"/>
      </a:accent5>
      <a:accent6>
        <a:srgbClr val="2DB9B9"/>
      </a:accent6>
      <a:hlink>
        <a:srgbClr val="FF5050"/>
      </a:hlink>
      <a:folHlink>
        <a:srgbClr val="FF99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3">
        <a:dk1>
          <a:srgbClr val="000000"/>
        </a:dk1>
        <a:lt1>
          <a:srgbClr val="FFFFFF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FF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6684</TotalTime>
  <Words>1970</Words>
  <Application>Microsoft Macintosh PowerPoint</Application>
  <PresentationFormat>Экран (4:3)</PresentationFormat>
  <Paragraphs>193</Paragraphs>
  <Slides>31</Slides>
  <Notes>0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31</vt:i4>
      </vt:variant>
    </vt:vector>
  </HeadingPairs>
  <TitlesOfParts>
    <vt:vector size="37" baseType="lpstr">
      <vt:lpstr>Aptos</vt:lpstr>
      <vt:lpstr>Arial</vt:lpstr>
      <vt:lpstr>Cambria Math</vt:lpstr>
      <vt:lpstr>Symbol</vt:lpstr>
      <vt:lpstr>Default Design</vt:lpstr>
      <vt:lpstr>Equation</vt:lpstr>
      <vt:lpstr>  Деревья решений и смеси экспертов</vt:lpstr>
      <vt:lpstr>Деревья решений: нелинейная регрессия или классификация с минимальным объемом вычислений</vt:lpstr>
      <vt:lpstr>Очень быстрый способ определить, находится ли точка данных в области</vt:lpstr>
      <vt:lpstr>Дерево решений, выровненное по осям</vt:lpstr>
      <vt:lpstr>Как мы решаем, какие тесты использовать?</vt:lpstr>
      <vt:lpstr>Дерево решений и алгоритм ID3</vt:lpstr>
      <vt:lpstr>Когда следует прекратить добавление узлов?</vt:lpstr>
      <vt:lpstr>Преимущества и недостатки деревьев решений</vt:lpstr>
      <vt:lpstr>Спектр моделей</vt:lpstr>
      <vt:lpstr>Несколько локальных моделей</vt:lpstr>
      <vt:lpstr>Разделение, основанное только на входе, в сравнении с разделением, основанным на отношении вход-выход</vt:lpstr>
      <vt:lpstr>Смеси экспертов</vt:lpstr>
      <vt:lpstr>Иллюстрация того, почему усреднение — это плохо</vt:lpstr>
      <vt:lpstr>Создание функции ошибки, которая поощряет специализацию вместо сотрудничества</vt:lpstr>
      <vt:lpstr>Смесь экспертов архитектуры</vt:lpstr>
      <vt:lpstr>Производные простой функции стоимости</vt:lpstr>
      <vt:lpstr>Другой взгляд на смеси экспертов</vt:lpstr>
      <vt:lpstr>Выдача всего распределения в качестве выходного сигнала</vt:lpstr>
      <vt:lpstr>Распределение вероятностей, которое неявно предполагается при использовании квадрата ошибки</vt:lpstr>
      <vt:lpstr>Вероятность правильного ответа при смешении гауссианов</vt:lpstr>
      <vt:lpstr>Естественная мера погрешности для смеси экспертов</vt:lpstr>
      <vt:lpstr>Смесь двух линейных экспертов после обучения</vt:lpstr>
      <vt:lpstr>Иерархические смеси экспертов (HMoE)</vt:lpstr>
      <vt:lpstr>Генеративная модель для HMoE</vt:lpstr>
      <vt:lpstr>Составление прогнозов после изучения дерева</vt:lpstr>
      <vt:lpstr>Изучение упрощенного HMoE</vt:lpstr>
      <vt:lpstr>Использование EM для установки HMoE</vt:lpstr>
      <vt:lpstr>Лучше ли HMoE, чем фиксированный MoE?</vt:lpstr>
      <vt:lpstr>Другой (возможно лучший) тип иерархии для смешанного состава экспертов</vt:lpstr>
      <vt:lpstr>Преимущество «видообразования»</vt:lpstr>
      <vt:lpstr>Работает ли видообразование лучше, чем стандартный HMoE?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Деревья решений и смеси экспертов</dc:title>
  <dc:subject/>
  <dc:creator/>
  <cp:keywords/>
  <dc:description/>
  <cp:lastModifiedBy>Microsoft Office User</cp:lastModifiedBy>
  <cp:revision>113</cp:revision>
  <dcterms:created xsi:type="dcterms:W3CDTF">2002-09-28T03:36:33Z</dcterms:created>
  <dcterms:modified xsi:type="dcterms:W3CDTF">2025-11-12T11:14:02Z</dcterms:modified>
  <cp:category/>
</cp:coreProperties>
</file>