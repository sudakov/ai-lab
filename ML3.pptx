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257" r:id="rId3"/>
    <p:sldId id="273" r:id="rId4"/>
    <p:sldId id="275" r:id="rId5"/>
    <p:sldId id="258" r:id="rId6"/>
    <p:sldId id="274" r:id="rId7"/>
    <p:sldId id="276" r:id="rId8"/>
    <p:sldId id="259" r:id="rId9"/>
    <p:sldId id="277" r:id="rId10"/>
    <p:sldId id="260" r:id="rId11"/>
    <p:sldId id="261" r:id="rId12"/>
    <p:sldId id="262" r:id="rId13"/>
    <p:sldId id="278" r:id="rId14"/>
    <p:sldId id="263" r:id="rId15"/>
    <p:sldId id="280" r:id="rId16"/>
    <p:sldId id="302" r:id="rId17"/>
    <p:sldId id="279" r:id="rId18"/>
    <p:sldId id="303" r:id="rId19"/>
    <p:sldId id="304" r:id="rId20"/>
    <p:sldId id="282" r:id="rId21"/>
    <p:sldId id="286" r:id="rId22"/>
    <p:sldId id="283" r:id="rId23"/>
    <p:sldId id="287" r:id="rId24"/>
    <p:sldId id="284" r:id="rId25"/>
    <p:sldId id="285" r:id="rId26"/>
    <p:sldId id="288" r:id="rId27"/>
    <p:sldId id="289" r:id="rId28"/>
    <p:sldId id="567" r:id="rId29"/>
    <p:sldId id="568" r:id="rId30"/>
    <p:sldId id="569" r:id="rId31"/>
    <p:sldId id="570" r:id="rId32"/>
    <p:sldId id="572" r:id="rId33"/>
    <p:sldId id="571" r:id="rId34"/>
    <p:sldId id="573" r:id="rId35"/>
    <p:sldId id="574" r:id="rId36"/>
    <p:sldId id="575" r:id="rId37"/>
    <p:sldId id="576" r:id="rId38"/>
    <p:sldId id="577" r:id="rId39"/>
    <p:sldId id="579" r:id="rId40"/>
    <p:sldId id="578" r:id="rId41"/>
    <p:sldId id="580" r:id="rId42"/>
    <p:sldId id="581" r:id="rId43"/>
    <p:sldId id="582" r:id="rId44"/>
    <p:sldId id="583" r:id="rId45"/>
    <p:sldId id="584" r:id="rId46"/>
    <p:sldId id="585" r:id="rId47"/>
    <p:sldId id="586" r:id="rId48"/>
    <p:sldId id="587" r:id="rId49"/>
    <p:sldId id="588" r:id="rId50"/>
    <p:sldId id="589" r:id="rId51"/>
    <p:sldId id="592" r:id="rId52"/>
    <p:sldId id="562" r:id="rId53"/>
    <p:sldId id="563" r:id="rId54"/>
    <p:sldId id="564" r:id="rId55"/>
    <p:sldId id="565" r:id="rId56"/>
  </p:sldIdLst>
  <p:sldSz cx="9144000" cy="6858000" type="screen4x3"/>
  <p:notesSz cx="9144000" cy="6858000"/>
  <p:defaultTextStyle>
    <a:defPPr>
      <a:defRPr lang="ru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/>
    <p:restoredTop sz="94580"/>
  </p:normalViewPr>
  <p:slideViewPr>
    <p:cSldViewPr>
      <p:cViewPr varScale="1">
        <p:scale>
          <a:sx n="92" d="100"/>
          <a:sy n="92" d="100"/>
        </p:scale>
        <p:origin x="176" y="184"/>
      </p:cViewPr>
      <p:guideLst>
        <p:guide orient="horz" pos="22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090874AC-0C2D-454A-9B6D-ADC8930B98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ru-RU"/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C979A846-80EF-8D47-A334-1C57403C7DB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ru-RU"/>
          </a:p>
        </p:txBody>
      </p:sp>
      <p:sp>
        <p:nvSpPr>
          <p:cNvPr id="300036" name="Rectangle 4">
            <a:extLst>
              <a:ext uri="{FF2B5EF4-FFF2-40B4-BE49-F238E27FC236}">
                <a16:creationId xmlns:a16="http://schemas.microsoft.com/office/drawing/2014/main" id="{1ADD524D-D62E-FE45-BEF7-5337C63F933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ru-RU"/>
          </a:p>
        </p:txBody>
      </p:sp>
      <p:sp>
        <p:nvSpPr>
          <p:cNvPr id="300037" name="Rectangle 5">
            <a:extLst>
              <a:ext uri="{FF2B5EF4-FFF2-40B4-BE49-F238E27FC236}">
                <a16:creationId xmlns:a16="http://schemas.microsoft.com/office/drawing/2014/main" id="{90583F57-8C4C-9744-B02D-95562628E2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3CEDD8-7BCE-B94A-8EA5-09D39BFEBE44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E87E3-5318-9848-899B-905B5A7BF95B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22645-4614-6A4E-9C9B-865599730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44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EB627-8EE7-7141-8D25-6D8140BD7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498B26-F8E7-BA46-944B-168B7FD6A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6301F4-E0A4-F24C-A307-6FE7ED00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18D94E-51ED-E04B-A580-AED95DDA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D1A8EA-1412-5644-99FA-01D82AF1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D0640-5F83-D947-B7A7-4E3F4839F5F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19637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24613-3A49-8340-A599-1CFA1525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17B31-1859-A846-B858-FA79F2E46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12F01-C7FA-9F4F-8518-03899713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BDB4DC-BF61-D54A-AA9A-BEF9F3A2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31E11-C4A2-AF43-8C6F-50C8ECB8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A3698-4919-664A-93A5-0DE99EC2A28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13033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4FB2D-1B7A-AE44-8E16-CE1B6B650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FAD1C6-3DEE-2F4A-9435-3EB0FB6B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7BC12-0B89-CC4F-91EC-952B2EB2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A62FE1-0DE3-7742-AA03-DED492D5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CED311-1A03-ED4C-A6B5-328C9FE9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97F28A-CA12-C84D-A029-C30A4101CDC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997157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C514E-909B-2240-80BD-AF3C2D14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000790-F961-604D-A354-60AEB00BA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49A74B-58B3-B341-99E7-54C88B6EB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CE5905-403D-5644-901B-F17929C5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CC12E3-F577-144E-AE19-E12E4ADB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1E712A-DDC3-AC45-8A90-4A3393EB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1A7FB5-90C1-DE4B-8DE6-8E48EDE76C4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22704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4F68E-F465-5E4C-A879-C6F517FC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34645-FAC3-2547-932F-E807D172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63B04C-2432-E145-B71F-9A3E7227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B85FD7-3357-2B4B-97BD-0BAA5AB18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052C97-D1A2-0B47-B90A-52CB2EAF4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3B3C32-C260-4B41-8414-87B81BDA7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D06AE3-D826-1B4B-BA50-628FCD4D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B99715-A1CA-1345-A38E-A8805BB3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EC32B-2C7A-4743-800E-33090954017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8973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9DD8C-E878-AE4D-A61F-A547DD66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CF5C66-5C1A-EA4C-A086-E228D8CA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4BB668-2822-E145-A0FE-E0FF36C4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AEB221-08FA-E345-9B8F-AD8DD540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8E073-50AF-2443-86A8-1082A989F6E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3744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8A3F97-28FB-B545-BECE-608251E9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063391-52D7-2E41-843F-BE762A71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5852A1-DF1E-494B-92DE-C61AC3F2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90DEB-E444-D440-9B84-CBB04B18C5B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99407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09E04-529C-F547-9777-EBA5BB75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FC2F08-FF95-1940-AC23-129E70E5C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DCC503-092B-E845-BBE6-CAFFBD885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738F06-1839-6142-8822-F8406E98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CAA18E-2E18-0044-9117-3125412F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2276DB-BA34-2946-95F8-A1B3F418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D8727-AD04-454F-BB8C-FF23EE9B7F68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0214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F0AA1-8DF6-794A-A60D-A8088E79A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5E6D6D0-E8F8-154D-BCA0-B10B9A2AD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E77F19-9D1A-6D41-8C06-4D1BCC31A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B8C99C-3776-3346-BB74-4CD2B780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1F9BC0-6AB0-0241-BB11-99F77DC5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0A717C-DFE0-5643-9940-26173C30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98E4F-0CB6-934D-BC8F-59FDA28368EA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01476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360797-6308-954D-AF32-A686D791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E41847-8302-3149-A09D-34C1F159F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6638CC-E244-FD41-847C-27611B03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D21A04-A2B4-9841-913D-FC0B6F2B6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F48C3-0C9F-1346-AAEE-7542497F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92662-0720-0B43-B9C3-5D12020DE54E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7205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DE78CAE-C225-614B-A6B6-C6923397E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9E06C7-A340-254C-BA2A-9A30DA3DE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9FA20-C689-2E4D-AC72-AEC42D8B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987AA0-1626-8741-B941-745B8386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33B40F-5F9D-6E46-93A4-45EE7A5F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C6D27-8EC9-DA48-B4C5-20A26ACC60DF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984510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00205-03E3-F74D-8EA4-F8C113D0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2FBC40-DD04-3B4B-9BA7-76B59352433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E44A21-0113-C24F-B4FE-14ACAE40B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8D8F4B-98C6-0D43-AAFA-0F187FDD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8125-3AF2-9C4C-9CDD-C5B416E24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2369C6-5076-2C49-A59F-3E564F6B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25A5B03-8DDD-284A-932E-9ADD8C1B5C20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976120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DC94D-B8C6-4744-84EE-E695BAA2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121D7B-C2DC-B941-96D3-2ECFBB90031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396355D-C8AF-AC4D-A38A-FDCCCCD484D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B1BC82-B526-7B4C-A039-F76A7B84F24E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A50FC81-2AD8-5A40-A31C-B9E86EB8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141A395-D8D5-5048-AEFA-AFFD5EE6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A6260C9-7BCF-8548-BBF3-D3EC4793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6A3153-B239-ED42-8F9C-E1CB767C3D56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80726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29DF7B9-5237-C44E-AD16-9F47D1167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33BCB4-8B87-424C-B1B2-2682C6A70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6C38A97-B15B-7A43-A187-6E80F70700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A95604-02EC-3642-82F2-2E7C35662F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7237B5-53CD-9D4A-8940-EDF9C0212A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79313B-FC9E-594D-B34B-30671CF3664B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 kern="1200">
          <a:solidFill>
            <a:srgbClr val="0000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rgbClr val="009900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rgbClr val="FF0000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11" Type="http://schemas.openxmlformats.org/officeDocument/2006/relationships/image" Target="../media/image20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9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6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7D89EFE-8745-804D-820B-4EFA181366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470025"/>
          </a:xfrm>
        </p:spPr>
        <p:txBody>
          <a:bodyPr anchor="ctr"/>
          <a:lstStyle/>
          <a:p>
            <a:br>
              <a:rPr lang="en-US" altLang="ru-RU" sz="3200" dirty="0"/>
            </a:br>
            <a:br>
              <a:rPr lang="en-US" altLang="ru-RU" sz="3200" dirty="0"/>
            </a:br>
            <a:r>
              <a:rPr lang="ru-RU" altLang="ru-RU" sz="3200" dirty="0"/>
              <a:t>Линейные модели </a:t>
            </a:r>
            <a:r>
              <a:rPr lang="ru" altLang="ru-RU" sz="3200" dirty="0"/>
              <a:t>классификации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9C68B7C-55A5-BD47-9B84-FEA3A204C2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73025" y="3357563"/>
            <a:ext cx="9324975" cy="228123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ru-RU" sz="2000" dirty="0"/>
          </a:p>
          <a:p>
            <a:endParaRPr lang="ru" sz="2800" dirty="0"/>
          </a:p>
          <a:p>
            <a:r>
              <a:rPr lang="ru" sz="2800" dirty="0"/>
              <a:t>Владимир Анатольевич Судаков</a:t>
            </a:r>
          </a:p>
          <a:p>
            <a:r>
              <a:rPr lang="ru" sz="2800" dirty="0"/>
              <a:t>2025</a:t>
            </a:r>
            <a:endParaRPr lang="en-US" altLang="ru-RU" sz="2000" dirty="0"/>
          </a:p>
          <a:p>
            <a:pPr>
              <a:lnSpc>
                <a:spcPct val="80000"/>
              </a:lnSpc>
            </a:pPr>
            <a:endParaRPr lang="en-US" alt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308F20F5-A329-2E4A-B9E0-82DF79D64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r>
              <a:rPr lang="ru" altLang="ru-RU" sz="3200"/>
              <a:t>Что такое «линейная» классификация?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18BAF1D4-45B6-9E4F-BBE9-BB84AE2D8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060825"/>
          </a:xfrm>
        </p:spPr>
        <p:txBody>
          <a:bodyPr/>
          <a:lstStyle/>
          <a:p>
            <a:r>
              <a:rPr lang="ru" altLang="ru-RU" sz="2000" dirty="0"/>
              <a:t>Классификация по своей сути нелинейна</a:t>
            </a:r>
          </a:p>
          <a:p>
            <a:pPr lvl="1"/>
            <a:r>
              <a:rPr lang="ru" altLang="ru-RU" sz="2000" dirty="0"/>
              <a:t>Он помещает неидентичные вещи в один и тот же класс, разница во входном векторе иногда приводит к нулевому изменению ответа </a:t>
            </a:r>
            <a:r>
              <a:rPr lang="ru" altLang="ru-RU" sz="2000" dirty="0">
                <a:solidFill>
                  <a:srgbClr val="0066FF"/>
                </a:solidFill>
              </a:rPr>
              <a:t>(к чему это приводит?)</a:t>
            </a:r>
          </a:p>
          <a:p>
            <a:r>
              <a:rPr lang="ru" altLang="ru-RU" sz="2000" dirty="0"/>
              <a:t>«Линейная классификация» означает, что часть, которая адаптируется, является линейной.</a:t>
            </a:r>
          </a:p>
          <a:p>
            <a:pPr lvl="1"/>
            <a:r>
              <a:rPr lang="ru" altLang="ru-RU" sz="2000" dirty="0"/>
              <a:t>За адаптивной частью следует фиксированная нелинейность.</a:t>
            </a:r>
          </a:p>
          <a:p>
            <a:pPr lvl="1"/>
            <a:r>
              <a:rPr lang="ru" altLang="ru-RU" sz="2000" dirty="0"/>
              <a:t>Ему также может предшествовать фиксированная нелинейность (например, нелинейные базисные функции).</a:t>
            </a:r>
          </a:p>
        </p:txBody>
      </p:sp>
      <p:graphicFrame>
        <p:nvGraphicFramePr>
          <p:cNvPr id="225284" name="Object 4">
            <a:extLst>
              <a:ext uri="{FF2B5EF4-FFF2-40B4-BE49-F238E27FC236}">
                <a16:creationId xmlns:a16="http://schemas.microsoft.com/office/drawing/2014/main" id="{AEC0AAFC-3EF0-304F-9AC8-4CCB27ADEF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4925" y="4941888"/>
          <a:ext cx="67230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9" name="Equation" r:id="rId3" imgW="59397900" imgH="6146800" progId="Equation.3">
                  <p:embed/>
                </p:oleObj>
              </mc:Choice>
              <mc:Fallback>
                <p:oleObj name="Equation" r:id="rId3" imgW="59397900" imgH="6146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4941888"/>
                        <a:ext cx="672306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Text Box 5">
            <a:extLst>
              <a:ext uri="{FF2B5EF4-FFF2-40B4-BE49-F238E27FC236}">
                <a16:creationId xmlns:a16="http://schemas.microsoft.com/office/drawing/2014/main" id="{E2E07B73-28A1-6C4B-9CF5-C817B7A96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6021388"/>
            <a:ext cx="187166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400" dirty="0">
                <a:solidFill>
                  <a:srgbClr val="000099"/>
                </a:solidFill>
              </a:rPr>
              <a:t>фиксированная нелинейная функция</a:t>
            </a:r>
          </a:p>
        </p:txBody>
      </p:sp>
      <p:sp>
        <p:nvSpPr>
          <p:cNvPr id="225286" name="Text Box 6">
            <a:extLst>
              <a:ext uri="{FF2B5EF4-FFF2-40B4-BE49-F238E27FC236}">
                <a16:creationId xmlns:a16="http://schemas.microsoft.com/office/drawing/2014/main" id="{4524B68A-A5E0-6047-99BB-EA9C954E1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6040438"/>
            <a:ext cx="18716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400" dirty="0">
                <a:solidFill>
                  <a:srgbClr val="000099"/>
                </a:solidFill>
              </a:rPr>
              <a:t>адаптивная линейная функция</a:t>
            </a:r>
          </a:p>
        </p:txBody>
      </p:sp>
      <p:sp>
        <p:nvSpPr>
          <p:cNvPr id="225287" name="Line 7">
            <a:extLst>
              <a:ext uri="{FF2B5EF4-FFF2-40B4-BE49-F238E27FC236}">
                <a16:creationId xmlns:a16="http://schemas.microsoft.com/office/drawing/2014/main" id="{3AD271A0-73AE-054B-9BE3-051B7B522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4025" y="5732463"/>
            <a:ext cx="0" cy="288925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288" name="Line 8">
            <a:extLst>
              <a:ext uri="{FF2B5EF4-FFF2-40B4-BE49-F238E27FC236}">
                <a16:creationId xmlns:a16="http://schemas.microsoft.com/office/drawing/2014/main" id="{058E6422-341A-2C47-9CB0-A19D8F5E62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00338" y="5661025"/>
            <a:ext cx="71437" cy="287338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289" name="Line 9">
            <a:extLst>
              <a:ext uri="{FF2B5EF4-FFF2-40B4-BE49-F238E27FC236}">
                <a16:creationId xmlns:a16="http://schemas.microsoft.com/office/drawing/2014/main" id="{3A6D47A1-439D-8B4F-AB36-6B016F98DA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8400" y="5662613"/>
            <a:ext cx="0" cy="287337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506E43-CD7D-6A43-8ABB-F9EE11C5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</a:t>
            </a:fld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>
            <a:extLst>
              <a:ext uri="{FF2B5EF4-FFF2-40B4-BE49-F238E27FC236}">
                <a16:creationId xmlns:a16="http://schemas.microsoft.com/office/drawing/2014/main" id="{3DF0440E-25F4-9F47-B449-6872D78C7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3200"/>
              <a:t>Представление целевых значений для классификации</a:t>
            </a:r>
          </a:p>
        </p:txBody>
      </p:sp>
      <p:sp>
        <p:nvSpPr>
          <p:cNvPr id="253955" name="Rectangle 3">
            <a:extLst>
              <a:ext uri="{FF2B5EF4-FFF2-40B4-BE49-F238E27FC236}">
                <a16:creationId xmlns:a16="http://schemas.microsoft.com/office/drawing/2014/main" id="{7C9D4A60-AE98-E84C-B249-4B4F2B0FE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8507412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sz="2000" dirty="0"/>
              <a:t>Если есть только два класса, мы обычно используем один действительный выходной сигнал, который имеет целевые значения 1 для «положительного» класса и 0 (или иногда -1) для другого класса.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Для вероятностных меток классов целевым значением может быть вероятность положительного класса, а выход модели представляет собой вероятность, которую модель назначает положительному классу.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Если имеется N классов, мы часто используем вектор из N целевых значений, содержащий одну 1 для правильного класса и нули в остальных местах.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Для вероятностных меток мы можем затем использовать вектор вероятностей классов в качестве целевого вектора.</a:t>
            </a:r>
          </a:p>
          <a:p>
            <a:pPr>
              <a:lnSpc>
                <a:spcPct val="90000"/>
              </a:lnSpc>
            </a:pPr>
            <a:endParaRPr lang="en-US" altLang="ru-RU" sz="20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002118-B11E-7A44-A349-5F29665C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</a:t>
            </a:fld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2BB99C92-B3A8-6B4F-A7BA-EC53FB31C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dirty="0"/>
              <a:t>Три подхода к классификации</a:t>
            </a:r>
          </a:p>
        </p:txBody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D2F082B5-46D0-DE49-9271-6F2C6132CC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507288" cy="5068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sz="1800" dirty="0"/>
              <a:t>Используйте дискриминантные функции напрямую, без вероятностей:</a:t>
            </a:r>
          </a:p>
          <a:p>
            <a:pPr lvl="1">
              <a:lnSpc>
                <a:spcPct val="90000"/>
              </a:lnSpc>
            </a:pPr>
            <a:r>
              <a:rPr lang="ru" altLang="ru-RU" sz="1800" dirty="0"/>
              <a:t>Преобразовать входной вектор в одно или несколько действительных значений, чтобы можно было применить простую операцию (например, определение порога) для получения класса.</a:t>
            </a:r>
          </a:p>
          <a:p>
            <a:pPr lvl="2">
              <a:lnSpc>
                <a:spcPct val="90000"/>
              </a:lnSpc>
            </a:pPr>
            <a:r>
              <a:rPr lang="ru" altLang="ru-RU" sz="1600" dirty="0"/>
              <a:t>Действительные значения следует выбирать так, чтобы максимально использовать полезную информацию о метке класса, содержащуюся в действительном значении.</a:t>
            </a:r>
          </a:p>
          <a:p>
            <a:pPr>
              <a:lnSpc>
                <a:spcPct val="90000"/>
              </a:lnSpc>
            </a:pPr>
            <a:r>
              <a:rPr lang="ru" altLang="ru-RU" sz="1800" dirty="0"/>
              <a:t>Вывести условные вероятности классов:</a:t>
            </a:r>
          </a:p>
          <a:p>
            <a:pPr lvl="1">
              <a:lnSpc>
                <a:spcPct val="90000"/>
              </a:lnSpc>
            </a:pPr>
            <a:r>
              <a:rPr lang="ru" altLang="ru-RU" sz="1800" dirty="0"/>
              <a:t>Вычислите условную вероятность каждого класса.</a:t>
            </a:r>
          </a:p>
          <a:p>
            <a:pPr lvl="2">
              <a:lnSpc>
                <a:spcPct val="90000"/>
              </a:lnSpc>
            </a:pPr>
            <a:r>
              <a:rPr lang="ru" altLang="ru-RU" sz="1600" dirty="0"/>
              <a:t>Затем примите решение, которое минимизирует некоторую функцию потерь.</a:t>
            </a:r>
          </a:p>
          <a:p>
            <a:pPr>
              <a:lnSpc>
                <a:spcPct val="90000"/>
              </a:lnSpc>
            </a:pPr>
            <a:r>
              <a:rPr lang="ru" altLang="ru-RU" sz="1800" dirty="0"/>
              <a:t>Сравните вероятность ввода в отдельных, специфичных для класса, генеративных моделях.</a:t>
            </a:r>
          </a:p>
          <a:p>
            <a:pPr lvl="1">
              <a:lnSpc>
                <a:spcPct val="90000"/>
              </a:lnSpc>
            </a:pPr>
            <a:r>
              <a:rPr lang="ru" altLang="ru-RU" sz="1800" dirty="0"/>
              <a:t>Например, обучите многомерную гауссову функцию по входным векторам каждого класса и посмотрите, какая гауссова функция сделает вектор тестовых данных наиболее вероятным. </a:t>
            </a:r>
            <a:r>
              <a:rPr lang="ru" altLang="ru-RU" sz="1800" dirty="0">
                <a:solidFill>
                  <a:srgbClr val="0000CC"/>
                </a:solidFill>
              </a:rPr>
              <a:t>(Это лучший вариант?)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ru-RU" sz="1800" dirty="0"/>
          </a:p>
        </p:txBody>
      </p:sp>
      <p:graphicFrame>
        <p:nvGraphicFramePr>
          <p:cNvPr id="257028" name="Object 4">
            <a:extLst>
              <a:ext uri="{FF2B5EF4-FFF2-40B4-BE49-F238E27FC236}">
                <a16:creationId xmlns:a16="http://schemas.microsoft.com/office/drawing/2014/main" id="{84D4E57D-9411-194A-B1BD-91EFD440D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934994"/>
              </p:ext>
            </p:extLst>
          </p:nvPr>
        </p:nvGraphicFramePr>
        <p:xfrm>
          <a:off x="5364088" y="3059113"/>
          <a:ext cx="27368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8" name="Equation" r:id="rId3" imgW="24282400" imgH="5270500" progId="Equation.3">
                  <p:embed/>
                </p:oleObj>
              </mc:Choice>
              <mc:Fallback>
                <p:oleObj name="Equation" r:id="rId3" imgW="24282400" imgH="5270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059113"/>
                        <a:ext cx="27368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95A1F17-20BC-0D4D-AFE3-27F33D39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</a:t>
            </a:fld>
            <a:endParaRPr lang="en-US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308" name="Picture 4">
            <a:extLst>
              <a:ext uri="{FF2B5EF4-FFF2-40B4-BE49-F238E27FC236}">
                <a16:creationId xmlns:a16="http://schemas.microsoft.com/office/drawing/2014/main" id="{E8859AD7-5EF7-A64C-AEA9-A96684C33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03225"/>
            <a:ext cx="8207375" cy="645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6310" name="Text Box 6">
            <a:extLst>
              <a:ext uri="{FF2B5EF4-FFF2-40B4-BE49-F238E27FC236}">
                <a16:creationId xmlns:a16="http://schemas.microsoft.com/office/drawing/2014/main" id="{86EF3638-67D2-1D41-8D2E-F7F957A08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76250"/>
            <a:ext cx="395922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600" dirty="0"/>
              <a:t>Плоская поверхность решений в пространстве данных для простой линейной дискриминантной функции:</a:t>
            </a:r>
            <a:r>
              <a:rPr lang="ru" altLang="ru-RU" sz="1800" dirty="0"/>
              <a:t> </a:t>
            </a:r>
          </a:p>
        </p:txBody>
      </p:sp>
      <p:graphicFrame>
        <p:nvGraphicFramePr>
          <p:cNvPr id="226311" name="Object 7">
            <a:extLst>
              <a:ext uri="{FF2B5EF4-FFF2-40B4-BE49-F238E27FC236}">
                <a16:creationId xmlns:a16="http://schemas.microsoft.com/office/drawing/2014/main" id="{F9126770-E4E2-184C-BAB4-25A3A3FF74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608138"/>
          <a:ext cx="23622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1" name="Equation" r:id="rId4" imgW="19596100" imgH="6146800" progId="Equation.3">
                  <p:embed/>
                </p:oleObj>
              </mc:Choice>
              <mc:Fallback>
                <p:oleObj name="Equation" r:id="rId4" imgW="19596100" imgH="6146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608138"/>
                        <a:ext cx="236220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D4E28DC-B478-494A-8B60-A67D76794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0DEB-E444-D440-9B84-CBB04B18C5BE}" type="slidenum">
              <a:rPr lang="en-US" altLang="ru-RU" smtClean="0"/>
              <a:pPr/>
              <a:t>5</a:t>
            </a:fld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CDB06024-8112-514D-B26A-E2738D377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3200" dirty="0"/>
              <a:t>Напоминание: три разных пространства, которые легко спутать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899E37BF-5EDD-9945-9F86-69879ACCA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4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" altLang="ru-RU" sz="2000" dirty="0"/>
              <a:t>Пространство весов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Каждая ось соответствует весу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Точка — это вектор весов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Размерность = #веса </a:t>
            </a:r>
            <a:r>
              <a:rPr lang="ru" altLang="ru-RU" sz="1800" dirty="0">
                <a:solidFill>
                  <a:srgbClr val="0000CC"/>
                </a:solidFill>
              </a:rPr>
              <a:t>+1</a:t>
            </a:r>
            <a:r>
              <a:rPr lang="ru" altLang="ru-RU" sz="2000" dirty="0"/>
              <a:t> </a:t>
            </a:r>
            <a:r>
              <a:rPr lang="ru" altLang="ru-RU" sz="1800" dirty="0">
                <a:solidFill>
                  <a:srgbClr val="0066FF"/>
                </a:solidFill>
              </a:rPr>
              <a:t>дополнительное измерение для потери</a:t>
            </a:r>
          </a:p>
          <a:p>
            <a:pPr>
              <a:lnSpc>
                <a:spcPct val="80000"/>
              </a:lnSpc>
            </a:pPr>
            <a:r>
              <a:rPr lang="ru" altLang="ru-RU" sz="2000" dirty="0"/>
              <a:t>Пространство данных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Каждая ось соответствует входному значению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Точка — это вектор данных. Поверхность решения — это плоскость.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Размерность = размерность вектора данных</a:t>
            </a:r>
          </a:p>
          <a:p>
            <a:pPr>
              <a:lnSpc>
                <a:spcPct val="80000"/>
              </a:lnSpc>
            </a:pPr>
            <a:r>
              <a:rPr lang="ru" altLang="ru-RU" sz="2000" dirty="0"/>
              <a:t>«Пространство случая»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Каждая ось соответствует учебному случаю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Точка присваивает скалярное значение каждому обучающему случаю.</a:t>
            </a:r>
          </a:p>
          <a:p>
            <a:pPr lvl="2">
              <a:lnSpc>
                <a:spcPct val="80000"/>
              </a:lnSpc>
            </a:pPr>
            <a:r>
              <a:rPr lang="ru" altLang="ru-RU" sz="1800" dirty="0"/>
              <a:t>Таким образом, он может представлять одномерные цели или может представлять значение одного входного компонента по всем обучающим данным.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Размерность = #кейсы обучения</a:t>
            </a:r>
          </a:p>
          <a:p>
            <a:pPr>
              <a:lnSpc>
                <a:spcPct val="80000"/>
              </a:lnSpc>
            </a:pPr>
            <a:endParaRPr lang="en-US" altLang="ru-RU" sz="20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68EEAF3-2EFF-E340-9036-E7A0CCDB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6</a:t>
            </a:fld>
            <a:endParaRPr lang="en-US" alt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C42D2B28-BAAA-BD4F-97BF-51D47D53B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/>
              <a:t>Дискриминантные функции для N&gt;2 классов</a:t>
            </a:r>
          </a:p>
        </p:txBody>
      </p:sp>
      <p:sp>
        <p:nvSpPr>
          <p:cNvPr id="258051" name="Rectangle 3">
            <a:extLst>
              <a:ext uri="{FF2B5EF4-FFF2-40B4-BE49-F238E27FC236}">
                <a16:creationId xmlns:a16="http://schemas.microsoft.com/office/drawing/2014/main" id="{36A912C4-5AA6-0241-9790-C15C5AC58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" altLang="ru-RU"/>
              <a:t>Одной из возможностей является использование N двусторонних дискриминантных функций.</a:t>
            </a:r>
          </a:p>
          <a:p>
            <a:pPr lvl="1"/>
            <a:r>
              <a:rPr lang="ru" altLang="ru-RU"/>
              <a:t>Каждая функция отличает один класс от остальных.</a:t>
            </a:r>
          </a:p>
          <a:p>
            <a:r>
              <a:rPr lang="ru" altLang="ru-RU"/>
              <a:t>Другая возможность — использовать N(N-1)/2 двусторонних дискриминантных функций.</a:t>
            </a:r>
          </a:p>
          <a:p>
            <a:pPr lvl="1"/>
            <a:r>
              <a:rPr lang="ru" altLang="ru-RU"/>
              <a:t>Каждая функция различает два конкретных класса.</a:t>
            </a:r>
          </a:p>
          <a:p>
            <a:r>
              <a:rPr lang="ru" altLang="ru-RU"/>
              <a:t>Оба эти метода имеют проблемы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A097E5-3E9D-CD4C-B81B-04269FFF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7</a:t>
            </a:fld>
            <a:endParaRPr lang="en-US" alt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4" name="Rectangle 6">
            <a:extLst>
              <a:ext uri="{FF2B5EF4-FFF2-40B4-BE49-F238E27FC236}">
                <a16:creationId xmlns:a16="http://schemas.microsoft.com/office/drawing/2014/main" id="{1961B1F4-A92C-C34B-886F-12BE18C68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2800"/>
              <a:t>Проблемы с многоклассовыми дискриминантными функциями</a:t>
            </a:r>
          </a:p>
        </p:txBody>
      </p:sp>
      <p:pic>
        <p:nvPicPr>
          <p:cNvPr id="227332" name="Picture 4">
            <a:extLst>
              <a:ext uri="{FF2B5EF4-FFF2-40B4-BE49-F238E27FC236}">
                <a16:creationId xmlns:a16="http://schemas.microsoft.com/office/drawing/2014/main" id="{EAE4B446-258B-5A43-9D82-B979ED5F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1362075"/>
            <a:ext cx="4103687" cy="408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333" name="Picture 5">
            <a:extLst>
              <a:ext uri="{FF2B5EF4-FFF2-40B4-BE49-F238E27FC236}">
                <a16:creationId xmlns:a16="http://schemas.microsoft.com/office/drawing/2014/main" id="{2F859095-1B2B-904A-AB51-E21FA20B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3" y="1400175"/>
            <a:ext cx="3951287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7335" name="Text Box 7">
            <a:extLst>
              <a:ext uri="{FF2B5EF4-FFF2-40B4-BE49-F238E27FC236}">
                <a16:creationId xmlns:a16="http://schemas.microsoft.com/office/drawing/2014/main" id="{069DB96F-4DD3-2442-B288-B251B4D84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805488"/>
            <a:ext cx="25209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 dirty="0">
                <a:solidFill>
                  <a:srgbClr val="000099"/>
                </a:solidFill>
              </a:rPr>
              <a:t>Более одного хорошего ответа</a:t>
            </a:r>
          </a:p>
        </p:txBody>
      </p:sp>
      <p:sp>
        <p:nvSpPr>
          <p:cNvPr id="227337" name="Text Box 9">
            <a:extLst>
              <a:ext uri="{FF2B5EF4-FFF2-40B4-BE49-F238E27FC236}">
                <a16:creationId xmlns:a16="http://schemas.microsoft.com/office/drawing/2014/main" id="{3EE0159B-7E6A-F64F-A317-7C6F6423F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2" y="5567699"/>
            <a:ext cx="3671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 dirty="0">
                <a:solidFill>
                  <a:srgbClr val="000099"/>
                </a:solidFill>
              </a:rPr>
              <a:t>Двусторонние предпочтения не обязательно должны быть транзитивными!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6606A6-4E63-7940-A086-81F2995E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E073-50AF-2443-86A8-1082A989F6EA}" type="slidenum">
              <a:rPr lang="en-US" altLang="ru-RU" smtClean="0"/>
              <a:pPr/>
              <a:t>8</a:t>
            </a:fld>
            <a:endParaRPr lang="en-US" alt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7D0D3451-6CD0-534D-9B0D-FF5755154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dirty="0"/>
              <a:t>Простое решение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3B707C22-30A4-0846-915D-36EF343D69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ru" altLang="ru-RU" sz="2000" dirty="0"/>
              <a:t>Используйте </a:t>
            </a:r>
            <a:r>
              <a:rPr lang="ru" altLang="ru-RU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ru" altLang="ru-RU" sz="2000" dirty="0"/>
              <a:t> дискриминантных функций и выберите максимальную.</a:t>
            </a:r>
          </a:p>
          <a:p>
            <a:pPr lvl="1"/>
            <a:r>
              <a:rPr lang="ru" altLang="ru-RU" sz="2000" dirty="0"/>
              <a:t>Это гарантированно даст последовательные и выпуклые области решений, если </a:t>
            </a:r>
            <a:r>
              <a:rPr lang="ru" altLang="ru-RU" sz="2000" i="1" dirty="0"/>
              <a:t>y</a:t>
            </a:r>
            <a:r>
              <a:rPr lang="ru" altLang="ru-RU" sz="2000" dirty="0"/>
              <a:t> линейна.</a:t>
            </a:r>
          </a:p>
        </p:txBody>
      </p:sp>
      <p:pic>
        <p:nvPicPr>
          <p:cNvPr id="259076" name="Picture 4">
            <a:extLst>
              <a:ext uri="{FF2B5EF4-FFF2-40B4-BE49-F238E27FC236}">
                <a16:creationId xmlns:a16="http://schemas.microsoft.com/office/drawing/2014/main" id="{252E7706-278B-BC4E-AF62-D83FD8E7A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1400175"/>
            <a:ext cx="3887788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59077" name="Object 5">
            <a:extLst>
              <a:ext uri="{FF2B5EF4-FFF2-40B4-BE49-F238E27FC236}">
                <a16:creationId xmlns:a16="http://schemas.microsoft.com/office/drawing/2014/main" id="{30B32F78-6750-3B4E-9DF6-0804114E2A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832314"/>
              </p:ext>
            </p:extLst>
          </p:nvPr>
        </p:nvGraphicFramePr>
        <p:xfrm>
          <a:off x="1059657" y="4450346"/>
          <a:ext cx="69850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8" name="Equation" r:id="rId4" imgW="63779400" imgH="16675100" progId="Equation.3">
                  <p:embed/>
                </p:oleObj>
              </mc:Choice>
              <mc:Fallback>
                <p:oleObj name="Equation" r:id="rId4" imgW="63779400" imgH="16675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657" y="4450346"/>
                        <a:ext cx="69850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9" name="Object 7">
            <a:extLst>
              <a:ext uri="{FF2B5EF4-FFF2-40B4-BE49-F238E27FC236}">
                <a16:creationId xmlns:a16="http://schemas.microsoft.com/office/drawing/2014/main" id="{EBE5044C-29F5-D446-AF56-7CFEC2522E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321691"/>
              </p:ext>
            </p:extLst>
          </p:nvPr>
        </p:nvGraphicFramePr>
        <p:xfrm>
          <a:off x="2960688" y="1460553"/>
          <a:ext cx="190023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59" name="Equation" r:id="rId6" imgW="17843500" imgH="5562600" progId="Equation.3">
                  <p:embed/>
                </p:oleObj>
              </mc:Choice>
              <mc:Fallback>
                <p:oleObj name="Equation" r:id="rId6" imgW="17843500" imgH="556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1460553"/>
                        <a:ext cx="190023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A22AA7-B831-BE4C-8238-1270D1A9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7FB5-90C1-DE4B-8DE6-8E48EDE76C4A}" type="slidenum">
              <a:rPr lang="en-US" altLang="ru-RU" smtClean="0"/>
              <a:pPr/>
              <a:t>9</a:t>
            </a:fld>
            <a:endParaRPr lang="en-US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7" name="Rectangle 5">
            <a:extLst>
              <a:ext uri="{FF2B5EF4-FFF2-40B4-BE49-F238E27FC236}">
                <a16:creationId xmlns:a16="http://schemas.microsoft.com/office/drawing/2014/main" id="{8BEB721E-E914-5C49-92F7-B2181DBFD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dirty="0"/>
              <a:t>Использование метода наименьших квадратов для классификации</a:t>
            </a:r>
          </a:p>
        </p:txBody>
      </p:sp>
      <p:sp>
        <p:nvSpPr>
          <p:cNvPr id="228360" name="Rectangle 8">
            <a:extLst>
              <a:ext uri="{FF2B5EF4-FFF2-40B4-BE49-F238E27FC236}">
                <a16:creationId xmlns:a16="http://schemas.microsoft.com/office/drawing/2014/main" id="{FDAE9033-896B-3A4B-ADA6-CD7E136CF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" altLang="ru-RU" sz="2400" dirty="0"/>
              <a:t>Не работает так хорошо, как лучшие методы, но </a:t>
            </a:r>
            <a:r>
              <a:rPr lang="ru-RU" altLang="ru-RU" sz="2400" dirty="0"/>
              <a:t>он прост</a:t>
            </a:r>
            <a:r>
              <a:rPr lang="ru" altLang="ru-RU" sz="2400" dirty="0"/>
              <a:t>:</a:t>
            </a:r>
          </a:p>
          <a:p>
            <a:pPr lvl="1"/>
            <a:r>
              <a:rPr lang="ru" altLang="ru-RU" sz="2400" dirty="0"/>
              <a:t>Он сводит классификацию к регрессии наименьших квадратов.</a:t>
            </a:r>
          </a:p>
          <a:p>
            <a:pPr lvl="1"/>
            <a:r>
              <a:rPr lang="ru" altLang="ru-RU" sz="2400" dirty="0"/>
              <a:t>Мы уже умеем строить регрессию. Остаётся только найти оптимальные веса, используя матричную алгебру </a:t>
            </a:r>
            <a:r>
              <a:rPr lang="ru" altLang="ru-RU" sz="2000" dirty="0">
                <a:solidFill>
                  <a:srgbClr val="000099"/>
                </a:solidFill>
              </a:rPr>
              <a:t>(см. M</a:t>
            </a:r>
            <a:r>
              <a:rPr lang="en-US" altLang="ru-RU" sz="2000" dirty="0">
                <a:solidFill>
                  <a:srgbClr val="000099"/>
                </a:solidFill>
              </a:rPr>
              <a:t>L</a:t>
            </a:r>
            <a:r>
              <a:rPr lang="ru" altLang="ru-RU" sz="2000" dirty="0">
                <a:solidFill>
                  <a:srgbClr val="000099"/>
                </a:solidFill>
              </a:rPr>
              <a:t> 2).</a:t>
            </a:r>
          </a:p>
          <a:p>
            <a:r>
              <a:rPr lang="ru-RU" altLang="ru-RU" sz="2400" dirty="0"/>
              <a:t>И</a:t>
            </a:r>
            <a:r>
              <a:rPr lang="ru" altLang="ru-RU" sz="2400" dirty="0"/>
              <a:t>спользуем цели, которые равны условной вероятности класса с учетом входных данных.</a:t>
            </a:r>
          </a:p>
          <a:p>
            <a:pPr lvl="1"/>
            <a:r>
              <a:rPr lang="ru" altLang="ru-RU" sz="2400" dirty="0"/>
              <a:t>Когда имеется более двух классов, мы рассматриваем каждый класс как отдельную задачу </a:t>
            </a:r>
            <a:r>
              <a:rPr lang="ru" altLang="ru-RU" sz="2000" dirty="0">
                <a:solidFill>
                  <a:srgbClr val="000099"/>
                </a:solidFill>
              </a:rPr>
              <a:t>(мы не можем избежать этого, если используем функцию принятия решения </a:t>
            </a:r>
            <a:r>
              <a:rPr lang="en-US" altLang="ru-RU" sz="2000" dirty="0">
                <a:solidFill>
                  <a:srgbClr val="000099"/>
                </a:solidFill>
              </a:rPr>
              <a:t>“max”</a:t>
            </a:r>
            <a:r>
              <a:rPr lang="ru" altLang="ru-RU" sz="2000" dirty="0">
                <a:solidFill>
                  <a:srgbClr val="000099"/>
                </a:solidFill>
              </a:rPr>
              <a:t>).</a:t>
            </a:r>
          </a:p>
          <a:p>
            <a:endParaRPr lang="en-US" altLang="ru-RU" sz="2000" dirty="0">
              <a:solidFill>
                <a:srgbClr val="000099"/>
              </a:solidFill>
            </a:endParaRPr>
          </a:p>
          <a:p>
            <a:endParaRPr lang="en-US" altLang="ru-RU"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9D2DA8-09C7-364B-ABD3-C7B52919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10</a:t>
            </a:fld>
            <a:endParaRPr lang="en-US" alt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2" name="Rectangle 6">
            <a:extLst>
              <a:ext uri="{FF2B5EF4-FFF2-40B4-BE49-F238E27FC236}">
                <a16:creationId xmlns:a16="http://schemas.microsoft.com/office/drawing/2014/main" id="{ECF34005-B697-EC42-8321-86B67DFF3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53975"/>
            <a:ext cx="7345238" cy="1143000"/>
          </a:xfrm>
        </p:spPr>
        <p:txBody>
          <a:bodyPr/>
          <a:lstStyle/>
          <a:p>
            <a:r>
              <a:rPr lang="ru" altLang="ru-RU" sz="2400" dirty="0"/>
              <a:t>Проблемы с использованием наименьших квадратов для классификации</a:t>
            </a:r>
          </a:p>
        </p:txBody>
      </p:sp>
      <p:pic>
        <p:nvPicPr>
          <p:cNvPr id="229380" name="Picture 4">
            <a:extLst>
              <a:ext uri="{FF2B5EF4-FFF2-40B4-BE49-F238E27FC236}">
                <a16:creationId xmlns:a16="http://schemas.microsoft.com/office/drawing/2014/main" id="{B3C820FD-2641-6E4C-8CB9-56E2FBE97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675" y="1293813"/>
            <a:ext cx="3944938" cy="400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381" name="Picture 5">
            <a:extLst>
              <a:ext uri="{FF2B5EF4-FFF2-40B4-BE49-F238E27FC236}">
                <a16:creationId xmlns:a16="http://schemas.microsoft.com/office/drawing/2014/main" id="{28A05C68-6E4A-A441-8A9F-A80A6766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341438"/>
            <a:ext cx="3970337" cy="403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383" name="Text Box 7">
            <a:extLst>
              <a:ext uri="{FF2B5EF4-FFF2-40B4-BE49-F238E27FC236}">
                <a16:creationId xmlns:a16="http://schemas.microsoft.com/office/drawing/2014/main" id="{248DB534-9697-6745-B1AF-DB1B7D21D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373688"/>
            <a:ext cx="34559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400" dirty="0">
                <a:solidFill>
                  <a:srgbClr val="000099"/>
                </a:solidFill>
              </a:rPr>
              <a:t>Если правильный ответ — 1, а модель говорит 1,5, она проигрывает, поэтому она меняет границу, чтобы избежать «слишком правильной» оценки.</a:t>
            </a:r>
          </a:p>
        </p:txBody>
      </p:sp>
      <p:sp>
        <p:nvSpPr>
          <p:cNvPr id="229384" name="Text Box 8">
            <a:extLst>
              <a:ext uri="{FF2B5EF4-FFF2-40B4-BE49-F238E27FC236}">
                <a16:creationId xmlns:a16="http://schemas.microsoft.com/office/drawing/2014/main" id="{728F9C15-5B46-6F46-A449-9DD788122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765175"/>
            <a:ext cx="15128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400" dirty="0">
                <a:solidFill>
                  <a:srgbClr val="33CC33"/>
                </a:solidFill>
              </a:rPr>
              <a:t>логистическая регрессия</a:t>
            </a:r>
          </a:p>
        </p:txBody>
      </p:sp>
      <p:sp>
        <p:nvSpPr>
          <p:cNvPr id="229385" name="Line 9">
            <a:extLst>
              <a:ext uri="{FF2B5EF4-FFF2-40B4-BE49-F238E27FC236}">
                <a16:creationId xmlns:a16="http://schemas.microsoft.com/office/drawing/2014/main" id="{75EFB720-0131-EB45-A8A5-402F4BD757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4750" y="1052513"/>
            <a:ext cx="215900" cy="287337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9386" name="Text Box 10">
            <a:extLst>
              <a:ext uri="{FF2B5EF4-FFF2-40B4-BE49-F238E27FC236}">
                <a16:creationId xmlns:a16="http://schemas.microsoft.com/office/drawing/2014/main" id="{765DE6F9-8DA9-B045-A9C6-87D392BAF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2349500"/>
            <a:ext cx="16922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800" dirty="0">
                <a:solidFill>
                  <a:srgbClr val="CC00CC"/>
                </a:solidFill>
              </a:rPr>
              <a:t>регрессия наименьших квадратов</a:t>
            </a:r>
          </a:p>
        </p:txBody>
      </p:sp>
      <p:sp>
        <p:nvSpPr>
          <p:cNvPr id="229387" name="Line 11">
            <a:extLst>
              <a:ext uri="{FF2B5EF4-FFF2-40B4-BE49-F238E27FC236}">
                <a16:creationId xmlns:a16="http://schemas.microsoft.com/office/drawing/2014/main" id="{C21464A1-3220-0E45-8457-FE39794072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2450" y="1989138"/>
            <a:ext cx="0" cy="3603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0A64B04-AB4E-4342-A623-1F8C5B3C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E073-50AF-2443-86A8-1082A989F6EA}" type="slidenum">
              <a:rPr lang="en-US" altLang="ru-RU" smtClean="0"/>
              <a:pPr/>
              <a:t>11</a:t>
            </a:fld>
            <a:endParaRPr lang="en-US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6" name="Rectangle 6">
            <a:extLst>
              <a:ext uri="{FF2B5EF4-FFF2-40B4-BE49-F238E27FC236}">
                <a16:creationId xmlns:a16="http://schemas.microsoft.com/office/drawing/2014/main" id="{E1BBD65C-05F6-E641-AF55-EC1E31E501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2800" dirty="0"/>
              <a:t>Другой пример, когда регрессия наименьших квадратов дает плохие поверхности решений</a:t>
            </a:r>
          </a:p>
        </p:txBody>
      </p:sp>
      <p:pic>
        <p:nvPicPr>
          <p:cNvPr id="230404" name="Picture 4">
            <a:extLst>
              <a:ext uri="{FF2B5EF4-FFF2-40B4-BE49-F238E27FC236}">
                <a16:creationId xmlns:a16="http://schemas.microsoft.com/office/drawing/2014/main" id="{2ADF31F0-3F95-994B-B28A-C8199892C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263" y="1773238"/>
            <a:ext cx="357822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405" name="Picture 5">
            <a:extLst>
              <a:ext uri="{FF2B5EF4-FFF2-40B4-BE49-F238E27FC236}">
                <a16:creationId xmlns:a16="http://schemas.microsoft.com/office/drawing/2014/main" id="{9DF43C95-F9F8-C84D-BD88-E059D76B7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773238"/>
            <a:ext cx="357822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F3C191C-8B2C-A347-BA44-C5B0A94D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E073-50AF-2443-86A8-1082A989F6EA}" type="slidenum">
              <a:rPr lang="en-US" altLang="ru-RU" smtClean="0"/>
              <a:pPr/>
              <a:t>12</a:t>
            </a:fld>
            <a:endParaRPr lang="en-US" alt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E246A24C-5C77-2E47-9442-AF24D7A792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ru" altLang="ru-RU" sz="2800" dirty="0"/>
              <a:t>Линейный дискриминант Фишера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5DDDDD31-AB24-4642-84DA-0D67EF9FC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3276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" altLang="ru-RU" sz="2000" dirty="0"/>
              <a:t>Простая линейная дискриминантная функция представляет собой проекцию данных на одномерный уровень.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Итак, выберите проекцию, которая обеспечивает наилучшее разделение классов. </a:t>
            </a:r>
            <a:r>
              <a:rPr lang="ru" altLang="ru-RU" sz="2000" dirty="0">
                <a:solidFill>
                  <a:srgbClr val="0000CC"/>
                </a:solidFill>
              </a:rPr>
              <a:t>Что мы подразумеваем под «наилучшим разделением»?</a:t>
            </a:r>
          </a:p>
          <a:p>
            <a:pPr>
              <a:lnSpc>
                <a:spcPct val="80000"/>
              </a:lnSpc>
            </a:pPr>
            <a:r>
              <a:rPr lang="ru" altLang="ru-RU" sz="2000" dirty="0"/>
              <a:t>Очевидным направлением выбора является направление линии, соединяющей средние значения класса.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Однако если основное направление дисперсии в каждом классе не ортогонально этой линии, то это не даст хорошего разделения (см. следующий рисунок).</a:t>
            </a:r>
          </a:p>
          <a:p>
            <a:pPr>
              <a:lnSpc>
                <a:spcPct val="80000"/>
              </a:lnSpc>
            </a:pPr>
            <a:r>
              <a:rPr lang="ru" altLang="ru-RU" sz="2000" dirty="0"/>
              <a:t>Метод Фишера выбирает направление, которое максимизирует отношение </a:t>
            </a:r>
            <a:r>
              <a:rPr lang="ru" altLang="ru-RU" sz="2000" dirty="0">
                <a:solidFill>
                  <a:srgbClr val="0000CC"/>
                </a:solidFill>
              </a:rPr>
              <a:t>межклассовой </a:t>
            </a:r>
            <a:r>
              <a:rPr lang="ru" altLang="ru-RU" sz="2000" dirty="0"/>
              <a:t>дисперсии к </a:t>
            </a:r>
            <a:r>
              <a:rPr lang="ru" altLang="ru-RU" sz="2000" dirty="0">
                <a:solidFill>
                  <a:srgbClr val="0000CC"/>
                </a:solidFill>
              </a:rPr>
              <a:t>внутриклассовой </a:t>
            </a:r>
            <a:r>
              <a:rPr lang="ru" altLang="ru-RU" sz="2000" dirty="0"/>
              <a:t>дисперсии.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Это направление, в котором спроецированные точки содержат наибольшую информацию о принадлежности к классу (в соответствии с гауссовыми предположениями).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C380F4-3F48-4849-A455-0BC73435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13</a:t>
            </a:fld>
            <a:endParaRPr lang="en-US" alt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30" name="Rectangle 6">
            <a:extLst>
              <a:ext uri="{FF2B5EF4-FFF2-40B4-BE49-F238E27FC236}">
                <a16:creationId xmlns:a16="http://schemas.microsoft.com/office/drawing/2014/main" id="{40767F5A-EB3B-584F-9679-30B3F0F06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2800" dirty="0"/>
              <a:t>Рисунок, демонстрирующий преимущество линейного дискриминанта Фишера</a:t>
            </a:r>
          </a:p>
        </p:txBody>
      </p:sp>
      <p:pic>
        <p:nvPicPr>
          <p:cNvPr id="231428" name="Picture 4">
            <a:extLst>
              <a:ext uri="{FF2B5EF4-FFF2-40B4-BE49-F238E27FC236}">
                <a16:creationId xmlns:a16="http://schemas.microsoft.com/office/drawing/2014/main" id="{9D8134BE-9EDC-0544-9955-97798C703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1628775"/>
            <a:ext cx="3746500" cy="283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429" name="Picture 5">
            <a:extLst>
              <a:ext uri="{FF2B5EF4-FFF2-40B4-BE49-F238E27FC236}">
                <a16:creationId xmlns:a16="http://schemas.microsoft.com/office/drawing/2014/main" id="{89FC2A4E-EF46-C041-8C37-9F356F976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28775"/>
            <a:ext cx="3743325" cy="283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1431" name="Text Box 7">
            <a:extLst>
              <a:ext uri="{FF2B5EF4-FFF2-40B4-BE49-F238E27FC236}">
                <a16:creationId xmlns:a16="http://schemas.microsoft.com/office/drawing/2014/main" id="{45C27211-2A56-6949-A1D8-471AA7CBD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941888"/>
            <a:ext cx="33845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 dirty="0">
                <a:solidFill>
                  <a:srgbClr val="0066FF"/>
                </a:solidFill>
              </a:rPr>
              <a:t>При проецировании на линию, соединяющую классы, классы не очень хорошо разделены.</a:t>
            </a:r>
            <a:endParaRPr lang="en-US" altLang="ru-RU" dirty="0"/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0F646599-3E27-2248-B2ED-9F76824FA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673600"/>
            <a:ext cx="42481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 dirty="0">
                <a:solidFill>
                  <a:srgbClr val="0066FF"/>
                </a:solidFill>
              </a:rPr>
              <a:t>Фишер выбирает направление, которое делает прогнозируемые классы гораздо плотнее, даже если их прогнозируемые средние значения не так далеко друг от друга.</a:t>
            </a:r>
            <a:endParaRPr lang="en-US" alt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A73B06C-0AF6-1B40-BBAE-431CA997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E073-50AF-2443-86A8-1082A989F6EA}" type="slidenum">
              <a:rPr lang="en-US" altLang="ru-RU" smtClean="0"/>
              <a:pPr/>
              <a:t>14</a:t>
            </a:fld>
            <a:endParaRPr lang="en-US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DBE454CC-B8E0-674C-8BE5-CDDA17B2F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dirty="0"/>
              <a:t>Математика линейных дискриминантов Фишера</a:t>
            </a: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537F455F-E10B-1547-A0D6-F79CC6238C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691063" cy="5257800"/>
          </a:xfrm>
        </p:spPr>
        <p:txBody>
          <a:bodyPr/>
          <a:lstStyle/>
          <a:p>
            <a:r>
              <a:rPr lang="ru" altLang="ru-RU" sz="1800" dirty="0"/>
              <a:t>Какое линейное преобразование лучше всего подходит для дискриминации?</a:t>
            </a:r>
          </a:p>
          <a:p>
            <a:r>
              <a:rPr lang="ru" altLang="ru-RU" sz="1800" dirty="0"/>
              <a:t>Проекция на вектор, разделяющий класс - кажется разумным</a:t>
            </a:r>
          </a:p>
          <a:p>
            <a:endParaRPr lang="en-US" altLang="ru-RU" sz="1800" dirty="0"/>
          </a:p>
          <a:p>
            <a:r>
              <a:rPr lang="ru" altLang="ru-RU" sz="1800" dirty="0"/>
              <a:t>Нам также нужна небольшая дисперсия внутри каждого класса:</a:t>
            </a:r>
          </a:p>
          <a:p>
            <a:endParaRPr lang="en-US" altLang="ru-RU" sz="1800" dirty="0"/>
          </a:p>
          <a:p>
            <a:endParaRPr lang="en-US" altLang="ru-RU" sz="1800" dirty="0"/>
          </a:p>
          <a:p>
            <a:endParaRPr lang="en-US" altLang="ru-RU" sz="1800" dirty="0"/>
          </a:p>
          <a:p>
            <a:endParaRPr lang="en-US" altLang="ru-RU" sz="1800" dirty="0"/>
          </a:p>
          <a:p>
            <a:r>
              <a:rPr lang="ru" altLang="ru-RU" sz="1800" dirty="0"/>
              <a:t>Целевая функция Фишера:</a:t>
            </a:r>
          </a:p>
        </p:txBody>
      </p:sp>
      <p:graphicFrame>
        <p:nvGraphicFramePr>
          <p:cNvPr id="263172" name="Object 4">
            <a:extLst>
              <a:ext uri="{FF2B5EF4-FFF2-40B4-BE49-F238E27FC236}">
                <a16:creationId xmlns:a16="http://schemas.microsoft.com/office/drawing/2014/main" id="{A7479B0E-2060-0F42-A8CD-20287C151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1484313"/>
          <a:ext cx="13652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38" name="Equation" r:id="rId3" imgW="13169900" imgH="5854700" progId="Equation.3">
                  <p:embed/>
                </p:oleObj>
              </mc:Choice>
              <mc:Fallback>
                <p:oleObj name="Equation" r:id="rId3" imgW="13169900" imgH="5854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484313"/>
                        <a:ext cx="13652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5" name="Object 7">
            <a:extLst>
              <a:ext uri="{FF2B5EF4-FFF2-40B4-BE49-F238E27FC236}">
                <a16:creationId xmlns:a16="http://schemas.microsoft.com/office/drawing/2014/main" id="{3C0039C0-88F8-A549-9124-DA73C21BF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2775" y="2554288"/>
          <a:ext cx="19034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39" name="Equation" r:id="rId5" imgW="21361400" imgH="4978400" progId="Equation.3">
                  <p:embed/>
                </p:oleObj>
              </mc:Choice>
              <mc:Fallback>
                <p:oleObj name="Equation" r:id="rId5" imgW="21361400" imgH="497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2554288"/>
                        <a:ext cx="19034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6" name="Object 8">
            <a:extLst>
              <a:ext uri="{FF2B5EF4-FFF2-40B4-BE49-F238E27FC236}">
                <a16:creationId xmlns:a16="http://schemas.microsoft.com/office/drawing/2014/main" id="{80302611-2AB1-CD42-AB20-8490CD6DD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1788" y="3284538"/>
          <a:ext cx="2760662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40" name="Equation" r:id="rId7" imgW="26911300" imgH="19304000" progId="Equation.3">
                  <p:embed/>
                </p:oleObj>
              </mc:Choice>
              <mc:Fallback>
                <p:oleObj name="Equation" r:id="rId7" imgW="26911300" imgH="1930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788" y="3284538"/>
                        <a:ext cx="2760662" cy="197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7" name="Object 9">
            <a:extLst>
              <a:ext uri="{FF2B5EF4-FFF2-40B4-BE49-F238E27FC236}">
                <a16:creationId xmlns:a16="http://schemas.microsoft.com/office/drawing/2014/main" id="{92E012A8-84A9-3344-9917-B96416920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413375"/>
          <a:ext cx="2951162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41" name="Equation" r:id="rId9" imgW="29552900" imgH="11112500" progId="Equation.3">
                  <p:embed/>
                </p:oleObj>
              </mc:Choice>
              <mc:Fallback>
                <p:oleObj name="Equation" r:id="rId9" imgW="29552900" imgH="11112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13375"/>
                        <a:ext cx="2951162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8" name="Text Box 10">
            <a:extLst>
              <a:ext uri="{FF2B5EF4-FFF2-40B4-BE49-F238E27FC236}">
                <a16:creationId xmlns:a16="http://schemas.microsoft.com/office/drawing/2014/main" id="{264058B9-315B-0C48-8B2C-F8BAC726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5516563"/>
            <a:ext cx="118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800" dirty="0">
                <a:solidFill>
                  <a:srgbClr val="0000CC"/>
                </a:solidFill>
              </a:rPr>
              <a:t>между</a:t>
            </a:r>
          </a:p>
        </p:txBody>
      </p:sp>
      <p:sp>
        <p:nvSpPr>
          <p:cNvPr id="263179" name="Line 11">
            <a:extLst>
              <a:ext uri="{FF2B5EF4-FFF2-40B4-BE49-F238E27FC236}">
                <a16:creationId xmlns:a16="http://schemas.microsoft.com/office/drawing/2014/main" id="{0E45E4B1-ECD3-BE48-9CAE-28CC88236A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7625" y="5734050"/>
            <a:ext cx="2889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63180" name="Text Box 12">
            <a:extLst>
              <a:ext uri="{FF2B5EF4-FFF2-40B4-BE49-F238E27FC236}">
                <a16:creationId xmlns:a16="http://schemas.microsoft.com/office/drawing/2014/main" id="{36F85E7D-58E7-A248-BD3C-6B3A5922B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3063" y="6165304"/>
            <a:ext cx="1187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1400" dirty="0">
                <a:solidFill>
                  <a:srgbClr val="0000CC"/>
                </a:solidFill>
              </a:rPr>
              <a:t>в пределах</a:t>
            </a:r>
          </a:p>
        </p:txBody>
      </p:sp>
      <p:sp>
        <p:nvSpPr>
          <p:cNvPr id="263181" name="Line 13">
            <a:extLst>
              <a:ext uri="{FF2B5EF4-FFF2-40B4-BE49-F238E27FC236}">
                <a16:creationId xmlns:a16="http://schemas.microsoft.com/office/drawing/2014/main" id="{37FDFE84-B882-8440-9AF9-238094CFC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04138" y="6303963"/>
            <a:ext cx="2889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1D317-711A-D54E-ADB6-40C90D776E04}"/>
                  </a:ext>
                </a:extLst>
              </p:cNvPr>
              <p:cNvSpPr txBox="1"/>
              <p:nvPr/>
            </p:nvSpPr>
            <p:spPr>
              <a:xfrm>
                <a:off x="-118356" y="4257927"/>
                <a:ext cx="5398382" cy="797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b="1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8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ru-RU" sz="1800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ru-RU" sz="18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b="1" i="0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18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1800" b="0" i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8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ru-RU" sz="1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1D317-711A-D54E-ADB6-40C90D776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8356" y="4257927"/>
                <a:ext cx="5398382" cy="797334"/>
              </a:xfrm>
              <a:prstGeom prst="rect">
                <a:avLst/>
              </a:prstGeom>
              <a:blipFill>
                <a:blip r:embed="rId11"/>
                <a:stretch>
                  <a:fillRect t="-119048" b="-16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C512CC8-57E5-4F4F-9DDF-AC9496576ECA}"/>
              </a:ext>
            </a:extLst>
          </p:cNvPr>
          <p:cNvSpPr txBox="1"/>
          <p:nvPr/>
        </p:nvSpPr>
        <p:spPr>
          <a:xfrm>
            <a:off x="7936502" y="3284538"/>
            <a:ext cx="28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F3FE7-381E-3143-8D43-BDF4EC0CB49A}"/>
              </a:ext>
            </a:extLst>
          </p:cNvPr>
          <p:cNvSpPr txBox="1"/>
          <p:nvPr/>
        </p:nvSpPr>
        <p:spPr>
          <a:xfrm>
            <a:off x="7993063" y="4287298"/>
            <a:ext cx="28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2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2A6828-A60D-B043-81FF-266C8861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7FB5-90C1-DE4B-8DE6-8E48EDE76C4A}" type="slidenum">
              <a:rPr lang="en-US" altLang="ru-RU" smtClean="0"/>
              <a:pPr/>
              <a:t>15</a:t>
            </a:fld>
            <a:endParaRPr lang="en-US" alt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65" name="Object 5">
            <a:extLst>
              <a:ext uri="{FF2B5EF4-FFF2-40B4-BE49-F238E27FC236}">
                <a16:creationId xmlns:a16="http://schemas.microsoft.com/office/drawing/2014/main" id="{EDF5F81E-085F-5C4E-A3DA-EC6A22A794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002594"/>
              </p:ext>
            </p:extLst>
          </p:nvPr>
        </p:nvGraphicFramePr>
        <p:xfrm>
          <a:off x="535880" y="1409700"/>
          <a:ext cx="8356600" cy="497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6" name="Equation" r:id="rId3" imgW="83680300" imgH="49733200" progId="Equation.3">
                  <p:embed/>
                </p:oleObj>
              </mc:Choice>
              <mc:Fallback>
                <p:oleObj name="Equation" r:id="rId3" imgW="83680300" imgH="4973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880" y="1409700"/>
                        <a:ext cx="8356600" cy="497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6" name="Rectangle 6">
            <a:extLst>
              <a:ext uri="{FF2B5EF4-FFF2-40B4-BE49-F238E27FC236}">
                <a16:creationId xmlns:a16="http://schemas.microsoft.com/office/drawing/2014/main" id="{95EE62F9-F821-4B49-8DED-84DE6E696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3200" dirty="0"/>
              <a:t>Использование линейных дискриминантов Фишера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1B9BF95-C117-F54A-A7F5-1118C4FA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8E073-50AF-2443-86A8-1082A989F6EA}" type="slidenum">
              <a:rPr lang="en-US" altLang="ru-RU" smtClean="0"/>
              <a:pPr/>
              <a:t>16</a:t>
            </a:fld>
            <a:endParaRPr lang="en-US" alt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59212FC6-F439-6A46-B049-B9A6A7F2E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</p:spPr>
        <p:txBody>
          <a:bodyPr/>
          <a:lstStyle/>
          <a:p>
            <a:r>
              <a:rPr lang="ru" altLang="ru-RU" dirty="0"/>
              <a:t>Персептрон</a:t>
            </a:r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00659A40-4EBF-7645-ADF4-A97166695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3140968"/>
            <a:ext cx="8507288" cy="371703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" altLang="ru-RU" sz="1600" dirty="0"/>
              <a:t>«Персептроны» представляют собой целое семейство обучающихся машин, но стандартный тип состоит из слоя фиксированных нелинейных базисных функций, за которым следует простая линейная дискриминантная функция.</a:t>
            </a:r>
          </a:p>
          <a:p>
            <a:pPr lvl="1">
              <a:lnSpc>
                <a:spcPct val="80000"/>
              </a:lnSpc>
            </a:pPr>
            <a:r>
              <a:rPr lang="ru" altLang="ru-RU" sz="1600" dirty="0"/>
              <a:t>Они были введены в конце 1950-х годов и имели простую процедуру онлайн-обучения.</a:t>
            </a:r>
          </a:p>
          <a:p>
            <a:pPr lvl="1">
              <a:lnSpc>
                <a:spcPct val="80000"/>
              </a:lnSpc>
            </a:pPr>
            <a:r>
              <a:rPr lang="ru" altLang="ru-RU" sz="1600" dirty="0"/>
              <a:t>Об их способностях были сделаны громкие заявления. Это вызвало множество споров.</a:t>
            </a:r>
          </a:p>
          <a:p>
            <a:pPr lvl="1">
              <a:lnSpc>
                <a:spcPct val="80000"/>
              </a:lnSpc>
            </a:pPr>
            <a:r>
              <a:rPr lang="ru" altLang="ru-RU" sz="1600" dirty="0"/>
              <a:t>Исследователи символического ИИ подчеркивали его ограничения (в рамках идеологической кампании против действительных чисел, вероятностей и обучения)</a:t>
            </a:r>
          </a:p>
          <a:p>
            <a:pPr>
              <a:lnSpc>
                <a:spcPct val="80000"/>
              </a:lnSpc>
            </a:pPr>
            <a:r>
              <a:rPr lang="ru" altLang="ru-RU" sz="1600" dirty="0"/>
              <a:t>Машины опорных векторов </a:t>
            </a:r>
            <a:r>
              <a:rPr lang="en-US" altLang="ru-RU" sz="1600" dirty="0"/>
              <a:t>(Support Vector Machines)</a:t>
            </a:r>
            <a:r>
              <a:rPr lang="ru" altLang="ru-RU" sz="1600" dirty="0"/>
              <a:t>— это просто персептроны с умным способом выбора неадаптивных, нелинейных базисных функций и лучшей процедурой обучения.</a:t>
            </a:r>
          </a:p>
          <a:p>
            <a:pPr lvl="1">
              <a:lnSpc>
                <a:spcPct val="80000"/>
              </a:lnSpc>
            </a:pPr>
            <a:r>
              <a:rPr lang="ru" altLang="ru-RU" sz="1600" dirty="0"/>
              <a:t>Они имеют те же ограничения, что и персептроны, в отношении того, какие типы функций они могут изучить.</a:t>
            </a:r>
          </a:p>
        </p:txBody>
      </p:sp>
      <p:pic>
        <p:nvPicPr>
          <p:cNvPr id="5" name="Picture 2" descr="Персептрон Розенблатта - машина, которая смогла обучаться">
            <a:extLst>
              <a:ext uri="{FF2B5EF4-FFF2-40B4-BE49-F238E27FC236}">
                <a16:creationId xmlns:a16="http://schemas.microsoft.com/office/drawing/2014/main" id="{C05B45F7-0482-6C49-93E1-43B2C231A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56" y="836712"/>
            <a:ext cx="8229600" cy="218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C447F65-03A6-FC4F-96A6-DA708572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17</a:t>
            </a:fld>
            <a:endParaRPr lang="en-US" alt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44C5A-E9D1-EB4E-B7E9-0A784530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483" y="188640"/>
            <a:ext cx="8229600" cy="620688"/>
          </a:xfrm>
        </p:spPr>
        <p:txBody>
          <a:bodyPr/>
          <a:lstStyle/>
          <a:p>
            <a:r>
              <a:rPr lang="ru" altLang="ru-RU" dirty="0"/>
              <a:t>Персептрон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892FDB3-2581-024F-9710-707BDB3ED3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483" y="980728"/>
                <a:ext cx="8229600" cy="4525963"/>
              </a:xfrm>
            </p:spPr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представляет собой модель бинарной классификации, в которой входной вектор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сначала преобразуется с помощью нелинейного преобразования для получения вектора признаков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а затем используется для построения обобщенной линейной модели вида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ru-RU" sz="20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  <m:r>
                            <a:rPr lang="ru-RU" sz="20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20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20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</a:t>
                </a: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редполагаем, что вектор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включает компонент смещения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Нелинейная функция активации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(⋅)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задаётся ступенчатой функцией вида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0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sz="20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 </m:t>
                                </m:r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ru-RU" sz="20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≥</m:t>
                                </m:r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  <m:r>
                                  <a:rPr lang="ru-RU" sz="20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 </m:t>
                                </m:r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  <m:r>
                                  <a:rPr lang="ru-RU" sz="20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ru-RU" sz="20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Это связано с тем, что для персептрона удобнее использовать целевые значения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=+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ru-RU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вместо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∈{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endParaRPr lang="ru-RU" sz="3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892FDB3-2581-024F-9710-707BDB3ED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483" y="980728"/>
                <a:ext cx="8229600" cy="4525963"/>
              </a:xfrm>
              <a:blipFill>
                <a:blip r:embed="rId2"/>
                <a:stretch>
                  <a:fillRect l="-770" t="-840" b="-30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DE34F2-E9E9-D741-9020-6DB77906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18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9373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9304A-F442-CE41-9FB5-7A479AF9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24" y="1004"/>
            <a:ext cx="8229600" cy="1143000"/>
          </a:xfrm>
        </p:spPr>
        <p:txBody>
          <a:bodyPr/>
          <a:lstStyle/>
          <a:p>
            <a:r>
              <a:rPr lang="ru-RU" dirty="0"/>
              <a:t>Функция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4BF10E-A486-6744-B14D-AA9309E8D2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961" y="1052736"/>
                <a:ext cx="8229600" cy="56166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рассматриваем функцию ошибки, называемую </a:t>
                </a:r>
                <a:r>
                  <a:rPr lang="ru-RU" sz="20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критерием персептрона </a:t>
                </a: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</a:t>
                </a: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щется весовой вектор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такой, что входные данные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принадлежащие классу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имеют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)&gt;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тогда как входные данные , принадлежащие классу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имеют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)&lt;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Учитывая схему кодирования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∈{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,+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следует, что все входные данные должны удовлетворять: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20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𝛟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ru-RU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Таким образом, критерий персептрона пытается минимизировать величину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для всех неправильно классифицированных входных данных.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</m:sSub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20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20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20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ℳ</m:t>
                          </m:r>
                        </m:sub>
                        <m:sup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0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r>
                        <a:rPr lang="ru-RU" sz="20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𝛟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0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обозначает набор неправильно классифицированных шаблонов.</a:t>
                </a: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4BF10E-A486-6744-B14D-AA9309E8D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961" y="1052736"/>
                <a:ext cx="8229600" cy="5616624"/>
              </a:xfrm>
              <a:blipFill>
                <a:blip r:embed="rId2"/>
                <a:stretch>
                  <a:fillRect l="-770" t="-677" b="-40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58F00F-CC2F-FB40-9B41-FEE1A047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19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154872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3DB74AB5-BA52-9A49-B45B-81E9B53C0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686800" cy="1143000"/>
          </a:xfrm>
        </p:spPr>
        <p:txBody>
          <a:bodyPr/>
          <a:lstStyle/>
          <a:p>
            <a:r>
              <a:rPr lang="ru" altLang="ru-RU" sz="3200"/>
              <a:t>Процедура сходимости персептрона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36AE674C-BCF7-CE4B-A6D2-4140B329A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507413" cy="4997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sz="2000" dirty="0"/>
              <a:t>Добавьте к каждому вектору признаков дополнительный компонент со значением 1. Вес «смещения» этого компонента равен минус пороговому значению. Теперь о пороговом значении можно забыть.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Выбирайте учебные случаи, используя любую политику, которая гарантирует, что каждый учебный случай будет выбран.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Если вывод правильный, оставьте его веса в покое.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Если выход равен 0, а должен быть 1, добавьте вектор признаков к вектору весов.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Если выход равен 1, а должен быть 0, вычтите вектор признаков из вектора веса.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Это гарантирует нахождение набора весов, который даст правильный ответ на всем обучающем наборе, </a:t>
            </a:r>
            <a:r>
              <a:rPr lang="ru" altLang="ru-RU" sz="2000" dirty="0">
                <a:solidFill>
                  <a:srgbClr val="FF0000"/>
                </a:solidFill>
              </a:rPr>
              <a:t>если такой набор существует.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Нет необходимости выбирать скорость обучения.</a:t>
            </a:r>
          </a:p>
          <a:p>
            <a:pPr>
              <a:lnSpc>
                <a:spcPct val="90000"/>
              </a:lnSpc>
            </a:pPr>
            <a:endParaRPr lang="en-US" altLang="ru-RU" sz="2000" dirty="0">
              <a:solidFill>
                <a:srgbClr val="FF0000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7031C8-6832-3E47-8E70-B3958F76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20</a:t>
            </a:fld>
            <a:endParaRPr lang="en-US" alt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>
            <a:extLst>
              <a:ext uri="{FF2B5EF4-FFF2-40B4-BE49-F238E27FC236}">
                <a16:creationId xmlns:a16="http://schemas.microsoft.com/office/drawing/2014/main" id="{8543FB45-9272-F34F-B10B-B8A99FF3F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2800" dirty="0"/>
              <a:t>Естественный способ попытаться доказать сходимость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59EF6660-6452-1A4C-A74A-DB6F947AF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51831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" altLang="ru-RU" sz="2000" dirty="0"/>
              <a:t>Очевидный подход — записать функцию ошибки и попытаться показать, что каждый шаг процедуры обучения уменьшает ошибку.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Для стохастического онлайн-обучения мы хотели бы показать, что каждый шаг уменьшает ожидаемую ошибку, где ожидание касается выбора обучающих случаев.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Это не может быть квадратичная ошибка, поскольку размер обновления не зависит от размера ошибки.</a:t>
            </a:r>
          </a:p>
          <a:p>
            <a:pPr>
              <a:lnSpc>
                <a:spcPct val="80000"/>
              </a:lnSpc>
            </a:pPr>
            <a:r>
              <a:rPr lang="ru" altLang="ru-RU" sz="2000" dirty="0"/>
              <a:t>В учебнике в качестве меры погрешности пытаются использовать сумму расстояний на неправильной стороне поверхности принятия решений.</a:t>
            </a:r>
          </a:p>
          <a:p>
            <a:pPr lvl="1">
              <a:lnSpc>
                <a:spcPct val="80000"/>
              </a:lnSpc>
            </a:pPr>
            <a:r>
              <a:rPr lang="ru" altLang="ru-RU" sz="2000" dirty="0"/>
              <a:t>В результате был сделан вывод о том, что процедура сходимости персептрона не гарантирует снижения общей ошибки </a:t>
            </a:r>
            <a:r>
              <a:rPr lang="ru" altLang="ru-RU" sz="2000" i="1" dirty="0"/>
              <a:t>на каждом шаге</a:t>
            </a:r>
            <a:r>
              <a:rPr lang="ru" altLang="ru-RU" sz="2000" dirty="0"/>
              <a:t>.</a:t>
            </a:r>
          </a:p>
          <a:p>
            <a:pPr lvl="2">
              <a:lnSpc>
                <a:spcPct val="80000"/>
              </a:lnSpc>
            </a:pPr>
            <a:r>
              <a:rPr lang="ru" altLang="ru-RU" sz="1800" dirty="0"/>
              <a:t>Это справедливо для данной функции ошибки, даже если существует набор весов, дающий правильный ответ для каждого случая обучения.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85EF370-81B9-6448-84F8-5192014B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21</a:t>
            </a:fld>
            <a:endParaRPr lang="en-US" alt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EE13BFD3-8F25-1E49-B334-807D90247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6025" y="97637"/>
            <a:ext cx="8229600" cy="431652"/>
          </a:xfrm>
        </p:spPr>
        <p:txBody>
          <a:bodyPr/>
          <a:lstStyle/>
          <a:p>
            <a:r>
              <a:rPr lang="ru" altLang="ru-RU" sz="2800" dirty="0"/>
              <a:t>Вес и пространство данных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A1673D-44FA-AE43-935F-FF0558105256}"/>
              </a:ext>
            </a:extLst>
          </p:cNvPr>
          <p:cNvSpPr txBox="1"/>
          <p:nvPr/>
        </p:nvSpPr>
        <p:spPr>
          <a:xfrm>
            <a:off x="683568" y="5155404"/>
            <a:ext cx="785921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>
                <a:effectLst/>
                <a:latin typeface="Fd629057-Identity-H"/>
              </a:rPr>
              <a:t>Сходимость алгоритма обучения персептрона, на которой показаны точки из двух классов {красного и синего) в двухмерном пространстве признаков </a:t>
            </a:r>
            <a:r>
              <a:rPr lang="ru-RU" sz="1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(ф1, ф2)</a:t>
            </a:r>
            <a:r>
              <a:rPr lang="ru-RU" sz="1600" dirty="0">
                <a:effectLst/>
                <a:latin typeface="Fd2560914-Identity-H"/>
              </a:rPr>
              <a:t>. </a:t>
            </a:r>
            <a:r>
              <a:rPr lang="ru-RU" sz="1100" dirty="0">
                <a:effectLst/>
                <a:latin typeface="Fd2561963-Identity-H"/>
              </a:rPr>
              <a:t>Слева </a:t>
            </a:r>
            <a:r>
              <a:rPr lang="ru-RU" sz="1050" dirty="0">
                <a:effectLst/>
                <a:latin typeface="Fd629057-Identity-H"/>
              </a:rPr>
              <a:t>вверху показан начальный вектор параметров </a:t>
            </a:r>
            <a:r>
              <a:rPr lang="en" sz="100" dirty="0">
                <a:effectLst/>
                <a:latin typeface="Fd2558666-Identity-H"/>
              </a:rPr>
              <a:t>w, </a:t>
            </a:r>
            <a:r>
              <a:rPr lang="ru-RU" sz="1050" dirty="0">
                <a:effectLst/>
                <a:latin typeface="Fd629057-Identity-H"/>
              </a:rPr>
              <a:t>представленный в виде черной стрелки вместе с соответствующей границей решения (черная линия), где стрелка указывает </a:t>
            </a:r>
            <a:r>
              <a:rPr lang="ru-RU" sz="1100" dirty="0">
                <a:effectLst/>
                <a:latin typeface="Fd2561963-Identity-H"/>
              </a:rPr>
              <a:t>на </a:t>
            </a:r>
            <a:r>
              <a:rPr lang="ru-RU" sz="1050" dirty="0">
                <a:effectLst/>
                <a:latin typeface="Fd629057-Identity-H"/>
              </a:rPr>
              <a:t>область принятия решения, которая классифицируется как принадлежащая к красному классу. Точка, обведенная зеленым кружком, классифицирована ошибочно, поэтому </a:t>
            </a:r>
            <a:r>
              <a:rPr lang="ru-RU" sz="1100" dirty="0">
                <a:effectLst/>
                <a:latin typeface="Fd2561963-Identity-H"/>
              </a:rPr>
              <a:t>ее </a:t>
            </a:r>
            <a:r>
              <a:rPr lang="ru-RU" sz="1050" dirty="0">
                <a:effectLst/>
                <a:latin typeface="Fd629057-Identity-H"/>
              </a:rPr>
              <a:t>вектор-функция добавляется к текущему вектору весов, что дает новую границу решения, показанную справа вверху. Слева внизу показана следующая ошибочная точка, обозначенная зеленым кружком, которую следует учесть, а ее вектор-функция снова добавляется к весовому вектору, давая границу решения, показанную </a:t>
            </a:r>
            <a:r>
              <a:rPr lang="ru-RU" sz="1100" dirty="0">
                <a:effectLst/>
                <a:latin typeface="Fd2561963-Identity-H"/>
              </a:rPr>
              <a:t>справа </a:t>
            </a:r>
            <a:r>
              <a:rPr lang="ru-RU" sz="1050" dirty="0">
                <a:effectLst/>
                <a:latin typeface="Fd629057-Identity-H"/>
              </a:rPr>
              <a:t>внизу, где все точки классифицированы правильно </a:t>
            </a:r>
            <a:endParaRPr lang="ru-RU" sz="10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137A5D-31CA-F44F-B227-BA9011FD3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65" y="518000"/>
            <a:ext cx="2355120" cy="23551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6A2776-A91A-1140-968B-0C04CD25B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76" y="518001"/>
            <a:ext cx="2355119" cy="23551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C71842-2FE0-094F-AADD-B37EA964F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665" y="2800284"/>
            <a:ext cx="2355120" cy="235512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C4D6CC-11F4-0443-B9E6-EE1A82EDD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76" y="2759109"/>
            <a:ext cx="2396295" cy="239629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8F10BDF-E85A-8D4E-97E6-C05B1572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7FB5-90C1-DE4B-8DE6-8E48EDE76C4A}" type="slidenum">
              <a:rPr lang="en-US" altLang="ru-RU" smtClean="0"/>
              <a:pPr/>
              <a:t>22</a:t>
            </a:fld>
            <a:endParaRPr lang="en-US" alt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2BCE0172-9792-874C-BE4A-5F515F8AB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41313"/>
            <a:ext cx="8686800" cy="1143000"/>
          </a:xfrm>
        </p:spPr>
        <p:txBody>
          <a:bodyPr/>
          <a:lstStyle/>
          <a:p>
            <a:r>
              <a:rPr lang="ru" altLang="ru-RU" dirty="0"/>
              <a:t>Лучший способ доказать сходимость </a:t>
            </a:r>
            <a:r>
              <a:rPr lang="ru" altLang="ru-RU" sz="2800" dirty="0"/>
              <a:t>(используя выпуклость решений в весовом пространстве)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84E9B968-49A2-1344-96CD-748AB68E0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348880"/>
            <a:ext cx="8435975" cy="424877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sz="2000" dirty="0"/>
              <a:t>Очевидный тип функции ошибок измеряет расхождение между целевыми значениями и выходными данными модели.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Другой тип функции стоимости использует квадрат расстояния между текущими весами и допустимым набором весов.</a:t>
            </a:r>
          </a:p>
          <a:p>
            <a:pPr lvl="1">
              <a:lnSpc>
                <a:spcPct val="90000"/>
              </a:lnSpc>
            </a:pPr>
            <a:r>
              <a:rPr lang="ru" altLang="ru-RU" sz="2000" dirty="0"/>
              <a:t>Используя эту функцию стоимости, можно показать, что каждый шаг процедуры уменьшает ошибку.</a:t>
            </a:r>
          </a:p>
          <a:p>
            <a:pPr lvl="2">
              <a:lnSpc>
                <a:spcPct val="90000"/>
              </a:lnSpc>
            </a:pPr>
            <a:r>
              <a:rPr lang="ru" altLang="ru-RU" sz="1800" dirty="0"/>
              <a:t>При условии, что существует набор допустимых весов.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Используя этот тип функции стоимости, процедуру можно легко обобщить на более чем два класса, используя правило принятия решений MAX.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367A7F-BA66-B648-8E64-47934952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23</a:t>
            </a:fld>
            <a:endParaRPr lang="en-US" alt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505B8AE3-52BC-C44F-A609-C2F5DEDF3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 sz="3200"/>
              <a:t>Почему процедура обучения работает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8EFCB667-1C31-F645-BF7D-5EF74F0AFA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5361" y="1372658"/>
            <a:ext cx="3671887" cy="5245100"/>
          </a:xfrm>
        </p:spPr>
        <p:txBody>
          <a:bodyPr/>
          <a:lstStyle/>
          <a:p>
            <a:r>
              <a:rPr lang="ru" altLang="ru-RU" sz="1800" dirty="0"/>
              <a:t>Рассмотрим квадрат расстояния между любым удовлетворительным весовым вектором и текущим весовым вектором.</a:t>
            </a:r>
          </a:p>
          <a:p>
            <a:pPr lvl="1"/>
            <a:r>
              <a:rPr lang="ru" altLang="ru-RU" sz="1800" dirty="0"/>
              <a:t>Каждый раз, когда персептрон совершает ошибку, алгоритм обучения уменьшает квадрат расстояния между текущим вектором веса и любым удовлетворительным вектором веса </a:t>
            </a:r>
            <a:r>
              <a:rPr lang="ru" altLang="ru-RU" sz="1800" dirty="0">
                <a:solidFill>
                  <a:schemeClr val="hlink"/>
                </a:solidFill>
              </a:rPr>
              <a:t>(если только он не пересекает плоскость принятия решений).</a:t>
            </a:r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E863773B-2290-414E-9A0A-F5017127F81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924300" y="1412875"/>
            <a:ext cx="5040313" cy="4525963"/>
          </a:xfrm>
        </p:spPr>
        <p:txBody>
          <a:bodyPr/>
          <a:lstStyle/>
          <a:p>
            <a:r>
              <a:rPr lang="ru" altLang="ru-RU" sz="2000" dirty="0"/>
              <a:t>Поэтому рассмотрим «вполне удовлетворительные» векторы веса, которые лежат в допустимой области с запасом, по крайней мере таким же большим, как и наибольшее обновление.</a:t>
            </a:r>
          </a:p>
          <a:p>
            <a:pPr lvl="1"/>
            <a:r>
              <a:rPr lang="ru" altLang="ru-RU" sz="2000" dirty="0"/>
              <a:t>Каждый раз, когда персептрон совершает ошибку, квадрат расстояния до всех этих весовых векторов всегда уменьшается по крайней мере на квадрат длины наименьшего вектора обновления.</a:t>
            </a:r>
          </a:p>
          <a:p>
            <a:endParaRPr lang="en-US" altLang="ru-RU" sz="20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413255F-D36A-8540-8A2E-E7DAA8B3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7FB5-90C1-DE4B-8DE6-8E48EDE76C4A}" type="slidenum">
              <a:rPr lang="en-US" altLang="ru-RU" smtClean="0"/>
              <a:pPr/>
              <a:t>24</a:t>
            </a:fld>
            <a:endParaRPr lang="en-US" alt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4B074EE7-BBD3-7244-AE8A-D674BD001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/>
              <a:t>Чему персептроны не могут научиться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E67B73EA-3757-5449-88A0-FBF5A9D35A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25538"/>
            <a:ext cx="4787900" cy="4137025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ru-RU" sz="2000" dirty="0"/>
          </a:p>
          <a:p>
            <a:pPr>
              <a:lnSpc>
                <a:spcPct val="90000"/>
              </a:lnSpc>
            </a:pPr>
            <a:r>
              <a:rPr lang="ru" altLang="ru-RU" sz="2000" dirty="0"/>
              <a:t>Адаптивная часть персептрона не может даже определить, имеют ли два однобитовых признака одинаковое значение!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ru" altLang="ru-RU" sz="2000" dirty="0">
                <a:solidFill>
                  <a:srgbClr val="3333CC"/>
                </a:solidFill>
              </a:rPr>
              <a:t>Одинаковые </a:t>
            </a:r>
            <a:r>
              <a:rPr lang="ru" altLang="ru-RU" sz="2000" dirty="0"/>
              <a:t>: (1,1) </a:t>
            </a:r>
            <a:r>
              <a:rPr lang="ru" altLang="ru-RU" sz="2000" dirty="0">
                <a:sym typeface="Wingdings" pitchFamily="2" charset="2"/>
              </a:rPr>
              <a:t> 1; (0,0)  1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ru" altLang="ru-RU" sz="2000" dirty="0">
                <a:solidFill>
                  <a:srgbClr val="3333CC"/>
                </a:solidFill>
                <a:sym typeface="Wingdings" pitchFamily="2" charset="2"/>
              </a:rPr>
              <a:t>Разные </a:t>
            </a:r>
            <a:r>
              <a:rPr lang="ru" altLang="ru-RU" sz="2000" dirty="0">
                <a:sym typeface="Wingdings" pitchFamily="2" charset="2"/>
              </a:rPr>
              <a:t>: (1,0)  0; (0,1)  0</a:t>
            </a:r>
          </a:p>
          <a:p>
            <a:pPr>
              <a:lnSpc>
                <a:spcPct val="90000"/>
              </a:lnSpc>
            </a:pPr>
            <a:r>
              <a:rPr lang="ru" altLang="ru-RU" sz="2000" dirty="0"/>
              <a:t>Четыре пары «признак-выход» дают четыре неравенства, которые невозможно удовлетворить: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ru" altLang="ru-RU" sz="2000" dirty="0">
                <a:sym typeface="Wingdings" pitchFamily="2" charset="2"/>
              </a:rPr>
              <a:t>   </a:t>
            </a:r>
          </a:p>
        </p:txBody>
      </p:sp>
      <p:graphicFrame>
        <p:nvGraphicFramePr>
          <p:cNvPr id="268292" name="Object 4">
            <a:extLst>
              <a:ext uri="{FF2B5EF4-FFF2-40B4-BE49-F238E27FC236}">
                <a16:creationId xmlns:a16="http://schemas.microsoft.com/office/drawing/2014/main" id="{DB17B6DB-22E4-B44D-BA16-8593FB5D715B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98490204"/>
              </p:ext>
            </p:extLst>
          </p:nvPr>
        </p:nvGraphicFramePr>
        <p:xfrm>
          <a:off x="951707" y="4316414"/>
          <a:ext cx="3024187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46" name="Equation" r:id="rId3" imgW="28384500" imgH="10528300" progId="Equation.3">
                  <p:embed/>
                </p:oleObj>
              </mc:Choice>
              <mc:Fallback>
                <p:oleObj name="Equation" r:id="rId3" imgW="28384500" imgH="1052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707" y="4316414"/>
                        <a:ext cx="3024187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3" name="Text Box 5">
            <a:extLst>
              <a:ext uri="{FF2B5EF4-FFF2-40B4-BE49-F238E27FC236}">
                <a16:creationId xmlns:a16="http://schemas.microsoft.com/office/drawing/2014/main" id="{52C8715C-E44C-9F48-B87E-D40343EFC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1819275"/>
            <a:ext cx="2881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" altLang="ru-RU" sz="2400"/>
              <a:t>Пространство данных</a:t>
            </a:r>
          </a:p>
        </p:txBody>
      </p:sp>
      <p:sp>
        <p:nvSpPr>
          <p:cNvPr id="268294" name="Rectangle 6">
            <a:extLst>
              <a:ext uri="{FF2B5EF4-FFF2-40B4-BE49-F238E27FC236}">
                <a16:creationId xmlns:a16="http://schemas.microsoft.com/office/drawing/2014/main" id="{25393730-3193-9F41-A65D-9CF6D013E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708275"/>
            <a:ext cx="2663825" cy="2520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8295" name="Text Box 7">
            <a:extLst>
              <a:ext uri="{FF2B5EF4-FFF2-40B4-BE49-F238E27FC236}">
                <a16:creationId xmlns:a16="http://schemas.microsoft.com/office/drawing/2014/main" id="{013FD4EB-F70A-1944-989E-1D9B083C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420938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400">
                <a:solidFill>
                  <a:srgbClr val="009900"/>
                </a:solidFill>
              </a:rPr>
              <a:t>0,1</a:t>
            </a:r>
          </a:p>
        </p:txBody>
      </p:sp>
      <p:sp>
        <p:nvSpPr>
          <p:cNvPr id="268296" name="Text Box 8">
            <a:extLst>
              <a:ext uri="{FF2B5EF4-FFF2-40B4-BE49-F238E27FC236}">
                <a16:creationId xmlns:a16="http://schemas.microsoft.com/office/drawing/2014/main" id="{62A0DD92-8C09-1A44-B0D0-6386BF385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5157788"/>
            <a:ext cx="608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400">
                <a:solidFill>
                  <a:srgbClr val="009900"/>
                </a:solidFill>
              </a:rPr>
              <a:t>0,0</a:t>
            </a:r>
          </a:p>
        </p:txBody>
      </p:sp>
      <p:sp>
        <p:nvSpPr>
          <p:cNvPr id="268297" name="Text Box 9">
            <a:extLst>
              <a:ext uri="{FF2B5EF4-FFF2-40B4-BE49-F238E27FC236}">
                <a16:creationId xmlns:a16="http://schemas.microsoft.com/office/drawing/2014/main" id="{9F48D555-95AC-D045-AAB9-AD2317B3C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163" y="513238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400">
                <a:solidFill>
                  <a:srgbClr val="009900"/>
                </a:solidFill>
              </a:rPr>
              <a:t>1,0</a:t>
            </a:r>
          </a:p>
        </p:txBody>
      </p:sp>
      <p:sp>
        <p:nvSpPr>
          <p:cNvPr id="268298" name="Text Box 10">
            <a:extLst>
              <a:ext uri="{FF2B5EF4-FFF2-40B4-BE49-F238E27FC236}">
                <a16:creationId xmlns:a16="http://schemas.microsoft.com/office/drawing/2014/main" id="{ABE4687F-9172-A544-85A5-366F13D0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163" y="2420938"/>
            <a:ext cx="60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400">
                <a:solidFill>
                  <a:srgbClr val="009900"/>
                </a:solidFill>
              </a:rPr>
              <a:t>1,1</a:t>
            </a:r>
          </a:p>
        </p:txBody>
      </p:sp>
      <p:sp>
        <p:nvSpPr>
          <p:cNvPr id="268299" name="Oval 11">
            <a:extLst>
              <a:ext uri="{FF2B5EF4-FFF2-40B4-BE49-F238E27FC236}">
                <a16:creationId xmlns:a16="http://schemas.microsoft.com/office/drawing/2014/main" id="{AF793EEE-3BF3-E649-8163-2FAE4CA26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638425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8300" name="Oval 12">
            <a:extLst>
              <a:ext uri="{FF2B5EF4-FFF2-40B4-BE49-F238E27FC236}">
                <a16:creationId xmlns:a16="http://schemas.microsoft.com/office/drawing/2014/main" id="{F5919236-5130-DB4C-AC9D-1CB80492E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38" y="2636838"/>
            <a:ext cx="14287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8301" name="Oval 13">
            <a:extLst>
              <a:ext uri="{FF2B5EF4-FFF2-40B4-BE49-F238E27FC236}">
                <a16:creationId xmlns:a16="http://schemas.microsoft.com/office/drawing/2014/main" id="{B3AD956F-1A85-2946-8CF7-A02C7A5EF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38" y="5157788"/>
            <a:ext cx="142875" cy="1428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8302" name="Oval 14">
            <a:extLst>
              <a:ext uri="{FF2B5EF4-FFF2-40B4-BE49-F238E27FC236}">
                <a16:creationId xmlns:a16="http://schemas.microsoft.com/office/drawing/2014/main" id="{9951A45C-FD53-2C47-A5F8-1B4CB6940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157788"/>
            <a:ext cx="14287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68303" name="Line 15">
            <a:extLst>
              <a:ext uri="{FF2B5EF4-FFF2-40B4-BE49-F238E27FC236}">
                <a16:creationId xmlns:a16="http://schemas.microsoft.com/office/drawing/2014/main" id="{A3F71793-C8D1-7046-B510-557BED955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3644900"/>
            <a:ext cx="3816350" cy="1079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68304" name="Text Box 16">
            <a:extLst>
              <a:ext uri="{FF2B5EF4-FFF2-40B4-BE49-F238E27FC236}">
                <a16:creationId xmlns:a16="http://schemas.microsoft.com/office/drawing/2014/main" id="{ED6EF7CC-9113-FA4D-A3AE-A2FBCD6393A7}"/>
              </a:ext>
            </a:extLst>
          </p:cNvPr>
          <p:cNvSpPr txBox="1">
            <a:spLocks noChangeArrowheads="1"/>
          </p:cNvSpPr>
          <p:nvPr/>
        </p:nvSpPr>
        <p:spPr bwMode="auto">
          <a:xfrm rot="889701">
            <a:off x="4500823" y="3787746"/>
            <a:ext cx="247439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000" dirty="0">
                <a:solidFill>
                  <a:srgbClr val="3333CC"/>
                </a:solidFill>
              </a:rPr>
              <a:t>П</a:t>
            </a:r>
            <a:r>
              <a:rPr lang="ru" altLang="ru-RU" sz="2000" dirty="0">
                <a:solidFill>
                  <a:srgbClr val="3333CC"/>
                </a:solidFill>
              </a:rPr>
              <a:t>оверхность весов</a:t>
            </a:r>
          </a:p>
        </p:txBody>
      </p:sp>
      <p:sp>
        <p:nvSpPr>
          <p:cNvPr id="268305" name="Text Box 17">
            <a:extLst>
              <a:ext uri="{FF2B5EF4-FFF2-40B4-BE49-F238E27FC236}">
                <a16:creationId xmlns:a16="http://schemas.microsoft.com/office/drawing/2014/main" id="{671DBE8E-F430-B84C-97EC-D31AAB65B57D}"/>
              </a:ext>
            </a:extLst>
          </p:cNvPr>
          <p:cNvSpPr txBox="1">
            <a:spLocks noChangeArrowheads="1"/>
          </p:cNvSpPr>
          <p:nvPr/>
        </p:nvSpPr>
        <p:spPr bwMode="auto">
          <a:xfrm rot="864816">
            <a:off x="6924675" y="4022725"/>
            <a:ext cx="12477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000">
                <a:solidFill>
                  <a:srgbClr val="3333CC"/>
                </a:solidFill>
              </a:rPr>
              <a:t>выход =1</a:t>
            </a:r>
          </a:p>
          <a:p>
            <a:r>
              <a:rPr lang="ru" altLang="ru-RU" sz="2000">
                <a:solidFill>
                  <a:srgbClr val="3333CC"/>
                </a:solidFill>
              </a:rPr>
              <a:t>выход =0</a:t>
            </a:r>
          </a:p>
        </p:txBody>
      </p:sp>
      <p:sp>
        <p:nvSpPr>
          <p:cNvPr id="268306" name="Text Box 18">
            <a:extLst>
              <a:ext uri="{FF2B5EF4-FFF2-40B4-BE49-F238E27FC236}">
                <a16:creationId xmlns:a16="http://schemas.microsoft.com/office/drawing/2014/main" id="{617F64AC-94FF-494F-849C-64F24DCA7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225" y="5881687"/>
            <a:ext cx="38115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" altLang="ru-RU" sz="2000" dirty="0">
                <a:solidFill>
                  <a:srgbClr val="FF0000"/>
                </a:solidFill>
              </a:rPr>
              <a:t>Положительные и отрицательные случаи</a:t>
            </a:r>
          </a:p>
          <a:p>
            <a:r>
              <a:rPr lang="ru" altLang="ru-RU" sz="2000" dirty="0">
                <a:solidFill>
                  <a:srgbClr val="FF0000"/>
                </a:solidFill>
              </a:rPr>
              <a:t>не могут быть разделены плоскостью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128535-F82C-5442-A557-6BACDE5C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A5B03-8DDD-284A-932E-9ADD8C1B5C20}" type="slidenum">
              <a:rPr lang="en-US" altLang="ru-RU" smtClean="0"/>
              <a:pPr/>
              <a:t>25</a:t>
            </a:fld>
            <a:endParaRPr lang="en-US" alt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C3924089-069A-3B45-862B-8549E0E2A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" altLang="ru-RU"/>
              <a:t>Что умеют персептроны?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24B0A218-348A-4F4A-A8F8-20F25077D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05274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dirty="0"/>
              <a:t>Они могут решать задачи только в том случае, если закодированные вручную признаки преобразуют исходную задачу в линейно разделимую. Насколько это сложно?</a:t>
            </a:r>
          </a:p>
          <a:p>
            <a:pPr>
              <a:lnSpc>
                <a:spcPct val="90000"/>
              </a:lnSpc>
            </a:pPr>
            <a:r>
              <a:rPr lang="ru" altLang="ru-RU" dirty="0"/>
              <a:t>Задача проверки четности N-бит:</a:t>
            </a:r>
          </a:p>
          <a:p>
            <a:pPr lvl="1">
              <a:lnSpc>
                <a:spcPct val="90000"/>
              </a:lnSpc>
            </a:pPr>
            <a:r>
              <a:rPr lang="ru" altLang="ru-RU" dirty="0"/>
              <a:t>Требуется N признаков вида: Включены ли по крайней мере m бит?</a:t>
            </a:r>
          </a:p>
          <a:p>
            <a:pPr lvl="1">
              <a:lnSpc>
                <a:spcPct val="90000"/>
              </a:lnSpc>
            </a:pPr>
            <a:r>
              <a:rPr lang="ru" altLang="ru-RU" dirty="0"/>
              <a:t>Каждая функция должна учитывать </a:t>
            </a:r>
            <a:r>
              <a:rPr lang="ru" altLang="ru-RU" dirty="0">
                <a:solidFill>
                  <a:srgbClr val="FF0000"/>
                </a:solidFill>
              </a:rPr>
              <a:t>все </a:t>
            </a:r>
            <a:r>
              <a:rPr lang="ru" altLang="ru-RU" dirty="0"/>
              <a:t>компоненты входных данных.</a:t>
            </a:r>
          </a:p>
          <a:p>
            <a:pPr>
              <a:lnSpc>
                <a:spcPct val="90000"/>
              </a:lnSpc>
            </a:pPr>
            <a:r>
              <a:rPr lang="ru" altLang="ru-RU" dirty="0"/>
              <a:t>Задача на двумерную связность</a:t>
            </a:r>
          </a:p>
          <a:p>
            <a:pPr lvl="1">
              <a:lnSpc>
                <a:spcPct val="90000"/>
              </a:lnSpc>
            </a:pPr>
            <a:r>
              <a:rPr lang="ru" altLang="ru-RU" dirty="0"/>
              <a:t>требуется экспоненциальное количество функций!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880703-A592-4941-B746-D9FA6FD6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26</a:t>
            </a:fld>
            <a:endParaRPr lang="en-US" alt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6FD4E03C-3CEA-4848-899A-9702CA0FD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r>
              <a:rPr lang="ru" altLang="ru-RU"/>
              <a:t>Задача проверки четности N-бит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78D40DC8-595C-524C-891E-12D37DB0A1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" altLang="ru-RU" sz="2400"/>
              <a:t>Существует простое решение, требующее N скрытых единиц.</a:t>
            </a:r>
          </a:p>
          <a:p>
            <a:pPr lvl="1">
              <a:lnSpc>
                <a:spcPct val="90000"/>
              </a:lnSpc>
            </a:pPr>
            <a:r>
              <a:rPr lang="ru" altLang="ru-RU" sz="2400"/>
              <a:t>Каждый скрытый блок вычисляет, включено ли более M входов.</a:t>
            </a:r>
          </a:p>
          <a:p>
            <a:pPr lvl="1">
              <a:lnSpc>
                <a:spcPct val="90000"/>
              </a:lnSpc>
            </a:pPr>
            <a:r>
              <a:rPr lang="ru" altLang="ru-RU" sz="2400"/>
              <a:t>Это линейно разделимая задача.</a:t>
            </a:r>
          </a:p>
          <a:p>
            <a:pPr>
              <a:lnSpc>
                <a:spcPct val="90000"/>
              </a:lnSpc>
            </a:pPr>
            <a:r>
              <a:rPr lang="ru" altLang="ru-RU" sz="2400"/>
              <a:t>Существует множество вариантов этого решения.</a:t>
            </a:r>
          </a:p>
          <a:p>
            <a:pPr lvl="1">
              <a:lnSpc>
                <a:spcPct val="90000"/>
              </a:lnSpc>
            </a:pPr>
            <a:r>
              <a:rPr lang="ru" altLang="ru-RU" sz="2400"/>
              <a:t>Этому можно научиться.</a:t>
            </a:r>
          </a:p>
          <a:p>
            <a:pPr lvl="1">
              <a:lnSpc>
                <a:spcPct val="90000"/>
              </a:lnSpc>
            </a:pPr>
            <a:r>
              <a:rPr lang="ru" altLang="ru-RU" sz="2400"/>
              <a:t>Он хорошо обобщает, если:</a:t>
            </a:r>
          </a:p>
        </p:txBody>
      </p:sp>
      <p:sp>
        <p:nvSpPr>
          <p:cNvPr id="272388" name="Oval 4">
            <a:extLst>
              <a:ext uri="{FF2B5EF4-FFF2-40B4-BE49-F238E27FC236}">
                <a16:creationId xmlns:a16="http://schemas.microsoft.com/office/drawing/2014/main" id="{B27189B4-1A9F-854C-82E2-DE0E838B2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429000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89" name="Oval 5">
            <a:extLst>
              <a:ext uri="{FF2B5EF4-FFF2-40B4-BE49-F238E27FC236}">
                <a16:creationId xmlns:a16="http://schemas.microsoft.com/office/drawing/2014/main" id="{8F45DD47-5DB0-3048-A8E7-10059E44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3429000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0" name="Oval 6">
            <a:extLst>
              <a:ext uri="{FF2B5EF4-FFF2-40B4-BE49-F238E27FC236}">
                <a16:creationId xmlns:a16="http://schemas.microsoft.com/office/drawing/2014/main" id="{9CA633BC-C5AB-C943-9087-B4F62557E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3429000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1" name="Oval 7">
            <a:extLst>
              <a:ext uri="{FF2B5EF4-FFF2-40B4-BE49-F238E27FC236}">
                <a16:creationId xmlns:a16="http://schemas.microsoft.com/office/drawing/2014/main" id="{ACD0A3F9-183D-E446-ADF0-33700BDEB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429000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2" name="Oval 8">
            <a:extLst>
              <a:ext uri="{FF2B5EF4-FFF2-40B4-BE49-F238E27FC236}">
                <a16:creationId xmlns:a16="http://schemas.microsoft.com/office/drawing/2014/main" id="{A0730547-B738-0040-AABA-B9E1584E1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157788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3" name="Oval 9">
            <a:extLst>
              <a:ext uri="{FF2B5EF4-FFF2-40B4-BE49-F238E27FC236}">
                <a16:creationId xmlns:a16="http://schemas.microsoft.com/office/drawing/2014/main" id="{22843594-DC29-E94A-AC61-0E786529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5157788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4" name="Oval 10">
            <a:extLst>
              <a:ext uri="{FF2B5EF4-FFF2-40B4-BE49-F238E27FC236}">
                <a16:creationId xmlns:a16="http://schemas.microsoft.com/office/drawing/2014/main" id="{87CA7483-7197-904B-9061-7723EBF39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5157788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5" name="Oval 11">
            <a:extLst>
              <a:ext uri="{FF2B5EF4-FFF2-40B4-BE49-F238E27FC236}">
                <a16:creationId xmlns:a16="http://schemas.microsoft.com/office/drawing/2014/main" id="{4D26494B-89E2-7D48-9FAF-422553C44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157788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72396" name="Oval 12">
            <a:extLst>
              <a:ext uri="{FF2B5EF4-FFF2-40B4-BE49-F238E27FC236}">
                <a16:creationId xmlns:a16="http://schemas.microsoft.com/office/drawing/2014/main" id="{430E455A-4003-5446-B6B6-21B05D98D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1700213"/>
            <a:ext cx="647700" cy="6477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cxnSp>
        <p:nvCxnSpPr>
          <p:cNvPr id="272397" name="AutoShape 13">
            <a:extLst>
              <a:ext uri="{FF2B5EF4-FFF2-40B4-BE49-F238E27FC236}">
                <a16:creationId xmlns:a16="http://schemas.microsoft.com/office/drawing/2014/main" id="{188CE5E3-C85E-F946-A4D4-DF6A6285A1D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076825" y="4076700"/>
            <a:ext cx="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398" name="AutoShape 14">
            <a:extLst>
              <a:ext uri="{FF2B5EF4-FFF2-40B4-BE49-F238E27FC236}">
                <a16:creationId xmlns:a16="http://schemas.microsoft.com/office/drawing/2014/main" id="{53A7C598-667D-2148-8755-E826E7CBD3FC}"/>
              </a:ext>
            </a:extLst>
          </p:cNvPr>
          <p:cNvCxnSpPr>
            <a:cxnSpLocks noChangeShapeType="1"/>
            <a:stCxn id="272392" idx="1"/>
            <a:endCxn id="272391" idx="4"/>
          </p:cNvCxnSpPr>
          <p:nvPr/>
        </p:nvCxnSpPr>
        <p:spPr bwMode="auto">
          <a:xfrm flipH="1" flipV="1">
            <a:off x="5111750" y="4076700"/>
            <a:ext cx="850900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399" name="AutoShape 15">
            <a:extLst>
              <a:ext uri="{FF2B5EF4-FFF2-40B4-BE49-F238E27FC236}">
                <a16:creationId xmlns:a16="http://schemas.microsoft.com/office/drawing/2014/main" id="{0C8A8B91-8069-D64C-B3A1-DC69C642F0F7}"/>
              </a:ext>
            </a:extLst>
          </p:cNvPr>
          <p:cNvCxnSpPr>
            <a:cxnSpLocks noChangeShapeType="1"/>
            <a:stCxn id="272393" idx="0"/>
            <a:endCxn id="272391" idx="5"/>
          </p:cNvCxnSpPr>
          <p:nvPr/>
        </p:nvCxnSpPr>
        <p:spPr bwMode="auto">
          <a:xfrm flipH="1" flipV="1">
            <a:off x="5340350" y="3981450"/>
            <a:ext cx="1930400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0" name="AutoShape 16">
            <a:extLst>
              <a:ext uri="{FF2B5EF4-FFF2-40B4-BE49-F238E27FC236}">
                <a16:creationId xmlns:a16="http://schemas.microsoft.com/office/drawing/2014/main" id="{D483E61A-FCBF-C94B-9550-26E8AED42388}"/>
              </a:ext>
            </a:extLst>
          </p:cNvPr>
          <p:cNvCxnSpPr>
            <a:cxnSpLocks noChangeShapeType="1"/>
            <a:stCxn id="272394" idx="0"/>
            <a:endCxn id="272391" idx="5"/>
          </p:cNvCxnSpPr>
          <p:nvPr/>
        </p:nvCxnSpPr>
        <p:spPr bwMode="auto">
          <a:xfrm flipH="1" flipV="1">
            <a:off x="5340350" y="3981450"/>
            <a:ext cx="2868613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1" name="AutoShape 17">
            <a:extLst>
              <a:ext uri="{FF2B5EF4-FFF2-40B4-BE49-F238E27FC236}">
                <a16:creationId xmlns:a16="http://schemas.microsoft.com/office/drawing/2014/main" id="{6F47D159-4421-EB4B-A1AB-A72AE49DA75C}"/>
              </a:ext>
            </a:extLst>
          </p:cNvPr>
          <p:cNvCxnSpPr>
            <a:cxnSpLocks noChangeShapeType="1"/>
            <a:stCxn id="272395" idx="0"/>
            <a:endCxn id="272388" idx="3"/>
          </p:cNvCxnSpPr>
          <p:nvPr/>
        </p:nvCxnSpPr>
        <p:spPr bwMode="auto">
          <a:xfrm flipV="1">
            <a:off x="5111750" y="3981450"/>
            <a:ext cx="850900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2" name="AutoShape 18">
            <a:extLst>
              <a:ext uri="{FF2B5EF4-FFF2-40B4-BE49-F238E27FC236}">
                <a16:creationId xmlns:a16="http://schemas.microsoft.com/office/drawing/2014/main" id="{67FCC919-9963-4243-860E-04B343D5A24B}"/>
              </a:ext>
            </a:extLst>
          </p:cNvPr>
          <p:cNvCxnSpPr>
            <a:cxnSpLocks noChangeShapeType="1"/>
            <a:stCxn id="272392" idx="0"/>
            <a:endCxn id="272388" idx="4"/>
          </p:cNvCxnSpPr>
          <p:nvPr/>
        </p:nvCxnSpPr>
        <p:spPr bwMode="auto">
          <a:xfrm flipV="1">
            <a:off x="6191250" y="4076700"/>
            <a:ext cx="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3" name="AutoShape 19">
            <a:extLst>
              <a:ext uri="{FF2B5EF4-FFF2-40B4-BE49-F238E27FC236}">
                <a16:creationId xmlns:a16="http://schemas.microsoft.com/office/drawing/2014/main" id="{4C937F71-12E1-A943-A913-105E95E463E6}"/>
              </a:ext>
            </a:extLst>
          </p:cNvPr>
          <p:cNvCxnSpPr>
            <a:cxnSpLocks noChangeShapeType="1"/>
            <a:stCxn id="272393" idx="0"/>
            <a:endCxn id="272388" idx="5"/>
          </p:cNvCxnSpPr>
          <p:nvPr/>
        </p:nvCxnSpPr>
        <p:spPr bwMode="auto">
          <a:xfrm flipH="1" flipV="1">
            <a:off x="6419850" y="3981450"/>
            <a:ext cx="850900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4" name="AutoShape 20">
            <a:extLst>
              <a:ext uri="{FF2B5EF4-FFF2-40B4-BE49-F238E27FC236}">
                <a16:creationId xmlns:a16="http://schemas.microsoft.com/office/drawing/2014/main" id="{7F3DBAC8-BA3F-EC41-BEC4-91629E34E814}"/>
              </a:ext>
            </a:extLst>
          </p:cNvPr>
          <p:cNvCxnSpPr>
            <a:cxnSpLocks noChangeShapeType="1"/>
            <a:stCxn id="272394" idx="0"/>
            <a:endCxn id="272388" idx="5"/>
          </p:cNvCxnSpPr>
          <p:nvPr/>
        </p:nvCxnSpPr>
        <p:spPr bwMode="auto">
          <a:xfrm flipH="1" flipV="1">
            <a:off x="6419850" y="3981450"/>
            <a:ext cx="1789113" cy="1176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2405" name="Text Box 21">
            <a:extLst>
              <a:ext uri="{FF2B5EF4-FFF2-40B4-BE49-F238E27FC236}">
                <a16:creationId xmlns:a16="http://schemas.microsoft.com/office/drawing/2014/main" id="{19FD9BD9-968B-0240-8E26-2CC3C4CE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00438"/>
            <a:ext cx="4824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 altLang="ru-RU"/>
          </a:p>
        </p:txBody>
      </p:sp>
      <p:sp>
        <p:nvSpPr>
          <p:cNvPr id="272406" name="Text Box 22">
            <a:extLst>
              <a:ext uri="{FF2B5EF4-FFF2-40B4-BE49-F238E27FC236}">
                <a16:creationId xmlns:a16="http://schemas.microsoft.com/office/drawing/2014/main" id="{C626C719-CEB2-E842-AA0B-175C7A726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486150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dirty="0"/>
              <a:t>&gt;0        &gt;1       &gt;2     &gt;3</a:t>
            </a:r>
          </a:p>
        </p:txBody>
      </p:sp>
      <p:cxnSp>
        <p:nvCxnSpPr>
          <p:cNvPr id="272407" name="AutoShape 23">
            <a:extLst>
              <a:ext uri="{FF2B5EF4-FFF2-40B4-BE49-F238E27FC236}">
                <a16:creationId xmlns:a16="http://schemas.microsoft.com/office/drawing/2014/main" id="{0F1E7DF7-CC85-8343-A1A5-28980C9D5CDD}"/>
              </a:ext>
            </a:extLst>
          </p:cNvPr>
          <p:cNvCxnSpPr>
            <a:cxnSpLocks noChangeShapeType="1"/>
            <a:stCxn id="272391" idx="0"/>
            <a:endCxn id="272396" idx="3"/>
          </p:cNvCxnSpPr>
          <p:nvPr/>
        </p:nvCxnSpPr>
        <p:spPr bwMode="auto">
          <a:xfrm flipV="1">
            <a:off x="5111750" y="2252663"/>
            <a:ext cx="1355725" cy="1176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8" name="AutoShape 24">
            <a:extLst>
              <a:ext uri="{FF2B5EF4-FFF2-40B4-BE49-F238E27FC236}">
                <a16:creationId xmlns:a16="http://schemas.microsoft.com/office/drawing/2014/main" id="{BE488393-E0E5-F348-A2AE-C39AABB6EC0E}"/>
              </a:ext>
            </a:extLst>
          </p:cNvPr>
          <p:cNvCxnSpPr>
            <a:cxnSpLocks noChangeShapeType="1"/>
            <a:stCxn id="272388" idx="0"/>
            <a:endCxn id="272396" idx="4"/>
          </p:cNvCxnSpPr>
          <p:nvPr/>
        </p:nvCxnSpPr>
        <p:spPr bwMode="auto">
          <a:xfrm flipV="1">
            <a:off x="6191250" y="2347913"/>
            <a:ext cx="504825" cy="1081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09" name="AutoShape 25">
            <a:extLst>
              <a:ext uri="{FF2B5EF4-FFF2-40B4-BE49-F238E27FC236}">
                <a16:creationId xmlns:a16="http://schemas.microsoft.com/office/drawing/2014/main" id="{CA1ED926-186B-6B4D-9DE8-F37B48AD4367}"/>
              </a:ext>
            </a:extLst>
          </p:cNvPr>
          <p:cNvCxnSpPr>
            <a:cxnSpLocks noChangeShapeType="1"/>
            <a:stCxn id="272389" idx="0"/>
            <a:endCxn id="272396" idx="4"/>
          </p:cNvCxnSpPr>
          <p:nvPr/>
        </p:nvCxnSpPr>
        <p:spPr bwMode="auto">
          <a:xfrm flipH="1" flipV="1">
            <a:off x="6696075" y="2347913"/>
            <a:ext cx="574675" cy="1081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410" name="AutoShape 26">
            <a:extLst>
              <a:ext uri="{FF2B5EF4-FFF2-40B4-BE49-F238E27FC236}">
                <a16:creationId xmlns:a16="http://schemas.microsoft.com/office/drawing/2014/main" id="{3B05596B-261B-9B42-8645-87A634EFA901}"/>
              </a:ext>
            </a:extLst>
          </p:cNvPr>
          <p:cNvCxnSpPr>
            <a:cxnSpLocks noChangeShapeType="1"/>
            <a:stCxn id="272390" idx="0"/>
            <a:endCxn id="272396" idx="5"/>
          </p:cNvCxnSpPr>
          <p:nvPr/>
        </p:nvCxnSpPr>
        <p:spPr bwMode="auto">
          <a:xfrm flipH="1" flipV="1">
            <a:off x="6924675" y="2252663"/>
            <a:ext cx="1284288" cy="11763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2411" name="Line 27">
            <a:extLst>
              <a:ext uri="{FF2B5EF4-FFF2-40B4-BE49-F238E27FC236}">
                <a16:creationId xmlns:a16="http://schemas.microsoft.com/office/drawing/2014/main" id="{7D56A628-4B44-214D-9085-3A04C6031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989138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72412" name="Text Box 28">
            <a:extLst>
              <a:ext uri="{FF2B5EF4-FFF2-40B4-BE49-F238E27FC236}">
                <a16:creationId xmlns:a16="http://schemas.microsoft.com/office/drawing/2014/main" id="{D24B9464-F036-8E41-86FF-F7823187E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636838"/>
            <a:ext cx="3527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400" dirty="0"/>
              <a:t> -2     +2        -2     +2</a:t>
            </a:r>
          </a:p>
        </p:txBody>
      </p:sp>
      <p:sp>
        <p:nvSpPr>
          <p:cNvPr id="272413" name="Text Box 29">
            <a:extLst>
              <a:ext uri="{FF2B5EF4-FFF2-40B4-BE49-F238E27FC236}">
                <a16:creationId xmlns:a16="http://schemas.microsoft.com/office/drawing/2014/main" id="{A2383238-2FE1-EB46-A523-E5D5D2ACF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1557338"/>
            <a:ext cx="649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400"/>
              <a:t>+1</a:t>
            </a:r>
          </a:p>
        </p:txBody>
      </p:sp>
      <p:sp>
        <p:nvSpPr>
          <p:cNvPr id="272414" name="Text Box 30">
            <a:extLst>
              <a:ext uri="{FF2B5EF4-FFF2-40B4-BE49-F238E27FC236}">
                <a16:creationId xmlns:a16="http://schemas.microsoft.com/office/drawing/2014/main" id="{AC2C5575-40F7-2947-AA9D-CB5D4A144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214938"/>
            <a:ext cx="46434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dirty="0"/>
              <a:t>    1         0         1       0</a:t>
            </a:r>
          </a:p>
        </p:txBody>
      </p:sp>
      <p:sp>
        <p:nvSpPr>
          <p:cNvPr id="272415" name="Text Box 31">
            <a:extLst>
              <a:ext uri="{FF2B5EF4-FFF2-40B4-BE49-F238E27FC236}">
                <a16:creationId xmlns:a16="http://schemas.microsoft.com/office/drawing/2014/main" id="{94DC32C6-2C13-8744-96FD-F4803166E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1773238"/>
            <a:ext cx="10080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>
                <a:solidFill>
                  <a:srgbClr val="3333CC"/>
                </a:solidFill>
              </a:rPr>
              <a:t>выход</a:t>
            </a:r>
          </a:p>
        </p:txBody>
      </p:sp>
      <p:sp>
        <p:nvSpPr>
          <p:cNvPr id="272416" name="Text Box 32">
            <a:extLst>
              <a:ext uri="{FF2B5EF4-FFF2-40B4-BE49-F238E27FC236}">
                <a16:creationId xmlns:a16="http://schemas.microsoft.com/office/drawing/2014/main" id="{08922766-284E-8B4D-8A13-185B3D471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00" y="5805488"/>
            <a:ext cx="1009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" altLang="ru-RU" sz="2000">
                <a:solidFill>
                  <a:srgbClr val="3333CC"/>
                </a:solidFill>
              </a:rPr>
              <a:t>вход</a:t>
            </a:r>
          </a:p>
        </p:txBody>
      </p:sp>
      <p:graphicFrame>
        <p:nvGraphicFramePr>
          <p:cNvPr id="272417" name="Object 33">
            <a:extLst>
              <a:ext uri="{FF2B5EF4-FFF2-40B4-BE49-F238E27FC236}">
                <a16:creationId xmlns:a16="http://schemas.microsoft.com/office/drawing/2014/main" id="{067B7947-DFF4-0E44-A687-03A77EE47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06267"/>
              </p:ext>
            </p:extLst>
          </p:nvPr>
        </p:nvGraphicFramePr>
        <p:xfrm>
          <a:off x="2339752" y="6270625"/>
          <a:ext cx="16986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57" name="Equation" r:id="rId3" imgW="15214600" imgH="5270500" progId="Equation.3">
                  <p:embed/>
                </p:oleObj>
              </mc:Choice>
              <mc:Fallback>
                <p:oleObj name="Equation" r:id="rId3" imgW="15214600" imgH="52705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270625"/>
                        <a:ext cx="16986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FC8450-F295-E445-B3D7-C586DD73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7FB5-90C1-DE4B-8DE6-8E48EDE76C4A}" type="slidenum">
              <a:rPr lang="en-US" altLang="ru-RU" smtClean="0"/>
              <a:pPr/>
              <a:t>27</a:t>
            </a:fld>
            <a:endParaRPr lang="en-US" alt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60E44B-802B-7543-B186-CBC23204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Вероятностные генеративные модели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D2FDF45-5148-3748-AF24-8DEE5C8933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7085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Модели с линейными границами принятия решений возникают из простых предположений о распределении данных. </a:t>
                </a: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Генеративный подход моделирует условные плотности классов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а также априорные распределения классов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и использует их для вычисления апостериорной вероятности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теореме Байеса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</a:t>
                </a: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связи с этим апостериорная вероятность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задаче бинарной классификации определяется следующим образом:</a:t>
                </a:r>
                <a:r>
                  <a:rPr lang="ru-RU" dirty="0">
                    <a:effectLst/>
                  </a:rPr>
                  <a:t> </a:t>
                </a:r>
                <a:endParaRPr lang="en-US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20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20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20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</m:d>
                        </m:den>
                      </m:f>
                      <m:r>
                        <a:rPr lang="ru-RU" sz="20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ru-RU" sz="20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ru-RU" sz="20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20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ru-RU" sz="20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2000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</a:t>
                </a: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ru-RU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f>
                        <m:f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2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2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D2FDF45-5148-3748-AF24-8DEE5C893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708525"/>
              </a:xfrm>
              <a:blipFill>
                <a:blip r:embed="rId2"/>
                <a:stretch>
                  <a:fillRect l="-617" t="-538" b="-8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48746F-91B8-3A41-8F14-F9C544D89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725144"/>
            <a:ext cx="2705100" cy="201930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9FF397-6558-C74B-AB96-D256A61C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28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21591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1EA79-801D-7249-A53E-511A2EF7A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92"/>
            <a:ext cx="8229600" cy="1143000"/>
          </a:xfrm>
        </p:spPr>
        <p:txBody>
          <a:bodyPr/>
          <a:lstStyle/>
          <a:p>
            <a:r>
              <a:rPr lang="ru-RU" dirty="0"/>
              <a:t>Вероятностные генеративные модели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EB65BF-EEC4-AB49-8297-5D38E8AD3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760"/>
                <a:ext cx="8229600" cy="4708525"/>
              </a:xfrm>
            </p:spPr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Для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классов апостериорная вероятность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выглядит следующим образом: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​</m:t>
                                  </m:r>
                                </m:sup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</m:nary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8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e>
                              </m:nary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eqAr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которая известна как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нормализованная экспонента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 может рассматриваться как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многоклассовое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обобщение логистической сигмоидальной функции. Величины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определяются следующим образом: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Нормализованная экспонента также известна как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функция </a:t>
                </a:r>
                <a:r>
                  <a:rPr lang="ru-RU" sz="1800" i="1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softmax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поскольку она представляет собой сглаженную версию функции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max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потому что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≫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 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)≈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)≈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EB65BF-EEC4-AB49-8297-5D38E8AD3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4708525"/>
              </a:xfrm>
              <a:blipFill>
                <a:blip r:embed="rId2"/>
                <a:stretch>
                  <a:fillRect l="-617" t="-538" r="-154" b="-96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4B2403-CCFD-5846-A952-90732176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29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32036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A0FA3-F9AF-F64F-AF8A-A266FD51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4"/>
            <a:ext cx="8229600" cy="1143000"/>
          </a:xfrm>
        </p:spPr>
        <p:txBody>
          <a:bodyPr/>
          <a:lstStyle/>
          <a:p>
            <a:r>
              <a:rPr lang="ru-RU" dirty="0"/>
              <a:t>Вероятностная модель для нормального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CA37B1-F1B6-5D4A-9142-9C0B865536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4004"/>
                <a:ext cx="8229600" cy="4982159"/>
              </a:xfrm>
            </p:spPr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Гауссовские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распределения могут быть использованы для моделирования непрерывных переменных. Предполагая, что все классы имеют одинаковую ковариационную матрицу, плотность распределения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определяется как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4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𝒩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𝒩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𝒩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𝒩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𝛍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4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14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𝛍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𝛍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4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14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Σ</m:t>
                                      </m:r>
                                    </m:e>
                                    <m:sup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b="1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𝛍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d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eqAr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CA37B1-F1B6-5D4A-9142-9C0B865536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4004"/>
                <a:ext cx="8229600" cy="4982159"/>
              </a:xfrm>
              <a:blipFill>
                <a:blip r:embed="rId2"/>
                <a:stretch>
                  <a:fillRect l="-617" t="-763" b="-6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ED2497-F6B6-1C4D-B6CF-5EA08A4F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30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0394610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67650-CB6A-2247-AA2E-4DDEF6F4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Вероятностная модель для нормального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031009B-45F4-094A-B998-08796D3A3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</m:d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f>
                            <m:f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𝒞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eqAr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Обратите внимание, что априорные вероятности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входят через параметр смещения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тем самым создавая параллельные сдвиги границы решения.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031009B-45F4-094A-B998-08796D3A3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AB5E9F-CDE1-DF4D-B65E-9AFB2F1B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31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40584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55454-6A0D-DF4C-B719-F88DAEC5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Вероятностная модель для нормального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9F3A7B-B695-1249-BB20-C1026BA919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3247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Ослабляя предположение об общей ковариационной матрице для классов, позволяя каждому классу иметь собственную ковариационную матрицу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0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b>
                        <m:r>
                          <a:rPr lang="ru-RU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мы получаем квадратичные функции от </a:t>
                </a:r>
                <a14:m>
                  <m:oMath xmlns:m="http://schemas.openxmlformats.org/officeDocument/2006/math">
                    <m:r>
                      <a:rPr lang="ru-RU" sz="20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что приводит к </a:t>
                </a:r>
                <a:r>
                  <a:rPr lang="ru-RU" sz="20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квадратичному дискриминанту</a:t>
                </a:r>
                <a:r>
                  <a:rPr lang="ru-RU" sz="20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r>
                  <a:rPr lang="ru-RU" sz="3200" dirty="0">
                    <a:effectLst/>
                  </a:rPr>
                  <a:t> </a:t>
                </a:r>
                <a:endParaRPr lang="ru-RU" sz="32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19F3A7B-B695-1249-BB20-C1026BA91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324744"/>
              </a:xfrm>
              <a:blipFill>
                <a:blip r:embed="rId2"/>
                <a:stretch>
                  <a:fillRect l="-772" t="-2857" r="-309" b="-4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9E5E9B-26C1-8744-897D-F8287239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57" y="3318850"/>
            <a:ext cx="3600400" cy="3600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3CEA13-E2E9-444F-AA23-A0A591CFB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318850"/>
            <a:ext cx="3466728" cy="346672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E36C07-0367-CE41-B976-B03AB93E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32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276601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C51D7-B815-8141-9824-70FB4871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Вероятностная модель для нормального распределения</a:t>
            </a:r>
            <a:r>
              <a:rPr lang="en-US" sz="3200" dirty="0"/>
              <a:t> </a:t>
            </a:r>
            <a:r>
              <a:rPr lang="en-US" sz="3200" dirty="0" err="1"/>
              <a:t>д</a:t>
            </a:r>
            <a:r>
              <a:rPr lang="ru-RU" sz="3200" dirty="0"/>
              <a:t>ля нескольких классов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4AAC0E-8DAC-DD46-9A4F-62A5B83AA8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6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/</m:t>
                                      </m:r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/</m:t>
                                      </m:r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/</m:t>
                                      </m:r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  <m:sSup>
                                    <m:sSupPr>
                                      <m:ctrlP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ru-RU" sz="16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/</m:t>
                                      </m:r>
                                      <m:r>
                                        <a:rPr lang="ru-RU" sz="16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</m:e>
                      </m:eqAr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де</a:t>
                </a:r>
                <a:r>
                  <a:rPr lang="en-US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d>
                      <m:d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16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ru-RU" sz="16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ru-RU" sz="16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600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600" i="1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ru-RU" sz="16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ru-RU" sz="1600"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Σ</m:t>
                            </m:r>
                            <m:sSup>
                              <m:sSupPr>
                                <m:ctrlPr>
                                  <a:rPr lang="ru-RU" sz="1600" i="1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6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ru-RU" sz="1600" i="1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a:rPr lang="ru-RU" sz="1600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a:rPr lang="ru-RU" sz="1600" i="1"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600" b="1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16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ru-RU" sz="1600" b="1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b="1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16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b="1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6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600" b="1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𝛍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16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b="1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𝛍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ru-RU" sz="16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𝒞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e>
                              </m:nary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600" b="1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6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e>
                              </m:nary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600" b="1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</m:eqAr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определяется следующим образом: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Следовательно, мы видим, что для </a:t>
                </a:r>
                <a14:m>
                  <m:oMath xmlns:m="http://schemas.openxmlformats.org/officeDocument/2006/math"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классов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являются линейными функциями от 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поскольку квадратичные члены взаимно компенсируют друг друга из-за общих ковариаций.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D4AAC0E-8DAC-DD46-9A4F-62A5B83A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b="-10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E1D295-EA5F-B240-93B3-C1B1E302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33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229681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C1680-43EF-8C4F-9FBA-F047FD0F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методом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CBAA2A6-DEDA-E444-8160-8367380076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Имея набор данных, включающий наблюдения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ru-RU" sz="1800" b="1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 соответствующие метки классов, мы можем определить параметры условных плотностей классов и априорных вероятностей классов, используя метод максимального правдоподобия. Предположим, что нам дан набор данных </a:t>
                </a:r>
                <a14:m>
                  <m:oMath xmlns:m="http://schemas.openxmlformats.org/officeDocument/2006/math"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обозначает класс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обозначает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Тогда для точки данных,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принадлежащей классу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), имеем: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Аналогично, для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Таким образом, функция правдоподобия определяется как: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𝐭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[</m:t>
                          </m:r>
                        </m:e>
                      </m:nary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CBAA2A6-DEDA-E444-8160-836738007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 b="-37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534591-619D-F24B-A99C-EDB760EE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34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147272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D3E59-46BB-4046-86C0-7115AEB8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методом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63EB8DD-80DB-C54B-9931-E268657605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4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Л</a:t>
                </a: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огарифм правдоподобия выглядит следующим образом: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4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𝐭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ru-RU" sz="14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𝐗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𝜋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ru-RU" sz="14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𝒩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𝒩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ru-RU" sz="1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80"/>
                  </a:spcBef>
                  <a:spcAft>
                    <a:spcPts val="180"/>
                  </a:spcAft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Приравняв производную </a:t>
                </a:r>
                <a14:m>
                  <m:oMath xmlns:m="http://schemas.openxmlformats.org/officeDocument/2006/math"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к нулю, получим,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40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𝐭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𝐗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{</m:t>
                              </m:r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)}=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</m:e>
                          </m:nary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)⇔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</m:eqArr>
                    </m:oMath>
                  </m:oMathPara>
                </a14:m>
                <a:endParaRPr lang="ru-RU" sz="1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Как и ожидалось, максимальная оценка правдоподобия для </a:t>
                </a:r>
                <a14:m>
                  <m:oMath xmlns:m="http://schemas.openxmlformats.org/officeDocument/2006/math">
                    <m:r>
                      <a:rPr lang="ru-RU" sz="14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— это просто доля точек в классе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63EB8DD-80DB-C54B-9931-E268657605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7283" b="-131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1A6BBA-0DEF-7E4A-9279-6543B95B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35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700441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95403-8229-D440-A003-4B6E5D64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методом максимального правдоподобия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C5E3CB-89C1-FF4D-A113-A7BF2A7E8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525963"/>
              </a:xfrm>
            </p:spPr>
            <p:txBody>
              <a:bodyPr/>
              <a:lstStyle/>
              <a:p>
                <a:pPr marL="0" lvl="0" indent="0">
                  <a:spcBef>
                    <a:spcPts val="180"/>
                  </a:spcBef>
                  <a:spcAft>
                    <a:spcPts val="180"/>
                  </a:spcAft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Приравняв производную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4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𝛍</m:t>
                        </m:r>
                      </m:e>
                      <m:sub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 нулю, получим,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𝐭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𝐗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𝒩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e>
                                <m:sup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𝛍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e>
                          </m:nary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limUpp>
                            <m:limUpp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UppPr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⇔</m:t>
                              </m:r>
                            </m:e>
                            <m:li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ru-RU" sz="14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Upp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⇔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𝛍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ru-RU" sz="1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80"/>
                  </a:spcBef>
                  <a:spcAft>
                    <a:spcPts val="180"/>
                  </a:spcAft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Аналогично, соответствующий результат для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4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𝛍</m:t>
                        </m:r>
                      </m:e>
                      <m:sub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−1</m:t>
                      </m:r>
                      <m:r>
                        <a:rPr lang="ru-RU" sz="14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1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Наконец, решение для общей ковариационной матрицы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похоже на решение, полученное для многомерного </a:t>
                </a:r>
                <a:r>
                  <a:rPr lang="ru-RU" sz="14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гауссовского</a:t>
                </a: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распределения, где матрица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4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Σ</m:t>
                    </m:r>
                    <m:r>
                      <a:rPr lang="ru-RU" sz="14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определена. </a:t>
                </a:r>
              </a:p>
              <a:p>
                <a:pPr marL="0" indent="0">
                  <a:buNone/>
                </a:pPr>
                <a:r>
                  <a:rPr lang="ru-RU" sz="1400" b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Подгонка гауссовых распределений к классам не является устойчивой к выбросам, поскольку оценка максимального правдоподобия гауссовой функции сама по себе не является устойчивой.</a:t>
                </a:r>
                <a:r>
                  <a:rPr lang="ru-RU" sz="1100" b="1" dirty="0">
                    <a:effectLst/>
                  </a:rPr>
                  <a:t> </a:t>
                </a:r>
                <a:endParaRPr lang="ru-RU" sz="1600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BC5E3CB-89C1-FF4D-A113-A7BF2A7E8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525963"/>
              </a:xfrm>
              <a:blipFill>
                <a:blip r:embed="rId2"/>
                <a:stretch>
                  <a:fillRect l="-309" t="-8939" b="-167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67F91A-5D25-CE45-9768-F20B0815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36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1809225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AB246-3DFC-A247-A77E-3A6C4A52A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Дискретные признаки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10F006-4920-AF4E-AD79-B93FAC388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Рассмотрим случай дискретных бинарных значений признаков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∈{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При наличии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входных данных общее распределение будет соответствовать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независимым переменным. При использовании </a:t>
                </a:r>
                <a:r>
                  <a:rPr lang="ru-RU" sz="12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наивного байесовского </a:t>
                </a: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подхода мы имеем следующие функции плотности распределения, зависящие от класса: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2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𝑘𝑖</m:t>
                          </m:r>
                        </m:sub>
                      </m:sSub>
                      <m:sSup>
                        <m:sSup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ru-RU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Для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классов, подставляя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b="1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ru-RU" sz="12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200" i="1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2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получаем,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2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  <m:e>
                          <m:d>
                            <m:dPr>
                              <m:ctrlP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  <m:sSub>
                                <m:sSub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+(</m:t>
                              </m:r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𝑘𝑖</m:t>
                                  </m:r>
                                </m:sub>
                              </m:sSub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более общем случае, когда дискретные переменные могут принимать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состояния, функции плотности распределения, зависящие от класса, определяются следующим образом: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2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𝑘𝑖𝑚</m:t>
                                  </m:r>
                                </m:sub>
                                <m:sup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2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ru-RU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создаётся схема двоичного 1 в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кодирования, где только одно из значений равно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2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200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 все остальные равны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Таким образом, подставляя выражение выше в </a:t>
                </a:r>
                <a14:m>
                  <m:oMath xmlns:m="http://schemas.openxmlformats.org/officeDocument/2006/math"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4.63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получаем: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2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ru-RU" sz="12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2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2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  <m: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2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ru-RU" sz="12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ln</m:t>
                                  </m:r>
                                  <m:sSub>
                                    <m:sSubPr>
                                      <m:ctrlP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ru-RU" sz="12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𝑘𝑖𝑚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2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10F006-4920-AF4E-AD79-B93FAC388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2"/>
                <a:stretch>
                  <a:fillRect t="-254" r="-154" b="-13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4EAF64-D4DE-CF40-A15D-8E8CAFA8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37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004725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16A61-EFB2-3040-884F-FB8F92E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Вероятностные дискриминантные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04ACC1-9F1E-0645-8E6B-0B359B278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Альтернативный подход, называемый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дискриминантным обучением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заключается в непосредственной максимизации функции правдоподобия, определенной через условное распределение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Рассмотрим задачу бинарной классификации. При анализе генеративных подходов мы увидели, что при достаточно общих предположениях апостериорная вероятность класса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𝒞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может быть выражена как логистический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сигмоид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действующий на линейную функцию входных векторов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en-US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или вектора признаков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𝛟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так что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𝛟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𝛟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𝛟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терминологии статистики эта модель известна как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логистическая регрессия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хотя это модель классификации.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204ACC1-9F1E-0645-8E6B-0B359B278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3F1136-2294-2D40-A442-F388270A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38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26242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528D1-9897-8D4D-A7AF-6AE66894C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Фиксированные базисные функции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398866-FA2B-204B-AF80-255B846A1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840" y="1474440"/>
            <a:ext cx="4114800" cy="411480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50A587-3D44-B347-8EA4-F667EB5D6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656" y="1474440"/>
            <a:ext cx="4114800" cy="41148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771C9D-5F7A-AC46-ABC0-D2B8E06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39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38559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BFAE7F-E9AC-244D-AD21-6EA817225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33"/>
            <a:ext cx="8229600" cy="1143000"/>
          </a:xfrm>
        </p:spPr>
        <p:txBody>
          <a:bodyPr/>
          <a:lstStyle/>
          <a:p>
            <a:r>
              <a:rPr lang="ru-RU" dirty="0"/>
              <a:t>Логистическая 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2051AB-FE02-1947-A8E3-F57B387452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Одним из преимуществ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дискриминативного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подхода является то, что обычно требуется определять меньше адаптивных параметров. Для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-мерного пространства признаков эта модель имеет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настраиваемые параметры. В отличие от этого, генеративная модель, использующая условные плотности гауссовых классов, использовала бы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параметров для средних значений 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ru-RU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параметров для (общей) ковариационной матрицы.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спользуем метод максимального правдоподобия для определения параметров модели логистической регрессии. Для набора данных </a:t>
                </a:r>
                <a14:m>
                  <m:oMath xmlns:m="http://schemas.openxmlformats.org/officeDocument/2006/math"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𝛟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∈{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функция правдоподобия определяется как: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𝐭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𝚽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nary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𝒞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{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Максимальное правдоподобие эквивалентно минимуму отрицательного логарифма правдоподобия, что дает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функцию ошибки кросс-энтропии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𝐭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𝚽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12051AB-FE02-1947-A8E3-F57B38745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6018"/>
                <a:ext cx="8229600" cy="4525963"/>
              </a:xfrm>
              <a:blipFill>
                <a:blip r:embed="rId2"/>
                <a:stretch>
                  <a:fillRect l="-617" t="-559" r="-1080" b="-444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4B93-09D8-5542-A26A-5BA3A5CA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40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669447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1577A-24C8-A348-9CCB-6E1AFB653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функция ошибок называется кросс-энтропией?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6EEE02B-8B8F-CD41-88E1-3894E0B347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79296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Перекрёстная энтропия для дискретных распределений вероятностей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определяется как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ru-RU" sz="18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ru-RU" sz="18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800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​</m:t>
                        </m:r>
                      </m:sup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nary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ru-RU" sz="18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ln</m:t>
                    </m:r>
                    <m:r>
                      <a:rPr lang="ru-RU" sz="1800" b="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𝑞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b="0" i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Поскольку мы предполагаем, что целевые переменные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— это вероятности, принимающие только экстремальные значения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— распределение вероятностей, то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можно интерпретировать как перекрёстную энтропию целевых переменных и апостериорного распределения вероятностей.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6EEE02B-8B8F-CD41-88E1-3894E0B347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79296" cy="4525963"/>
              </a:xfrm>
              <a:blipFill>
                <a:blip r:embed="rId2"/>
                <a:stretch>
                  <a:fillRect l="-592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0D9481-09E6-B54C-866A-A55525AC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41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447868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A10D5-55B9-4746-B124-268A4D95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/>
          <a:lstStyle/>
          <a:p>
            <a:r>
              <a:rPr lang="ru-RU" dirty="0"/>
              <a:t>Поиск весов в лог. </a:t>
            </a:r>
            <a:r>
              <a:rPr lang="ru-RU" dirty="0" err="1"/>
              <a:t>регресии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0AF629-6C78-AC45-8B08-C6801C8BD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3488"/>
                <a:ext cx="8686800" cy="4525963"/>
              </a:xfrm>
            </p:spPr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зяв градиент функции ошибки по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получим,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∇ln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𝐭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4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e/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ln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limUpp>
                            <m:limUpp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UppPr>
                            <m:e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e>
                            <m:lim>
                              <m:f>
                                <m:f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ln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)=</m:t>
                              </m:r>
                              <m:f>
                                <m:f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lim>
                          </m:limUpp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den>
                          </m:f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/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ru-RU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limUpp>
                            <m:limUpp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UppPr>
                            <m:e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e>
                            <m:lim/>
                          </m:limUpp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 sz="1400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ru-RU" sz="14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ru-RU" sz="14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Обратите внимание, что градиент имеет ту же форму, что и градиент функции ошибок суммы квадратов, однако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4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4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содержит нелинейную функцию. В этом случае мы можем использовать последовательный алгоритм (градиентного спуска) для оптимизации параметров.</a:t>
                </a: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50AF629-6C78-AC45-8B08-C6801C8BD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3488"/>
                <a:ext cx="8686800" cy="4525963"/>
              </a:xfrm>
              <a:blipFill>
                <a:blip r:embed="rId2"/>
                <a:stretch>
                  <a:fillRect l="-585" t="-6162" b="-145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5DDF45-7AED-A142-BD18-BE368570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42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999403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44EBA-BC8F-0240-BD49-4EFC3A49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Итеративный метод наименьших квадратов с пересчетом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D0959A-3453-6847-B75A-2A5C7B3D49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Для логистической регрессии аналитического решения больше не существует из-за нелинейности логистической сигмоидальной функции. Однако функция ошибки по-прежнему выпукла и может быть минимизирована эффективным итерационным методом, основанным на итеративной схеме оптимизации </a:t>
                </a:r>
                <a:r>
                  <a:rPr lang="ru-RU" sz="18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Ньютона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Этот алгоритм использует локальное квадратичное приближение логарифмического правдоподобия и принимает вид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𝐇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𝐇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— матрица Гессе, элементы которой содержат вторые производные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Обратите внимание, что если мы применим алгоритм к модели линейной регрессии, мы получим стандартное решение методом наименьших квадратов.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8D0959A-3453-6847-B75A-2A5C7B3D4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D57A1-956B-3842-B2D0-CB36041A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43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5967591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3C2B9-8ADE-8446-8B9F-02D73211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Итеративный метод наименьших квадратов с пересчетом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59FA799-14D5-374E-B1C2-71C9824C03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Применяя обновление к функции ошибок кросс-энтропии для модели логистической регрессии, получаем: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𝐇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∇∇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6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/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∇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limUpp>
                            <m:limUpp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UppPr>
                            <m:e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e>
                            <m:lim/>
                          </m:limUpp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6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den>
                          </m:f>
                          <m:sSup>
                            <m:sSup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</m:e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&amp;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6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6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𝛟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ru-RU" sz="16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b="1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𝚽</m:t>
                              </m:r>
                            </m:e>
                            <m:sup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ru-RU" sz="1600" b="1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𝐑</m:t>
                          </m:r>
                          <m:r>
                            <a:rPr lang="ru-RU" sz="1600" b="1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</m:e>
                        <m:e/>
                      </m:eqAr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59FA799-14D5-374E-B1C2-71C9824C0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3641" b="-23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672BB4-8C39-2241-B284-40CF0604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44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9646928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935F9-3160-444B-B8B3-1D791401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Итеративный метод наименьших квадратов с пересчетом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134C81-0D9F-9C4E-927B-374FA2941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𝐇</m:t>
                      </m:r>
                      <m:r>
                        <a:rPr lang="ru-RU" sz="160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600" i="1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600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𝐑</m:t>
                      </m:r>
                      <m:r>
                        <a:rPr lang="ru-RU" sz="1600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𝚽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— диагональная матрица, элементы которой равны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𝑛𝑛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1−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Тогда формула обновления принимает вид: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𝐑</m:t>
                      </m:r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𝚽</m:t>
                      </m:r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6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𝚽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Обратите внимание, что гессиан зависит от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ru-RU" sz="16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матрицы весов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что соответствует тому факту, что функция ошибки больше не является квадратичной. Таким образом, формулу обновления необходимо применять итеративно, каждый раз используя новый вектор весов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для вычисления изменённой матрицы весов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В связи с этим алгоритм называется </a:t>
                </a:r>
                <a:r>
                  <a:rPr lang="ru-RU" sz="16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итеративным методом наименьших квадратов с пересчетом весов 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" sz="16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iterative reweighted least squares </a:t>
                </a:r>
                <a:r>
                  <a:rPr lang="ru-RU" sz="16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 </a:t>
                </a:r>
                <a:r>
                  <a:rPr lang="ru-RU" sz="1600" i="1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IRLS)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Элементы </a:t>
                </a:r>
                <a14:m>
                  <m:oMath xmlns:m="http://schemas.openxmlformats.org/officeDocument/2006/math">
                    <m:r>
                      <a:rPr lang="ru-RU" sz="16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𝐑</m:t>
                    </m:r>
                  </m:oMath>
                </a14:m>
                <a:r>
                  <a:rPr lang="ru-RU" sz="16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можно интерпретировать как дисперсии, заданные формулой: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]=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∈{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}</m:t>
                          </m:r>
                        </m:sub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nary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6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𝐱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z="16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]=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sSup>
                        <m:sSupPr>
                          <m:ctrlPr>
                            <a:rPr lang="ru-RU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ru-RU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limUpp>
                        <m:limUppPr>
                          <m:ctrlPr>
                            <a:rPr lang="ru-RU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</m:e>
                        <m:lim>
                          <m:sSup>
                            <m:sSupPr>
                              <m:ctrlPr>
                                <a:rPr lang="ru-RU" sz="11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lim>
                      </m:limUpp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𝔼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ru-RU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𝜎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ru-RU" sz="11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6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134C81-0D9F-9C4E-927B-374FA2941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r="-772" b="-21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98EC6-95C7-FE45-8A59-476FFC21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45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928499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CEAC4-9088-CE45-AE01-F8D6199C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57199"/>
          </a:xfrm>
        </p:spPr>
        <p:txBody>
          <a:bodyPr/>
          <a:lstStyle/>
          <a:p>
            <a:r>
              <a:rPr lang="ru-RU" dirty="0"/>
              <a:t>Пробит-регрессия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99EB1-AD43-D84F-982C-CB86770130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692696"/>
                <a:ext cx="8229600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1800" dirty="0">
                    <a:latin typeface="Fd1772405-Identity-H"/>
                  </a:rPr>
                  <a:t>Д</a:t>
                </a:r>
                <a:r>
                  <a:rPr lang="ru-RU" sz="1800" dirty="0">
                    <a:effectLst/>
                    <a:latin typeface="Fd1772405-Identity-H"/>
                  </a:rPr>
                  <a:t>ля </a:t>
                </a:r>
                <a:r>
                  <a:rPr lang="ru-RU" sz="1800" dirty="0">
                    <a:effectLst/>
                    <a:latin typeface="Fd665974-Identity-H"/>
                  </a:rPr>
                  <a:t>многих условных по классу плотностей вероятности, принадлежащих экспоненциальному семейству, полученные апостериорные ве­роятности классов определяются логистическим (или </a:t>
                </a:r>
                <a:r>
                  <a:rPr lang="en" sz="1800" dirty="0" err="1">
                    <a:effectLst/>
                    <a:latin typeface="Fd721004-Identity-H"/>
                  </a:rPr>
                  <a:t>softmax</a:t>
                </a:r>
                <a:r>
                  <a:rPr lang="en" sz="1800" dirty="0">
                    <a:effectLst/>
                    <a:latin typeface="Fd721004-Identity-H"/>
                  </a:rPr>
                  <a:t>) </a:t>
                </a:r>
                <a:r>
                  <a:rPr lang="ru-RU" sz="1800" dirty="0">
                    <a:effectLst/>
                    <a:latin typeface="Fd665974-Identity-H"/>
                  </a:rPr>
                  <a:t>преобразованием, действующим на линейную функцию признаков. Однако не все виды условной по классу плотности вероятности приводят к такой простой форме для апосте­риорных вероятностей (например, если условные по классу плотности вероятно­сти</a:t>
                </a:r>
                <a:r>
                  <a:rPr lang="ru-RU" sz="1800" dirty="0">
                    <a:latin typeface="Fd665974-Identity-H"/>
                  </a:rPr>
                  <a:t> </a:t>
                </a:r>
                <a:r>
                  <a:rPr lang="ru-RU" sz="1800" dirty="0">
                    <a:effectLst/>
                    <a:latin typeface="Fd665974-Identity-H"/>
                  </a:rPr>
                  <a:t>моделируются с использованием смесей нормальных распределений). Это говорит о том, что, возможно, стоит изучить другие типы дискриминантных вероятностных моделей.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b="0" i="1" smtClean="0"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sz="1800" b="0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800" b="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:r>
                  <a:rPr lang="en-US" sz="1800" dirty="0" err="1">
                    <a:latin typeface="Fd665974-Identity-H"/>
                  </a:rPr>
                  <a:t>г</a:t>
                </a:r>
                <a:r>
                  <a:rPr lang="ru-RU" sz="1800" dirty="0">
                    <a:latin typeface="Fd665974-Identity-H"/>
                  </a:rPr>
                  <a:t>де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sz="1800" b="1" i="1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ru-RU" sz="1800" b="0" i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800" dirty="0">
                    <a:effectLst/>
                    <a:latin typeface="Fd665974-Identity-H"/>
                  </a:rPr>
                  <a:t> </a:t>
                </a:r>
                <a:r>
                  <a:rPr lang="ru-RU" sz="1800" dirty="0">
                    <a:effectLst/>
                    <a:latin typeface="Fd665974-Identity-H"/>
                  </a:rPr>
                  <a:t>a</a:t>
                </a:r>
                <a:r>
                  <a:rPr lang="en-US" sz="1800" dirty="0">
                    <a:effectLst/>
                    <a:latin typeface="Fd665974-Identity-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800" dirty="0">
                    <a:effectLst/>
                    <a:latin typeface="Fd665974-Identity-H"/>
                  </a:rPr>
                  <a:t> – </a:t>
                </a:r>
                <a:r>
                  <a:rPr lang="ru-RU" sz="1800" dirty="0">
                    <a:effectLst/>
                    <a:latin typeface="Fd665974-Identity-H"/>
                  </a:rPr>
                  <a:t>функция активации</a:t>
                </a:r>
                <a:r>
                  <a:rPr lang="en-US" sz="1800" dirty="0">
                    <a:latin typeface="Fd665974-Identity-H"/>
                  </a:rPr>
                  <a:t>. </a:t>
                </a:r>
                <a:r>
                  <a:rPr lang="ru-RU" sz="1800" dirty="0">
                    <a:latin typeface="Fd665974-Identity-H"/>
                  </a:rPr>
                  <a:t>Целевое значение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latin typeface="Fd665974-Identity-H"/>
                  </a:rPr>
                  <a:t>задается согласно формуле:</a:t>
                </a:r>
                <a:endParaRPr lang="ru-RU" sz="180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16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ru-RU" sz="16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, если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 иначе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Fd665974-Identity-H"/>
                  </a:rPr>
                  <a:t>Тогда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n-US" sz="160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effectLst/>
                    <a:latin typeface="Fd665974-Identity-H"/>
                  </a:rPr>
                  <a:t>Частный случай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ru-RU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</m:oMath>
                </a14:m>
                <a:r>
                  <a:rPr lang="en-US" sz="1600" dirty="0">
                    <a:effectLst/>
                    <a:latin typeface="Fd665974-Identity-H"/>
                  </a:rPr>
                  <a:t> - </a:t>
                </a:r>
                <a:r>
                  <a:rPr lang="ru-RU" sz="1600" dirty="0">
                    <a:latin typeface="Fd665974-Identity-H"/>
                  </a:rPr>
                  <a:t>о</a:t>
                </a:r>
                <a:r>
                  <a:rPr lang="ru-RU" sz="1600" dirty="0">
                    <a:effectLst/>
                    <a:latin typeface="Fd665974-Identity-H"/>
                  </a:rPr>
                  <a:t>братная пробит-функция</a:t>
                </a:r>
              </a:p>
              <a:p>
                <a:pPr marL="0" indent="0">
                  <a:buNone/>
                </a:pPr>
                <a:r>
                  <a:rPr lang="ru-RU" sz="1600" dirty="0">
                    <a:effectLst/>
                    <a:latin typeface="Fd721004-Identity-H"/>
                  </a:rPr>
                  <a:t>Обобщенная линейная модель, основанная на пробит-функции активации, назы­</a:t>
                </a:r>
                <a:r>
                  <a:rPr lang="ru-RU" sz="1600" dirty="0">
                    <a:effectLst/>
                    <a:latin typeface="Fd2024191-Identity-H"/>
                  </a:rPr>
                  <a:t>вается </a:t>
                </a:r>
                <a:r>
                  <a:rPr lang="ru-RU" sz="1600" dirty="0">
                    <a:effectLst/>
                    <a:latin typeface="Fd2042035-Identity-H"/>
                  </a:rPr>
                  <a:t>пробит-регрессией.</a:t>
                </a:r>
                <a:br>
                  <a:rPr lang="ru-RU" sz="1600" dirty="0">
                    <a:effectLst/>
                    <a:latin typeface="Fd2042035-Identity-H"/>
                  </a:rPr>
                </a:br>
                <a:endParaRPr lang="ru-RU" sz="1050" dirty="0"/>
              </a:p>
              <a:p>
                <a:pPr marL="0" indent="0">
                  <a:buNone/>
                </a:pPr>
                <a:endParaRPr lang="ru-RU" sz="160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:endParaRPr lang="ru-RU" sz="1800" dirty="0">
                  <a:effectLst/>
                  <a:latin typeface="Fd665974-Identity-H"/>
                </a:endParaRP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99EB1-AD43-D84F-982C-CB86770130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92696"/>
                <a:ext cx="8229600" cy="5832648"/>
              </a:xfrm>
              <a:blipFill>
                <a:blip r:embed="rId2"/>
                <a:stretch>
                  <a:fillRect l="-617" t="-435" r="-463" b="-69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DFFC96-B8EA-7C45-B8D6-B7AD617D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46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489794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7D86D-471A-1447-98EC-4FB3F92A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ошибки измерений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3DFCCAE-5C84-E640-AD0A-E8B7AAF20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0" i="1" smtClean="0"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800" b="0" i="1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dirty="0">
                  <a:effectLst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вероятность правильной разметки. 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3DFCCAE-5C84-E640-AD0A-E8B7AAF20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74C78E-287C-9F4D-AD4D-574D1F27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47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182260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37D84-23FE-1947-9F11-F037083B2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Байесовская логистическая регрессия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B612A-3D1A-FC4E-A2F2-2E23CEBD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800" dirty="0">
                <a:effectLst/>
                <a:latin typeface="Fd721004-Identity-H"/>
              </a:rPr>
              <a:t>Точный байесовский вывод </a:t>
            </a:r>
            <a:r>
              <a:rPr lang="ru-RU" sz="1800" dirty="0">
                <a:effectLst/>
                <a:latin typeface="Fd961903-Identity-H"/>
              </a:rPr>
              <a:t>для </a:t>
            </a:r>
            <a:r>
              <a:rPr lang="ru-RU" sz="1800" dirty="0">
                <a:effectLst/>
                <a:latin typeface="Fd721004-Identity-H"/>
              </a:rPr>
              <a:t>логистической регрессии невозможен. </a:t>
            </a:r>
            <a:r>
              <a:rPr lang="ru-RU" sz="1800" dirty="0">
                <a:effectLst/>
                <a:latin typeface="Fd665974-Identity-H"/>
              </a:rPr>
              <a:t>В </a:t>
            </a:r>
            <a:r>
              <a:rPr lang="ru-RU" sz="1800" dirty="0">
                <a:effectLst/>
                <a:latin typeface="Fd721004-Identity-H"/>
              </a:rPr>
              <a:t>частности, вы­числение апостериорного распределения требует нормировки произведения априорного распределения и функции правдоподобия, которая сама по себе со­держит произведение логистических </a:t>
            </a:r>
            <a:r>
              <a:rPr lang="ru-RU" sz="1800" dirty="0" err="1">
                <a:effectLst/>
                <a:latin typeface="Fd721004-Identity-H"/>
              </a:rPr>
              <a:t>сигмоид</a:t>
            </a:r>
            <a:r>
              <a:rPr lang="ru-RU" sz="1800" dirty="0">
                <a:effectLst/>
                <a:latin typeface="Fd721004-Identity-H"/>
              </a:rPr>
              <a:t>, по одной для каждой точки наблюдения. Вычисление прогностического распределения также невозможно. </a:t>
            </a:r>
            <a:endParaRPr lang="en-US" sz="1800" dirty="0">
              <a:effectLst/>
              <a:latin typeface="Fd721004-Identity-H"/>
            </a:endParaRPr>
          </a:p>
          <a:p>
            <a:pPr marL="0" indent="0">
              <a:buNone/>
            </a:pPr>
            <a:r>
              <a:rPr lang="ru-RU" sz="1800" dirty="0">
                <a:latin typeface="Fd721004-Identity-H"/>
              </a:rPr>
              <a:t>В</a:t>
            </a:r>
            <a:r>
              <a:rPr lang="ru-RU" sz="1800" dirty="0">
                <a:effectLst/>
                <a:latin typeface="Fd721004-Identity-H"/>
              </a:rPr>
              <a:t>озможно применение аппроксимации Лапласа к проблеме байесов­ской логистической регрессии.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4CCDE7-219C-614F-ABF7-85B767DB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48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993495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AC104-093B-7A4C-BBD4-38C3E9F7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Приближение Лапласа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BC8AD8B-5B8E-A645-84DA-991DA9269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И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щем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гауссовское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представление для апостериорного распределения параметров, поэтому мы используем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гауссовское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(сопряженное) априорное распределение в общей форме,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𝐦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8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𝐒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– фиксированные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гиперпараметры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Тогда апостериорная функция </a:t>
                </a:r>
                <a14:m>
                  <m:oMath xmlns:m="http://schemas.openxmlformats.org/officeDocument/2006/math">
                    <m:r>
                      <a:rPr lang="ru-RU" sz="1800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𝐰</m:t>
                    </m:r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определяется как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)∝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Взяв натуральный логарифм с обеих сторон и подставив вместо него априорную вероятность и вероятность, получаем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}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{</m:t>
                          </m:r>
                        </m:e>
                      </m:nary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ln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)}+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ru-RU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BC8AD8B-5B8E-A645-84DA-991DA9269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27" t="-840" b="-37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5A835E-7442-A745-A8C3-B384CA18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49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013270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D8797-B00F-6B47-B64C-AB6209DA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Приближение Лапласа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167188-201D-1744-A2CC-E8E0FEA1D0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Ч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тобы получить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гауссовскую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аппроксимацию апостериорной вероятности, сначала максимизируем апостериорную вероятность, чтобы получить решение MAP</a:t>
                </a:r>
                <a:r>
                  <a:rPr lang="en-US" sz="18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(maximum a posteriori) 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𝑀𝐴𝑃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которое соответствует среднему значению аппроксимированной гауссовой вероятности. Ковариационная матрица затем задаётся матрицей Гессе отрицательного логарифмического правдоподобия: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∇∇ln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𝗍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𝛟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Таким образом, </a:t>
                </a:r>
                <a:r>
                  <a:rPr lang="ru-RU" sz="1800" dirty="0" err="1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гауссовское</a:t>
                </a:r>
                <a:r>
                  <a:rPr lang="ru-RU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приближение апостериорной функции принимает вид: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𝒩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𝐰</m:t>
                      </m:r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𝐰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𝑀𝐴𝑃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3167188-201D-1744-A2CC-E8E0FEA1D0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54AC9-412F-2D4C-A3DE-94D437B8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50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717365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C1D2A-DE20-C24E-8A8B-AE2CC13C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Приближение Лапласа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1AB39CB-3FE7-0F46-81F6-40B29202D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41" y="1481715"/>
            <a:ext cx="4441444" cy="331544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9853ED-339C-BB4F-B64E-12511E97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602" y="1481715"/>
            <a:ext cx="4441444" cy="33154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4E40DC-A3F6-6F41-826A-CFAF7F2A0A12}"/>
              </a:ext>
            </a:extLst>
          </p:cNvPr>
          <p:cNvSpPr txBox="1"/>
          <p:nvPr/>
        </p:nvSpPr>
        <p:spPr>
          <a:xfrm>
            <a:off x="441849" y="5085184"/>
            <a:ext cx="823607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Fd2260317-Identity-H"/>
              </a:rPr>
              <a:t>Слева желтым цветом показано нормализованное распределение</a:t>
            </a:r>
            <a:r>
              <a:rPr lang="en" sz="1800" dirty="0">
                <a:effectLst/>
                <a:latin typeface="Fd815395-Identity-H"/>
              </a:rPr>
              <a:t>p(z), </a:t>
            </a:r>
            <a:r>
              <a:rPr lang="ru-RU" sz="1800" dirty="0">
                <a:effectLst/>
                <a:latin typeface="Fd2260317-Identity-H"/>
              </a:rPr>
              <a:t>а красным - аппроксимация Лапласа, центрированная по моде </a:t>
            </a:r>
            <a:r>
              <a:rPr lang="en" sz="1800" dirty="0">
                <a:effectLst/>
                <a:latin typeface="Fd2558666-Identity-H"/>
              </a:rPr>
              <a:t>z0 </a:t>
            </a:r>
            <a:r>
              <a:rPr lang="ru-RU" sz="1800" dirty="0">
                <a:effectLst/>
                <a:latin typeface="Fd2260317-Identity-H"/>
              </a:rPr>
              <a:t>распределения </a:t>
            </a:r>
            <a:r>
              <a:rPr lang="en" sz="1800" dirty="0">
                <a:effectLst/>
                <a:latin typeface="Fd815395-Identity-H"/>
              </a:rPr>
              <a:t>p(z). </a:t>
            </a:r>
            <a:r>
              <a:rPr lang="ru-RU" sz="1800" dirty="0">
                <a:effectLst/>
                <a:latin typeface="Fd2260317-Identity-H"/>
              </a:rPr>
              <a:t>Справа показаны отрицательные логарифмы соответствующих кривых </a:t>
            </a:r>
            <a:endParaRPr lang="ru-RU" sz="1800" dirty="0">
              <a:effectLst/>
              <a:latin typeface="Fd2558666-Identity-H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A45DAB-85C5-5F46-BB74-F1944247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51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988671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549F6-1419-C14C-A373-617B80A3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7633022" cy="1325563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</a:rPr>
              <a:t>Оценка качества </a:t>
            </a:r>
            <a:br>
              <a:rPr lang="ru-RU" b="1" dirty="0">
                <a:solidFill>
                  <a:srgbClr val="00B0F0"/>
                </a:solidFill>
              </a:rPr>
            </a:br>
            <a:r>
              <a:rPr lang="ru-RU" b="1" dirty="0">
                <a:solidFill>
                  <a:srgbClr val="00B0F0"/>
                </a:solidFill>
              </a:rPr>
              <a:t>классификации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A6F52-047A-3144-B857-AB8214FB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910756"/>
            <a:ext cx="7029962" cy="412314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1600" dirty="0"/>
              <a:t>Пусть есть два класса </a:t>
            </a:r>
            <a:r>
              <a:rPr lang="ru-RU" sz="1600" dirty="0" err="1"/>
              <a:t>Y</a:t>
            </a:r>
            <a:r>
              <a:rPr lang="en-US" sz="1600" dirty="0"/>
              <a:t>={0,1}</a:t>
            </a:r>
            <a:r>
              <a:rPr lang="ru-RU" sz="1600" dirty="0"/>
              <a:t>. Пусть банк использует систему классификации заёмщиков на кредитоспособных и некредитоспособных. Обнаружение некредитоспособного заёмщика (</a:t>
            </a:r>
            <a:r>
              <a:rPr lang="en-US" sz="1600" dirty="0"/>
              <a:t>y=1) </a:t>
            </a:r>
            <a:r>
              <a:rPr lang="ru-RU" sz="1600" dirty="0"/>
              <a:t>можно рассматривать как "сигнал тревоги", сообщающий о возможных рисках. </a:t>
            </a:r>
          </a:p>
          <a:p>
            <a:pPr marL="0" indent="0" algn="just">
              <a:buNone/>
            </a:pPr>
            <a:r>
              <a:rPr lang="ru-RU" sz="1600" dirty="0"/>
              <a:t>Возможны следующие исходы классификации:</a:t>
            </a:r>
          </a:p>
          <a:p>
            <a:pPr algn="just"/>
            <a:r>
              <a:rPr lang="ru-RU" sz="1600" dirty="0"/>
              <a:t>Некредитоспособный заёмщик классифицирован как некредитоспособный, т.е. положительный класс распознан как положительный (</a:t>
            </a:r>
            <a:r>
              <a:rPr lang="en-US" sz="1600" dirty="0"/>
              <a:t>True Positive — TP).</a:t>
            </a:r>
          </a:p>
          <a:p>
            <a:pPr algn="just"/>
            <a:r>
              <a:rPr lang="ru-RU" sz="1600" dirty="0"/>
              <a:t>Кредитоспособный заёмщик классифицирован как кредитоспособный, т.е. отрицательный класс распознан как отрицательный. (</a:t>
            </a:r>
            <a:r>
              <a:rPr lang="en-US" sz="1600" dirty="0"/>
              <a:t>True Negative — TN).</a:t>
            </a:r>
          </a:p>
          <a:p>
            <a:pPr algn="just"/>
            <a:r>
              <a:rPr lang="ru-RU" sz="1600" dirty="0"/>
              <a:t>Кредитоспособный заёмщик классифицирован как некредитоспособный, т.е. имела место ошибка, в результате которой отрицательный класс был распознан как положительный (</a:t>
            </a:r>
            <a:r>
              <a:rPr lang="en-US" sz="1600" dirty="0"/>
              <a:t>False Positive — FP)</a:t>
            </a:r>
            <a:r>
              <a:rPr lang="ru-RU" sz="1600" dirty="0"/>
              <a:t> – это ошибка </a:t>
            </a:r>
            <a:r>
              <a:rPr lang="en-US" sz="1600" dirty="0"/>
              <a:t>I </a:t>
            </a:r>
            <a:r>
              <a:rPr lang="ru-RU" sz="1600" dirty="0"/>
              <a:t>рода (ложная тревога).</a:t>
            </a:r>
          </a:p>
          <a:p>
            <a:pPr algn="just"/>
            <a:r>
              <a:rPr lang="ru-RU" sz="1600" dirty="0"/>
              <a:t>Некредитоспособный заёмщик распознан как кредитоспособный, т.е. имела место ошибка, в результате которой положительный класс был распознан как отрицательный (</a:t>
            </a:r>
            <a:r>
              <a:rPr lang="en-US" sz="1600" dirty="0"/>
              <a:t>False Negative — FN)</a:t>
            </a:r>
            <a:r>
              <a:rPr lang="ru-RU" sz="1600" dirty="0"/>
              <a:t> – это ошибка </a:t>
            </a:r>
            <a:r>
              <a:rPr lang="en-US" sz="1600" dirty="0"/>
              <a:t>II </a:t>
            </a:r>
            <a:r>
              <a:rPr lang="ru-RU" sz="1600" dirty="0"/>
              <a:t>рода (пропуск цели).</a:t>
            </a:r>
          </a:p>
          <a:p>
            <a:pPr marL="0" indent="0" algn="just"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FF0AED-541B-0A4A-AD9E-B0819A90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52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12909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549F6-1419-C14C-A373-617B80A3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7705030" cy="1325563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</a:rPr>
              <a:t>Вопрос для самоконтроля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A6F52-047A-3144-B857-AB8214FB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477351"/>
            <a:ext cx="7029962" cy="5234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600" dirty="0"/>
              <a:t>Где ошибка первого рода и где ошибка второго рода?</a:t>
            </a:r>
          </a:p>
        </p:txBody>
      </p:sp>
      <p:pic>
        <p:nvPicPr>
          <p:cNvPr id="1026" name="Picture 2" descr="Функционалы качества бинарной классификации | Анализ малых данных">
            <a:extLst>
              <a:ext uri="{FF2B5EF4-FFF2-40B4-BE49-F238E27FC236}">
                <a16:creationId xmlns:a16="http://schemas.microsoft.com/office/drawing/2014/main" id="{68C6FA9D-D394-764A-BB1B-7AF0F6CB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593" y="2061925"/>
            <a:ext cx="6138767" cy="428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10E9DA-F4F7-3E40-9166-52026F89B052}"/>
              </a:ext>
            </a:extLst>
          </p:cNvPr>
          <p:cNvSpPr/>
          <p:nvPr/>
        </p:nvSpPr>
        <p:spPr>
          <a:xfrm>
            <a:off x="1650443" y="2053243"/>
            <a:ext cx="6138767" cy="429567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D77AFD-09FA-2B4F-8AB1-CEBADB61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53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9893731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EA8C8-35CD-6B41-BF64-19C5BEE0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93" y="404813"/>
            <a:ext cx="7561014" cy="1325563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B0F0"/>
                </a:solidFill>
              </a:rPr>
              <a:t>Метрики качества классификации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F0D7B0-2D1E-A944-B9EC-69A39F6B19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3893" y="1569591"/>
                <a:ext cx="7736213" cy="4883596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Аккуратность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Accuracy)</a:t>
                </a:r>
                <a:r>
                  <a:rPr lang="ru-RU" sz="2400" dirty="0">
                    <a:solidFill>
                      <a:schemeClr val="tx1"/>
                    </a:solidFill>
                  </a:rPr>
                  <a:t> – доля правильных ответов. Бесполезна в задачах с неравными классами.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Точность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Precision)</a:t>
                </a:r>
                <a:r>
                  <a:rPr lang="ru-RU" sz="2400" dirty="0">
                    <a:solidFill>
                      <a:schemeClr val="tx1"/>
                    </a:solidFill>
                  </a:rPr>
                  <a:t> - доля правильных ответов модели в пределах класса: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</a:rPr>
                        <m:t>Precision</m:t>
                      </m:r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Полнота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Recall)</a:t>
                </a:r>
                <a:r>
                  <a:rPr lang="ru-RU" sz="2400" dirty="0">
                    <a:solidFill>
                      <a:schemeClr val="tx1"/>
                    </a:solidFill>
                  </a:rPr>
                  <a:t> - это доля истинно положительных классификаций: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</a:rPr>
                        <m:t>Recall</m:t>
                      </m:r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F-</a:t>
                </a:r>
                <a:r>
                  <a:rPr lang="ru-RU" sz="2400" dirty="0">
                    <a:solidFill>
                      <a:schemeClr val="tx1"/>
                    </a:solidFill>
                  </a:rPr>
                  <a:t>мера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F-score)</a:t>
                </a:r>
                <a:r>
                  <a:rPr lang="ru-RU" sz="2400" dirty="0">
                    <a:solidFill>
                      <a:schemeClr val="tx1"/>
                    </a:solidFill>
                  </a:rPr>
                  <a:t> – гармоническое среднее между точностью и полнотой. 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F0D7B0-2D1E-A944-B9EC-69A39F6B1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893" y="1569591"/>
                <a:ext cx="7736213" cy="4883596"/>
              </a:xfrm>
              <a:blipFill>
                <a:blip r:embed="rId2"/>
                <a:stretch>
                  <a:fillRect l="-1148" t="-1813" r="-11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9D8293-804F-0F4F-AF01-CD78E7D4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54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274617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EC480-1650-4340-9A95-E0B77776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метрик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FB0484-1891-4C41-97EF-8A442CD67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5200" cy="4525963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/>
              <a:t>Модель 1</a:t>
            </a:r>
          </a:p>
          <a:p>
            <a:pPr marL="0" indent="0">
              <a:buNone/>
            </a:pPr>
            <a:r>
              <a:rPr lang="en" sz="2400" dirty="0"/>
              <a:t>F</a:t>
            </a:r>
            <a:r>
              <a:rPr lang="en-US" sz="2400" dirty="0"/>
              <a:t>1</a:t>
            </a:r>
            <a:r>
              <a:rPr lang="ru-RU" sz="2400" dirty="0"/>
              <a:t>=0.34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" sz="2400" dirty="0"/>
              <a:t>accuracy</a:t>
            </a:r>
            <a:r>
              <a:rPr lang="ru-RU" sz="2400" dirty="0"/>
              <a:t>=0.48, </a:t>
            </a:r>
            <a:r>
              <a:rPr lang="en" sz="2400" dirty="0"/>
              <a:t>precision</a:t>
            </a:r>
            <a:r>
              <a:rPr lang="ru-RU" sz="2400" dirty="0"/>
              <a:t>=0.21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" sz="2400" dirty="0"/>
              <a:t>recall</a:t>
            </a:r>
            <a:r>
              <a:rPr lang="ru-RU" sz="2400" dirty="0"/>
              <a:t>=0.95</a:t>
            </a:r>
          </a:p>
          <a:p>
            <a:pPr marL="0" indent="0">
              <a:buNone/>
            </a:pPr>
            <a:r>
              <a:rPr lang="ru-RU" sz="2400" dirty="0"/>
              <a:t>[[51 </a:t>
            </a:r>
            <a:r>
              <a:rPr lang="en-US" sz="2400" dirty="0"/>
              <a:t>  </a:t>
            </a:r>
            <a:r>
              <a:rPr lang="ru-RU" sz="2400" dirty="0"/>
              <a:t>77] </a:t>
            </a:r>
          </a:p>
          <a:p>
            <a:pPr marL="0" indent="0">
              <a:buNone/>
            </a:pPr>
            <a:r>
              <a:rPr lang="ru-RU" sz="2400" dirty="0"/>
              <a:t> [ 1 </a:t>
            </a:r>
            <a:r>
              <a:rPr lang="en-US" sz="2400" dirty="0"/>
              <a:t>   </a:t>
            </a:r>
            <a:r>
              <a:rPr lang="ru-RU" sz="2400" dirty="0"/>
              <a:t>20]] </a:t>
            </a:r>
            <a:endParaRPr lang="en-US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Модель 2</a:t>
            </a:r>
          </a:p>
          <a:p>
            <a:pPr marL="0" indent="0">
              <a:buNone/>
            </a:pPr>
            <a:r>
              <a:rPr lang="en" sz="2400" dirty="0"/>
              <a:t>F</a:t>
            </a:r>
            <a:r>
              <a:rPr lang="en-US" sz="2400" dirty="0"/>
              <a:t>1</a:t>
            </a:r>
            <a:r>
              <a:rPr lang="ru-RU" sz="2400" dirty="0"/>
              <a:t>=0.54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" sz="2400" dirty="0"/>
              <a:t>accuracy</a:t>
            </a:r>
            <a:r>
              <a:rPr lang="ru-RU" sz="2400" dirty="0"/>
              <a:t>=0.82, </a:t>
            </a:r>
            <a:r>
              <a:rPr lang="en" sz="2400" dirty="0"/>
              <a:t>precision</a:t>
            </a:r>
            <a:r>
              <a:rPr lang="ru-RU" sz="2400" dirty="0"/>
              <a:t>= 0.42</a:t>
            </a:r>
            <a:r>
              <a:rPr lang="en-US" sz="2400" dirty="0"/>
              <a:t>,</a:t>
            </a:r>
            <a:r>
              <a:rPr lang="ru-RU" sz="2400" dirty="0"/>
              <a:t> </a:t>
            </a:r>
            <a:r>
              <a:rPr lang="en" sz="2400" dirty="0"/>
              <a:t>recall</a:t>
            </a:r>
            <a:r>
              <a:rPr lang="ru-RU" sz="2400" dirty="0"/>
              <a:t>=0.76</a:t>
            </a:r>
          </a:p>
          <a:p>
            <a:pPr marL="0" indent="0">
              <a:buNone/>
            </a:pPr>
            <a:r>
              <a:rPr lang="ru-RU" sz="2400" dirty="0"/>
              <a:t>[[106 </a:t>
            </a:r>
            <a:r>
              <a:rPr lang="en-US" sz="2400" dirty="0"/>
              <a:t> </a:t>
            </a:r>
            <a:r>
              <a:rPr lang="ru-RU" sz="2400" dirty="0"/>
              <a:t>22] </a:t>
            </a:r>
          </a:p>
          <a:p>
            <a:pPr marL="0" indent="0">
              <a:buNone/>
            </a:pPr>
            <a:r>
              <a:rPr lang="ru-RU" sz="2400" dirty="0"/>
              <a:t>[ 5 </a:t>
            </a:r>
            <a:r>
              <a:rPr lang="en-US" sz="2400" dirty="0"/>
              <a:t>     </a:t>
            </a:r>
            <a:r>
              <a:rPr lang="ru-RU" sz="2400" dirty="0"/>
              <a:t>16]]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43C661-68E9-654A-9F96-B34CDC03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A3698-4919-664A-93A5-0DE99EC2A28A}" type="slidenum">
              <a:rPr lang="en-US" altLang="ru-RU" smtClean="0"/>
              <a:pPr/>
              <a:t>55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1615760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FFFF7"/>
      </a:accent1>
      <a:accent2>
        <a:srgbClr val="33CCCC"/>
      </a:accent2>
      <a:accent3>
        <a:srgbClr val="FFFFFF"/>
      </a:accent3>
      <a:accent4>
        <a:srgbClr val="000000"/>
      </a:accent4>
      <a:accent5>
        <a:srgbClr val="FFFFFA"/>
      </a:accent5>
      <a:accent6>
        <a:srgbClr val="2DB9B9"/>
      </a:accent6>
      <a:hlink>
        <a:srgbClr val="FF5050"/>
      </a:hlink>
      <a:folHlink>
        <a:srgbClr val="FF99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7978</TotalTime>
  <Words>4466</Words>
  <Application>Microsoft Macintosh PowerPoint</Application>
  <PresentationFormat>Экран (4:3)</PresentationFormat>
  <Paragraphs>389</Paragraphs>
  <Slides>55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73" baseType="lpstr">
      <vt:lpstr>Aptos</vt:lpstr>
      <vt:lpstr>Arial</vt:lpstr>
      <vt:lpstr>Calibri</vt:lpstr>
      <vt:lpstr>Cambria Math</vt:lpstr>
      <vt:lpstr>Fd1772405-Identity-H</vt:lpstr>
      <vt:lpstr>Fd2024191-Identity-H</vt:lpstr>
      <vt:lpstr>Fd2042035-Identity-H</vt:lpstr>
      <vt:lpstr>Fd2260317-Identity-H</vt:lpstr>
      <vt:lpstr>Fd2558666-Identity-H</vt:lpstr>
      <vt:lpstr>Fd2560914-Identity-H</vt:lpstr>
      <vt:lpstr>Fd2561963-Identity-H</vt:lpstr>
      <vt:lpstr>Fd629057-Identity-H</vt:lpstr>
      <vt:lpstr>Fd665974-Identity-H</vt:lpstr>
      <vt:lpstr>Fd721004-Identity-H</vt:lpstr>
      <vt:lpstr>Fd815395-Identity-H</vt:lpstr>
      <vt:lpstr>Fd961903-Identity-H</vt:lpstr>
      <vt:lpstr>Default Design</vt:lpstr>
      <vt:lpstr>Equation</vt:lpstr>
      <vt:lpstr>  Линейные модели классификации</vt:lpstr>
      <vt:lpstr>Что такое «линейная» классификация?</vt:lpstr>
      <vt:lpstr>Представление целевых значений для классификации</vt:lpstr>
      <vt:lpstr>Три подхода к классификации</vt:lpstr>
      <vt:lpstr>Презентация PowerPoint</vt:lpstr>
      <vt:lpstr>Напоминание: три разных пространства, которые легко спутать</vt:lpstr>
      <vt:lpstr>Дискриминантные функции для N&gt;2 классов</vt:lpstr>
      <vt:lpstr>Проблемы с многоклассовыми дискриминантными функциями</vt:lpstr>
      <vt:lpstr>Простое решение</vt:lpstr>
      <vt:lpstr>Использование метода наименьших квадратов для классификации</vt:lpstr>
      <vt:lpstr>Проблемы с использованием наименьших квадратов для классификации</vt:lpstr>
      <vt:lpstr>Другой пример, когда регрессия наименьших квадратов дает плохие поверхности решений</vt:lpstr>
      <vt:lpstr>Линейный дискриминант Фишера</vt:lpstr>
      <vt:lpstr>Рисунок, демонстрирующий преимущество линейного дискриминанта Фишера</vt:lpstr>
      <vt:lpstr>Математика линейных дискриминантов Фишера</vt:lpstr>
      <vt:lpstr>Использование линейных дискриминантов Фишера</vt:lpstr>
      <vt:lpstr>Персептрон</vt:lpstr>
      <vt:lpstr>Персептрон</vt:lpstr>
      <vt:lpstr>Функция ошибки</vt:lpstr>
      <vt:lpstr>Процедура сходимости персептрона</vt:lpstr>
      <vt:lpstr>Естественный способ попытаться доказать сходимость</vt:lpstr>
      <vt:lpstr>Вес и пространство данных</vt:lpstr>
      <vt:lpstr>Лучший способ доказать сходимость (используя выпуклость решений в весовом пространстве)</vt:lpstr>
      <vt:lpstr>Почему процедура обучения работает</vt:lpstr>
      <vt:lpstr>Чему персептроны не могут научиться</vt:lpstr>
      <vt:lpstr>Что умеют персептроны?</vt:lpstr>
      <vt:lpstr>Задача проверки четности N-бит</vt:lpstr>
      <vt:lpstr>Вероятностные генеративные модели </vt:lpstr>
      <vt:lpstr>Вероятностные генеративные модели </vt:lpstr>
      <vt:lpstr>Вероятностная модель для нормального распределения</vt:lpstr>
      <vt:lpstr>Вероятностная модель для нормального распределения</vt:lpstr>
      <vt:lpstr>Вероятностная модель для нормального распределения</vt:lpstr>
      <vt:lpstr>Вероятностная модель для нормального распределения для нескольких классов</vt:lpstr>
      <vt:lpstr>Решение методом максимального правдоподобия</vt:lpstr>
      <vt:lpstr>Решение методом максимального правдоподобия</vt:lpstr>
      <vt:lpstr>Решение методом максимального правдоподобия</vt:lpstr>
      <vt:lpstr>Дискретные признаки</vt:lpstr>
      <vt:lpstr>Вероятностные дискриминантные модели</vt:lpstr>
      <vt:lpstr>Фиксированные базисные функции</vt:lpstr>
      <vt:lpstr>Логистическая регрессия</vt:lpstr>
      <vt:lpstr>Почему функция ошибок называется кросс-энтропией?</vt:lpstr>
      <vt:lpstr>Поиск весов в лог. регресии</vt:lpstr>
      <vt:lpstr>Итеративный метод наименьших квадратов с пересчетом весов</vt:lpstr>
      <vt:lpstr>Итеративный метод наименьших квадратов с пересчетом весов</vt:lpstr>
      <vt:lpstr>Итеративный метод наименьших квадратов с пересчетом весов</vt:lpstr>
      <vt:lpstr>Пробит-регрессия</vt:lpstr>
      <vt:lpstr>Учет ошибки измерений</vt:lpstr>
      <vt:lpstr>Байесовская логистическая регрессия</vt:lpstr>
      <vt:lpstr>Приближение Лапласа</vt:lpstr>
      <vt:lpstr>Приближение Лапласа</vt:lpstr>
      <vt:lpstr>Приближение Лапласа</vt:lpstr>
      <vt:lpstr>Оценка качества  классификации</vt:lpstr>
      <vt:lpstr>Вопрос для самоконтроля</vt:lpstr>
      <vt:lpstr>Метрики качества классификации</vt:lpstr>
      <vt:lpstr>Сравнение метрик</vt:lpstr>
    </vt:vector>
  </TitlesOfParts>
  <Company>university of toronto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 hinton</dc:creator>
  <cp:lastModifiedBy>Microsoft Office User</cp:lastModifiedBy>
  <cp:revision>154</cp:revision>
  <cp:lastPrinted>2026-05-10T18:29:35Z</cp:lastPrinted>
  <dcterms:created xsi:type="dcterms:W3CDTF">2002-09-28T03:36:33Z</dcterms:created>
  <dcterms:modified xsi:type="dcterms:W3CDTF">2026-05-10T18:29:41Z</dcterms:modified>
</cp:coreProperties>
</file>