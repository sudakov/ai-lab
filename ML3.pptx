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44"/>
  </p:handoutMasterIdLst>
  <p:sldIdLst>
    <p:sldId id="256" r:id="rId2"/>
    <p:sldId id="257" r:id="rId3"/>
    <p:sldId id="273" r:id="rId4"/>
    <p:sldId id="275" r:id="rId5"/>
    <p:sldId id="258" r:id="rId6"/>
    <p:sldId id="274" r:id="rId7"/>
    <p:sldId id="276" r:id="rId8"/>
    <p:sldId id="259" r:id="rId9"/>
    <p:sldId id="277" r:id="rId10"/>
    <p:sldId id="260" r:id="rId11"/>
    <p:sldId id="261" r:id="rId12"/>
    <p:sldId id="262" r:id="rId13"/>
    <p:sldId id="278" r:id="rId14"/>
    <p:sldId id="263" r:id="rId15"/>
    <p:sldId id="280" r:id="rId16"/>
    <p:sldId id="302" r:id="rId17"/>
    <p:sldId id="279" r:id="rId18"/>
    <p:sldId id="303" r:id="rId19"/>
    <p:sldId id="304" r:id="rId20"/>
    <p:sldId id="282" r:id="rId21"/>
    <p:sldId id="286" r:id="rId22"/>
    <p:sldId id="283" r:id="rId23"/>
    <p:sldId id="287" r:id="rId24"/>
    <p:sldId id="284" r:id="rId25"/>
    <p:sldId id="285" r:id="rId26"/>
    <p:sldId id="288" r:id="rId27"/>
    <p:sldId id="289" r:id="rId28"/>
    <p:sldId id="290" r:id="rId29"/>
    <p:sldId id="291" r:id="rId30"/>
    <p:sldId id="292" r:id="rId31"/>
    <p:sldId id="294" r:id="rId32"/>
    <p:sldId id="296" r:id="rId33"/>
    <p:sldId id="297" r:id="rId34"/>
    <p:sldId id="295" r:id="rId35"/>
    <p:sldId id="298" r:id="rId36"/>
    <p:sldId id="293" r:id="rId37"/>
    <p:sldId id="299" r:id="rId38"/>
    <p:sldId id="266" r:id="rId39"/>
    <p:sldId id="300" r:id="rId40"/>
    <p:sldId id="267" r:id="rId41"/>
    <p:sldId id="269" r:id="rId42"/>
    <p:sldId id="301" r:id="rId43"/>
  </p:sldIdLst>
  <p:sldSz cx="9144000" cy="6858000" type="screen4x3"/>
  <p:notesSz cx="9144000" cy="6858000"/>
  <p:defaultTextStyle>
    <a:defPPr>
      <a:defRPr lang="ru"/>
    </a:defPPr>
    <a:lvl1pPr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96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94573"/>
  </p:normalViewPr>
  <p:slideViewPr>
    <p:cSldViewPr>
      <p:cViewPr varScale="1">
        <p:scale>
          <a:sx n="113" d="100"/>
          <a:sy n="113" d="100"/>
        </p:scale>
        <p:origin x="1848" y="176"/>
      </p:cViewPr>
      <p:guideLst>
        <p:guide orient="horz" pos="229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image" Target="../media/image7.e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image" Target="../media/image16.emf"/><Relationship Id="rId4" Type="http://schemas.openxmlformats.org/officeDocument/2006/relationships/image" Target="../media/image19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7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8.emf"/></Relationships>
</file>

<file path=ppt/drawings/_rels/vmlDrawing9.v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image" Target="../media/image29.e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image" Target="../media/image3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4.emf"/></Relationships>
</file>

<file path=ppt/drawings/_rels/vmlDrawing12.v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image" Target="../media/image35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7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8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9.emf"/></Relationships>
</file>

<file path=ppt/drawings/_rels/vmlDrawing16.vml.rels><?xml version="1.0" encoding="UTF-8" standalone="yes"?>
<Relationships xmlns="http://schemas.openxmlformats.org/package/2006/relationships"><Relationship Id="rId2" Type="http://schemas.openxmlformats.org/officeDocument/2006/relationships/image" Target="../media/image41.emf"/><Relationship Id="rId1" Type="http://schemas.openxmlformats.org/officeDocument/2006/relationships/image" Target="../media/image40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44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034" name="Rectangle 2">
            <a:extLst>
              <a:ext uri="{FF2B5EF4-FFF2-40B4-BE49-F238E27FC236}">
                <a16:creationId xmlns:a16="http://schemas.microsoft.com/office/drawing/2014/main" id="{090874AC-0C2D-454A-9B6D-ADC8930B98D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ru-RU"/>
          </a:p>
        </p:txBody>
      </p:sp>
      <p:sp>
        <p:nvSpPr>
          <p:cNvPr id="300035" name="Rectangle 3">
            <a:extLst>
              <a:ext uri="{FF2B5EF4-FFF2-40B4-BE49-F238E27FC236}">
                <a16:creationId xmlns:a16="http://schemas.microsoft.com/office/drawing/2014/main" id="{C979A846-80EF-8D47-A334-1C57403C7DB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 altLang="ru-RU"/>
          </a:p>
        </p:txBody>
      </p:sp>
      <p:sp>
        <p:nvSpPr>
          <p:cNvPr id="300036" name="Rectangle 4">
            <a:extLst>
              <a:ext uri="{FF2B5EF4-FFF2-40B4-BE49-F238E27FC236}">
                <a16:creationId xmlns:a16="http://schemas.microsoft.com/office/drawing/2014/main" id="{1ADD524D-D62E-FE45-BEF7-5337C63F933F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513513"/>
            <a:ext cx="3962400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ru-RU"/>
          </a:p>
        </p:txBody>
      </p:sp>
      <p:sp>
        <p:nvSpPr>
          <p:cNvPr id="300037" name="Rectangle 5">
            <a:extLst>
              <a:ext uri="{FF2B5EF4-FFF2-40B4-BE49-F238E27FC236}">
                <a16:creationId xmlns:a16="http://schemas.microsoft.com/office/drawing/2014/main" id="{90583F57-8C4C-9744-B02D-95562628E222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180013" y="6513513"/>
            <a:ext cx="3962400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D3CEDD8-7BCE-B94A-8EA5-09D39BFEBE44}" type="slidenum">
              <a:rPr lang="en-US" altLang="ru-RU"/>
              <a:pPr/>
              <a:t>‹#›</a:t>
            </a:fld>
            <a:endParaRPr lang="en-US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AEB627-8EE7-7141-8D25-6D8140BD7D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B498B26-F8E7-BA46-944B-168B7FD6AC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46301F4-E0A4-F24C-A307-6FE7ED00C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318D94E-51ED-E04B-A580-AED95DDA7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D1A8EA-1412-5644-99FA-01D82AF14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EED0640-5F83-D947-B7A7-4E3F4839F5F1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419637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224613-3A49-8340-A599-1CFA15255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A217B31-1859-A846-B858-FA79F2E46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912F01-C7FA-9F4F-8518-03899713C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BDB4DC-BF61-D54A-AA9A-BEF9F3A25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E31E11-C4A2-AF43-8C6F-50C8ECB83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1FA3698-4919-664A-93A5-0DE99EC2A28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130331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A4FB2D-1B7A-AE44-8E16-CE1B6B650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FAD1C6-3DEE-2F4A-9435-3EB0FB6B7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07BC12-0B89-CC4F-91EC-952B2EB2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A62FE1-0DE3-7742-AA03-DED492D5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CED311-1A03-ED4C-A6B5-328C9FE92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B97F28A-CA12-C84D-A029-C30A4101CDC1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997157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DC514E-909B-2240-80BD-AF3C2D14D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000790-F961-604D-A354-60AEB00BAC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49A74B-58B3-B341-99E7-54C88B6EBC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9CE5905-403D-5644-901B-F17929C59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0CC12E3-F577-144E-AE19-E12E4ADB4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51E712A-DDC3-AC45-8A90-4A3393EB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91A7FB5-90C1-DE4B-8DE6-8E48EDE76C4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227042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44F68E-F465-5E4C-A879-C6F517FCA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434645-FAC3-2547-932F-E807D1727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63B04C-2432-E145-B71F-9A3E72274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5B85FD7-3357-2B4B-97BD-0BAA5AB18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5052C97-D1A2-0B47-B90A-52CB2EAF47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33B3C32-C260-4B41-8414-87B81BDA7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AD06AE3-D826-1B4B-BA50-628FCD4D3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7B99715-A1CA-1345-A38E-A8805BB3D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61EC32B-2C7A-4743-800E-33090954017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189738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09DD8C-E878-AE4D-A61F-A547DD66A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BCF5C66-5C1A-EA4C-A086-E228D8CA4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4BB668-2822-E145-A0FE-E0FF36C45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AEB221-08FA-E345-9B8F-AD8DD540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B18E073-50AF-2443-86A8-1082A989F6E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273744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28A3F97-28FB-B545-BECE-608251E9B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B063391-52D7-2E41-843F-BE762A71F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C5852A1-DF1E-494B-92DE-C61AC3F20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C90DEB-E444-D440-9B84-CBB04B18C5BE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994077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09E04-529C-F547-9777-EBA5BB75B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FC2F08-FF95-1940-AC23-129E70E5C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4DCC503-092B-E845-BBE6-CAFFBD885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738F06-1839-6142-8822-F8406E983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FCAA18E-2E18-0044-9117-3125412F9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2276DB-BA34-2946-95F8-A1B3F4189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EDD8727-AD04-454F-BB8C-FF23EE9B7F68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2702145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3F0AA1-8DF6-794A-A60D-A8088E79A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5E6D6D0-E8F8-154D-BCA0-B10B9A2ADD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BE77F19-9D1A-6D41-8C06-4D1BCC31A8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BB8C99C-3776-3346-BB74-4CD2B780A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71F9BC0-6AB0-0241-BB11-99F77DC5D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0A717C-DFE0-5643-9940-26173C304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AB98E4F-0CB6-934D-BC8F-59FDA28368E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501476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60797-6308-954D-AF32-A686D7916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3E41847-8302-3149-A09D-34C1F159F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6638CC-E244-FD41-847C-27611B034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D21A04-A2B4-9841-913D-FC0B6F2B6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AF48C3-0C9F-1346-AAEE-7542497F7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5392662-0720-0B43-B9C3-5D12020DE54E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872054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DE78CAE-C225-614B-A6B6-C6923397E6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49E06C7-A340-254C-BA2A-9A30DA3DE5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A9FA20-C689-2E4D-AC72-AEC42D8B6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E987AA0-1626-8741-B941-745B83866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33B40F-5F9D-6E46-93A4-45EE7A5FD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37C6D27-8EC9-DA48-B4C5-20A26ACC60DF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2984510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Заголовок, текст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500205-03E3-F74D-8EA4-F8C113D09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92FBC40-DD04-3B4B-9BA7-76B59352433D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6E44A21-0113-C24F-B4FE-14ACAE40BD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78D8F4B-98C6-0D43-AAFA-0F187FDD2B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0C48125-3AF2-9C4C-9CDD-C5B416E24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92369C6-5076-2C49-A59F-3E564F6BD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825A5B03-8DDD-284A-932E-9ADD8C1B5C20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9761204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Заголовок, текст и 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7DC94D-B8C6-4744-84EE-E695BAA2E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D121D7B-C2DC-B941-96D3-2ECFBB90031B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396355D-C8AF-AC4D-A38A-FDCCCCD484D9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75B1BC82-B526-7B4C-A039-F76A7B84F24E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Дата 5">
            <a:extLst>
              <a:ext uri="{FF2B5EF4-FFF2-40B4-BE49-F238E27FC236}">
                <a16:creationId xmlns:a16="http://schemas.microsoft.com/office/drawing/2014/main" id="{9A50FC81-2AD8-5A40-A31C-B9E86EB8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A141A395-D8D5-5048-AEFA-AFFD5EE6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6A6260C9-7BCF-8548-BBF3-D3EC4793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8F6A3153-B239-ED42-8F9C-E1CB767C3D56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807262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329DF7B9-5237-C44E-AD16-9F47D11676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ru-RU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B133BCB4-8B87-424C-B1B2-2682C6A70F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ru-RU"/>
              <a:t>Click to edit Master text styles</a:t>
            </a:r>
          </a:p>
          <a:p>
            <a:pPr lvl="1"/>
            <a:r>
              <a:rPr lang="en-US" altLang="ru-RU"/>
              <a:t>Second level</a:t>
            </a:r>
          </a:p>
          <a:p>
            <a:pPr lvl="2"/>
            <a:r>
              <a:rPr lang="en-US" altLang="ru-RU"/>
              <a:t>Third level</a:t>
            </a:r>
          </a:p>
          <a:p>
            <a:pPr lvl="3"/>
            <a:r>
              <a:rPr lang="en-US" altLang="ru-RU"/>
              <a:t>Fourth level</a:t>
            </a:r>
          </a:p>
          <a:p>
            <a:pPr lvl="4"/>
            <a:r>
              <a:rPr lang="en-US" altLang="ru-RU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E6C38A97-B15B-7A43-A187-6E80F70700F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 altLang="ru-RU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EA95604-02EC-3642-82F2-2E7C35662FE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 altLang="ru-RU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F47237B5-53CD-9D4A-8940-EDF9C0212A6F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3879313B-FC9E-594D-B34B-30671CF3664B}" type="slidenum">
              <a:rPr lang="en-US" altLang="ru-RU"/>
              <a:pPr/>
              <a:t>‹#›</a:t>
            </a:fld>
            <a:endParaRPr lang="en-US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rtl="0" fontAlgn="base">
        <a:spcBef>
          <a:spcPct val="0"/>
        </a:spcBef>
        <a:spcAft>
          <a:spcPct val="0"/>
        </a:spcAft>
        <a:defRPr sz="3600" kern="1200">
          <a:solidFill>
            <a:srgbClr val="000099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rgbClr val="009900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rgbClr val="FF0000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2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8.emf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7.emf"/><Relationship Id="rId4" Type="http://schemas.openxmlformats.org/officeDocument/2006/relationships/oleObject" Target="../embeddings/oleObject4.bin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e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8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17.emf"/><Relationship Id="rId11" Type="http://schemas.openxmlformats.org/officeDocument/2006/relationships/image" Target="../media/image20.png"/><Relationship Id="rId5" Type="http://schemas.openxmlformats.org/officeDocument/2006/relationships/oleObject" Target="../embeddings/oleObject7.bin"/><Relationship Id="rId10" Type="http://schemas.openxmlformats.org/officeDocument/2006/relationships/image" Target="../media/image19.emf"/><Relationship Id="rId4" Type="http://schemas.openxmlformats.org/officeDocument/2006/relationships/image" Target="../media/image16.emf"/><Relationship Id="rId9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6.xml"/><Relationship Id="rId1" Type="http://schemas.openxmlformats.org/officeDocument/2006/relationships/vmlDrawing" Target="../drawings/vmlDrawing6.vml"/><Relationship Id="rId4" Type="http://schemas.openxmlformats.org/officeDocument/2006/relationships/image" Target="../media/image2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emf"/><Relationship Id="rId4" Type="http://schemas.openxmlformats.org/officeDocument/2006/relationships/image" Target="../media/image25.e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1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27.em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8.vml"/><Relationship Id="rId4" Type="http://schemas.openxmlformats.org/officeDocument/2006/relationships/image" Target="../media/image28.emf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30.emf"/><Relationship Id="rId5" Type="http://schemas.openxmlformats.org/officeDocument/2006/relationships/oleObject" Target="../embeddings/oleObject14.bin"/><Relationship Id="rId4" Type="http://schemas.openxmlformats.org/officeDocument/2006/relationships/image" Target="../media/image29.emf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.bin"/><Relationship Id="rId3" Type="http://schemas.openxmlformats.org/officeDocument/2006/relationships/oleObject" Target="../embeddings/oleObject15.bin"/><Relationship Id="rId7" Type="http://schemas.openxmlformats.org/officeDocument/2006/relationships/image" Target="../media/image32.emf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10.vml"/><Relationship Id="rId6" Type="http://schemas.openxmlformats.org/officeDocument/2006/relationships/oleObject" Target="../embeddings/oleObject17.bin"/><Relationship Id="rId5" Type="http://schemas.openxmlformats.org/officeDocument/2006/relationships/image" Target="../media/image31.emf"/><Relationship Id="rId4" Type="http://schemas.openxmlformats.org/officeDocument/2006/relationships/oleObject" Target="../embeddings/oleObject16.bin"/><Relationship Id="rId9" Type="http://schemas.openxmlformats.org/officeDocument/2006/relationships/image" Target="../media/image33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34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Layout" Target="../slideLayouts/slideLayout6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36.emf"/><Relationship Id="rId5" Type="http://schemas.openxmlformats.org/officeDocument/2006/relationships/oleObject" Target="../embeddings/oleObject21.bin"/><Relationship Id="rId4" Type="http://schemas.openxmlformats.org/officeDocument/2006/relationships/image" Target="../media/image35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37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4.vml"/><Relationship Id="rId4" Type="http://schemas.openxmlformats.org/officeDocument/2006/relationships/image" Target="../media/image38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5.vml"/><Relationship Id="rId4" Type="http://schemas.openxmlformats.org/officeDocument/2006/relationships/image" Target="../media/image39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41.emf"/><Relationship Id="rId5" Type="http://schemas.openxmlformats.org/officeDocument/2006/relationships/oleObject" Target="../embeddings/oleObject26.bin"/><Relationship Id="rId4" Type="http://schemas.openxmlformats.org/officeDocument/2006/relationships/image" Target="../media/image40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17.vml"/><Relationship Id="rId4" Type="http://schemas.openxmlformats.org/officeDocument/2006/relationships/image" Target="../media/image44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37D89EFE-8745-804D-820B-4EFA18136641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1052513"/>
            <a:ext cx="7772400" cy="1470025"/>
          </a:xfrm>
        </p:spPr>
        <p:txBody>
          <a:bodyPr anchor="ctr"/>
          <a:lstStyle/>
          <a:p>
            <a:br>
              <a:rPr lang="en-US" altLang="ru-RU" sz="3200" dirty="0"/>
            </a:br>
            <a:br>
              <a:rPr lang="en-US" altLang="ru-RU" sz="3200" dirty="0"/>
            </a:br>
            <a:r>
              <a:rPr lang="ru-RU" altLang="ru-RU" sz="3200" dirty="0"/>
              <a:t>Линейные модели </a:t>
            </a:r>
            <a:r>
              <a:rPr lang="ru" altLang="ru-RU" sz="3200" dirty="0"/>
              <a:t>классификации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B9C68B7C-55A5-BD47-9B84-FEA3A204C2B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-73025" y="3357563"/>
            <a:ext cx="9324975" cy="2281237"/>
          </a:xfrm>
        </p:spPr>
        <p:txBody>
          <a:bodyPr/>
          <a:lstStyle/>
          <a:p>
            <a:pPr>
              <a:lnSpc>
                <a:spcPct val="80000"/>
              </a:lnSpc>
            </a:pPr>
            <a:endParaRPr lang="en-US" altLang="ru-RU" sz="2000" dirty="0"/>
          </a:p>
          <a:p>
            <a:pPr>
              <a:lnSpc>
                <a:spcPct val="80000"/>
              </a:lnSpc>
            </a:pPr>
            <a:r>
              <a:rPr lang="ru-RU" altLang="ru-RU" sz="2000" dirty="0"/>
              <a:t>на основе </a:t>
            </a:r>
            <a:r>
              <a:rPr lang="en-US" altLang="ru-RU" sz="2000" dirty="0"/>
              <a:t>CSC2515 </a:t>
            </a:r>
            <a:r>
              <a:rPr lang="en" altLang="ru-RU" sz="2000" dirty="0"/>
              <a:t>University of Toronto</a:t>
            </a:r>
            <a:endParaRPr lang="ru-RU" altLang="ru-RU" sz="2000" dirty="0"/>
          </a:p>
          <a:p>
            <a:pPr>
              <a:lnSpc>
                <a:spcPct val="80000"/>
              </a:lnSpc>
            </a:pPr>
            <a:endParaRPr lang="en-US" altLang="ru-RU" sz="2000" dirty="0"/>
          </a:p>
          <a:p>
            <a:r>
              <a:rPr lang="ru" sz="2800" dirty="0"/>
              <a:t>Владимир Анатольевич Судаков</a:t>
            </a:r>
          </a:p>
          <a:p>
            <a:r>
              <a:rPr lang="ru" sz="2800" dirty="0"/>
              <a:t>2025</a:t>
            </a:r>
            <a:endParaRPr lang="en-US" altLang="ru-RU" sz="2000" dirty="0"/>
          </a:p>
          <a:p>
            <a:pPr>
              <a:lnSpc>
                <a:spcPct val="80000"/>
              </a:lnSpc>
            </a:pPr>
            <a:endParaRPr lang="en-US" altLang="ru-RU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Rectangle 2">
            <a:extLst>
              <a:ext uri="{FF2B5EF4-FFF2-40B4-BE49-F238E27FC236}">
                <a16:creationId xmlns:a16="http://schemas.microsoft.com/office/drawing/2014/main" id="{308F20F5-A329-2E4A-B9E0-82DF79D647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15888"/>
            <a:ext cx="8229600" cy="1143000"/>
          </a:xfrm>
        </p:spPr>
        <p:txBody>
          <a:bodyPr/>
          <a:lstStyle/>
          <a:p>
            <a:r>
              <a:rPr lang="ru" altLang="ru-RU" sz="3200"/>
              <a:t>Что такое «линейная» классификация?</a:t>
            </a:r>
          </a:p>
        </p:txBody>
      </p:sp>
      <p:sp>
        <p:nvSpPr>
          <p:cNvPr id="225283" name="Rectangle 3">
            <a:extLst>
              <a:ext uri="{FF2B5EF4-FFF2-40B4-BE49-F238E27FC236}">
                <a16:creationId xmlns:a16="http://schemas.microsoft.com/office/drawing/2014/main" id="{18BAF1D4-45B6-9E4F-BBE9-BB84AE2D8C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268413"/>
            <a:ext cx="8229600" cy="4060825"/>
          </a:xfrm>
        </p:spPr>
        <p:txBody>
          <a:bodyPr/>
          <a:lstStyle/>
          <a:p>
            <a:r>
              <a:rPr lang="ru" altLang="ru-RU" sz="2000" dirty="0"/>
              <a:t>Классификация по своей сути нелинейна</a:t>
            </a:r>
          </a:p>
          <a:p>
            <a:pPr lvl="1"/>
            <a:r>
              <a:rPr lang="ru" altLang="ru-RU" sz="2000" dirty="0"/>
              <a:t>Он помещает неидентичные вещи в один и тот же класс, разница во входном векторе иногда приводит к нулевому изменению ответа </a:t>
            </a:r>
            <a:r>
              <a:rPr lang="ru" altLang="ru-RU" sz="2000" dirty="0">
                <a:solidFill>
                  <a:srgbClr val="0066FF"/>
                </a:solidFill>
              </a:rPr>
              <a:t>(к чему это приводит?)</a:t>
            </a:r>
          </a:p>
          <a:p>
            <a:r>
              <a:rPr lang="ru" altLang="ru-RU" sz="2000" dirty="0"/>
              <a:t>«Линейная классификация» означает, что часть, которая адаптируется, является линейной.</a:t>
            </a:r>
          </a:p>
          <a:p>
            <a:pPr lvl="1"/>
            <a:r>
              <a:rPr lang="ru" altLang="ru-RU" sz="2000" dirty="0"/>
              <a:t>За адаптивной частью следует фиксированная нелинейность.</a:t>
            </a:r>
          </a:p>
          <a:p>
            <a:pPr lvl="1"/>
            <a:r>
              <a:rPr lang="ru" altLang="ru-RU" sz="2000" dirty="0"/>
              <a:t>Ему также может предшествовать фиксированная нелинейность (например, нелинейные базисные функции).</a:t>
            </a:r>
          </a:p>
        </p:txBody>
      </p:sp>
      <p:graphicFrame>
        <p:nvGraphicFramePr>
          <p:cNvPr id="225284" name="Object 4">
            <a:extLst>
              <a:ext uri="{FF2B5EF4-FFF2-40B4-BE49-F238E27FC236}">
                <a16:creationId xmlns:a16="http://schemas.microsoft.com/office/drawing/2014/main" id="{AEC0AAFC-3EF0-304F-9AC8-4CCB27ADEF1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04925" y="4941888"/>
          <a:ext cx="6723063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00" name="Equation" r:id="rId3" imgW="59397900" imgH="6146800" progId="Equation.3">
                  <p:embed/>
                </p:oleObj>
              </mc:Choice>
              <mc:Fallback>
                <p:oleObj name="Equation" r:id="rId3" imgW="59397900" imgH="61468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4925" y="4941888"/>
                        <a:ext cx="6723063" cy="693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285" name="Text Box 5">
            <a:extLst>
              <a:ext uri="{FF2B5EF4-FFF2-40B4-BE49-F238E27FC236}">
                <a16:creationId xmlns:a16="http://schemas.microsoft.com/office/drawing/2014/main" id="{E2E07B73-28A1-6C4B-9CF5-C817B7A96D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29350" y="6021388"/>
            <a:ext cx="1871663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000099"/>
                </a:solidFill>
              </a:rPr>
              <a:t>фиксированная нелинейная функция</a:t>
            </a:r>
          </a:p>
        </p:txBody>
      </p:sp>
      <p:sp>
        <p:nvSpPr>
          <p:cNvPr id="225286" name="Text Box 6">
            <a:extLst>
              <a:ext uri="{FF2B5EF4-FFF2-40B4-BE49-F238E27FC236}">
                <a16:creationId xmlns:a16="http://schemas.microsoft.com/office/drawing/2014/main" id="{4524B68A-A5E0-6047-99BB-EA9C954E1D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7313" y="6040438"/>
            <a:ext cx="187166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000099"/>
                </a:solidFill>
              </a:rPr>
              <a:t>адаптивная линейная функция</a:t>
            </a:r>
          </a:p>
        </p:txBody>
      </p:sp>
      <p:sp>
        <p:nvSpPr>
          <p:cNvPr id="225287" name="Line 7">
            <a:extLst>
              <a:ext uri="{FF2B5EF4-FFF2-40B4-BE49-F238E27FC236}">
                <a16:creationId xmlns:a16="http://schemas.microsoft.com/office/drawing/2014/main" id="{3AD271A0-73AE-054B-9BE3-051B7B522C3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04025" y="5732463"/>
            <a:ext cx="0" cy="288925"/>
          </a:xfrm>
          <a:prstGeom prst="line">
            <a:avLst/>
          </a:prstGeom>
          <a:noFill/>
          <a:ln w="38100">
            <a:solidFill>
              <a:srgbClr val="00009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288" name="Line 8">
            <a:extLst>
              <a:ext uri="{FF2B5EF4-FFF2-40B4-BE49-F238E27FC236}">
                <a16:creationId xmlns:a16="http://schemas.microsoft.com/office/drawing/2014/main" id="{058E6422-341A-2C47-9CB0-A19D8F5E62A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700338" y="5661025"/>
            <a:ext cx="71437" cy="287338"/>
          </a:xfrm>
          <a:prstGeom prst="line">
            <a:avLst/>
          </a:prstGeom>
          <a:noFill/>
          <a:ln w="38100">
            <a:solidFill>
              <a:srgbClr val="00009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289" name="Line 9">
            <a:extLst>
              <a:ext uri="{FF2B5EF4-FFF2-40B4-BE49-F238E27FC236}">
                <a16:creationId xmlns:a16="http://schemas.microsoft.com/office/drawing/2014/main" id="{3A6D47A1-439D-8B4F-AB36-6B016F98DA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08400" y="5662613"/>
            <a:ext cx="0" cy="287337"/>
          </a:xfrm>
          <a:prstGeom prst="line">
            <a:avLst/>
          </a:prstGeom>
          <a:noFill/>
          <a:ln w="38100">
            <a:solidFill>
              <a:srgbClr val="00009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2">
            <a:extLst>
              <a:ext uri="{FF2B5EF4-FFF2-40B4-BE49-F238E27FC236}">
                <a16:creationId xmlns:a16="http://schemas.microsoft.com/office/drawing/2014/main" id="{3DF0440E-25F4-9F47-B449-6872D78C75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Представление целевых значений для классификации</a:t>
            </a:r>
          </a:p>
        </p:txBody>
      </p:sp>
      <p:sp>
        <p:nvSpPr>
          <p:cNvPr id="253955" name="Rectangle 3">
            <a:extLst>
              <a:ext uri="{FF2B5EF4-FFF2-40B4-BE49-F238E27FC236}">
                <a16:creationId xmlns:a16="http://schemas.microsoft.com/office/drawing/2014/main" id="{7C9D4A60-AE98-E84C-B249-4B4F2B0FEB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1600200"/>
            <a:ext cx="8507412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000" dirty="0"/>
              <a:t>Если есть только два класса, мы обычно используем один действительный выходной сигнал, который имеет целевые значения 1 для «положительного» класса и 0 (или иногда -1) для другого класса.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Для вероятностных меток классов целевым значением может быть вероятность положительного класса, а выходные данные модели также могут представлять собой вероятность, которую модель присваивает положительному классу.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Если имеется N классов, мы часто используем вектор из N целевых значений, содержащий одну 1 для правильного класса и нули в остальных местах.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Для вероятностных меток мы можем затем использовать вектор вероятностей классов в качестве целевого вектора.</a:t>
            </a:r>
          </a:p>
          <a:p>
            <a:pPr>
              <a:lnSpc>
                <a:spcPct val="90000"/>
              </a:lnSpc>
            </a:pPr>
            <a:endParaRPr lang="en-US" altLang="ru-RU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>
            <a:extLst>
              <a:ext uri="{FF2B5EF4-FFF2-40B4-BE49-F238E27FC236}">
                <a16:creationId xmlns:a16="http://schemas.microsoft.com/office/drawing/2014/main" id="{2BB99C92-B3A8-6B4F-A7BA-EC53FB31C1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dirty="0"/>
              <a:t>Три подхода к классификации</a:t>
            </a:r>
          </a:p>
        </p:txBody>
      </p:sp>
      <p:sp>
        <p:nvSpPr>
          <p:cNvPr id="257027" name="Rectangle 3">
            <a:extLst>
              <a:ext uri="{FF2B5EF4-FFF2-40B4-BE49-F238E27FC236}">
                <a16:creationId xmlns:a16="http://schemas.microsoft.com/office/drawing/2014/main" id="{D2F082B5-46D0-DE49-9271-6F2C6132CC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412875"/>
            <a:ext cx="8507288" cy="506888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1800" dirty="0"/>
              <a:t>Используйте дискриминантные функции напрямую, без вероятностей:</a:t>
            </a:r>
          </a:p>
          <a:p>
            <a:pPr lvl="1">
              <a:lnSpc>
                <a:spcPct val="90000"/>
              </a:lnSpc>
            </a:pPr>
            <a:r>
              <a:rPr lang="ru" altLang="ru-RU" sz="1800" dirty="0"/>
              <a:t>Преобразовать входной вектор в одно или несколько действительных значений, чтобы можно было применить простую операцию (например, определение порога) для получения класса.</a:t>
            </a:r>
          </a:p>
          <a:p>
            <a:pPr lvl="2">
              <a:lnSpc>
                <a:spcPct val="90000"/>
              </a:lnSpc>
            </a:pPr>
            <a:r>
              <a:rPr lang="ru" altLang="ru-RU" sz="1600" dirty="0"/>
              <a:t>Действительные значения следует выбирать так, чтобы максимально использовать полезную информацию о метке класса, содержащуюся в действительном значении.</a:t>
            </a:r>
          </a:p>
          <a:p>
            <a:pPr>
              <a:lnSpc>
                <a:spcPct val="90000"/>
              </a:lnSpc>
            </a:pPr>
            <a:r>
              <a:rPr lang="ru" altLang="ru-RU" sz="1800" dirty="0"/>
              <a:t>Вывести условные вероятности классов:</a:t>
            </a:r>
          </a:p>
          <a:p>
            <a:pPr lvl="1">
              <a:lnSpc>
                <a:spcPct val="90000"/>
              </a:lnSpc>
            </a:pPr>
            <a:r>
              <a:rPr lang="ru" altLang="ru-RU" sz="1800" dirty="0"/>
              <a:t>Вычислите условную вероятность каждого класса.</a:t>
            </a:r>
          </a:p>
          <a:p>
            <a:pPr lvl="2">
              <a:lnSpc>
                <a:spcPct val="90000"/>
              </a:lnSpc>
            </a:pPr>
            <a:r>
              <a:rPr lang="ru" altLang="ru-RU" sz="1600" dirty="0"/>
              <a:t>Затем примите решение, которое минимизирует некоторую функцию потерь.</a:t>
            </a:r>
          </a:p>
          <a:p>
            <a:pPr>
              <a:lnSpc>
                <a:spcPct val="90000"/>
              </a:lnSpc>
            </a:pPr>
            <a:r>
              <a:rPr lang="ru" altLang="ru-RU" sz="1800" dirty="0"/>
              <a:t>Сравните вероятность ввода в отдельных, специфичных для класса, генеративных моделях.</a:t>
            </a:r>
          </a:p>
          <a:p>
            <a:pPr lvl="1">
              <a:lnSpc>
                <a:spcPct val="90000"/>
              </a:lnSpc>
            </a:pPr>
            <a:r>
              <a:rPr lang="ru" altLang="ru-RU" sz="1800" dirty="0"/>
              <a:t>Например, подгоните многомерную гауссову функцию к входным векторам каждого класса и посмотрите, какая гауссова функция сделает вектор тестовых данных наиболее вероятным. </a:t>
            </a:r>
            <a:r>
              <a:rPr lang="ru" altLang="ru-RU" sz="1800" dirty="0">
                <a:solidFill>
                  <a:srgbClr val="0000CC"/>
                </a:solidFill>
              </a:rPr>
              <a:t>(Это лучший вариант?)</a:t>
            </a:r>
          </a:p>
          <a:p>
            <a:pPr>
              <a:lnSpc>
                <a:spcPct val="90000"/>
              </a:lnSpc>
            </a:pPr>
            <a:endParaRPr lang="en-US" altLang="ru-RU" sz="1800" dirty="0"/>
          </a:p>
        </p:txBody>
      </p:sp>
      <p:graphicFrame>
        <p:nvGraphicFramePr>
          <p:cNvPr id="257028" name="Object 4">
            <a:extLst>
              <a:ext uri="{FF2B5EF4-FFF2-40B4-BE49-F238E27FC236}">
                <a16:creationId xmlns:a16="http://schemas.microsoft.com/office/drawing/2014/main" id="{84D4E57D-9411-194A-B1BD-91EFD440D48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62934994"/>
              </p:ext>
            </p:extLst>
          </p:nvPr>
        </p:nvGraphicFramePr>
        <p:xfrm>
          <a:off x="5364088" y="3059113"/>
          <a:ext cx="2736850" cy="593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039" name="Equation" r:id="rId3" imgW="24282400" imgH="5270500" progId="Equation.3">
                  <p:embed/>
                </p:oleObj>
              </mc:Choice>
              <mc:Fallback>
                <p:oleObj name="Equation" r:id="rId3" imgW="24282400" imgH="52705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64088" y="3059113"/>
                        <a:ext cx="2736850" cy="593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308" name="Picture 4">
            <a:extLst>
              <a:ext uri="{FF2B5EF4-FFF2-40B4-BE49-F238E27FC236}">
                <a16:creationId xmlns:a16="http://schemas.microsoft.com/office/drawing/2014/main" id="{E8859AD7-5EF7-A64C-AEA9-A96684C33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403225"/>
            <a:ext cx="8207375" cy="645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6310" name="Text Box 6">
            <a:extLst>
              <a:ext uri="{FF2B5EF4-FFF2-40B4-BE49-F238E27FC236}">
                <a16:creationId xmlns:a16="http://schemas.microsoft.com/office/drawing/2014/main" id="{86EF3638-67D2-1D41-8D2E-F7F957A087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4663" y="476250"/>
            <a:ext cx="3959225" cy="8925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600" dirty="0"/>
              <a:t>Плоская поверхность решений в пространстве данных для простой линейной дискриминантной функции:</a:t>
            </a:r>
            <a:r>
              <a:rPr lang="ru" altLang="ru-RU" sz="1800" dirty="0"/>
              <a:t> </a:t>
            </a:r>
          </a:p>
        </p:txBody>
      </p:sp>
      <p:graphicFrame>
        <p:nvGraphicFramePr>
          <p:cNvPr id="226311" name="Object 7">
            <a:extLst>
              <a:ext uri="{FF2B5EF4-FFF2-40B4-BE49-F238E27FC236}">
                <a16:creationId xmlns:a16="http://schemas.microsoft.com/office/drawing/2014/main" id="{F9126770-E4E2-184C-BAB4-25A3A3FF74C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56100" y="1608138"/>
          <a:ext cx="2362200" cy="741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22" name="Equation" r:id="rId4" imgW="19596100" imgH="6146800" progId="Equation.3">
                  <p:embed/>
                </p:oleObj>
              </mc:Choice>
              <mc:Fallback>
                <p:oleObj name="Equation" r:id="rId4" imgW="19596100" imgH="61468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56100" y="1608138"/>
                        <a:ext cx="2362200" cy="741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CDB06024-8112-514D-B26A-E2738D377B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 dirty="0"/>
              <a:t>Напоминание: три разных пространства, которые легко спутать</a:t>
            </a:r>
          </a:p>
        </p:txBody>
      </p:sp>
      <p:sp>
        <p:nvSpPr>
          <p:cNvPr id="256003" name="Rectangle 3">
            <a:extLst>
              <a:ext uri="{FF2B5EF4-FFF2-40B4-BE49-F238E27FC236}">
                <a16:creationId xmlns:a16="http://schemas.microsoft.com/office/drawing/2014/main" id="{899E37BF-5EDD-9945-9F86-69879ACCA8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" altLang="ru-RU" sz="2000" dirty="0"/>
              <a:t>Пространство весов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Каждая ось соответствует весу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Точка — это вектор весов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Размерность = #веса </a:t>
            </a:r>
            <a:r>
              <a:rPr lang="ru" altLang="ru-RU" sz="1800" dirty="0">
                <a:solidFill>
                  <a:srgbClr val="0000CC"/>
                </a:solidFill>
              </a:rPr>
              <a:t>+1</a:t>
            </a:r>
            <a:r>
              <a:rPr lang="ru" altLang="ru-RU" sz="2000" dirty="0"/>
              <a:t> </a:t>
            </a:r>
            <a:r>
              <a:rPr lang="ru" altLang="ru-RU" sz="1800" dirty="0">
                <a:solidFill>
                  <a:srgbClr val="0066FF"/>
                </a:solidFill>
              </a:rPr>
              <a:t>дополнительное измерение для потери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Пространство данных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Каждая ось соответствует входному значению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Точка — это вектор данных. Поверхность решения — это плоскость.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Размерность = размерность вектора данных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«Пространство случая»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Каждая ось соответствует учебному случаю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Точка присваивает скалярное значение каждому обучающему случаю.</a:t>
            </a:r>
          </a:p>
          <a:p>
            <a:pPr lvl="2">
              <a:lnSpc>
                <a:spcPct val="80000"/>
              </a:lnSpc>
            </a:pPr>
            <a:r>
              <a:rPr lang="ru" altLang="ru-RU" sz="1800" dirty="0"/>
              <a:t>Таким образом, он может представлять одномерные цели или может представлять значение одного входного компонента по всем обучающим данным.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Размерность = #кейсы обучения</a:t>
            </a:r>
          </a:p>
          <a:p>
            <a:pPr>
              <a:lnSpc>
                <a:spcPct val="80000"/>
              </a:lnSpc>
            </a:pPr>
            <a:endParaRPr lang="en-US" altLang="ru-RU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50" name="Rectangle 2">
            <a:extLst>
              <a:ext uri="{FF2B5EF4-FFF2-40B4-BE49-F238E27FC236}">
                <a16:creationId xmlns:a16="http://schemas.microsoft.com/office/drawing/2014/main" id="{C42D2B28-BAAA-BD4F-97BF-51D47D53B5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Дискриминантные функции для N&gt;2 классов</a:t>
            </a:r>
          </a:p>
        </p:txBody>
      </p:sp>
      <p:sp>
        <p:nvSpPr>
          <p:cNvPr id="258051" name="Rectangle 3">
            <a:extLst>
              <a:ext uri="{FF2B5EF4-FFF2-40B4-BE49-F238E27FC236}">
                <a16:creationId xmlns:a16="http://schemas.microsoft.com/office/drawing/2014/main" id="{36A912C4-5AA6-0241-9790-C15C5AC585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" altLang="ru-RU"/>
              <a:t>Одной из возможностей является использование N двусторонних дискриминантных функций.</a:t>
            </a:r>
          </a:p>
          <a:p>
            <a:pPr lvl="1"/>
            <a:r>
              <a:rPr lang="ru" altLang="ru-RU"/>
              <a:t>Каждая функция отличает один класс от остальных.</a:t>
            </a:r>
          </a:p>
          <a:p>
            <a:r>
              <a:rPr lang="ru" altLang="ru-RU"/>
              <a:t>Другая возможность — использовать N(N-1)/2 двусторонних дискриминантных функций.</a:t>
            </a:r>
          </a:p>
          <a:p>
            <a:pPr lvl="1"/>
            <a:r>
              <a:rPr lang="ru" altLang="ru-RU"/>
              <a:t>Каждая функция различает два конкретных класса.</a:t>
            </a:r>
          </a:p>
          <a:p>
            <a:r>
              <a:rPr lang="ru" altLang="ru-RU"/>
              <a:t>Оба эти метода имеют проблемы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34" name="Rectangle 6">
            <a:extLst>
              <a:ext uri="{FF2B5EF4-FFF2-40B4-BE49-F238E27FC236}">
                <a16:creationId xmlns:a16="http://schemas.microsoft.com/office/drawing/2014/main" id="{1961B1F4-A92C-C34B-886F-12BE18C681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2800"/>
              <a:t>Проблемы с многоклассовыми дискриминантными функциями</a:t>
            </a:r>
          </a:p>
        </p:txBody>
      </p:sp>
      <p:pic>
        <p:nvPicPr>
          <p:cNvPr id="227332" name="Picture 4">
            <a:extLst>
              <a:ext uri="{FF2B5EF4-FFF2-40B4-BE49-F238E27FC236}">
                <a16:creationId xmlns:a16="http://schemas.microsoft.com/office/drawing/2014/main" id="{EAE4B446-258B-5A43-9D82-B979ED5FA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363" y="1362075"/>
            <a:ext cx="4103687" cy="408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7333" name="Picture 5">
            <a:extLst>
              <a:ext uri="{FF2B5EF4-FFF2-40B4-BE49-F238E27FC236}">
                <a16:creationId xmlns:a16="http://schemas.microsoft.com/office/drawing/2014/main" id="{2F859095-1B2B-904A-AB51-E21FA20B4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13" y="1400175"/>
            <a:ext cx="3951287" cy="382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7335" name="Text Box 7">
            <a:extLst>
              <a:ext uri="{FF2B5EF4-FFF2-40B4-BE49-F238E27FC236}">
                <a16:creationId xmlns:a16="http://schemas.microsoft.com/office/drawing/2014/main" id="{069DB96F-4DD3-2442-B288-B251B4D841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5805488"/>
            <a:ext cx="25209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 dirty="0">
                <a:solidFill>
                  <a:srgbClr val="000099"/>
                </a:solidFill>
              </a:rPr>
              <a:t>Более одного хорошего ответа</a:t>
            </a:r>
          </a:p>
        </p:txBody>
      </p:sp>
      <p:sp>
        <p:nvSpPr>
          <p:cNvPr id="227337" name="Text Box 9">
            <a:extLst>
              <a:ext uri="{FF2B5EF4-FFF2-40B4-BE49-F238E27FC236}">
                <a16:creationId xmlns:a16="http://schemas.microsoft.com/office/drawing/2014/main" id="{3EE0159B-7E6A-F64F-A317-7C6F6423F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8262" y="5567699"/>
            <a:ext cx="3671887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 dirty="0">
                <a:solidFill>
                  <a:srgbClr val="000099"/>
                </a:solidFill>
              </a:rPr>
              <a:t>Двусторонние предпочтения не обязательно должны быть транзитивными!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74" name="Rectangle 2">
            <a:extLst>
              <a:ext uri="{FF2B5EF4-FFF2-40B4-BE49-F238E27FC236}">
                <a16:creationId xmlns:a16="http://schemas.microsoft.com/office/drawing/2014/main" id="{7D0D3451-6CD0-534D-9B0D-FF57551544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Простое решение</a:t>
            </a:r>
          </a:p>
        </p:txBody>
      </p:sp>
      <p:sp>
        <p:nvSpPr>
          <p:cNvPr id="259075" name="Rectangle 3">
            <a:extLst>
              <a:ext uri="{FF2B5EF4-FFF2-40B4-BE49-F238E27FC236}">
                <a16:creationId xmlns:a16="http://schemas.microsoft.com/office/drawing/2014/main" id="{3B707C22-30A4-0846-915D-36EF343D69D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ru" altLang="ru-RU" sz="2000" dirty="0"/>
              <a:t>Используйте N дискриминантных функций и выберите максимальную.</a:t>
            </a:r>
          </a:p>
          <a:p>
            <a:pPr lvl="1"/>
            <a:r>
              <a:rPr lang="ru" altLang="ru-RU" sz="2000" dirty="0"/>
              <a:t>Это гарантированно даст последовательные и выпуклые области решений, если </a:t>
            </a:r>
            <a:r>
              <a:rPr lang="ru" altLang="ru-RU" sz="2000" i="1" dirty="0"/>
              <a:t>y</a:t>
            </a:r>
            <a:r>
              <a:rPr lang="ru" altLang="ru-RU" sz="2000" dirty="0"/>
              <a:t> линейна.</a:t>
            </a:r>
          </a:p>
        </p:txBody>
      </p:sp>
      <p:pic>
        <p:nvPicPr>
          <p:cNvPr id="259076" name="Picture 4">
            <a:extLst>
              <a:ext uri="{FF2B5EF4-FFF2-40B4-BE49-F238E27FC236}">
                <a16:creationId xmlns:a16="http://schemas.microsoft.com/office/drawing/2014/main" id="{252E7706-278B-BC4E-AF62-D83FD8E7A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925" y="1400175"/>
            <a:ext cx="3887788" cy="267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59077" name="Object 5">
            <a:extLst>
              <a:ext uri="{FF2B5EF4-FFF2-40B4-BE49-F238E27FC236}">
                <a16:creationId xmlns:a16="http://schemas.microsoft.com/office/drawing/2014/main" id="{30B32F78-6750-3B4E-9DF6-0804114E2A6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5832314"/>
              </p:ext>
            </p:extLst>
          </p:nvPr>
        </p:nvGraphicFramePr>
        <p:xfrm>
          <a:off x="1059657" y="4450346"/>
          <a:ext cx="6985000" cy="1827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9100" name="Equation" r:id="rId4" imgW="63779400" imgH="16675100" progId="Equation.3">
                  <p:embed/>
                </p:oleObj>
              </mc:Choice>
              <mc:Fallback>
                <p:oleObj name="Equation" r:id="rId4" imgW="63779400" imgH="166751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9657" y="4450346"/>
                        <a:ext cx="6985000" cy="1827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9079" name="Object 7">
            <a:extLst>
              <a:ext uri="{FF2B5EF4-FFF2-40B4-BE49-F238E27FC236}">
                <a16:creationId xmlns:a16="http://schemas.microsoft.com/office/drawing/2014/main" id="{EBE5044C-29F5-D446-AF56-7CFEC2522E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70303285"/>
              </p:ext>
            </p:extLst>
          </p:nvPr>
        </p:nvGraphicFramePr>
        <p:xfrm>
          <a:off x="2708276" y="1484784"/>
          <a:ext cx="1900237" cy="592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9101" name="Equation" r:id="rId6" imgW="17843500" imgH="5562600" progId="Equation.3">
                  <p:embed/>
                </p:oleObj>
              </mc:Choice>
              <mc:Fallback>
                <p:oleObj name="Equation" r:id="rId6" imgW="17843500" imgH="55626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8276" y="1484784"/>
                        <a:ext cx="1900237" cy="592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7" name="Rectangle 5">
            <a:extLst>
              <a:ext uri="{FF2B5EF4-FFF2-40B4-BE49-F238E27FC236}">
                <a16:creationId xmlns:a16="http://schemas.microsoft.com/office/drawing/2014/main" id="{8BEB721E-E914-5C49-92F7-B2181DBFDB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dirty="0"/>
              <a:t>Использование метода наименьших квадратов для классификации</a:t>
            </a:r>
          </a:p>
        </p:txBody>
      </p:sp>
      <p:sp>
        <p:nvSpPr>
          <p:cNvPr id="228360" name="Rectangle 8">
            <a:extLst>
              <a:ext uri="{FF2B5EF4-FFF2-40B4-BE49-F238E27FC236}">
                <a16:creationId xmlns:a16="http://schemas.microsoft.com/office/drawing/2014/main" id="{FDAE9033-896B-3A4B-ADA6-CD7E136CF6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" altLang="ru-RU" sz="2400" dirty="0"/>
              <a:t>Это неправильный подход и не работает так хорошо, как лучшие методы, но это просто:</a:t>
            </a:r>
          </a:p>
          <a:p>
            <a:pPr lvl="1"/>
            <a:r>
              <a:rPr lang="ru" altLang="ru-RU" sz="2400" dirty="0"/>
              <a:t>Он сводит классификацию к регрессии наименьших квадратов.</a:t>
            </a:r>
          </a:p>
          <a:p>
            <a:pPr lvl="1"/>
            <a:r>
              <a:rPr lang="ru" altLang="ru-RU" sz="2400" dirty="0"/>
              <a:t>Мы уже умеем строить регрессию. Остаётся только найти оптимальные веса, используя матричную алгебру </a:t>
            </a:r>
            <a:r>
              <a:rPr lang="ru" altLang="ru-RU" sz="2000" dirty="0">
                <a:solidFill>
                  <a:srgbClr val="000099"/>
                </a:solidFill>
              </a:rPr>
              <a:t>(см. M</a:t>
            </a:r>
            <a:r>
              <a:rPr lang="en-US" altLang="ru-RU" sz="2000" dirty="0">
                <a:solidFill>
                  <a:srgbClr val="000099"/>
                </a:solidFill>
              </a:rPr>
              <a:t>L</a:t>
            </a:r>
            <a:r>
              <a:rPr lang="ru" altLang="ru-RU" sz="2000" dirty="0">
                <a:solidFill>
                  <a:srgbClr val="000099"/>
                </a:solidFill>
              </a:rPr>
              <a:t> 2).</a:t>
            </a:r>
          </a:p>
          <a:p>
            <a:r>
              <a:rPr lang="ru-RU" altLang="ru-RU" sz="2400" dirty="0"/>
              <a:t>И</a:t>
            </a:r>
            <a:r>
              <a:rPr lang="ru" altLang="ru-RU" sz="2400" dirty="0"/>
              <a:t>спользуем цели, которые равны условной вероятности класса с учетом входных данных.</a:t>
            </a:r>
          </a:p>
          <a:p>
            <a:pPr lvl="1"/>
            <a:r>
              <a:rPr lang="ru" altLang="ru-RU" sz="2400" dirty="0"/>
              <a:t>Когда имеется более двух классов, мы рассматриваем каждый класс как отдельную задачу </a:t>
            </a:r>
            <a:r>
              <a:rPr lang="ru" altLang="ru-RU" sz="2000" dirty="0">
                <a:solidFill>
                  <a:srgbClr val="000099"/>
                </a:solidFill>
              </a:rPr>
              <a:t>(мы не можем избежать этого, если используем функцию принятия решения </a:t>
            </a:r>
            <a:r>
              <a:rPr lang="en-US" altLang="ru-RU" sz="2000" dirty="0">
                <a:solidFill>
                  <a:srgbClr val="000099"/>
                </a:solidFill>
              </a:rPr>
              <a:t>“max”</a:t>
            </a:r>
            <a:r>
              <a:rPr lang="ru" altLang="ru-RU" sz="2000" dirty="0">
                <a:solidFill>
                  <a:srgbClr val="000099"/>
                </a:solidFill>
              </a:rPr>
              <a:t>).</a:t>
            </a:r>
          </a:p>
          <a:p>
            <a:endParaRPr lang="en-US" altLang="ru-RU" sz="2000" dirty="0">
              <a:solidFill>
                <a:srgbClr val="000099"/>
              </a:solidFill>
            </a:endParaRPr>
          </a:p>
          <a:p>
            <a:endParaRPr lang="en-US" altLang="ru-RU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82" name="Rectangle 6">
            <a:extLst>
              <a:ext uri="{FF2B5EF4-FFF2-40B4-BE49-F238E27FC236}">
                <a16:creationId xmlns:a16="http://schemas.microsoft.com/office/drawing/2014/main" id="{ECF34005-B697-EC42-8321-86B67DFF3F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9512" y="53975"/>
            <a:ext cx="7345238" cy="1143000"/>
          </a:xfrm>
        </p:spPr>
        <p:txBody>
          <a:bodyPr/>
          <a:lstStyle/>
          <a:p>
            <a:r>
              <a:rPr lang="ru" altLang="ru-RU" sz="2400" dirty="0"/>
              <a:t>Проблемы с использованием наименьших квадратов для классификации</a:t>
            </a:r>
          </a:p>
        </p:txBody>
      </p:sp>
      <p:pic>
        <p:nvPicPr>
          <p:cNvPr id="229380" name="Picture 4">
            <a:extLst>
              <a:ext uri="{FF2B5EF4-FFF2-40B4-BE49-F238E27FC236}">
                <a16:creationId xmlns:a16="http://schemas.microsoft.com/office/drawing/2014/main" id="{B3C820FD-2641-6E4C-8CB9-56E2FBE97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9675" y="1293813"/>
            <a:ext cx="3944938" cy="400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9381" name="Picture 5">
            <a:extLst>
              <a:ext uri="{FF2B5EF4-FFF2-40B4-BE49-F238E27FC236}">
                <a16:creationId xmlns:a16="http://schemas.microsoft.com/office/drawing/2014/main" id="{28A05C68-6E4A-A441-8A9F-A80A67666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438" y="1341438"/>
            <a:ext cx="3970337" cy="403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9383" name="Text Box 7">
            <a:extLst>
              <a:ext uri="{FF2B5EF4-FFF2-40B4-BE49-F238E27FC236}">
                <a16:creationId xmlns:a16="http://schemas.microsoft.com/office/drawing/2014/main" id="{248DB534-9697-6745-B1AF-DB1B7D21D2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5373688"/>
            <a:ext cx="3455988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000099"/>
                </a:solidFill>
              </a:rPr>
              <a:t>Если правильный ответ — 1, а модель говорит 1,5, она проигрывает, поэтому она меняет границу, чтобы избежать «слишком правильной» оценки.</a:t>
            </a:r>
          </a:p>
        </p:txBody>
      </p:sp>
      <p:sp>
        <p:nvSpPr>
          <p:cNvPr id="229384" name="Text Box 8">
            <a:extLst>
              <a:ext uri="{FF2B5EF4-FFF2-40B4-BE49-F238E27FC236}">
                <a16:creationId xmlns:a16="http://schemas.microsoft.com/office/drawing/2014/main" id="{728F9C15-5B46-6F46-A449-9DD7881221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7625" y="765175"/>
            <a:ext cx="1512888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33CC33"/>
                </a:solidFill>
              </a:rPr>
              <a:t>логистическая регрессия</a:t>
            </a:r>
          </a:p>
        </p:txBody>
      </p:sp>
      <p:sp>
        <p:nvSpPr>
          <p:cNvPr id="229385" name="Line 9">
            <a:extLst>
              <a:ext uri="{FF2B5EF4-FFF2-40B4-BE49-F238E27FC236}">
                <a16:creationId xmlns:a16="http://schemas.microsoft.com/office/drawing/2014/main" id="{75EFB720-0131-EB45-A8A5-402F4BD7574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24750" y="1052513"/>
            <a:ext cx="215900" cy="287337"/>
          </a:xfrm>
          <a:prstGeom prst="line">
            <a:avLst/>
          </a:prstGeom>
          <a:noFill/>
          <a:ln w="38100">
            <a:solidFill>
              <a:srgbClr val="33CC33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9386" name="Text Box 10">
            <a:extLst>
              <a:ext uri="{FF2B5EF4-FFF2-40B4-BE49-F238E27FC236}">
                <a16:creationId xmlns:a16="http://schemas.microsoft.com/office/drawing/2014/main" id="{765DE6F9-8DA9-B045-A9C6-87D392BAF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4750" y="2349500"/>
            <a:ext cx="1692275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 dirty="0">
                <a:solidFill>
                  <a:srgbClr val="CC00CC"/>
                </a:solidFill>
              </a:rPr>
              <a:t>регрессия наименьших квадратов</a:t>
            </a:r>
          </a:p>
        </p:txBody>
      </p:sp>
      <p:sp>
        <p:nvSpPr>
          <p:cNvPr id="229387" name="Line 11">
            <a:extLst>
              <a:ext uri="{FF2B5EF4-FFF2-40B4-BE49-F238E27FC236}">
                <a16:creationId xmlns:a16="http://schemas.microsoft.com/office/drawing/2014/main" id="{C21464A1-3220-0E45-8457-FE397940728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72450" y="1989138"/>
            <a:ext cx="0" cy="360362"/>
          </a:xfrm>
          <a:prstGeom prst="line">
            <a:avLst/>
          </a:prstGeom>
          <a:noFill/>
          <a:ln w="38100">
            <a:solidFill>
              <a:srgbClr val="CC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6" name="Rectangle 6">
            <a:extLst>
              <a:ext uri="{FF2B5EF4-FFF2-40B4-BE49-F238E27FC236}">
                <a16:creationId xmlns:a16="http://schemas.microsoft.com/office/drawing/2014/main" id="{E1BBD65C-05F6-E641-AF55-EC1E31E501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2800" dirty="0"/>
              <a:t>Другой пример, когда регрессия наименьших квадратов дает плохие поверхности решений</a:t>
            </a:r>
          </a:p>
        </p:txBody>
      </p:sp>
      <p:pic>
        <p:nvPicPr>
          <p:cNvPr id="230404" name="Picture 4">
            <a:extLst>
              <a:ext uri="{FF2B5EF4-FFF2-40B4-BE49-F238E27FC236}">
                <a16:creationId xmlns:a16="http://schemas.microsoft.com/office/drawing/2014/main" id="{2ADF31F0-3F95-994B-B28A-C8199892CD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263" y="1773238"/>
            <a:ext cx="3578225" cy="36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0405" name="Picture 5">
            <a:extLst>
              <a:ext uri="{FF2B5EF4-FFF2-40B4-BE49-F238E27FC236}">
                <a16:creationId xmlns:a16="http://schemas.microsoft.com/office/drawing/2014/main" id="{9DF43C95-F9F8-C84D-BD88-E059D76B7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75" y="1773238"/>
            <a:ext cx="3578225" cy="36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>
            <a:extLst>
              <a:ext uri="{FF2B5EF4-FFF2-40B4-BE49-F238E27FC236}">
                <a16:creationId xmlns:a16="http://schemas.microsoft.com/office/drawing/2014/main" id="{E246A24C-5C77-2E47-9442-AF24D7A792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44450"/>
            <a:ext cx="8229600" cy="1143000"/>
          </a:xfrm>
        </p:spPr>
        <p:txBody>
          <a:bodyPr/>
          <a:lstStyle/>
          <a:p>
            <a:r>
              <a:rPr lang="ru" altLang="ru-RU" sz="2800" dirty="0"/>
              <a:t>Линейный дискриминант Фишера</a:t>
            </a:r>
          </a:p>
        </p:txBody>
      </p:sp>
      <p:sp>
        <p:nvSpPr>
          <p:cNvPr id="261123" name="Rectangle 3">
            <a:extLst>
              <a:ext uri="{FF2B5EF4-FFF2-40B4-BE49-F238E27FC236}">
                <a16:creationId xmlns:a16="http://schemas.microsoft.com/office/drawing/2014/main" id="{5DDDDD31-AB24-4642-84DA-0D67EF9FC0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196975"/>
            <a:ext cx="8229600" cy="5327650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" altLang="ru-RU" sz="2000" dirty="0"/>
              <a:t>Простая линейная дискриминантная функция представляет собой проекцию данных на одномерный уровень.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Итак, выберите проекцию, которая обеспечивает наилучшее разделение классов. </a:t>
            </a:r>
            <a:r>
              <a:rPr lang="ru" altLang="ru-RU" sz="2000" dirty="0">
                <a:solidFill>
                  <a:srgbClr val="0000CC"/>
                </a:solidFill>
              </a:rPr>
              <a:t>Что мы подразумеваем под «наилучшим разделением»?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Очевидным направлением выбора является направление линии, соединяющей средние значения класса.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Однако если основное направление дисперсии в каждом классе не ортогонально этой линии, то это не даст хорошего разделения (см. следующий рисунок).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Метод Фишера выбирает направление, которое максимизирует отношение </a:t>
            </a:r>
            <a:r>
              <a:rPr lang="ru" altLang="ru-RU" sz="2000" dirty="0">
                <a:solidFill>
                  <a:srgbClr val="0000CC"/>
                </a:solidFill>
              </a:rPr>
              <a:t>межклассовой </a:t>
            </a:r>
            <a:r>
              <a:rPr lang="ru" altLang="ru-RU" sz="2000" dirty="0"/>
              <a:t>дисперсии к </a:t>
            </a:r>
            <a:r>
              <a:rPr lang="ru" altLang="ru-RU" sz="2000" dirty="0">
                <a:solidFill>
                  <a:srgbClr val="0000CC"/>
                </a:solidFill>
              </a:rPr>
              <a:t>внутриклассовой </a:t>
            </a:r>
            <a:r>
              <a:rPr lang="ru" altLang="ru-RU" sz="2000" dirty="0"/>
              <a:t>дисперсии.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Это направление, в котором спроецированные точки содержат наибольшую информацию о принадлежности к классу (в соответствии с гауссовыми предположениями).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30" name="Rectangle 6">
            <a:extLst>
              <a:ext uri="{FF2B5EF4-FFF2-40B4-BE49-F238E27FC236}">
                <a16:creationId xmlns:a16="http://schemas.microsoft.com/office/drawing/2014/main" id="{40767F5A-EB3B-584F-9679-30B3F0F06C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2800" dirty="0"/>
              <a:t>Рисунок, демонстрирующий преимущество линейного дискриминанта Фишера</a:t>
            </a:r>
          </a:p>
        </p:txBody>
      </p:sp>
      <p:pic>
        <p:nvPicPr>
          <p:cNvPr id="231428" name="Picture 4">
            <a:extLst>
              <a:ext uri="{FF2B5EF4-FFF2-40B4-BE49-F238E27FC236}">
                <a16:creationId xmlns:a16="http://schemas.microsoft.com/office/drawing/2014/main" id="{9D8134BE-9EDC-0544-9955-97798C7036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3800" y="1628775"/>
            <a:ext cx="3746500" cy="2833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1429" name="Picture 5">
            <a:extLst>
              <a:ext uri="{FF2B5EF4-FFF2-40B4-BE49-F238E27FC236}">
                <a16:creationId xmlns:a16="http://schemas.microsoft.com/office/drawing/2014/main" id="{89FC2A4E-EF46-C041-8C37-9F356F976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1628775"/>
            <a:ext cx="3743325" cy="283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1431" name="Text Box 7">
            <a:extLst>
              <a:ext uri="{FF2B5EF4-FFF2-40B4-BE49-F238E27FC236}">
                <a16:creationId xmlns:a16="http://schemas.microsoft.com/office/drawing/2014/main" id="{45C27211-2A56-6949-A1D8-471AA7CBD6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4941888"/>
            <a:ext cx="3384550" cy="1311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 dirty="0">
                <a:solidFill>
                  <a:srgbClr val="0066FF"/>
                </a:solidFill>
              </a:rPr>
              <a:t>При проецировании на линию, соединяющую классы, классы не очень хорошо разделены.</a:t>
            </a:r>
            <a:endParaRPr lang="en-US" altLang="ru-RU" dirty="0"/>
          </a:p>
        </p:txBody>
      </p:sp>
      <p:sp>
        <p:nvSpPr>
          <p:cNvPr id="231432" name="Text Box 8">
            <a:extLst>
              <a:ext uri="{FF2B5EF4-FFF2-40B4-BE49-F238E27FC236}">
                <a16:creationId xmlns:a16="http://schemas.microsoft.com/office/drawing/2014/main" id="{0F646599-3E27-2248-B2ED-9F76824FAA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5850" y="4673600"/>
            <a:ext cx="4248150" cy="1311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 dirty="0">
                <a:solidFill>
                  <a:srgbClr val="0066FF"/>
                </a:solidFill>
              </a:rPr>
              <a:t>Фишер выбирает направление, которое делает прогнозируемые классы гораздо плотнее, даже если их прогнозируемые средние значения не так далеко друг от друга.</a:t>
            </a:r>
            <a:endParaRPr lang="en-US" alt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70" name="Rectangle 2">
            <a:extLst>
              <a:ext uri="{FF2B5EF4-FFF2-40B4-BE49-F238E27FC236}">
                <a16:creationId xmlns:a16="http://schemas.microsoft.com/office/drawing/2014/main" id="{DBE454CC-B8E0-674C-8BE5-CDDA17B2FE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dirty="0"/>
              <a:t>Математика линейных дискриминантов Фишера</a:t>
            </a:r>
          </a:p>
        </p:txBody>
      </p:sp>
      <p:sp>
        <p:nvSpPr>
          <p:cNvPr id="263173" name="Rectangle 5">
            <a:extLst>
              <a:ext uri="{FF2B5EF4-FFF2-40B4-BE49-F238E27FC236}">
                <a16:creationId xmlns:a16="http://schemas.microsoft.com/office/drawing/2014/main" id="{537F455F-E10B-1547-A0D6-F79CC6238CE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691063" cy="5257800"/>
          </a:xfrm>
        </p:spPr>
        <p:txBody>
          <a:bodyPr/>
          <a:lstStyle/>
          <a:p>
            <a:r>
              <a:rPr lang="ru" altLang="ru-RU" sz="1800" dirty="0"/>
              <a:t>Какое линейное преобразование лучше всего подходит для дискриминации?</a:t>
            </a:r>
          </a:p>
          <a:p>
            <a:r>
              <a:rPr lang="ru" altLang="ru-RU" sz="1800" dirty="0"/>
              <a:t>Проекция на вектор, разделяющий класс, означает, что это кажется разумным:</a:t>
            </a:r>
          </a:p>
          <a:p>
            <a:endParaRPr lang="en-US" altLang="ru-RU" sz="1800" dirty="0"/>
          </a:p>
          <a:p>
            <a:r>
              <a:rPr lang="ru" altLang="ru-RU" sz="1800" dirty="0"/>
              <a:t>Но нам также нужна небольшая дисперсия внутри каждого класса:</a:t>
            </a:r>
          </a:p>
          <a:p>
            <a:endParaRPr lang="en-US" altLang="ru-RU" sz="1800" dirty="0"/>
          </a:p>
          <a:p>
            <a:endParaRPr lang="en-US" altLang="ru-RU" sz="1800" dirty="0"/>
          </a:p>
          <a:p>
            <a:endParaRPr lang="en-US" altLang="ru-RU" sz="1800" dirty="0"/>
          </a:p>
          <a:p>
            <a:endParaRPr lang="en-US" altLang="ru-RU" sz="1800" dirty="0"/>
          </a:p>
          <a:p>
            <a:r>
              <a:rPr lang="ru" altLang="ru-RU" sz="1800" dirty="0"/>
              <a:t>Целевая функция Фишера:</a:t>
            </a:r>
          </a:p>
        </p:txBody>
      </p:sp>
      <p:graphicFrame>
        <p:nvGraphicFramePr>
          <p:cNvPr id="263172" name="Object 4">
            <a:extLst>
              <a:ext uri="{FF2B5EF4-FFF2-40B4-BE49-F238E27FC236}">
                <a16:creationId xmlns:a16="http://schemas.microsoft.com/office/drawing/2014/main" id="{A7479B0E-2060-0F42-A8CD-20287C151FD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795963" y="1484313"/>
          <a:ext cx="1365250" cy="606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222" name="Equation" r:id="rId3" imgW="13169900" imgH="5854700" progId="Equation.3">
                  <p:embed/>
                </p:oleObj>
              </mc:Choice>
              <mc:Fallback>
                <p:oleObj name="Equation" r:id="rId3" imgW="13169900" imgH="58547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5963" y="1484313"/>
                        <a:ext cx="1365250" cy="606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3175" name="Object 7">
            <a:extLst>
              <a:ext uri="{FF2B5EF4-FFF2-40B4-BE49-F238E27FC236}">
                <a16:creationId xmlns:a16="http://schemas.microsoft.com/office/drawing/2014/main" id="{3C0039C0-88F8-A549-9124-DA73C21BFF8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92775" y="2554288"/>
          <a:ext cx="1903413" cy="442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223" name="Equation" r:id="rId5" imgW="21361400" imgH="4978400" progId="Equation.3">
                  <p:embed/>
                </p:oleObj>
              </mc:Choice>
              <mc:Fallback>
                <p:oleObj name="Equation" r:id="rId5" imgW="21361400" imgH="49784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92775" y="2554288"/>
                        <a:ext cx="1903413" cy="442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3176" name="Object 8">
            <a:extLst>
              <a:ext uri="{FF2B5EF4-FFF2-40B4-BE49-F238E27FC236}">
                <a16:creationId xmlns:a16="http://schemas.microsoft.com/office/drawing/2014/main" id="{80302611-2AB1-CD42-AB20-8490CD6DD55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11788" y="3284538"/>
          <a:ext cx="2760662" cy="197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224" name="Equation" r:id="rId7" imgW="26911300" imgH="19304000" progId="Equation.3">
                  <p:embed/>
                </p:oleObj>
              </mc:Choice>
              <mc:Fallback>
                <p:oleObj name="Equation" r:id="rId7" imgW="26911300" imgH="193040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1788" y="3284538"/>
                        <a:ext cx="2760662" cy="1978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3177" name="Object 9">
            <a:extLst>
              <a:ext uri="{FF2B5EF4-FFF2-40B4-BE49-F238E27FC236}">
                <a16:creationId xmlns:a16="http://schemas.microsoft.com/office/drawing/2014/main" id="{92E012A8-84A9-3344-9917-B96416920FF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43438" y="5413375"/>
          <a:ext cx="2951162" cy="1111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225" name="Equation" r:id="rId9" imgW="29552900" imgH="11112500" progId="Equation.3">
                  <p:embed/>
                </p:oleObj>
              </mc:Choice>
              <mc:Fallback>
                <p:oleObj name="Equation" r:id="rId9" imgW="29552900" imgH="111125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43438" y="5413375"/>
                        <a:ext cx="2951162" cy="1111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3178" name="Text Box 10">
            <a:extLst>
              <a:ext uri="{FF2B5EF4-FFF2-40B4-BE49-F238E27FC236}">
                <a16:creationId xmlns:a16="http://schemas.microsoft.com/office/drawing/2014/main" id="{264058B9-315B-0C48-8B2C-F8BAC7266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6550" y="5516563"/>
            <a:ext cx="1187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 dirty="0">
                <a:solidFill>
                  <a:srgbClr val="0000CC"/>
                </a:solidFill>
              </a:rPr>
              <a:t>между</a:t>
            </a:r>
          </a:p>
        </p:txBody>
      </p:sp>
      <p:sp>
        <p:nvSpPr>
          <p:cNvPr id="263179" name="Line 11">
            <a:extLst>
              <a:ext uri="{FF2B5EF4-FFF2-40B4-BE49-F238E27FC236}">
                <a16:creationId xmlns:a16="http://schemas.microsoft.com/office/drawing/2014/main" id="{0E45E4B1-ECD3-BE48-9CAE-28CC88236AC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67625" y="5734050"/>
            <a:ext cx="288925" cy="0"/>
          </a:xfrm>
          <a:prstGeom prst="line">
            <a:avLst/>
          </a:prstGeom>
          <a:noFill/>
          <a:ln w="28575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63180" name="Text Box 12">
            <a:extLst>
              <a:ext uri="{FF2B5EF4-FFF2-40B4-BE49-F238E27FC236}">
                <a16:creationId xmlns:a16="http://schemas.microsoft.com/office/drawing/2014/main" id="{36F85E7D-58E7-A248-BD3C-6B3A5922B0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3063" y="6165304"/>
            <a:ext cx="118745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0000CC"/>
                </a:solidFill>
              </a:rPr>
              <a:t>в пределах</a:t>
            </a:r>
          </a:p>
        </p:txBody>
      </p:sp>
      <p:sp>
        <p:nvSpPr>
          <p:cNvPr id="263181" name="Line 13">
            <a:extLst>
              <a:ext uri="{FF2B5EF4-FFF2-40B4-BE49-F238E27FC236}">
                <a16:creationId xmlns:a16="http://schemas.microsoft.com/office/drawing/2014/main" id="{37FDFE84-B882-8440-9AF9-238094CFC9C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04138" y="6303963"/>
            <a:ext cx="288925" cy="0"/>
          </a:xfrm>
          <a:prstGeom prst="line">
            <a:avLst/>
          </a:prstGeom>
          <a:noFill/>
          <a:ln w="28575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31D317-711A-D54E-ADB6-40C90D776E04}"/>
                  </a:ext>
                </a:extLst>
              </p:cNvPr>
              <p:cNvSpPr txBox="1"/>
              <p:nvPr/>
            </p:nvSpPr>
            <p:spPr>
              <a:xfrm>
                <a:off x="-250119" y="4616041"/>
                <a:ext cx="5398382" cy="797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b="1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b="1">
                              <a:latin typeface="Cambria Math" panose="02040503050406030204" pitchFamily="18" charset="0"/>
                            </a:rPr>
                            <m:t>𝐦</m:t>
                          </m:r>
                        </m:e>
                        <m:sub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sz="1800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b="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ru-RU" sz="18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ru-RU" sz="1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r>
                        <a:rPr lang="ru-RU" sz="1800" b="0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ru-RU" sz="1800" b="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b="1" i="0">
                              <a:latin typeface="Cambria Math" panose="02040503050406030204" pitchFamily="18" charset="0"/>
                            </a:rPr>
                            <m:t>𝐦</m:t>
                          </m:r>
                        </m:e>
                        <m:sub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sz="1800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b="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ru-RU" sz="18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ru-RU" sz="1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ru-RU" sz="1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31D317-711A-D54E-ADB6-40C90D776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0119" y="4616041"/>
                <a:ext cx="5398382" cy="797334"/>
              </a:xfrm>
              <a:prstGeom prst="rect">
                <a:avLst/>
              </a:prstGeom>
              <a:blipFill>
                <a:blip r:embed="rId11"/>
                <a:stretch>
                  <a:fillRect t="-117188" b="-1578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6965" name="Object 5">
            <a:extLst>
              <a:ext uri="{FF2B5EF4-FFF2-40B4-BE49-F238E27FC236}">
                <a16:creationId xmlns:a16="http://schemas.microsoft.com/office/drawing/2014/main" id="{EDF5F81E-085F-5C4E-A3DA-EC6A22A794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3002594"/>
              </p:ext>
            </p:extLst>
          </p:nvPr>
        </p:nvGraphicFramePr>
        <p:xfrm>
          <a:off x="535880" y="1409700"/>
          <a:ext cx="8356600" cy="4972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977" name="Equation" r:id="rId3" imgW="83680300" imgH="49733200" progId="Equation.3">
                  <p:embed/>
                </p:oleObj>
              </mc:Choice>
              <mc:Fallback>
                <p:oleObj name="Equation" r:id="rId3" imgW="83680300" imgH="497332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5880" y="1409700"/>
                        <a:ext cx="8356600" cy="4972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6966" name="Rectangle 6">
            <a:extLst>
              <a:ext uri="{FF2B5EF4-FFF2-40B4-BE49-F238E27FC236}">
                <a16:creationId xmlns:a16="http://schemas.microsoft.com/office/drawing/2014/main" id="{95EE62F9-F821-4B49-8DED-84DE6E6968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Больше математики линейных дискриминантов Фишера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Rectangle 2">
            <a:extLst>
              <a:ext uri="{FF2B5EF4-FFF2-40B4-BE49-F238E27FC236}">
                <a16:creationId xmlns:a16="http://schemas.microsoft.com/office/drawing/2014/main" id="{59212FC6-F439-6A46-B049-B9A6A7F2E2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100013"/>
            <a:ext cx="8229600" cy="1143001"/>
          </a:xfrm>
        </p:spPr>
        <p:txBody>
          <a:bodyPr/>
          <a:lstStyle/>
          <a:p>
            <a:r>
              <a:rPr lang="ru" altLang="ru-RU" dirty="0"/>
              <a:t>Персептрон</a:t>
            </a:r>
          </a:p>
        </p:txBody>
      </p:sp>
      <p:sp>
        <p:nvSpPr>
          <p:cNvPr id="262147" name="Rectangle 3">
            <a:extLst>
              <a:ext uri="{FF2B5EF4-FFF2-40B4-BE49-F238E27FC236}">
                <a16:creationId xmlns:a16="http://schemas.microsoft.com/office/drawing/2014/main" id="{00659A40-4EBF-7645-ADF4-A97166695F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512" y="3140968"/>
            <a:ext cx="8507288" cy="371703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" altLang="ru-RU" sz="1600" dirty="0"/>
              <a:t>«Персептроны» представляют собой целое семейство обучающихся машин, но стандартный тип состоит из слоя фиксированных нелинейных базисных функций, за которым следует простая линейная дискриминантная функция.</a:t>
            </a:r>
          </a:p>
          <a:p>
            <a:pPr lvl="1">
              <a:lnSpc>
                <a:spcPct val="80000"/>
              </a:lnSpc>
            </a:pPr>
            <a:r>
              <a:rPr lang="ru" altLang="ru-RU" sz="1600" dirty="0"/>
              <a:t>Они были введены в конце 1950-х годов и имели простую процедуру онлайн-обучения.</a:t>
            </a:r>
          </a:p>
          <a:p>
            <a:pPr lvl="1">
              <a:lnSpc>
                <a:spcPct val="80000"/>
              </a:lnSpc>
            </a:pPr>
            <a:r>
              <a:rPr lang="ru" altLang="ru-RU" sz="1600" dirty="0"/>
              <a:t>Об их способностях были сделаны громкие заявления. Это вызвало множество споров.</a:t>
            </a:r>
          </a:p>
          <a:p>
            <a:pPr lvl="1">
              <a:lnSpc>
                <a:spcPct val="80000"/>
              </a:lnSpc>
            </a:pPr>
            <a:r>
              <a:rPr lang="ru" altLang="ru-RU" sz="1600" dirty="0"/>
              <a:t>Исследователи символического ИИ подчеркивали его ограничения (в рамках идеологической кампании против действительных чисел, вероятностей и обучения)</a:t>
            </a:r>
          </a:p>
          <a:p>
            <a:pPr>
              <a:lnSpc>
                <a:spcPct val="80000"/>
              </a:lnSpc>
            </a:pPr>
            <a:r>
              <a:rPr lang="ru" altLang="ru-RU" sz="1600" dirty="0"/>
              <a:t>Машины опорных векторов </a:t>
            </a:r>
            <a:r>
              <a:rPr lang="en-US" altLang="ru-RU" sz="1600" dirty="0"/>
              <a:t>(Support Vector Machines)</a:t>
            </a:r>
            <a:r>
              <a:rPr lang="ru" altLang="ru-RU" sz="1600" dirty="0"/>
              <a:t>— это просто персептроны с умным способом выбора неадаптивных, нелинейных базисных функций и лучшей процедурой обучения.</a:t>
            </a:r>
          </a:p>
          <a:p>
            <a:pPr lvl="1">
              <a:lnSpc>
                <a:spcPct val="80000"/>
              </a:lnSpc>
            </a:pPr>
            <a:r>
              <a:rPr lang="ru" altLang="ru-RU" sz="1600" dirty="0"/>
              <a:t>Они имеют те же ограничения, что и персептроны, в отношении того, какие типы функций они могут изучить.</a:t>
            </a:r>
          </a:p>
          <a:p>
            <a:pPr lvl="2">
              <a:lnSpc>
                <a:spcPct val="80000"/>
              </a:lnSpc>
            </a:pPr>
            <a:r>
              <a:rPr lang="ru" altLang="ru-RU" sz="1400" dirty="0"/>
              <a:t>Но люди, похоже, об этом забыли.</a:t>
            </a:r>
          </a:p>
        </p:txBody>
      </p:sp>
      <p:pic>
        <p:nvPicPr>
          <p:cNvPr id="5" name="Picture 2" descr="Персептрон Розенблатта - машина, которая смогла обучаться">
            <a:extLst>
              <a:ext uri="{FF2B5EF4-FFF2-40B4-BE49-F238E27FC236}">
                <a16:creationId xmlns:a16="http://schemas.microsoft.com/office/drawing/2014/main" id="{C05B45F7-0482-6C49-93E1-43B2C231A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356" y="836712"/>
            <a:ext cx="8229600" cy="2185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C44C5A-E9D1-EB4E-B7E9-0A784530C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483" y="188640"/>
            <a:ext cx="8229600" cy="620688"/>
          </a:xfrm>
        </p:spPr>
        <p:txBody>
          <a:bodyPr/>
          <a:lstStyle/>
          <a:p>
            <a:r>
              <a:rPr lang="ru" altLang="ru-RU" dirty="0"/>
              <a:t>Персептрон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892FDB3-2581-024F-9710-707BDB3ED3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0483" y="980728"/>
                <a:ext cx="8229600" cy="4525963"/>
              </a:xfrm>
            </p:spPr>
            <p:txBody>
              <a:bodyPr/>
              <a:lstStyle/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представляет собой модель бинарной классификации, в которой входной вектор </a:t>
                </a:r>
                <a14:m>
                  <m:oMath xmlns:m="http://schemas.openxmlformats.org/officeDocument/2006/math"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𝐱</m:t>
                    </m:r>
                  </m:oMath>
                </a14:m>
                <a:r>
                  <a:rPr lang="en-US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сначала преобразуется с помощью нелинейного преобразования для получения вектора признаков </a:t>
                </a:r>
                <a14:m>
                  <m:oMath xmlns:m="http://schemas.openxmlformats.org/officeDocument/2006/math"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𝐱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а затем используется для построения обобщенной линейной модели вида</a:t>
                </a: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ru-RU" sz="2000" b="1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𝐱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2000" b="1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𝐰</m:t>
                              </m:r>
                            </m:e>
                            <m:sup>
                              <m: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𝛟</m:t>
                          </m:r>
                          <m:r>
                            <a:rPr lang="ru-RU" sz="20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𝐱</m:t>
                          </m:r>
                          <m:r>
                            <a:rPr lang="ru-RU" sz="20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2000" dirty="0"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П</a:t>
                </a: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редполагаем, что вектор </a:t>
                </a:r>
                <a14:m>
                  <m:oMath xmlns:m="http://schemas.openxmlformats.org/officeDocument/2006/math"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𝐱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включает компонент смещения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𝜙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 Нелинейная 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(⋅)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задаётся ступенчатой функцией вида</a:t>
                </a: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𝛼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)=</m:t>
                      </m:r>
                      <m:d>
                        <m:dPr>
                          <m:begChr m:val="{"/>
                          <m:endChr m:val=""/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+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 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≥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 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&lt;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Это связано с тем, что для персептрона удобнее использовать целевые значения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=+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1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для класса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𝒞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для класса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𝒞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вместо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∈{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3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892FDB3-2581-024F-9710-707BDB3ED3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0483" y="980728"/>
                <a:ext cx="8229600" cy="4525963"/>
              </a:xfrm>
              <a:blipFill>
                <a:blip r:embed="rId2"/>
                <a:stretch>
                  <a:fillRect l="-770" t="-840" b="-302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735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89304A-F442-CE41-9FB5-7A479AF96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24" y="1004"/>
            <a:ext cx="8229600" cy="1143000"/>
          </a:xfrm>
        </p:spPr>
        <p:txBody>
          <a:bodyPr/>
          <a:lstStyle/>
          <a:p>
            <a:r>
              <a:rPr lang="ru-RU" dirty="0"/>
              <a:t>Функция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C4BF10E-A486-6744-B14D-AA9309E8D2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5961" y="1052736"/>
                <a:ext cx="8229600" cy="561662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рассматриваем функцию ошибки, называемую </a:t>
                </a:r>
                <a:r>
                  <a:rPr lang="ru-RU" sz="2000" i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критерием персептрона </a:t>
                </a: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0" indent="0">
                  <a:buNone/>
                </a:pPr>
                <a:r>
                  <a:rPr lang="ru-RU" sz="2000" dirty="0"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И</a:t>
                </a: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щется весовой вектор </a:t>
                </a:r>
                <a14:m>
                  <m:oMath xmlns:m="http://schemas.openxmlformats.org/officeDocument/2006/math"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𝐰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такой, что входные данные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𝐱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принадлежащие классу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𝒞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имеют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𝐰</m:t>
                        </m:r>
                      </m:e>
                      <m:sup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𝐱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)&gt;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тогда как входные данные , принадлежащие классу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𝒞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имеют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𝐰</m:t>
                        </m:r>
                      </m:e>
                      <m:sup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𝐱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)&lt;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Учитывая схему кодирования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∈{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−1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,+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следует, что все входные данные должны удовлетворять: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𝐰</m:t>
                          </m:r>
                        </m:e>
                        <m:sup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  <m:r>
                        <a:rPr lang="ru-RU" sz="2000" b="1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𝛟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&gt;</m:t>
                      </m:r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Таким образом, критерий персептрона пытается минимизировать величину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−</m:t>
                    </m:r>
                    <m:sSup>
                      <m:sSup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𝐰</m:t>
                        </m:r>
                      </m:e>
                      <m:sup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𝐱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для всех неправильно классифицированных входных данных.</a:t>
                </a: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000" i="1" smtClean="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</m:sSub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ru-RU" sz="2000" b="1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𝐰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ru-RU" sz="20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ℳ</m:t>
                          </m:r>
                        </m:sub>
                        <m:sup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2000" b="1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𝐰</m:t>
                              </m:r>
                            </m:e>
                            <m:sup>
                              <m: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nary>
                      <m:r>
                        <a:rPr lang="ru-RU" sz="2000" b="1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𝛟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ℳ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обозначает набор неправильно классифицированных шаблонов.</a:t>
                </a:r>
              </a:p>
              <a:p>
                <a:pPr marL="0" indent="0"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C4BF10E-A486-6744-B14D-AA9309E8D2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5961" y="1052736"/>
                <a:ext cx="8229600" cy="5616624"/>
              </a:xfrm>
              <a:blipFill>
                <a:blip r:embed="rId2"/>
                <a:stretch>
                  <a:fillRect l="-770" t="-677" b="-40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4872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>
            <a:extLst>
              <a:ext uri="{FF2B5EF4-FFF2-40B4-BE49-F238E27FC236}">
                <a16:creationId xmlns:a16="http://schemas.microsoft.com/office/drawing/2014/main" id="{3DB74AB5-BA52-9A49-B45B-81E9B53C0F0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0825" y="115888"/>
            <a:ext cx="8686800" cy="1143000"/>
          </a:xfrm>
        </p:spPr>
        <p:txBody>
          <a:bodyPr/>
          <a:lstStyle/>
          <a:p>
            <a:r>
              <a:rPr lang="ru" altLang="ru-RU" sz="3200"/>
              <a:t>Процедура сходимости персептрона</a:t>
            </a:r>
          </a:p>
        </p:txBody>
      </p:sp>
      <p:sp>
        <p:nvSpPr>
          <p:cNvPr id="265219" name="Rectangle 3">
            <a:extLst>
              <a:ext uri="{FF2B5EF4-FFF2-40B4-BE49-F238E27FC236}">
                <a16:creationId xmlns:a16="http://schemas.microsoft.com/office/drawing/2014/main" id="{36AE674C-BCF7-CE4B-A6D2-4140B329AD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3850" y="1341438"/>
            <a:ext cx="8507413" cy="499745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000" dirty="0"/>
              <a:t>Добавьте к каждому вектору признаков дополнительный компонент со значением 1. Вес «смещения» этого компонента равен минус пороговому значению. Теперь о пороговом значении можно забыть.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Выбирайте учебные случаи, используя любую политику, которая гарантирует, что каждый учебный случай будет выбран.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Если вывод правильный, оставьте его веса в покое.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Если выход равен 0, а должен быть 1, добавьте вектор признаков к вектору весов.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Если выход равен 1, а должен быть 0, вычтите вектор признаков из вектора веса.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Это гарантирует нахождение набора весов, который даст правильный ответ на всем обучающем наборе, </a:t>
            </a:r>
            <a:r>
              <a:rPr lang="ru" altLang="ru-RU" sz="2000" dirty="0">
                <a:solidFill>
                  <a:srgbClr val="FF0000"/>
                </a:solidFill>
              </a:rPr>
              <a:t>если такой набор существует.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Нет необходимости выбирать скорость обучения.</a:t>
            </a:r>
          </a:p>
          <a:p>
            <a:pPr>
              <a:lnSpc>
                <a:spcPct val="90000"/>
              </a:lnSpc>
            </a:pPr>
            <a:endParaRPr lang="en-US" altLang="ru-RU" sz="2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14" name="Rectangle 2">
            <a:extLst>
              <a:ext uri="{FF2B5EF4-FFF2-40B4-BE49-F238E27FC236}">
                <a16:creationId xmlns:a16="http://schemas.microsoft.com/office/drawing/2014/main" id="{8543FB45-9272-F34F-B10B-B8A99FF3FC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2800" dirty="0"/>
              <a:t>Естественный способ попытаться доказать сходимость</a:t>
            </a:r>
          </a:p>
        </p:txBody>
      </p:sp>
      <p:sp>
        <p:nvSpPr>
          <p:cNvPr id="269315" name="Rectangle 3">
            <a:extLst>
              <a:ext uri="{FF2B5EF4-FFF2-40B4-BE49-F238E27FC236}">
                <a16:creationId xmlns:a16="http://schemas.microsoft.com/office/drawing/2014/main" id="{59EF6660-6452-1A4C-A74A-DB6F947AFB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341438"/>
            <a:ext cx="8229600" cy="5183187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" altLang="ru-RU" sz="2000" dirty="0"/>
              <a:t>Очевидный подход — записать функцию ошибки и попытаться показать, что каждый шаг процедуры обучения уменьшает ошибку.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Для стохастического онлайн-обучения мы хотели бы показать, что каждый шаг уменьшает ожидаемую ошибку, где ожидание касается выбора обучающих случаев.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Это не может быть квадратичная ошибка, поскольку размер обновления не зависит от размера ошибки.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В учебнике в качестве меры погрешности пытаются использовать сумму расстояний на неправильной стороне поверхности принятия решений.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В результате был сделан вывод о том, что процедура сходимости персептрона не гарантирует снижения общей ошибки </a:t>
            </a:r>
            <a:r>
              <a:rPr lang="ru" altLang="ru-RU" sz="2000" i="1" dirty="0"/>
              <a:t>на каждом шаге</a:t>
            </a:r>
            <a:r>
              <a:rPr lang="ru" altLang="ru-RU" sz="2000" dirty="0"/>
              <a:t>.</a:t>
            </a:r>
          </a:p>
          <a:p>
            <a:pPr lvl="2">
              <a:lnSpc>
                <a:spcPct val="80000"/>
              </a:lnSpc>
            </a:pPr>
            <a:r>
              <a:rPr lang="ru" altLang="ru-RU" sz="1800" dirty="0"/>
              <a:t>Это справедливо для данной функции ошибки, даже если существует набор весов, дающий правильный ответ для каждого случая обучения.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42" name="Rectangle 2">
            <a:extLst>
              <a:ext uri="{FF2B5EF4-FFF2-40B4-BE49-F238E27FC236}">
                <a16:creationId xmlns:a16="http://schemas.microsoft.com/office/drawing/2014/main" id="{EE13BFD3-8F25-1E49-B334-807D90247A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6025" y="97637"/>
            <a:ext cx="8229600" cy="431652"/>
          </a:xfrm>
        </p:spPr>
        <p:txBody>
          <a:bodyPr/>
          <a:lstStyle/>
          <a:p>
            <a:r>
              <a:rPr lang="ru" altLang="ru-RU" sz="2800" dirty="0"/>
              <a:t>Вес и пространство данных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A1673D-44FA-AE43-935F-FF0558105256}"/>
              </a:ext>
            </a:extLst>
          </p:cNvPr>
          <p:cNvSpPr txBox="1"/>
          <p:nvPr/>
        </p:nvSpPr>
        <p:spPr>
          <a:xfrm>
            <a:off x="683568" y="5155404"/>
            <a:ext cx="7859216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50" dirty="0">
                <a:effectLst/>
                <a:latin typeface="Fd629057-Identity-H"/>
              </a:rPr>
              <a:t>Сходимость алгоритма обучения персептрона, на </a:t>
            </a:r>
            <a:r>
              <a:rPr lang="ru-RU" sz="1050" dirty="0" err="1">
                <a:effectLst/>
                <a:latin typeface="Fd629057-Identity-H"/>
              </a:rPr>
              <a:t>которои</a:t>
            </a:r>
            <a:r>
              <a:rPr lang="ru-RU" sz="1050" dirty="0">
                <a:effectLst/>
                <a:latin typeface="Fd629057-Identity-H"/>
              </a:rPr>
              <a:t>̆ показаны точки из двух классов {красного и синего) в двухмерном пространстве признаков </a:t>
            </a:r>
            <a:r>
              <a:rPr lang="ru-RU" sz="100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(ф1, ф2)</a:t>
            </a:r>
            <a:r>
              <a:rPr lang="ru-RU" sz="1600" dirty="0">
                <a:effectLst/>
                <a:latin typeface="Fd2560914-Identity-H"/>
              </a:rPr>
              <a:t>. </a:t>
            </a:r>
            <a:r>
              <a:rPr lang="ru-RU" sz="1100" dirty="0">
                <a:effectLst/>
                <a:latin typeface="Fd2561963-Identity-H"/>
              </a:rPr>
              <a:t>Слева </a:t>
            </a:r>
            <a:r>
              <a:rPr lang="ru-RU" sz="1050" dirty="0">
                <a:effectLst/>
                <a:latin typeface="Fd629057-Identity-H"/>
              </a:rPr>
              <a:t>вверху показан </a:t>
            </a:r>
            <a:r>
              <a:rPr lang="ru-RU" sz="1050" dirty="0" err="1">
                <a:effectLst/>
                <a:latin typeface="Fd629057-Identity-H"/>
              </a:rPr>
              <a:t>начальныи</a:t>
            </a:r>
            <a:r>
              <a:rPr lang="ru-RU" sz="1050" dirty="0">
                <a:effectLst/>
                <a:latin typeface="Fd629057-Identity-H"/>
              </a:rPr>
              <a:t>̆ вектор параметров </a:t>
            </a:r>
            <a:r>
              <a:rPr lang="en" sz="100" dirty="0">
                <a:effectLst/>
                <a:latin typeface="Fd2558666-Identity-H"/>
              </a:rPr>
              <a:t>w, </a:t>
            </a:r>
            <a:r>
              <a:rPr lang="ru-RU" sz="1050" dirty="0" err="1">
                <a:effectLst/>
                <a:latin typeface="Fd629057-Identity-H"/>
              </a:rPr>
              <a:t>представленныи</a:t>
            </a:r>
            <a:r>
              <a:rPr lang="ru-RU" sz="1050" dirty="0">
                <a:effectLst/>
                <a:latin typeface="Fd629057-Identity-H"/>
              </a:rPr>
              <a:t>̆ в виде </a:t>
            </a:r>
            <a:r>
              <a:rPr lang="ru-RU" sz="1050" dirty="0" err="1">
                <a:effectLst/>
                <a:latin typeface="Fd629057-Identity-H"/>
              </a:rPr>
              <a:t>чернои</a:t>
            </a:r>
            <a:r>
              <a:rPr lang="ru-RU" sz="1050" dirty="0">
                <a:effectLst/>
                <a:latin typeface="Fd629057-Identity-H"/>
              </a:rPr>
              <a:t>̆ стрелки вместе с </a:t>
            </a:r>
            <a:r>
              <a:rPr lang="ru-RU" sz="1050" dirty="0" err="1">
                <a:effectLst/>
                <a:latin typeface="Fd629057-Identity-H"/>
              </a:rPr>
              <a:t>соответствующеи</a:t>
            </a:r>
            <a:r>
              <a:rPr lang="ru-RU" sz="1050" dirty="0">
                <a:effectLst/>
                <a:latin typeface="Fd629057-Identity-H"/>
              </a:rPr>
              <a:t>̆ </a:t>
            </a:r>
            <a:r>
              <a:rPr lang="ru-RU" sz="1050" dirty="0" err="1">
                <a:effectLst/>
                <a:latin typeface="Fd629057-Identity-H"/>
              </a:rPr>
              <a:t>границеи</a:t>
            </a:r>
            <a:r>
              <a:rPr lang="ru-RU" sz="1050" dirty="0">
                <a:effectLst/>
                <a:latin typeface="Fd629057-Identity-H"/>
              </a:rPr>
              <a:t>̆ решения (черная линия), где стрелка указывает </a:t>
            </a:r>
            <a:r>
              <a:rPr lang="ru-RU" sz="1100" dirty="0">
                <a:effectLst/>
                <a:latin typeface="Fd2561963-Identity-H"/>
              </a:rPr>
              <a:t>на </a:t>
            </a:r>
            <a:r>
              <a:rPr lang="ru-RU" sz="1050" dirty="0">
                <a:effectLst/>
                <a:latin typeface="Fd629057-Identity-H"/>
              </a:rPr>
              <a:t>область принятия решения, которая классифицируется как принадлежащая к красному классу. Точка, обведенная зеленым кружком, классифицирована ошибочно, поэтому </a:t>
            </a:r>
            <a:r>
              <a:rPr lang="ru-RU" sz="1100" dirty="0">
                <a:effectLst/>
                <a:latin typeface="Fd2561963-Identity-H"/>
              </a:rPr>
              <a:t>ее </a:t>
            </a:r>
            <a:endParaRPr lang="ru-RU" sz="1050" dirty="0"/>
          </a:p>
          <a:p>
            <a:r>
              <a:rPr lang="ru-RU" sz="1050" dirty="0">
                <a:effectLst/>
                <a:latin typeface="Fd629057-Identity-H"/>
              </a:rPr>
              <a:t>вектор-функция добавляется к текущему вектору весов, что дает новую границу решения, показанную справа вверху. Слева внизу показана следующая ошибочная точка, обозначенная зеленым кружком, которую следует учесть, а ее вектор-функция снова добавляется к весовому вектору, давая границу решения, показанную </a:t>
            </a:r>
            <a:r>
              <a:rPr lang="ru-RU" sz="1100" dirty="0">
                <a:effectLst/>
                <a:latin typeface="Fd2561963-Identity-H"/>
              </a:rPr>
              <a:t>справа </a:t>
            </a:r>
            <a:r>
              <a:rPr lang="ru-RU" sz="1050" dirty="0">
                <a:effectLst/>
                <a:latin typeface="Fd629057-Identity-H"/>
              </a:rPr>
              <a:t>внизу, где все точки классифицированы правильно </a:t>
            </a:r>
            <a:endParaRPr lang="ru-RU" sz="105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137A5D-31CA-F44F-B227-BA9011FD35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065" y="518000"/>
            <a:ext cx="2355120" cy="235512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A6A2776-A91A-1140-968B-0C04CD25B4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176" y="518001"/>
            <a:ext cx="2355119" cy="235511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BC71842-2FE0-094F-AADD-B37EA964FF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665" y="2800284"/>
            <a:ext cx="2355120" cy="235512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FC4D6CC-11F4-0443-B9E6-EE1A82EDD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176" y="2759109"/>
            <a:ext cx="2396295" cy="239629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38" name="Rectangle 2">
            <a:extLst>
              <a:ext uri="{FF2B5EF4-FFF2-40B4-BE49-F238E27FC236}">
                <a16:creationId xmlns:a16="http://schemas.microsoft.com/office/drawing/2014/main" id="{2BCE0172-9792-874C-BE4A-5F515F8ABD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0825" y="341313"/>
            <a:ext cx="8686800" cy="1143000"/>
          </a:xfrm>
        </p:spPr>
        <p:txBody>
          <a:bodyPr/>
          <a:lstStyle/>
          <a:p>
            <a:r>
              <a:rPr lang="ru" altLang="ru-RU" dirty="0"/>
              <a:t>Лучший способ доказать сходимость </a:t>
            </a:r>
            <a:r>
              <a:rPr lang="ru" altLang="ru-RU" sz="2800" dirty="0"/>
              <a:t>(используя выпуклость решений в весовом пространстве)</a:t>
            </a:r>
          </a:p>
        </p:txBody>
      </p:sp>
      <p:sp>
        <p:nvSpPr>
          <p:cNvPr id="270339" name="Rectangle 3">
            <a:extLst>
              <a:ext uri="{FF2B5EF4-FFF2-40B4-BE49-F238E27FC236}">
                <a16:creationId xmlns:a16="http://schemas.microsoft.com/office/drawing/2014/main" id="{84E9B968-49A2-1344-96CD-748AB68E08B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2348880"/>
            <a:ext cx="8435975" cy="424877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000" dirty="0"/>
              <a:t>Очевидный тип функции ошибок измеряет расхождение между целевыми значениями и выходными данными модели.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Другой тип функции стоимости заключается в использовании квадрата расстояния между текущими весами и допустимым набором весов.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Используя эту функцию стоимости, мы можем показать, что каждый шаг процедуры уменьшает ошибку.</a:t>
            </a:r>
          </a:p>
          <a:p>
            <a:pPr lvl="2">
              <a:lnSpc>
                <a:spcPct val="90000"/>
              </a:lnSpc>
            </a:pPr>
            <a:r>
              <a:rPr lang="ru" altLang="ru-RU" sz="1800" dirty="0"/>
              <a:t>При условии, что существует набор допустимых весов.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Используя этот тип функции стоимости, процедуру можно легко обобщить на более чем два класса, используя правило принятия решений MAX.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2">
            <a:extLst>
              <a:ext uri="{FF2B5EF4-FFF2-40B4-BE49-F238E27FC236}">
                <a16:creationId xmlns:a16="http://schemas.microsoft.com/office/drawing/2014/main" id="{505B8AE3-52BC-C44F-A609-C2F5DEDF31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Почему процедура обучения работает</a:t>
            </a:r>
          </a:p>
        </p:txBody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8EFCB667-1C31-F645-BF7D-5EF74F0AFAA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25361" y="1372658"/>
            <a:ext cx="3671887" cy="5245100"/>
          </a:xfrm>
        </p:spPr>
        <p:txBody>
          <a:bodyPr/>
          <a:lstStyle/>
          <a:p>
            <a:r>
              <a:rPr lang="ru" altLang="ru-RU" sz="1800" dirty="0"/>
              <a:t>Рассмотрим квадрат расстояния между любым удовлетворительным весовым вектором и текущим весовым вектором.</a:t>
            </a:r>
          </a:p>
          <a:p>
            <a:pPr lvl="1"/>
            <a:r>
              <a:rPr lang="ru" altLang="ru-RU" sz="1800" dirty="0"/>
              <a:t>Каждый раз, когда персептрон совершает ошибку, алгоритм обучения уменьшает квадрат расстояния между текущим вектором веса и любым удовлетворительным вектором веса </a:t>
            </a:r>
            <a:r>
              <a:rPr lang="ru" altLang="ru-RU" sz="1800" dirty="0">
                <a:solidFill>
                  <a:schemeClr val="hlink"/>
                </a:solidFill>
              </a:rPr>
              <a:t>(если только он не пересекает плоскость принятия решений).</a:t>
            </a:r>
          </a:p>
        </p:txBody>
      </p:sp>
      <p:sp>
        <p:nvSpPr>
          <p:cNvPr id="267268" name="Rectangle 4">
            <a:extLst>
              <a:ext uri="{FF2B5EF4-FFF2-40B4-BE49-F238E27FC236}">
                <a16:creationId xmlns:a16="http://schemas.microsoft.com/office/drawing/2014/main" id="{E863773B-2290-414E-9A0A-F5017127F81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3924300" y="1412875"/>
            <a:ext cx="5040313" cy="4525963"/>
          </a:xfrm>
        </p:spPr>
        <p:txBody>
          <a:bodyPr/>
          <a:lstStyle/>
          <a:p>
            <a:r>
              <a:rPr lang="ru" altLang="ru-RU" sz="2000" dirty="0"/>
              <a:t>Поэтому рассмотрим «вполне удовлетворительные» векторы веса, которые лежат в допустимой области с запасом, по крайней мере таким же большим, как и наибольшее обновление.</a:t>
            </a:r>
          </a:p>
          <a:p>
            <a:pPr lvl="1"/>
            <a:r>
              <a:rPr lang="ru" altLang="ru-RU" sz="2000" dirty="0"/>
              <a:t>Каждый раз, когда персептрон совершает ошибку, квадрат расстояния до всех этих весовых векторов всегда уменьшается по крайней мере на квадрат длины наименьшего вектора обновления.</a:t>
            </a:r>
          </a:p>
          <a:p>
            <a:endParaRPr lang="en-US" altLang="ru-RU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Rectangle 2">
            <a:extLst>
              <a:ext uri="{FF2B5EF4-FFF2-40B4-BE49-F238E27FC236}">
                <a16:creationId xmlns:a16="http://schemas.microsoft.com/office/drawing/2014/main" id="{4B074EE7-BBD3-7244-AE8A-D674BD0015F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Чему персептроны не могут научиться</a:t>
            </a:r>
          </a:p>
        </p:txBody>
      </p:sp>
      <p:sp>
        <p:nvSpPr>
          <p:cNvPr id="268291" name="Rectangle 3">
            <a:extLst>
              <a:ext uri="{FF2B5EF4-FFF2-40B4-BE49-F238E27FC236}">
                <a16:creationId xmlns:a16="http://schemas.microsoft.com/office/drawing/2014/main" id="{E67B73EA-3757-5449-88A0-FBF5A9D35A9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0" y="1125538"/>
            <a:ext cx="4787900" cy="4137025"/>
          </a:xfrm>
        </p:spPr>
        <p:txBody>
          <a:bodyPr/>
          <a:lstStyle/>
          <a:p>
            <a:pPr>
              <a:lnSpc>
                <a:spcPct val="90000"/>
              </a:lnSpc>
            </a:pPr>
            <a:endParaRPr lang="en-US" altLang="ru-RU" sz="2000" dirty="0"/>
          </a:p>
          <a:p>
            <a:pPr>
              <a:lnSpc>
                <a:spcPct val="90000"/>
              </a:lnSpc>
            </a:pPr>
            <a:r>
              <a:rPr lang="ru" altLang="ru-RU" sz="2000" dirty="0"/>
              <a:t>Адаптивная часть персептрона не может даже определить, имеют ли два однобитовых признака одинаковое значение!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ru" altLang="ru-RU" sz="2000" dirty="0">
                <a:solidFill>
                  <a:srgbClr val="3333CC"/>
                </a:solidFill>
              </a:rPr>
              <a:t>Одинаковые </a:t>
            </a:r>
            <a:r>
              <a:rPr lang="ru" altLang="ru-RU" sz="2000" dirty="0"/>
              <a:t>: (1,1) </a:t>
            </a:r>
            <a:r>
              <a:rPr lang="ru" altLang="ru-RU" sz="2000" dirty="0">
                <a:sym typeface="Wingdings" pitchFamily="2" charset="2"/>
              </a:rPr>
              <a:t> 1; (0,0)  1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ru" altLang="ru-RU" sz="2000" dirty="0">
                <a:solidFill>
                  <a:srgbClr val="3333CC"/>
                </a:solidFill>
                <a:sym typeface="Wingdings" pitchFamily="2" charset="2"/>
              </a:rPr>
              <a:t>Разные </a:t>
            </a:r>
            <a:r>
              <a:rPr lang="ru" altLang="ru-RU" sz="2000" dirty="0">
                <a:sym typeface="Wingdings" pitchFamily="2" charset="2"/>
              </a:rPr>
              <a:t>: (1,0)  0; (0,1)  0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Четыре пары «признак-выход» дают четыре неравенства, которые невозможно удовлетворить: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ru" altLang="ru-RU" sz="2000" dirty="0">
                <a:sym typeface="Wingdings" pitchFamily="2" charset="2"/>
              </a:rPr>
              <a:t>   </a:t>
            </a:r>
          </a:p>
        </p:txBody>
      </p:sp>
      <p:graphicFrame>
        <p:nvGraphicFramePr>
          <p:cNvPr id="268292" name="Object 4">
            <a:extLst>
              <a:ext uri="{FF2B5EF4-FFF2-40B4-BE49-F238E27FC236}">
                <a16:creationId xmlns:a16="http://schemas.microsoft.com/office/drawing/2014/main" id="{DB17B6DB-22E4-B44D-BA16-8593FB5D715B}"/>
              </a:ext>
            </a:extLst>
          </p:cNvPr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898490204"/>
              </p:ext>
            </p:extLst>
          </p:nvPr>
        </p:nvGraphicFramePr>
        <p:xfrm>
          <a:off x="951707" y="4316414"/>
          <a:ext cx="3024187" cy="1122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8317" name="Equation" r:id="rId3" imgW="28384500" imgH="10528300" progId="Equation.3">
                  <p:embed/>
                </p:oleObj>
              </mc:Choice>
              <mc:Fallback>
                <p:oleObj name="Equation" r:id="rId3" imgW="28384500" imgH="105283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1707" y="4316414"/>
                        <a:ext cx="3024187" cy="1122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8293" name="Text Box 5">
            <a:extLst>
              <a:ext uri="{FF2B5EF4-FFF2-40B4-BE49-F238E27FC236}">
                <a16:creationId xmlns:a16="http://schemas.microsoft.com/office/drawing/2014/main" id="{52C8715C-E44C-9F48-B87E-D40343EFC2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0063" y="1819275"/>
            <a:ext cx="2881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ru" altLang="ru-RU" sz="2400"/>
              <a:t>Пространство данных</a:t>
            </a:r>
          </a:p>
        </p:txBody>
      </p:sp>
      <p:sp>
        <p:nvSpPr>
          <p:cNvPr id="268294" name="Rectangle 6">
            <a:extLst>
              <a:ext uri="{FF2B5EF4-FFF2-40B4-BE49-F238E27FC236}">
                <a16:creationId xmlns:a16="http://schemas.microsoft.com/office/drawing/2014/main" id="{25393730-3193-9F41-A65D-9CF6D013E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0063" y="2708275"/>
            <a:ext cx="2663825" cy="25209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295" name="Text Box 7">
            <a:extLst>
              <a:ext uri="{FF2B5EF4-FFF2-40B4-BE49-F238E27FC236}">
                <a16:creationId xmlns:a16="http://schemas.microsoft.com/office/drawing/2014/main" id="{013FD4EB-F70A-1944-989E-1D9B083C5C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7900" y="2420938"/>
            <a:ext cx="60801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009900"/>
                </a:solidFill>
              </a:rPr>
              <a:t>0,1</a:t>
            </a:r>
          </a:p>
        </p:txBody>
      </p:sp>
      <p:sp>
        <p:nvSpPr>
          <p:cNvPr id="268296" name="Text Box 8">
            <a:extLst>
              <a:ext uri="{FF2B5EF4-FFF2-40B4-BE49-F238E27FC236}">
                <a16:creationId xmlns:a16="http://schemas.microsoft.com/office/drawing/2014/main" id="{62A0DD92-8C09-1A44-B0D0-6386BF3852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7900" y="5157788"/>
            <a:ext cx="60801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009900"/>
                </a:solidFill>
              </a:rPr>
              <a:t>0,0</a:t>
            </a:r>
          </a:p>
        </p:txBody>
      </p:sp>
      <p:sp>
        <p:nvSpPr>
          <p:cNvPr id="268297" name="Text Box 9">
            <a:extLst>
              <a:ext uri="{FF2B5EF4-FFF2-40B4-BE49-F238E27FC236}">
                <a16:creationId xmlns:a16="http://schemas.microsoft.com/office/drawing/2014/main" id="{9F48D555-95AC-D045-AAB9-AD2317B3CE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5163" y="5132388"/>
            <a:ext cx="6080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009900"/>
                </a:solidFill>
              </a:rPr>
              <a:t>1,0</a:t>
            </a:r>
          </a:p>
        </p:txBody>
      </p:sp>
      <p:sp>
        <p:nvSpPr>
          <p:cNvPr id="268298" name="Text Box 10">
            <a:extLst>
              <a:ext uri="{FF2B5EF4-FFF2-40B4-BE49-F238E27FC236}">
                <a16:creationId xmlns:a16="http://schemas.microsoft.com/office/drawing/2014/main" id="{ABE4687F-9172-A544-85A5-366F13D03B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5163" y="2420938"/>
            <a:ext cx="6080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009900"/>
                </a:solidFill>
              </a:rPr>
              <a:t>1,1</a:t>
            </a:r>
          </a:p>
        </p:txBody>
      </p:sp>
      <p:sp>
        <p:nvSpPr>
          <p:cNvPr id="268299" name="Oval 11">
            <a:extLst>
              <a:ext uri="{FF2B5EF4-FFF2-40B4-BE49-F238E27FC236}">
                <a16:creationId xmlns:a16="http://schemas.microsoft.com/office/drawing/2014/main" id="{AF793EEE-3BF3-E649-8163-2FAE4CA264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638425"/>
            <a:ext cx="142875" cy="1428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300" name="Oval 12">
            <a:extLst>
              <a:ext uri="{FF2B5EF4-FFF2-40B4-BE49-F238E27FC236}">
                <a16:creationId xmlns:a16="http://schemas.microsoft.com/office/drawing/2014/main" id="{F5919236-5130-DB4C-AC9D-1CB80492E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038" y="2636838"/>
            <a:ext cx="142875" cy="142875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301" name="Oval 13">
            <a:extLst>
              <a:ext uri="{FF2B5EF4-FFF2-40B4-BE49-F238E27FC236}">
                <a16:creationId xmlns:a16="http://schemas.microsoft.com/office/drawing/2014/main" id="{B3AD956F-1A85-2946-8CF7-A02C7A5EF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038" y="5157788"/>
            <a:ext cx="142875" cy="1428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302" name="Oval 14">
            <a:extLst>
              <a:ext uri="{FF2B5EF4-FFF2-40B4-BE49-F238E27FC236}">
                <a16:creationId xmlns:a16="http://schemas.microsoft.com/office/drawing/2014/main" id="{9951A45C-FD53-2C47-A5F8-1B4CB69409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5157788"/>
            <a:ext cx="142875" cy="142875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303" name="Line 15">
            <a:extLst>
              <a:ext uri="{FF2B5EF4-FFF2-40B4-BE49-F238E27FC236}">
                <a16:creationId xmlns:a16="http://schemas.microsoft.com/office/drawing/2014/main" id="{A3F71793-C8D1-7046-B510-557BED955D83}"/>
              </a:ext>
            </a:extLst>
          </p:cNvPr>
          <p:cNvSpPr>
            <a:spLocks noChangeShapeType="1"/>
          </p:cNvSpPr>
          <p:nvPr/>
        </p:nvSpPr>
        <p:spPr bwMode="auto">
          <a:xfrm>
            <a:off x="5003800" y="3644900"/>
            <a:ext cx="3816350" cy="1079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68304" name="Text Box 16">
            <a:extLst>
              <a:ext uri="{FF2B5EF4-FFF2-40B4-BE49-F238E27FC236}">
                <a16:creationId xmlns:a16="http://schemas.microsoft.com/office/drawing/2014/main" id="{ED6EF7CC-9113-FA4D-A3AE-A2FBCD6393A7}"/>
              </a:ext>
            </a:extLst>
          </p:cNvPr>
          <p:cNvSpPr txBox="1">
            <a:spLocks noChangeArrowheads="1"/>
          </p:cNvSpPr>
          <p:nvPr/>
        </p:nvSpPr>
        <p:spPr bwMode="auto">
          <a:xfrm rot="889701">
            <a:off x="4932363" y="3789363"/>
            <a:ext cx="161131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000">
                <a:solidFill>
                  <a:srgbClr val="3333CC"/>
                </a:solidFill>
              </a:rPr>
              <a:t>весовой самолет</a:t>
            </a:r>
          </a:p>
        </p:txBody>
      </p:sp>
      <p:sp>
        <p:nvSpPr>
          <p:cNvPr id="268305" name="Text Box 17">
            <a:extLst>
              <a:ext uri="{FF2B5EF4-FFF2-40B4-BE49-F238E27FC236}">
                <a16:creationId xmlns:a16="http://schemas.microsoft.com/office/drawing/2014/main" id="{671DBE8E-F430-B84C-97EC-D31AAB65B57D}"/>
              </a:ext>
            </a:extLst>
          </p:cNvPr>
          <p:cNvSpPr txBox="1">
            <a:spLocks noChangeArrowheads="1"/>
          </p:cNvSpPr>
          <p:nvPr/>
        </p:nvSpPr>
        <p:spPr bwMode="auto">
          <a:xfrm rot="864816">
            <a:off x="6924675" y="4022725"/>
            <a:ext cx="1247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000">
                <a:solidFill>
                  <a:srgbClr val="3333CC"/>
                </a:solidFill>
              </a:rPr>
              <a:t>выход =1</a:t>
            </a:r>
          </a:p>
          <a:p>
            <a:r>
              <a:rPr lang="ru" altLang="ru-RU" sz="2000">
                <a:solidFill>
                  <a:srgbClr val="3333CC"/>
                </a:solidFill>
              </a:rPr>
              <a:t>выход =0</a:t>
            </a:r>
          </a:p>
        </p:txBody>
      </p:sp>
      <p:sp>
        <p:nvSpPr>
          <p:cNvPr id="268306" name="Text Box 18">
            <a:extLst>
              <a:ext uri="{FF2B5EF4-FFF2-40B4-BE49-F238E27FC236}">
                <a16:creationId xmlns:a16="http://schemas.microsoft.com/office/drawing/2014/main" id="{617F64AC-94FF-494F-849C-64F24DCA7C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2225" y="5881687"/>
            <a:ext cx="3811587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000" dirty="0">
                <a:solidFill>
                  <a:srgbClr val="FF0000"/>
                </a:solidFill>
              </a:rPr>
              <a:t>Положительные и отрицательные случаи</a:t>
            </a:r>
          </a:p>
          <a:p>
            <a:r>
              <a:rPr lang="ru" altLang="ru-RU" sz="2000" dirty="0">
                <a:solidFill>
                  <a:srgbClr val="FF0000"/>
                </a:solidFill>
              </a:rPr>
              <a:t>не могут быть разделены плоскостью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C3924089-069A-3B45-862B-8549E0E2A6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Что умеют персептроны?</a:t>
            </a:r>
          </a:p>
        </p:txBody>
      </p:sp>
      <p:sp>
        <p:nvSpPr>
          <p:cNvPr id="271363" name="Rectangle 3">
            <a:extLst>
              <a:ext uri="{FF2B5EF4-FFF2-40B4-BE49-F238E27FC236}">
                <a16:creationId xmlns:a16="http://schemas.microsoft.com/office/drawing/2014/main" id="{24B0A218-348A-4F4A-A8F8-20F25077DA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405274"/>
            <a:ext cx="82296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dirty="0"/>
              <a:t>Они могут решать задачи только в том случае, если закодированные вручную признаки преобразуют исходную задачу в линейно разделимую. Насколько это сложно?</a:t>
            </a:r>
          </a:p>
          <a:p>
            <a:pPr>
              <a:lnSpc>
                <a:spcPct val="90000"/>
              </a:lnSpc>
            </a:pPr>
            <a:r>
              <a:rPr lang="ru" altLang="ru-RU" dirty="0"/>
              <a:t>Задача проверки четности N-бит:</a:t>
            </a:r>
          </a:p>
          <a:p>
            <a:pPr lvl="1">
              <a:lnSpc>
                <a:spcPct val="90000"/>
              </a:lnSpc>
            </a:pPr>
            <a:r>
              <a:rPr lang="ru" altLang="ru-RU" dirty="0"/>
              <a:t>Требуется N признаков вида: Включены ли по крайней мере m бит?</a:t>
            </a:r>
          </a:p>
          <a:p>
            <a:pPr lvl="1">
              <a:lnSpc>
                <a:spcPct val="90000"/>
              </a:lnSpc>
            </a:pPr>
            <a:r>
              <a:rPr lang="ru" altLang="ru-RU" dirty="0"/>
              <a:t>Каждая функция должна учитывать </a:t>
            </a:r>
            <a:r>
              <a:rPr lang="ru" altLang="ru-RU" dirty="0">
                <a:solidFill>
                  <a:srgbClr val="FF0000"/>
                </a:solidFill>
              </a:rPr>
              <a:t>все </a:t>
            </a:r>
            <a:r>
              <a:rPr lang="ru" altLang="ru-RU" dirty="0"/>
              <a:t>компоненты входных данных.</a:t>
            </a:r>
          </a:p>
          <a:p>
            <a:pPr>
              <a:lnSpc>
                <a:spcPct val="90000"/>
              </a:lnSpc>
            </a:pPr>
            <a:r>
              <a:rPr lang="ru" altLang="ru-RU" dirty="0"/>
              <a:t>Задача на двумерную связность</a:t>
            </a:r>
          </a:p>
          <a:p>
            <a:pPr lvl="1">
              <a:lnSpc>
                <a:spcPct val="90000"/>
              </a:lnSpc>
            </a:pPr>
            <a:r>
              <a:rPr lang="ru" altLang="ru-RU" dirty="0"/>
              <a:t>требуется экспоненциальное количество функций!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Rectangle 2">
            <a:extLst>
              <a:ext uri="{FF2B5EF4-FFF2-40B4-BE49-F238E27FC236}">
                <a16:creationId xmlns:a16="http://schemas.microsoft.com/office/drawing/2014/main" id="{6FD4E03C-3CEA-4848-899A-9702CA0FD7B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26988"/>
            <a:ext cx="8229600" cy="1143001"/>
          </a:xfrm>
        </p:spPr>
        <p:txBody>
          <a:bodyPr/>
          <a:lstStyle/>
          <a:p>
            <a:r>
              <a:rPr lang="ru" altLang="ru-RU"/>
              <a:t>Задача проверки четности N-бит</a:t>
            </a:r>
          </a:p>
        </p:txBody>
      </p:sp>
      <p:sp>
        <p:nvSpPr>
          <p:cNvPr id="272387" name="Rectangle 3">
            <a:extLst>
              <a:ext uri="{FF2B5EF4-FFF2-40B4-BE49-F238E27FC236}">
                <a16:creationId xmlns:a16="http://schemas.microsoft.com/office/drawing/2014/main" id="{78D40DC8-595C-524C-891E-12D37DB0A16B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052513"/>
            <a:ext cx="4038600" cy="507365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400"/>
              <a:t>Существует простое решение, требующее N скрытых единиц.</a:t>
            </a:r>
          </a:p>
          <a:p>
            <a:pPr lvl="1">
              <a:lnSpc>
                <a:spcPct val="90000"/>
              </a:lnSpc>
            </a:pPr>
            <a:r>
              <a:rPr lang="ru" altLang="ru-RU" sz="2400"/>
              <a:t>Каждый скрытый блок вычисляет, включено ли более M входов.</a:t>
            </a:r>
          </a:p>
          <a:p>
            <a:pPr lvl="1">
              <a:lnSpc>
                <a:spcPct val="90000"/>
              </a:lnSpc>
            </a:pPr>
            <a:r>
              <a:rPr lang="ru" altLang="ru-RU" sz="2400"/>
              <a:t>Это линейно разделимая задача.</a:t>
            </a:r>
          </a:p>
          <a:p>
            <a:pPr>
              <a:lnSpc>
                <a:spcPct val="90000"/>
              </a:lnSpc>
            </a:pPr>
            <a:r>
              <a:rPr lang="ru" altLang="ru-RU" sz="2400"/>
              <a:t>Существует множество вариантов этого решения.</a:t>
            </a:r>
          </a:p>
          <a:p>
            <a:pPr lvl="1">
              <a:lnSpc>
                <a:spcPct val="90000"/>
              </a:lnSpc>
            </a:pPr>
            <a:r>
              <a:rPr lang="ru" altLang="ru-RU" sz="2400"/>
              <a:t>Этому можно научиться.</a:t>
            </a:r>
          </a:p>
          <a:p>
            <a:pPr lvl="1">
              <a:lnSpc>
                <a:spcPct val="90000"/>
              </a:lnSpc>
            </a:pPr>
            <a:r>
              <a:rPr lang="ru" altLang="ru-RU" sz="2400"/>
              <a:t>Он хорошо обобщает, если:</a:t>
            </a:r>
          </a:p>
        </p:txBody>
      </p:sp>
      <p:sp>
        <p:nvSpPr>
          <p:cNvPr id="272388" name="Oval 4">
            <a:extLst>
              <a:ext uri="{FF2B5EF4-FFF2-40B4-BE49-F238E27FC236}">
                <a16:creationId xmlns:a16="http://schemas.microsoft.com/office/drawing/2014/main" id="{B27189B4-1A9F-854C-82E2-DE0E838B2E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7400" y="3429000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89" name="Oval 5">
            <a:extLst>
              <a:ext uri="{FF2B5EF4-FFF2-40B4-BE49-F238E27FC236}">
                <a16:creationId xmlns:a16="http://schemas.microsoft.com/office/drawing/2014/main" id="{8F45DD47-5DB0-3048-A8E7-10059E448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00" y="3429000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0" name="Oval 6">
            <a:extLst>
              <a:ext uri="{FF2B5EF4-FFF2-40B4-BE49-F238E27FC236}">
                <a16:creationId xmlns:a16="http://schemas.microsoft.com/office/drawing/2014/main" id="{9CA633BC-C5AB-C943-9087-B4F62557E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3429000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1" name="Oval 7">
            <a:extLst>
              <a:ext uri="{FF2B5EF4-FFF2-40B4-BE49-F238E27FC236}">
                <a16:creationId xmlns:a16="http://schemas.microsoft.com/office/drawing/2014/main" id="{ACD0A3F9-183D-E446-ADF0-33700BDEB2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900" y="3429000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2" name="Oval 8">
            <a:extLst>
              <a:ext uri="{FF2B5EF4-FFF2-40B4-BE49-F238E27FC236}">
                <a16:creationId xmlns:a16="http://schemas.microsoft.com/office/drawing/2014/main" id="{A0730547-B738-0040-AABA-B9E1584E16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7400" y="5157788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3" name="Oval 9">
            <a:extLst>
              <a:ext uri="{FF2B5EF4-FFF2-40B4-BE49-F238E27FC236}">
                <a16:creationId xmlns:a16="http://schemas.microsoft.com/office/drawing/2014/main" id="{22843594-DC29-E94A-AC61-0E78652971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00" y="5157788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4" name="Oval 10">
            <a:extLst>
              <a:ext uri="{FF2B5EF4-FFF2-40B4-BE49-F238E27FC236}">
                <a16:creationId xmlns:a16="http://schemas.microsoft.com/office/drawing/2014/main" id="{87CA7483-7197-904B-9061-7723EBF39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5157788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5" name="Oval 11">
            <a:extLst>
              <a:ext uri="{FF2B5EF4-FFF2-40B4-BE49-F238E27FC236}">
                <a16:creationId xmlns:a16="http://schemas.microsoft.com/office/drawing/2014/main" id="{4D26494B-89E2-7D48-9FAF-422553C44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900" y="5157788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6" name="Oval 12">
            <a:extLst>
              <a:ext uri="{FF2B5EF4-FFF2-40B4-BE49-F238E27FC236}">
                <a16:creationId xmlns:a16="http://schemas.microsoft.com/office/drawing/2014/main" id="{430E455A-4003-5446-B6B6-21B05D98D2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1700213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cxnSp>
        <p:nvCxnSpPr>
          <p:cNvPr id="272397" name="AutoShape 13">
            <a:extLst>
              <a:ext uri="{FF2B5EF4-FFF2-40B4-BE49-F238E27FC236}">
                <a16:creationId xmlns:a16="http://schemas.microsoft.com/office/drawing/2014/main" id="{188CE5E3-C85E-F946-A4D4-DF6A6285A1D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076825" y="4076700"/>
            <a:ext cx="0" cy="10810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398" name="AutoShape 14">
            <a:extLst>
              <a:ext uri="{FF2B5EF4-FFF2-40B4-BE49-F238E27FC236}">
                <a16:creationId xmlns:a16="http://schemas.microsoft.com/office/drawing/2014/main" id="{53A7C598-667D-2148-8755-E826E7CBD3FC}"/>
              </a:ext>
            </a:extLst>
          </p:cNvPr>
          <p:cNvCxnSpPr>
            <a:cxnSpLocks noChangeShapeType="1"/>
            <a:stCxn id="272392" idx="1"/>
            <a:endCxn id="272391" idx="4"/>
          </p:cNvCxnSpPr>
          <p:nvPr/>
        </p:nvCxnSpPr>
        <p:spPr bwMode="auto">
          <a:xfrm flipH="1" flipV="1">
            <a:off x="5111750" y="4076700"/>
            <a:ext cx="850900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399" name="AutoShape 15">
            <a:extLst>
              <a:ext uri="{FF2B5EF4-FFF2-40B4-BE49-F238E27FC236}">
                <a16:creationId xmlns:a16="http://schemas.microsoft.com/office/drawing/2014/main" id="{0C8A8B91-8069-D64C-B3A1-DC69C642F0F7}"/>
              </a:ext>
            </a:extLst>
          </p:cNvPr>
          <p:cNvCxnSpPr>
            <a:cxnSpLocks noChangeShapeType="1"/>
            <a:stCxn id="272393" idx="0"/>
            <a:endCxn id="272391" idx="5"/>
          </p:cNvCxnSpPr>
          <p:nvPr/>
        </p:nvCxnSpPr>
        <p:spPr bwMode="auto">
          <a:xfrm flipH="1" flipV="1">
            <a:off x="5340350" y="3981450"/>
            <a:ext cx="1930400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0" name="AutoShape 16">
            <a:extLst>
              <a:ext uri="{FF2B5EF4-FFF2-40B4-BE49-F238E27FC236}">
                <a16:creationId xmlns:a16="http://schemas.microsoft.com/office/drawing/2014/main" id="{D483E61A-FCBF-C94B-9550-26E8AED42388}"/>
              </a:ext>
            </a:extLst>
          </p:cNvPr>
          <p:cNvCxnSpPr>
            <a:cxnSpLocks noChangeShapeType="1"/>
            <a:stCxn id="272394" idx="0"/>
            <a:endCxn id="272391" idx="5"/>
          </p:cNvCxnSpPr>
          <p:nvPr/>
        </p:nvCxnSpPr>
        <p:spPr bwMode="auto">
          <a:xfrm flipH="1" flipV="1">
            <a:off x="5340350" y="3981450"/>
            <a:ext cx="2868613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1" name="AutoShape 17">
            <a:extLst>
              <a:ext uri="{FF2B5EF4-FFF2-40B4-BE49-F238E27FC236}">
                <a16:creationId xmlns:a16="http://schemas.microsoft.com/office/drawing/2014/main" id="{6F47D159-4421-EB4B-A1AB-A72AE49DA75C}"/>
              </a:ext>
            </a:extLst>
          </p:cNvPr>
          <p:cNvCxnSpPr>
            <a:cxnSpLocks noChangeShapeType="1"/>
            <a:stCxn id="272395" idx="0"/>
            <a:endCxn id="272388" idx="3"/>
          </p:cNvCxnSpPr>
          <p:nvPr/>
        </p:nvCxnSpPr>
        <p:spPr bwMode="auto">
          <a:xfrm flipV="1">
            <a:off x="5111750" y="3981450"/>
            <a:ext cx="850900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2" name="AutoShape 18">
            <a:extLst>
              <a:ext uri="{FF2B5EF4-FFF2-40B4-BE49-F238E27FC236}">
                <a16:creationId xmlns:a16="http://schemas.microsoft.com/office/drawing/2014/main" id="{67FCC919-9963-4243-860E-04B343D5A24B}"/>
              </a:ext>
            </a:extLst>
          </p:cNvPr>
          <p:cNvCxnSpPr>
            <a:cxnSpLocks noChangeShapeType="1"/>
            <a:stCxn id="272392" idx="0"/>
            <a:endCxn id="272388" idx="4"/>
          </p:cNvCxnSpPr>
          <p:nvPr/>
        </p:nvCxnSpPr>
        <p:spPr bwMode="auto">
          <a:xfrm flipV="1">
            <a:off x="6191250" y="4076700"/>
            <a:ext cx="0" cy="10810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3" name="AutoShape 19">
            <a:extLst>
              <a:ext uri="{FF2B5EF4-FFF2-40B4-BE49-F238E27FC236}">
                <a16:creationId xmlns:a16="http://schemas.microsoft.com/office/drawing/2014/main" id="{4C937F71-12E1-A943-A913-105E95E463E6}"/>
              </a:ext>
            </a:extLst>
          </p:cNvPr>
          <p:cNvCxnSpPr>
            <a:cxnSpLocks noChangeShapeType="1"/>
            <a:stCxn id="272393" idx="0"/>
            <a:endCxn id="272388" idx="5"/>
          </p:cNvCxnSpPr>
          <p:nvPr/>
        </p:nvCxnSpPr>
        <p:spPr bwMode="auto">
          <a:xfrm flipH="1" flipV="1">
            <a:off x="6419850" y="3981450"/>
            <a:ext cx="850900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4" name="AutoShape 20">
            <a:extLst>
              <a:ext uri="{FF2B5EF4-FFF2-40B4-BE49-F238E27FC236}">
                <a16:creationId xmlns:a16="http://schemas.microsoft.com/office/drawing/2014/main" id="{7F3DBAC8-BA3F-EC41-BEC4-91629E34E814}"/>
              </a:ext>
            </a:extLst>
          </p:cNvPr>
          <p:cNvCxnSpPr>
            <a:cxnSpLocks noChangeShapeType="1"/>
            <a:stCxn id="272394" idx="0"/>
            <a:endCxn id="272388" idx="5"/>
          </p:cNvCxnSpPr>
          <p:nvPr/>
        </p:nvCxnSpPr>
        <p:spPr bwMode="auto">
          <a:xfrm flipH="1" flipV="1">
            <a:off x="6419850" y="3981450"/>
            <a:ext cx="1789113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2405" name="Text Box 21">
            <a:extLst>
              <a:ext uri="{FF2B5EF4-FFF2-40B4-BE49-F238E27FC236}">
                <a16:creationId xmlns:a16="http://schemas.microsoft.com/office/drawing/2014/main" id="{19FD9BD9-968B-0240-8E26-2CC3C4CE0E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3500438"/>
            <a:ext cx="4824413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ru-RU" altLang="ru-RU"/>
          </a:p>
        </p:txBody>
      </p:sp>
      <p:sp>
        <p:nvSpPr>
          <p:cNvPr id="272406" name="Text Box 22">
            <a:extLst>
              <a:ext uri="{FF2B5EF4-FFF2-40B4-BE49-F238E27FC236}">
                <a16:creationId xmlns:a16="http://schemas.microsoft.com/office/drawing/2014/main" id="{C626C719-CEB2-E842-AA0B-175C7A726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7900" y="3486150"/>
            <a:ext cx="4176713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dirty="0"/>
              <a:t>&gt;0        &gt;1       &gt;2     &gt;3</a:t>
            </a:r>
          </a:p>
        </p:txBody>
      </p:sp>
      <p:cxnSp>
        <p:nvCxnSpPr>
          <p:cNvPr id="272407" name="AutoShape 23">
            <a:extLst>
              <a:ext uri="{FF2B5EF4-FFF2-40B4-BE49-F238E27FC236}">
                <a16:creationId xmlns:a16="http://schemas.microsoft.com/office/drawing/2014/main" id="{0F1E7DF7-CC85-8343-A1A5-28980C9D5CDD}"/>
              </a:ext>
            </a:extLst>
          </p:cNvPr>
          <p:cNvCxnSpPr>
            <a:cxnSpLocks noChangeShapeType="1"/>
            <a:stCxn id="272391" idx="0"/>
            <a:endCxn id="272396" idx="3"/>
          </p:cNvCxnSpPr>
          <p:nvPr/>
        </p:nvCxnSpPr>
        <p:spPr bwMode="auto">
          <a:xfrm flipV="1">
            <a:off x="5111750" y="2252663"/>
            <a:ext cx="1355725" cy="117633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8" name="AutoShape 24">
            <a:extLst>
              <a:ext uri="{FF2B5EF4-FFF2-40B4-BE49-F238E27FC236}">
                <a16:creationId xmlns:a16="http://schemas.microsoft.com/office/drawing/2014/main" id="{BE488393-E0E5-F348-A2AE-C39AABB6EC0E}"/>
              </a:ext>
            </a:extLst>
          </p:cNvPr>
          <p:cNvCxnSpPr>
            <a:cxnSpLocks noChangeShapeType="1"/>
            <a:stCxn id="272388" idx="0"/>
            <a:endCxn id="272396" idx="4"/>
          </p:cNvCxnSpPr>
          <p:nvPr/>
        </p:nvCxnSpPr>
        <p:spPr bwMode="auto">
          <a:xfrm flipV="1">
            <a:off x="6191250" y="2347913"/>
            <a:ext cx="504825" cy="10810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9" name="AutoShape 25">
            <a:extLst>
              <a:ext uri="{FF2B5EF4-FFF2-40B4-BE49-F238E27FC236}">
                <a16:creationId xmlns:a16="http://schemas.microsoft.com/office/drawing/2014/main" id="{CA1ED926-186B-6B4D-9DE8-F37B48AD4367}"/>
              </a:ext>
            </a:extLst>
          </p:cNvPr>
          <p:cNvCxnSpPr>
            <a:cxnSpLocks noChangeShapeType="1"/>
            <a:stCxn id="272389" idx="0"/>
            <a:endCxn id="272396" idx="4"/>
          </p:cNvCxnSpPr>
          <p:nvPr/>
        </p:nvCxnSpPr>
        <p:spPr bwMode="auto">
          <a:xfrm flipH="1" flipV="1">
            <a:off x="6696075" y="2347913"/>
            <a:ext cx="574675" cy="10810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10" name="AutoShape 26">
            <a:extLst>
              <a:ext uri="{FF2B5EF4-FFF2-40B4-BE49-F238E27FC236}">
                <a16:creationId xmlns:a16="http://schemas.microsoft.com/office/drawing/2014/main" id="{3B05596B-261B-9B42-8645-87A634EFA901}"/>
              </a:ext>
            </a:extLst>
          </p:cNvPr>
          <p:cNvCxnSpPr>
            <a:cxnSpLocks noChangeShapeType="1"/>
            <a:stCxn id="272390" idx="0"/>
            <a:endCxn id="272396" idx="5"/>
          </p:cNvCxnSpPr>
          <p:nvPr/>
        </p:nvCxnSpPr>
        <p:spPr bwMode="auto">
          <a:xfrm flipH="1" flipV="1">
            <a:off x="6924675" y="2252663"/>
            <a:ext cx="1284288" cy="117633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2411" name="Line 27">
            <a:extLst>
              <a:ext uri="{FF2B5EF4-FFF2-40B4-BE49-F238E27FC236}">
                <a16:creationId xmlns:a16="http://schemas.microsoft.com/office/drawing/2014/main" id="{7D56A628-4B44-214D-9085-3A04C603145F}"/>
              </a:ext>
            </a:extLst>
          </p:cNvPr>
          <p:cNvSpPr>
            <a:spLocks noChangeShapeType="1"/>
          </p:cNvSpPr>
          <p:nvPr/>
        </p:nvSpPr>
        <p:spPr bwMode="auto">
          <a:xfrm>
            <a:off x="5651500" y="1989138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2412" name="Text Box 28">
            <a:extLst>
              <a:ext uri="{FF2B5EF4-FFF2-40B4-BE49-F238E27FC236}">
                <a16:creationId xmlns:a16="http://schemas.microsoft.com/office/drawing/2014/main" id="{D24B9464-F036-8E41-86FF-F7823187E1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8263" y="2636838"/>
            <a:ext cx="35274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 dirty="0"/>
              <a:t> -2     +2        -2     +2</a:t>
            </a:r>
          </a:p>
        </p:txBody>
      </p:sp>
      <p:sp>
        <p:nvSpPr>
          <p:cNvPr id="272413" name="Text Box 29">
            <a:extLst>
              <a:ext uri="{FF2B5EF4-FFF2-40B4-BE49-F238E27FC236}">
                <a16:creationId xmlns:a16="http://schemas.microsoft.com/office/drawing/2014/main" id="{A2383238-2FE1-EB46-A523-E5D5D2ACF7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1500" y="1557338"/>
            <a:ext cx="6492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/>
              <a:t>+1</a:t>
            </a:r>
          </a:p>
        </p:txBody>
      </p:sp>
      <p:sp>
        <p:nvSpPr>
          <p:cNvPr id="272414" name="Text Box 30">
            <a:extLst>
              <a:ext uri="{FF2B5EF4-FFF2-40B4-BE49-F238E27FC236}">
                <a16:creationId xmlns:a16="http://schemas.microsoft.com/office/drawing/2014/main" id="{AC2C5575-40F7-2947-AA9D-CB5D4A1449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0563" y="5214938"/>
            <a:ext cx="4643437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dirty="0"/>
              <a:t>    1         0         1       0</a:t>
            </a:r>
          </a:p>
        </p:txBody>
      </p:sp>
      <p:sp>
        <p:nvSpPr>
          <p:cNvPr id="272415" name="Text Box 31">
            <a:extLst>
              <a:ext uri="{FF2B5EF4-FFF2-40B4-BE49-F238E27FC236}">
                <a16:creationId xmlns:a16="http://schemas.microsoft.com/office/drawing/2014/main" id="{94DC32C6-2C13-8744-96FD-F4803166EB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5825" y="1773238"/>
            <a:ext cx="10080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3333CC"/>
                </a:solidFill>
              </a:rPr>
              <a:t>выход</a:t>
            </a:r>
          </a:p>
        </p:txBody>
      </p:sp>
      <p:sp>
        <p:nvSpPr>
          <p:cNvPr id="272416" name="Text Box 32">
            <a:extLst>
              <a:ext uri="{FF2B5EF4-FFF2-40B4-BE49-F238E27FC236}">
                <a16:creationId xmlns:a16="http://schemas.microsoft.com/office/drawing/2014/main" id="{08922766-284E-8B4D-8A13-185B3D4714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9200" y="5805488"/>
            <a:ext cx="10096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3333CC"/>
                </a:solidFill>
              </a:rPr>
              <a:t>вход</a:t>
            </a:r>
          </a:p>
        </p:txBody>
      </p:sp>
      <p:graphicFrame>
        <p:nvGraphicFramePr>
          <p:cNvPr id="272417" name="Object 33">
            <a:extLst>
              <a:ext uri="{FF2B5EF4-FFF2-40B4-BE49-F238E27FC236}">
                <a16:creationId xmlns:a16="http://schemas.microsoft.com/office/drawing/2014/main" id="{067B7947-DFF4-0E44-A687-03A77EE47DF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106267"/>
              </p:ext>
            </p:extLst>
          </p:nvPr>
        </p:nvGraphicFramePr>
        <p:xfrm>
          <a:off x="2339752" y="6270625"/>
          <a:ext cx="1698625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428" name="Equation" r:id="rId3" imgW="15214600" imgH="5270500" progId="Equation.3">
                  <p:embed/>
                </p:oleObj>
              </mc:Choice>
              <mc:Fallback>
                <p:oleObj name="Equation" r:id="rId3" imgW="15214600" imgH="5270500" progId="Equation.3">
                  <p:embed/>
                  <p:pic>
                    <p:nvPicPr>
                      <p:cNvPr id="0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9752" y="6270625"/>
                        <a:ext cx="1698625" cy="587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10" name="Rectangle 2">
            <a:extLst>
              <a:ext uri="{FF2B5EF4-FFF2-40B4-BE49-F238E27FC236}">
                <a16:creationId xmlns:a16="http://schemas.microsoft.com/office/drawing/2014/main" id="{322EB220-9247-984E-8FAD-CA32D95B6D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44450"/>
            <a:ext cx="8229600" cy="1143000"/>
          </a:xfrm>
        </p:spPr>
        <p:txBody>
          <a:bodyPr/>
          <a:lstStyle/>
          <a:p>
            <a:r>
              <a:rPr lang="ru" altLang="ru-RU" sz="3200"/>
              <a:t>Почему связность трудно вычислить</a:t>
            </a:r>
          </a:p>
        </p:txBody>
      </p:sp>
      <p:sp>
        <p:nvSpPr>
          <p:cNvPr id="273411" name="Rectangle 3">
            <a:extLst>
              <a:ext uri="{FF2B5EF4-FFF2-40B4-BE49-F238E27FC236}">
                <a16:creationId xmlns:a16="http://schemas.microsoft.com/office/drawing/2014/main" id="{2533409A-CF14-EE46-A9D2-0191839A8B6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23850" y="1341438"/>
            <a:ext cx="5410200" cy="5183187"/>
          </a:xfrm>
        </p:spPr>
        <p:txBody>
          <a:bodyPr/>
          <a:lstStyle/>
          <a:p>
            <a:r>
              <a:rPr lang="ru" altLang="ru-RU" sz="1800" dirty="0"/>
              <a:t>Даже для простых линейных рисунков существует экспоненциальное количество случаев.</a:t>
            </a:r>
          </a:p>
          <a:p>
            <a:r>
              <a:rPr lang="ru" altLang="ru-RU" sz="1800" dirty="0"/>
              <a:t>Удаление одного сегмента может нарушить связность</a:t>
            </a:r>
          </a:p>
          <a:p>
            <a:pPr lvl="1"/>
            <a:r>
              <a:rPr lang="ru" altLang="ru-RU" sz="1800" dirty="0"/>
              <a:t>Но это зависит от точного расположения остальных частей.</a:t>
            </a:r>
          </a:p>
          <a:p>
            <a:pPr lvl="1"/>
            <a:r>
              <a:rPr lang="ru" altLang="ru-RU" sz="1800" dirty="0"/>
              <a:t>В отличие от паритета, здесь нет простых обобщений других частей, которые бы говорили нам, что произойдет.</a:t>
            </a:r>
          </a:p>
          <a:p>
            <a:r>
              <a:rPr lang="ru" altLang="ru-RU" sz="1800" dirty="0"/>
              <a:t>Связность легко вычисляется с помощью итеративного алгоритма.</a:t>
            </a:r>
          </a:p>
          <a:p>
            <a:pPr lvl="1"/>
            <a:r>
              <a:rPr lang="ru" altLang="ru-RU" sz="1800" dirty="0"/>
              <a:t>Начните с любого места в чернилах</a:t>
            </a:r>
          </a:p>
          <a:p>
            <a:pPr lvl="1"/>
            <a:r>
              <a:rPr lang="ru" altLang="ru-RU" sz="1800" dirty="0"/>
              <a:t>Распространить маркер</a:t>
            </a:r>
          </a:p>
          <a:p>
            <a:pPr lvl="1"/>
            <a:r>
              <a:rPr lang="ru" altLang="ru-RU" sz="1800" dirty="0"/>
              <a:t>Посмотрите, все ли чернила испачкаются.</a:t>
            </a:r>
          </a:p>
        </p:txBody>
      </p:sp>
      <p:sp>
        <p:nvSpPr>
          <p:cNvPr id="273412" name="Rectangle 4">
            <a:extLst>
              <a:ext uri="{FF2B5EF4-FFF2-40B4-BE49-F238E27FC236}">
                <a16:creationId xmlns:a16="http://schemas.microsoft.com/office/drawing/2014/main" id="{444E612B-54EC-2C4A-B1EF-57F6CB019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7763" y="1412875"/>
            <a:ext cx="2305050" cy="237648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3413" name="Line 5">
            <a:extLst>
              <a:ext uri="{FF2B5EF4-FFF2-40B4-BE49-F238E27FC236}">
                <a16:creationId xmlns:a16="http://schemas.microsoft.com/office/drawing/2014/main" id="{DAB7D883-CEE0-0746-AEDD-E2168ADB6B1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1700213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4" name="Line 6">
            <a:extLst>
              <a:ext uri="{FF2B5EF4-FFF2-40B4-BE49-F238E27FC236}">
                <a16:creationId xmlns:a16="http://schemas.microsoft.com/office/drawing/2014/main" id="{DF89D247-1D9D-684E-878E-1D1DE39605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2060575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5" name="Line 7">
            <a:extLst>
              <a:ext uri="{FF2B5EF4-FFF2-40B4-BE49-F238E27FC236}">
                <a16:creationId xmlns:a16="http://schemas.microsoft.com/office/drawing/2014/main" id="{545C7F74-61A3-6447-ABA6-63AD39EC5F62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2419350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6" name="Line 8">
            <a:extLst>
              <a:ext uri="{FF2B5EF4-FFF2-40B4-BE49-F238E27FC236}">
                <a16:creationId xmlns:a16="http://schemas.microsoft.com/office/drawing/2014/main" id="{C9E147D9-FDCF-4D4A-8C66-3345B082CF35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2779713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7" name="Line 9">
            <a:extLst>
              <a:ext uri="{FF2B5EF4-FFF2-40B4-BE49-F238E27FC236}">
                <a16:creationId xmlns:a16="http://schemas.microsoft.com/office/drawing/2014/main" id="{9C55E52D-6265-3847-8A8D-AAAD58363EC9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3138488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8" name="Line 10">
            <a:extLst>
              <a:ext uri="{FF2B5EF4-FFF2-40B4-BE49-F238E27FC236}">
                <a16:creationId xmlns:a16="http://schemas.microsoft.com/office/drawing/2014/main" id="{81CA69B6-62D3-1748-B830-DADE2F2EF39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3498850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9" name="Rectangle 11">
            <a:extLst>
              <a:ext uri="{FF2B5EF4-FFF2-40B4-BE49-F238E27FC236}">
                <a16:creationId xmlns:a16="http://schemas.microsoft.com/office/drawing/2014/main" id="{BF109E18-B139-0E4D-8B4A-F062EA2B1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7763" y="4221163"/>
            <a:ext cx="2305050" cy="23764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3420" name="Line 12">
            <a:extLst>
              <a:ext uri="{FF2B5EF4-FFF2-40B4-BE49-F238E27FC236}">
                <a16:creationId xmlns:a16="http://schemas.microsoft.com/office/drawing/2014/main" id="{BE8C6613-6BC8-9B4A-B5C3-451E6FB64774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4437063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1" name="Line 13">
            <a:extLst>
              <a:ext uri="{FF2B5EF4-FFF2-40B4-BE49-F238E27FC236}">
                <a16:creationId xmlns:a16="http://schemas.microsoft.com/office/drawing/2014/main" id="{1929401C-8B57-9C45-92D4-6FE153AFDC6D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4797425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2" name="Line 14">
            <a:extLst>
              <a:ext uri="{FF2B5EF4-FFF2-40B4-BE49-F238E27FC236}">
                <a16:creationId xmlns:a16="http://schemas.microsoft.com/office/drawing/2014/main" id="{667BB934-2FB6-5242-8DBD-D4DB4CDF00E6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156200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3" name="Line 15">
            <a:extLst>
              <a:ext uri="{FF2B5EF4-FFF2-40B4-BE49-F238E27FC236}">
                <a16:creationId xmlns:a16="http://schemas.microsoft.com/office/drawing/2014/main" id="{B3356465-C713-A648-AEB2-29B8D8DA7435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516563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4" name="Line 16">
            <a:extLst>
              <a:ext uri="{FF2B5EF4-FFF2-40B4-BE49-F238E27FC236}">
                <a16:creationId xmlns:a16="http://schemas.microsoft.com/office/drawing/2014/main" id="{0857B4C1-3506-EA44-A0C0-115D8787650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876925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5" name="Line 17">
            <a:extLst>
              <a:ext uri="{FF2B5EF4-FFF2-40B4-BE49-F238E27FC236}">
                <a16:creationId xmlns:a16="http://schemas.microsoft.com/office/drawing/2014/main" id="{50D1795B-6783-6E47-89A2-9D76B7FD871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6237288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6" name="Line 18">
            <a:extLst>
              <a:ext uri="{FF2B5EF4-FFF2-40B4-BE49-F238E27FC236}">
                <a16:creationId xmlns:a16="http://schemas.microsoft.com/office/drawing/2014/main" id="{7D658996-4124-C648-A54D-77ED1B8F3854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1700213"/>
            <a:ext cx="0" cy="360362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7" name="Line 19">
            <a:extLst>
              <a:ext uri="{FF2B5EF4-FFF2-40B4-BE49-F238E27FC236}">
                <a16:creationId xmlns:a16="http://schemas.microsoft.com/office/drawing/2014/main" id="{78757F9C-42F8-7043-9384-230F61735867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2420938"/>
            <a:ext cx="0" cy="360362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8" name="Line 20">
            <a:extLst>
              <a:ext uri="{FF2B5EF4-FFF2-40B4-BE49-F238E27FC236}">
                <a16:creationId xmlns:a16="http://schemas.microsoft.com/office/drawing/2014/main" id="{E8A15E35-61F8-7442-8E8E-A772C112A541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2060575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9" name="Line 21">
            <a:extLst>
              <a:ext uri="{FF2B5EF4-FFF2-40B4-BE49-F238E27FC236}">
                <a16:creationId xmlns:a16="http://schemas.microsoft.com/office/drawing/2014/main" id="{859F5849-F9FC-0045-8556-D478144C324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3140075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0" name="Line 22">
            <a:extLst>
              <a:ext uri="{FF2B5EF4-FFF2-40B4-BE49-F238E27FC236}">
                <a16:creationId xmlns:a16="http://schemas.microsoft.com/office/drawing/2014/main" id="{9479E983-386B-604A-B80B-EB7921D9B77F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2781300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1" name="Line 23">
            <a:extLst>
              <a:ext uri="{FF2B5EF4-FFF2-40B4-BE49-F238E27FC236}">
                <a16:creationId xmlns:a16="http://schemas.microsoft.com/office/drawing/2014/main" id="{376DB44B-10BC-374D-9BE2-8C77341BA215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4437063"/>
            <a:ext cx="0" cy="360362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2" name="Line 24">
            <a:extLst>
              <a:ext uri="{FF2B5EF4-FFF2-40B4-BE49-F238E27FC236}">
                <a16:creationId xmlns:a16="http://schemas.microsoft.com/office/drawing/2014/main" id="{4B7875E4-18CC-4347-8D85-22F2FD713F69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4437063"/>
            <a:ext cx="0" cy="360362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3" name="Line 25">
            <a:extLst>
              <a:ext uri="{FF2B5EF4-FFF2-40B4-BE49-F238E27FC236}">
                <a16:creationId xmlns:a16="http://schemas.microsoft.com/office/drawing/2014/main" id="{17F889A5-DFAA-C94B-9A0A-9BADA96BFD19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5156200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4" name="Line 26">
            <a:extLst>
              <a:ext uri="{FF2B5EF4-FFF2-40B4-BE49-F238E27FC236}">
                <a16:creationId xmlns:a16="http://schemas.microsoft.com/office/drawing/2014/main" id="{7FB4599A-D700-5342-9FDC-835617E031CA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5876925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5" name="Line 27">
            <a:extLst>
              <a:ext uri="{FF2B5EF4-FFF2-40B4-BE49-F238E27FC236}">
                <a16:creationId xmlns:a16="http://schemas.microsoft.com/office/drawing/2014/main" id="{E23C803A-772B-E448-B77B-D4DE8C8F4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876925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6" name="Line 28">
            <a:extLst>
              <a:ext uri="{FF2B5EF4-FFF2-40B4-BE49-F238E27FC236}">
                <a16:creationId xmlns:a16="http://schemas.microsoft.com/office/drawing/2014/main" id="{747BC1B8-ED28-024C-AA61-21325DBF32F0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156200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34" name="Rectangle 2">
            <a:extLst>
              <a:ext uri="{FF2B5EF4-FFF2-40B4-BE49-F238E27FC236}">
                <a16:creationId xmlns:a16="http://schemas.microsoft.com/office/drawing/2014/main" id="{C98CE80E-6728-EB42-8262-DDE1E5DD7E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47625" y="274638"/>
            <a:ext cx="9228138" cy="633412"/>
          </a:xfrm>
        </p:spPr>
        <p:txBody>
          <a:bodyPr/>
          <a:lstStyle/>
          <a:p>
            <a:r>
              <a:rPr lang="ru" altLang="ru-RU" sz="2800"/>
              <a:t>Различение T и C в любой ориентации и положении</a:t>
            </a:r>
          </a:p>
        </p:txBody>
      </p:sp>
      <p:sp>
        <p:nvSpPr>
          <p:cNvPr id="274435" name="Rectangle 3">
            <a:extLst>
              <a:ext uri="{FF2B5EF4-FFF2-40B4-BE49-F238E27FC236}">
                <a16:creationId xmlns:a16="http://schemas.microsoft.com/office/drawing/2014/main" id="{1D789862-06AC-254A-881F-0C51621E081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68451" y="923743"/>
            <a:ext cx="4495800" cy="5589587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000" dirty="0"/>
              <a:t>Какие признаки необходимы для различения двух разных шаблонов из 5 пикселей независимо от положения и ориентации?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Нужно ли нам реплицировать шаблоны T и C во всех позициях и ориентациях?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>
                <a:solidFill>
                  <a:srgbClr val="FF0000"/>
                </a:solidFill>
              </a:rPr>
              <a:t>Просмотр пар пикселей не будет работать.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Рассмотрение троек будет работать, если предположить, что каждое входное изображение содержит только один объект.</a:t>
            </a:r>
          </a:p>
        </p:txBody>
      </p:sp>
      <p:sp>
        <p:nvSpPr>
          <p:cNvPr id="274437" name="Rectangle 5">
            <a:extLst>
              <a:ext uri="{FF2B5EF4-FFF2-40B4-BE49-F238E27FC236}">
                <a16:creationId xmlns:a16="http://schemas.microsoft.com/office/drawing/2014/main" id="{98C466D9-D173-9141-BB44-EA65FE3021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5" y="17002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38" name="Rectangle 6">
            <a:extLst>
              <a:ext uri="{FF2B5EF4-FFF2-40B4-BE49-F238E27FC236}">
                <a16:creationId xmlns:a16="http://schemas.microsoft.com/office/drawing/2014/main" id="{4E318977-967E-A643-A5CE-1BF72A4A95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19161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39" name="Rectangle 7">
            <a:extLst>
              <a:ext uri="{FF2B5EF4-FFF2-40B4-BE49-F238E27FC236}">
                <a16:creationId xmlns:a16="http://schemas.microsoft.com/office/drawing/2014/main" id="{CDBBBAB5-C757-6A42-9DCF-30132CE747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5" y="19161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0" name="Rectangle 8">
            <a:extLst>
              <a:ext uri="{FF2B5EF4-FFF2-40B4-BE49-F238E27FC236}">
                <a16:creationId xmlns:a16="http://schemas.microsoft.com/office/drawing/2014/main" id="{744AA2F1-6C63-A549-B9AC-BD276CD18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5" y="14843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1" name="Rectangle 9">
            <a:extLst>
              <a:ext uri="{FF2B5EF4-FFF2-40B4-BE49-F238E27FC236}">
                <a16:creationId xmlns:a16="http://schemas.microsoft.com/office/drawing/2014/main" id="{B3A5F8B8-7F8E-FD42-89A8-2316A56316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14843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2" name="Rectangle 10">
            <a:extLst>
              <a:ext uri="{FF2B5EF4-FFF2-40B4-BE49-F238E27FC236}">
                <a16:creationId xmlns:a16="http://schemas.microsoft.com/office/drawing/2014/main" id="{D712291D-DDE3-F242-B197-2B254B43A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2997200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3" name="Rectangle 11">
            <a:extLst>
              <a:ext uri="{FF2B5EF4-FFF2-40B4-BE49-F238E27FC236}">
                <a16:creationId xmlns:a16="http://schemas.microsoft.com/office/drawing/2014/main" id="{7CF582C2-12E4-CD45-9155-4978C017B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9956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4" name="Rectangle 12">
            <a:extLst>
              <a:ext uri="{FF2B5EF4-FFF2-40B4-BE49-F238E27FC236}">
                <a16:creationId xmlns:a16="http://schemas.microsoft.com/office/drawing/2014/main" id="{0C44ACD0-2C8E-CC43-81B0-54F46A8F9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1725" y="16287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5" name="Rectangle 13">
            <a:extLst>
              <a:ext uri="{FF2B5EF4-FFF2-40B4-BE49-F238E27FC236}">
                <a16:creationId xmlns:a16="http://schemas.microsoft.com/office/drawing/2014/main" id="{1EE95458-53D1-A349-871D-AA7E905E3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1725" y="14128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6" name="Rectangle 14">
            <a:extLst>
              <a:ext uri="{FF2B5EF4-FFF2-40B4-BE49-F238E27FC236}">
                <a16:creationId xmlns:a16="http://schemas.microsoft.com/office/drawing/2014/main" id="{763F0D9F-9DEE-D84F-B580-ADBF896A2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27797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7" name="Rectangle 15">
            <a:extLst>
              <a:ext uri="{FF2B5EF4-FFF2-40B4-BE49-F238E27FC236}">
                <a16:creationId xmlns:a16="http://schemas.microsoft.com/office/drawing/2014/main" id="{86A5ECDE-1987-2D4D-BAB6-9DD802090D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29956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8" name="Rectangle 16">
            <a:extLst>
              <a:ext uri="{FF2B5EF4-FFF2-40B4-BE49-F238E27FC236}">
                <a16:creationId xmlns:a16="http://schemas.microsoft.com/office/drawing/2014/main" id="{5D5D50AE-65F6-7441-95F8-2B9C00212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32115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9" name="Rectangle 17">
            <a:extLst>
              <a:ext uri="{FF2B5EF4-FFF2-40B4-BE49-F238E27FC236}">
                <a16:creationId xmlns:a16="http://schemas.microsoft.com/office/drawing/2014/main" id="{ECF0F142-D331-1E48-96D2-5FE652825E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9213" y="14128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0" name="Rectangle 18">
            <a:extLst>
              <a:ext uri="{FF2B5EF4-FFF2-40B4-BE49-F238E27FC236}">
                <a16:creationId xmlns:a16="http://schemas.microsoft.com/office/drawing/2014/main" id="{BB5C78CB-1DE1-9943-8F49-8F6AD7FEA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16287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1" name="Rectangle 19">
            <a:extLst>
              <a:ext uri="{FF2B5EF4-FFF2-40B4-BE49-F238E27FC236}">
                <a16:creationId xmlns:a16="http://schemas.microsoft.com/office/drawing/2014/main" id="{221735A7-6C54-434B-8654-861010CF45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14128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2" name="Rectangle 20">
            <a:extLst>
              <a:ext uri="{FF2B5EF4-FFF2-40B4-BE49-F238E27FC236}">
                <a16:creationId xmlns:a16="http://schemas.microsoft.com/office/drawing/2014/main" id="{9E579B63-C817-DD4E-8650-DC4F78902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950" y="24923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3" name="Rectangle 21">
            <a:extLst>
              <a:ext uri="{FF2B5EF4-FFF2-40B4-BE49-F238E27FC236}">
                <a16:creationId xmlns:a16="http://schemas.microsoft.com/office/drawing/2014/main" id="{B73A4D99-56CC-1D46-990F-5FDCE19930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24923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4" name="Rectangle 22">
            <a:extLst>
              <a:ext uri="{FF2B5EF4-FFF2-40B4-BE49-F238E27FC236}">
                <a16:creationId xmlns:a16="http://schemas.microsoft.com/office/drawing/2014/main" id="{438C7795-6EDA-3947-B533-FF41702B95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24923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5" name="Rectangle 23">
            <a:extLst>
              <a:ext uri="{FF2B5EF4-FFF2-40B4-BE49-F238E27FC236}">
                <a16:creationId xmlns:a16="http://schemas.microsoft.com/office/drawing/2014/main" id="{D55863C0-F40D-354C-B949-00A231A0E3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27082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6" name="Rectangle 24">
            <a:extLst>
              <a:ext uri="{FF2B5EF4-FFF2-40B4-BE49-F238E27FC236}">
                <a16:creationId xmlns:a16="http://schemas.microsoft.com/office/drawing/2014/main" id="{6779EE09-A4CC-EE4A-AE1A-D6D9E2182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29241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7" name="Text Box 25">
            <a:extLst>
              <a:ext uri="{FF2B5EF4-FFF2-40B4-BE49-F238E27FC236}">
                <a16:creationId xmlns:a16="http://schemas.microsoft.com/office/drawing/2014/main" id="{B1A0042D-7616-2B47-9FB8-EF651B3F99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2213" y="4022725"/>
            <a:ext cx="3817937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ru" altLang="ru-RU" sz="2000">
                <a:solidFill>
                  <a:srgbClr val="3333CC"/>
                </a:solidFill>
              </a:rPr>
              <a:t>Повторите следующие два детектора признаков во всех позициях.</a:t>
            </a:r>
          </a:p>
        </p:txBody>
      </p:sp>
      <p:sp>
        <p:nvSpPr>
          <p:cNvPr id="274458" name="Rectangle 26">
            <a:extLst>
              <a:ext uri="{FF2B5EF4-FFF2-40B4-BE49-F238E27FC236}">
                <a16:creationId xmlns:a16="http://schemas.microsoft.com/office/drawing/2014/main" id="{4AB09B1F-E881-9140-B9FA-746DC35579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50847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9" name="Rectangle 27">
            <a:extLst>
              <a:ext uri="{FF2B5EF4-FFF2-40B4-BE49-F238E27FC236}">
                <a16:creationId xmlns:a16="http://schemas.microsoft.com/office/drawing/2014/main" id="{BF209FA7-AD8A-9D4D-A808-E2FCE378F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50847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0" name="Rectangle 28">
            <a:extLst>
              <a:ext uri="{FF2B5EF4-FFF2-40B4-BE49-F238E27FC236}">
                <a16:creationId xmlns:a16="http://schemas.microsoft.com/office/drawing/2014/main" id="{6CF72560-1F78-3646-BE67-0D704195EB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0" y="50847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1" name="Text Box 29">
            <a:extLst>
              <a:ext uri="{FF2B5EF4-FFF2-40B4-BE49-F238E27FC236}">
                <a16:creationId xmlns:a16="http://schemas.microsoft.com/office/drawing/2014/main" id="{20FA835B-A6D0-9248-A11C-657C8F238A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8263" y="4940300"/>
            <a:ext cx="361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+</a:t>
            </a:r>
          </a:p>
        </p:txBody>
      </p:sp>
      <p:sp>
        <p:nvSpPr>
          <p:cNvPr id="274462" name="Text Box 30">
            <a:extLst>
              <a:ext uri="{FF2B5EF4-FFF2-40B4-BE49-F238E27FC236}">
                <a16:creationId xmlns:a16="http://schemas.microsoft.com/office/drawing/2014/main" id="{9338B6CC-A600-1446-A230-2AA441E0C3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78475" y="4940300"/>
            <a:ext cx="361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+</a:t>
            </a:r>
          </a:p>
        </p:txBody>
      </p:sp>
      <p:sp>
        <p:nvSpPr>
          <p:cNvPr id="274463" name="Text Box 31">
            <a:extLst>
              <a:ext uri="{FF2B5EF4-FFF2-40B4-BE49-F238E27FC236}">
                <a16:creationId xmlns:a16="http://schemas.microsoft.com/office/drawing/2014/main" id="{5F46CDF3-8F5C-6C44-A0EA-2EAFD3F5E6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8775" y="4914900"/>
            <a:ext cx="285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-</a:t>
            </a:r>
          </a:p>
        </p:txBody>
      </p:sp>
      <p:sp>
        <p:nvSpPr>
          <p:cNvPr id="274464" name="Rectangle 32">
            <a:extLst>
              <a:ext uri="{FF2B5EF4-FFF2-40B4-BE49-F238E27FC236}">
                <a16:creationId xmlns:a16="http://schemas.microsoft.com/office/drawing/2014/main" id="{A7137000-20C3-964B-9A46-288969BA3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53006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5" name="Rectangle 33">
            <a:extLst>
              <a:ext uri="{FF2B5EF4-FFF2-40B4-BE49-F238E27FC236}">
                <a16:creationId xmlns:a16="http://schemas.microsoft.com/office/drawing/2014/main" id="{B633238B-87D9-E04A-B168-D2239A7893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48672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6" name="Rectangle 34">
            <a:extLst>
              <a:ext uri="{FF2B5EF4-FFF2-40B4-BE49-F238E27FC236}">
                <a16:creationId xmlns:a16="http://schemas.microsoft.com/office/drawing/2014/main" id="{2D637B20-7906-1643-8CBF-8961562C3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50847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7" name="Text Box 35">
            <a:extLst>
              <a:ext uri="{FF2B5EF4-FFF2-40B4-BE49-F238E27FC236}">
                <a16:creationId xmlns:a16="http://schemas.microsoft.com/office/drawing/2014/main" id="{400D1FC1-ECCB-E54F-817D-C263FA0F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5100" y="5156200"/>
            <a:ext cx="361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+</a:t>
            </a:r>
          </a:p>
        </p:txBody>
      </p:sp>
      <p:sp>
        <p:nvSpPr>
          <p:cNvPr id="274468" name="Text Box 36">
            <a:extLst>
              <a:ext uri="{FF2B5EF4-FFF2-40B4-BE49-F238E27FC236}">
                <a16:creationId xmlns:a16="http://schemas.microsoft.com/office/drawing/2014/main" id="{5D620381-5DEE-3B40-9F3B-FBE28AB4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6688" y="4724400"/>
            <a:ext cx="361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+</a:t>
            </a:r>
          </a:p>
        </p:txBody>
      </p:sp>
      <p:sp>
        <p:nvSpPr>
          <p:cNvPr id="274469" name="Text Box 37">
            <a:extLst>
              <a:ext uri="{FF2B5EF4-FFF2-40B4-BE49-F238E27FC236}">
                <a16:creationId xmlns:a16="http://schemas.microsoft.com/office/drawing/2014/main" id="{0180F42E-561D-B24A-9D46-3490BFFEAF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91300" y="4914900"/>
            <a:ext cx="285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-</a:t>
            </a:r>
          </a:p>
        </p:txBody>
      </p:sp>
      <p:sp>
        <p:nvSpPr>
          <p:cNvPr id="274470" name="Text Box 38">
            <a:extLst>
              <a:ext uri="{FF2B5EF4-FFF2-40B4-BE49-F238E27FC236}">
                <a16:creationId xmlns:a16="http://schemas.microsoft.com/office/drawing/2014/main" id="{4C91EA01-FC42-D448-A2DB-3776B1919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9338" y="5661025"/>
            <a:ext cx="43053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3333CC"/>
                </a:solidFill>
              </a:rPr>
              <a:t>Если хотя бы один из показателей равен пороговому значению 2, то это C. Если нет, то это 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58" name="Rectangle 2">
            <a:extLst>
              <a:ext uri="{FF2B5EF4-FFF2-40B4-BE49-F238E27FC236}">
                <a16:creationId xmlns:a16="http://schemas.microsoft.com/office/drawing/2014/main" id="{F2350B77-F9FD-F241-9E52-D96DCD9456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Логистическая регрессия </a:t>
            </a:r>
            <a:r>
              <a:rPr lang="ru" altLang="ru-RU" sz="2000"/>
              <a:t>(перейти к странице 205)</a:t>
            </a:r>
          </a:p>
        </p:txBody>
      </p:sp>
      <p:sp>
        <p:nvSpPr>
          <p:cNvPr id="275459" name="Rectangle 3">
            <a:extLst>
              <a:ext uri="{FF2B5EF4-FFF2-40B4-BE49-F238E27FC236}">
                <a16:creationId xmlns:a16="http://schemas.microsoft.com/office/drawing/2014/main" id="{D76DDA51-4929-7D46-818A-E7D21B3F89B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" altLang="ru-RU"/>
              <a:t>Когда есть только два класса, мы можем смоделировать условную вероятность положительного класса как</a:t>
            </a:r>
          </a:p>
          <a:p>
            <a:endParaRPr lang="en-US" altLang="ru-RU"/>
          </a:p>
          <a:p>
            <a:endParaRPr lang="en-US" altLang="ru-RU"/>
          </a:p>
          <a:p>
            <a:r>
              <a:rPr lang="ru" altLang="ru-RU"/>
              <a:t>Если мы используем правильную функцию ошибки, происходит нечто интересное: градиент логистической функции и градиент функции ошибки компенсируют друг друга:</a:t>
            </a:r>
          </a:p>
        </p:txBody>
      </p:sp>
      <p:graphicFrame>
        <p:nvGraphicFramePr>
          <p:cNvPr id="275460" name="Object 4">
            <a:extLst>
              <a:ext uri="{FF2B5EF4-FFF2-40B4-BE49-F238E27FC236}">
                <a16:creationId xmlns:a16="http://schemas.microsoft.com/office/drawing/2014/main" id="{174FBD68-C83F-B444-BAD9-C2AD4ECC2E8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98538" y="2568575"/>
          <a:ext cx="7721600" cy="931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5483" name="Equation" r:id="rId3" imgW="79870300" imgH="9652000" progId="Equation.3">
                  <p:embed/>
                </p:oleObj>
              </mc:Choice>
              <mc:Fallback>
                <p:oleObj name="Equation" r:id="rId3" imgW="79870300" imgH="96520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98538" y="2568575"/>
                        <a:ext cx="7721600" cy="931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5462" name="Object 6">
            <a:extLst>
              <a:ext uri="{FF2B5EF4-FFF2-40B4-BE49-F238E27FC236}">
                <a16:creationId xmlns:a16="http://schemas.microsoft.com/office/drawing/2014/main" id="{976BE670-6709-3548-96CE-CE09A1AD68B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57250" y="5157788"/>
          <a:ext cx="716915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5484" name="Equation" r:id="rId5" imgW="73431400" imgH="11112500" progId="Equation.3">
                  <p:embed/>
                </p:oleObj>
              </mc:Choice>
              <mc:Fallback>
                <p:oleObj name="Equation" r:id="rId5" imgW="73431400" imgH="111125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7250" y="5157788"/>
                        <a:ext cx="716915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06" name="Rectangle 2">
            <a:extLst>
              <a:ext uri="{FF2B5EF4-FFF2-40B4-BE49-F238E27FC236}">
                <a16:creationId xmlns:a16="http://schemas.microsoft.com/office/drawing/2014/main" id="{D3161A53-6550-324F-AE47-7FB956DAFF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28638" y="-26988"/>
            <a:ext cx="8229600" cy="1143001"/>
          </a:xfrm>
        </p:spPr>
        <p:txBody>
          <a:bodyPr/>
          <a:lstStyle/>
          <a:p>
            <a:r>
              <a:rPr lang="ru" altLang="ru-RU"/>
              <a:t>Логистическая функция</a:t>
            </a:r>
          </a:p>
        </p:txBody>
      </p:sp>
      <p:sp>
        <p:nvSpPr>
          <p:cNvPr id="277507" name="Rectangle 3">
            <a:extLst>
              <a:ext uri="{FF2B5EF4-FFF2-40B4-BE49-F238E27FC236}">
                <a16:creationId xmlns:a16="http://schemas.microsoft.com/office/drawing/2014/main" id="{3F82E396-0FEC-3347-887B-98DC00710E2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60363" y="1628775"/>
            <a:ext cx="4356100" cy="1800225"/>
          </a:xfrm>
        </p:spPr>
        <p:txBody>
          <a:bodyPr/>
          <a:lstStyle/>
          <a:p>
            <a:r>
              <a:rPr lang="ru" altLang="ru-RU" sz="2400"/>
              <a:t>Выходные данные представляют собой плавную функцию входных данных и весов.</a:t>
            </a:r>
          </a:p>
        </p:txBody>
      </p:sp>
      <p:graphicFrame>
        <p:nvGraphicFramePr>
          <p:cNvPr id="277508" name="Rectangle 4">
            <a:extLst>
              <a:ext uri="{FF2B5EF4-FFF2-40B4-BE49-F238E27FC236}">
                <a16:creationId xmlns:a16="http://schemas.microsoft.com/office/drawing/2014/main" id="{E829CB30-FCA1-7744-A583-AA77E71529BF}"/>
              </a:ext>
            </a:extLst>
          </p:cNvPr>
          <p:cNvGraphicFramePr>
            <a:graphicFrameLocks noGrp="1"/>
          </p:cNvGraphicFramePr>
          <p:nvPr>
            <p:ph sz="quarter" idx="2"/>
          </p:nvPr>
        </p:nvGraphicFramePr>
        <p:xfrm>
          <a:off x="5027613" y="1600200"/>
          <a:ext cx="3279775" cy="2185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7565" name="Equation" r:id="rId3" imgW="0" imgH="0" progId="Equation.3">
                  <p:embed/>
                </p:oleObj>
              </mc:Choice>
              <mc:Fallback>
                <p:oleObj name="Equation" r:id="rId3" imgW="0" imgH="0" progId="Equation.3">
                  <p:embed/>
                  <p:pic>
                    <p:nvPicPr>
                      <p:cNvPr id="0" name="Rectangle 4"/>
                      <p:cNvPicPr preferRelativeResize="0">
                        <a:picLocks noChangeArrowheads="1"/>
                      </p:cNvPicPr>
                      <p:nvPr/>
                    </p:nvPicPr>
                    <p:blipFill>
                      <a:blip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7613" y="1600200"/>
                        <a:ext cx="3279775" cy="2185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7509" name="Object 5">
            <a:extLst>
              <a:ext uri="{FF2B5EF4-FFF2-40B4-BE49-F238E27FC236}">
                <a16:creationId xmlns:a16="http://schemas.microsoft.com/office/drawing/2014/main" id="{C40216E1-DB55-5C4A-A8A5-EC6A9B6775BA}"/>
              </a:ext>
            </a:extLst>
          </p:cNvPr>
          <p:cNvGraphicFramePr>
            <a:graphicFrameLocks noGrp="1" noChangeAspect="1"/>
          </p:cNvGraphicFramePr>
          <p:nvPr>
            <p:ph sz="quarter" idx="3"/>
          </p:nvPr>
        </p:nvGraphicFramePr>
        <p:xfrm>
          <a:off x="5292725" y="1328738"/>
          <a:ext cx="3676650" cy="4221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7566" name="Equation" r:id="rId4" imgW="31597600" imgH="36283900" progId="Equation.3">
                  <p:embed/>
                </p:oleObj>
              </mc:Choice>
              <mc:Fallback>
                <p:oleObj name="Equation" r:id="rId4" imgW="31597600" imgH="362839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2725" y="1328738"/>
                        <a:ext cx="3676650" cy="4221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7510" name="Rectangle 6">
            <a:extLst>
              <a:ext uri="{FF2B5EF4-FFF2-40B4-BE49-F238E27FC236}">
                <a16:creationId xmlns:a16="http://schemas.microsoft.com/office/drawing/2014/main" id="{2BA06295-D553-924D-9FEA-BF0C721A95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3465513"/>
            <a:ext cx="2952750" cy="17287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7511" name="Line 7">
            <a:extLst>
              <a:ext uri="{FF2B5EF4-FFF2-40B4-BE49-F238E27FC236}">
                <a16:creationId xmlns:a16="http://schemas.microsoft.com/office/drawing/2014/main" id="{27AB4BB0-3600-5842-BF80-F03DE3ED7D1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58888" y="43291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12" name="Line 8">
            <a:extLst>
              <a:ext uri="{FF2B5EF4-FFF2-40B4-BE49-F238E27FC236}">
                <a16:creationId xmlns:a16="http://schemas.microsoft.com/office/drawing/2014/main" id="{FE3BC7A5-2C6F-3D4B-9949-FB103A26F72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43213" y="5194300"/>
            <a:ext cx="0" cy="142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13" name="Text Box 9">
            <a:extLst>
              <a:ext uri="{FF2B5EF4-FFF2-40B4-BE49-F238E27FC236}">
                <a16:creationId xmlns:a16="http://schemas.microsoft.com/office/drawing/2014/main" id="{08265EE2-9258-A94A-AC02-9EF4C279A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063" y="4113213"/>
            <a:ext cx="53657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000"/>
              <a:t>0,5</a:t>
            </a:r>
          </a:p>
        </p:txBody>
      </p:sp>
      <p:sp>
        <p:nvSpPr>
          <p:cNvPr id="277514" name="Text Box 10">
            <a:extLst>
              <a:ext uri="{FF2B5EF4-FFF2-40B4-BE49-F238E27FC236}">
                <a16:creationId xmlns:a16="http://schemas.microsoft.com/office/drawing/2014/main" id="{3DFA4C18-F018-124F-9E4E-D48FF1EF6B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750" y="5300663"/>
            <a:ext cx="34448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/>
              <a:t>0</a:t>
            </a:r>
          </a:p>
        </p:txBody>
      </p:sp>
      <p:sp>
        <p:nvSpPr>
          <p:cNvPr id="277515" name="Text Box 11">
            <a:extLst>
              <a:ext uri="{FF2B5EF4-FFF2-40B4-BE49-F238E27FC236}">
                <a16:creationId xmlns:a16="http://schemas.microsoft.com/office/drawing/2014/main" id="{004E3F3A-D426-3C46-87C0-6517F8860A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8863" y="4978400"/>
            <a:ext cx="34448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/>
              <a:t>0</a:t>
            </a:r>
          </a:p>
        </p:txBody>
      </p:sp>
      <p:sp>
        <p:nvSpPr>
          <p:cNvPr id="277516" name="Text Box 12">
            <a:extLst>
              <a:ext uri="{FF2B5EF4-FFF2-40B4-BE49-F238E27FC236}">
                <a16:creationId xmlns:a16="http://schemas.microsoft.com/office/drawing/2014/main" id="{FF83F1F8-B7DC-A342-BF5B-6A07885C97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3284538"/>
            <a:ext cx="34448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/>
              <a:t>1</a:t>
            </a:r>
          </a:p>
        </p:txBody>
      </p:sp>
      <p:graphicFrame>
        <p:nvGraphicFramePr>
          <p:cNvPr id="277517" name="Object 13">
            <a:extLst>
              <a:ext uri="{FF2B5EF4-FFF2-40B4-BE49-F238E27FC236}">
                <a16:creationId xmlns:a16="http://schemas.microsoft.com/office/drawing/2014/main" id="{EB18A110-D49C-E34A-9BE6-2F731D0A1FC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30575" y="5503863"/>
          <a:ext cx="392113" cy="392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7567" name="Equation" r:id="rId6" imgW="2921000" imgH="2921000" progId="Equation.3">
                  <p:embed/>
                </p:oleObj>
              </mc:Choice>
              <mc:Fallback>
                <p:oleObj name="Equation" r:id="rId6" imgW="2921000" imgH="2921000" progId="Equation.3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0575" y="5503863"/>
                        <a:ext cx="392113" cy="392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7518" name="Object 14">
            <a:extLst>
              <a:ext uri="{FF2B5EF4-FFF2-40B4-BE49-F238E27FC236}">
                <a16:creationId xmlns:a16="http://schemas.microsoft.com/office/drawing/2014/main" id="{2E1AF6CA-ABE8-E147-BEA9-B77E7F2DF00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0213" y="3611563"/>
          <a:ext cx="434975" cy="515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7568" name="Equation" r:id="rId8" imgW="3213100" imgH="3797300" progId="Equation.3">
                  <p:embed/>
                </p:oleObj>
              </mc:Choice>
              <mc:Fallback>
                <p:oleObj name="Equation" r:id="rId8" imgW="3213100" imgH="3797300" progId="Equation.3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0213" y="3611563"/>
                        <a:ext cx="434975" cy="5159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7519" name="Line 15">
            <a:extLst>
              <a:ext uri="{FF2B5EF4-FFF2-40B4-BE49-F238E27FC236}">
                <a16:creationId xmlns:a16="http://schemas.microsoft.com/office/drawing/2014/main" id="{D23FBA8E-337E-DD4B-935A-D0193811A8F2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3350" y="5724525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20" name="Line 16">
            <a:extLst>
              <a:ext uri="{FF2B5EF4-FFF2-40B4-BE49-F238E27FC236}">
                <a16:creationId xmlns:a16="http://schemas.microsoft.com/office/drawing/2014/main" id="{3209E59C-00B9-7C40-B19D-ED391452FAE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8163" y="3311525"/>
            <a:ext cx="0" cy="358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21" name="Freeform 17">
            <a:extLst>
              <a:ext uri="{FF2B5EF4-FFF2-40B4-BE49-F238E27FC236}">
                <a16:creationId xmlns:a16="http://schemas.microsoft.com/office/drawing/2014/main" id="{408A26FD-B8F1-3F48-8355-05C708427423}"/>
              </a:ext>
            </a:extLst>
          </p:cNvPr>
          <p:cNvSpPr>
            <a:spLocks/>
          </p:cNvSpPr>
          <p:nvPr/>
        </p:nvSpPr>
        <p:spPr bwMode="auto">
          <a:xfrm>
            <a:off x="1403350" y="4330700"/>
            <a:ext cx="1439863" cy="792163"/>
          </a:xfrm>
          <a:custGeom>
            <a:avLst/>
            <a:gdLst>
              <a:gd name="T0" fmla="*/ 0 w 907"/>
              <a:gd name="T1" fmla="*/ 499 h 499"/>
              <a:gd name="T2" fmla="*/ 454 w 907"/>
              <a:gd name="T3" fmla="*/ 453 h 499"/>
              <a:gd name="T4" fmla="*/ 726 w 907"/>
              <a:gd name="T5" fmla="*/ 317 h 499"/>
              <a:gd name="T6" fmla="*/ 907 w 907"/>
              <a:gd name="T7" fmla="*/ 0 h 4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07" h="499">
                <a:moveTo>
                  <a:pt x="0" y="499"/>
                </a:moveTo>
                <a:cubicBezTo>
                  <a:pt x="166" y="491"/>
                  <a:pt x="333" y="483"/>
                  <a:pt x="454" y="453"/>
                </a:cubicBezTo>
                <a:cubicBezTo>
                  <a:pt x="575" y="423"/>
                  <a:pt x="651" y="392"/>
                  <a:pt x="726" y="317"/>
                </a:cubicBezTo>
                <a:cubicBezTo>
                  <a:pt x="801" y="242"/>
                  <a:pt x="877" y="53"/>
                  <a:pt x="90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22" name="Freeform 18">
            <a:extLst>
              <a:ext uri="{FF2B5EF4-FFF2-40B4-BE49-F238E27FC236}">
                <a16:creationId xmlns:a16="http://schemas.microsoft.com/office/drawing/2014/main" id="{6CDB4A4E-61C4-A44D-9E79-3B72BD118F4C}"/>
              </a:ext>
            </a:extLst>
          </p:cNvPr>
          <p:cNvSpPr>
            <a:spLocks/>
          </p:cNvSpPr>
          <p:nvPr/>
        </p:nvSpPr>
        <p:spPr bwMode="auto">
          <a:xfrm rot="10800000">
            <a:off x="2843213" y="3538538"/>
            <a:ext cx="1439862" cy="792162"/>
          </a:xfrm>
          <a:custGeom>
            <a:avLst/>
            <a:gdLst>
              <a:gd name="T0" fmla="*/ 0 w 907"/>
              <a:gd name="T1" fmla="*/ 499 h 499"/>
              <a:gd name="T2" fmla="*/ 454 w 907"/>
              <a:gd name="T3" fmla="*/ 453 h 499"/>
              <a:gd name="T4" fmla="*/ 726 w 907"/>
              <a:gd name="T5" fmla="*/ 317 h 499"/>
              <a:gd name="T6" fmla="*/ 907 w 907"/>
              <a:gd name="T7" fmla="*/ 0 h 4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07" h="499">
                <a:moveTo>
                  <a:pt x="0" y="499"/>
                </a:moveTo>
                <a:cubicBezTo>
                  <a:pt x="166" y="491"/>
                  <a:pt x="333" y="483"/>
                  <a:pt x="454" y="453"/>
                </a:cubicBezTo>
                <a:cubicBezTo>
                  <a:pt x="575" y="423"/>
                  <a:pt x="651" y="392"/>
                  <a:pt x="726" y="317"/>
                </a:cubicBezTo>
                <a:cubicBezTo>
                  <a:pt x="801" y="242"/>
                  <a:pt x="877" y="53"/>
                  <a:pt x="90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23" name="Text Box 19">
            <a:extLst>
              <a:ext uri="{FF2B5EF4-FFF2-40B4-BE49-F238E27FC236}">
                <a16:creationId xmlns:a16="http://schemas.microsoft.com/office/drawing/2014/main" id="{5A28CD22-1738-F047-8A6A-4B4B34E4AD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4275" y="5895975"/>
            <a:ext cx="238125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000">
                <a:solidFill>
                  <a:srgbClr val="3333CC"/>
                </a:solidFill>
              </a:rPr>
              <a:t>Странно это выражать.</a:t>
            </a:r>
          </a:p>
          <a:p>
            <a:r>
              <a:rPr lang="ru" altLang="ru-RU" sz="2000">
                <a:solidFill>
                  <a:srgbClr val="3333CC"/>
                </a:solidFill>
              </a:rPr>
              <a:t>с точки зрения y.</a:t>
            </a:r>
          </a:p>
        </p:txBody>
      </p:sp>
      <p:sp>
        <p:nvSpPr>
          <p:cNvPr id="277524" name="AutoShape 20">
            <a:extLst>
              <a:ext uri="{FF2B5EF4-FFF2-40B4-BE49-F238E27FC236}">
                <a16:creationId xmlns:a16="http://schemas.microsoft.com/office/drawing/2014/main" id="{5DF14564-2B84-1941-BA41-8EB1CB8B3E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7050" y="5445125"/>
            <a:ext cx="142875" cy="360363"/>
          </a:xfrm>
          <a:prstGeom prst="upArrow">
            <a:avLst>
              <a:gd name="adj1" fmla="val 50000"/>
              <a:gd name="adj2" fmla="val 63056"/>
            </a:avLst>
          </a:prstGeom>
          <a:solidFill>
            <a:srgbClr val="3333CC"/>
          </a:solidFill>
          <a:ln w="9525">
            <a:solidFill>
              <a:srgbClr val="33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54" name="Rectangle 2">
            <a:extLst>
              <a:ext uri="{FF2B5EF4-FFF2-40B4-BE49-F238E27FC236}">
                <a16:creationId xmlns:a16="http://schemas.microsoft.com/office/drawing/2014/main" id="{122CB60C-EF15-8E41-9734-CD1F2E621E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Естественная функция ошибок для логистической</a:t>
            </a:r>
          </a:p>
        </p:txBody>
      </p:sp>
      <p:sp>
        <p:nvSpPr>
          <p:cNvPr id="279555" name="Rectangle 3">
            <a:extLst>
              <a:ext uri="{FF2B5EF4-FFF2-40B4-BE49-F238E27FC236}">
                <a16:creationId xmlns:a16="http://schemas.microsoft.com/office/drawing/2014/main" id="{33AD84D4-05EB-1E43-872D-404C0604098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50825" y="1600200"/>
            <a:ext cx="3035300" cy="3124200"/>
          </a:xfrm>
        </p:spPr>
        <p:txBody>
          <a:bodyPr/>
          <a:lstStyle/>
          <a:p>
            <a:r>
              <a:rPr lang="ru" altLang="ru-RU" sz="2000"/>
              <a:t>Чтобы построить логистическую модель с использованием максимального правдоподобия, нам необходимо минимизировать отрицательную логарифмическую вероятность правильного ответа, просуммированного по обучающему набору.</a:t>
            </a:r>
          </a:p>
        </p:txBody>
      </p:sp>
      <p:graphicFrame>
        <p:nvGraphicFramePr>
          <p:cNvPr id="279557" name="Object 5">
            <a:extLst>
              <a:ext uri="{FF2B5EF4-FFF2-40B4-BE49-F238E27FC236}">
                <a16:creationId xmlns:a16="http://schemas.microsoft.com/office/drawing/2014/main" id="{4CE3C9E0-CD5C-2A48-90E7-170EE93BA57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79813" y="1196975"/>
          <a:ext cx="5240337" cy="541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575" name="Equation" r:id="rId3" imgW="52082700" imgH="53835300" progId="Equation.3">
                  <p:embed/>
                </p:oleObj>
              </mc:Choice>
              <mc:Fallback>
                <p:oleObj name="Equation" r:id="rId3" imgW="52082700" imgH="538353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9813" y="1196975"/>
                        <a:ext cx="5240337" cy="5414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9558" name="Text Box 6">
            <a:extLst>
              <a:ext uri="{FF2B5EF4-FFF2-40B4-BE49-F238E27FC236}">
                <a16:creationId xmlns:a16="http://schemas.microsoft.com/office/drawing/2014/main" id="{0F20FA45-2661-E94E-AEA8-9E33B8ADC3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5607050"/>
            <a:ext cx="230505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0000CC"/>
                </a:solidFill>
              </a:rPr>
              <a:t>производная ошибки в обучающем случае n</a:t>
            </a:r>
          </a:p>
        </p:txBody>
      </p:sp>
      <p:sp>
        <p:nvSpPr>
          <p:cNvPr id="279559" name="Line 7">
            <a:extLst>
              <a:ext uri="{FF2B5EF4-FFF2-40B4-BE49-F238E27FC236}">
                <a16:creationId xmlns:a16="http://schemas.microsoft.com/office/drawing/2014/main" id="{46D4A681-7CBF-3E4C-B686-91A8C3AEB65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43213" y="5229225"/>
            <a:ext cx="504825" cy="360363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9561" name="Text Box 9">
            <a:extLst>
              <a:ext uri="{FF2B5EF4-FFF2-40B4-BE49-F238E27FC236}">
                <a16:creationId xmlns:a16="http://schemas.microsoft.com/office/drawing/2014/main" id="{FDF41C5F-C48A-0D43-87BE-F9EE2F8C9E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9338" y="3716338"/>
            <a:ext cx="11525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0000CC"/>
                </a:solidFill>
              </a:rPr>
              <a:t>если t =1</a:t>
            </a:r>
          </a:p>
        </p:txBody>
      </p:sp>
      <p:sp>
        <p:nvSpPr>
          <p:cNvPr id="279562" name="Text Box 10">
            <a:extLst>
              <a:ext uri="{FF2B5EF4-FFF2-40B4-BE49-F238E27FC236}">
                <a16:creationId xmlns:a16="http://schemas.microsoft.com/office/drawing/2014/main" id="{D53156C7-9B87-E641-ADFF-1623E57068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25" y="3679825"/>
            <a:ext cx="11525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0000CC"/>
                </a:solidFill>
              </a:rPr>
              <a:t>если t = 0</a:t>
            </a:r>
          </a:p>
        </p:txBody>
      </p:sp>
      <p:sp>
        <p:nvSpPr>
          <p:cNvPr id="279563" name="Line 11">
            <a:extLst>
              <a:ext uri="{FF2B5EF4-FFF2-40B4-BE49-F238E27FC236}">
                <a16:creationId xmlns:a16="http://schemas.microsoft.com/office/drawing/2014/main" id="{3624A18C-808F-224E-A9E0-6C5520FD9E5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48263" y="3213100"/>
            <a:ext cx="0" cy="4318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9564" name="Line 12">
            <a:extLst>
              <a:ext uri="{FF2B5EF4-FFF2-40B4-BE49-F238E27FC236}">
                <a16:creationId xmlns:a16="http://schemas.microsoft.com/office/drawing/2014/main" id="{9A111AD6-2FC8-354F-BE16-295CE2E34E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7050" y="3213100"/>
            <a:ext cx="0" cy="4318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04" name="Rectangle 4">
            <a:extLst>
              <a:ext uri="{FF2B5EF4-FFF2-40B4-BE49-F238E27FC236}">
                <a16:creationId xmlns:a16="http://schemas.microsoft.com/office/drawing/2014/main" id="{87996C5A-EDD7-1D46-B0D1-2F92861D35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Использование цепного правила для получения производных ошибок</a:t>
            </a:r>
          </a:p>
        </p:txBody>
      </p:sp>
      <p:graphicFrame>
        <p:nvGraphicFramePr>
          <p:cNvPr id="281606" name="Object 6">
            <a:extLst>
              <a:ext uri="{FF2B5EF4-FFF2-40B4-BE49-F238E27FC236}">
                <a16:creationId xmlns:a16="http://schemas.microsoft.com/office/drawing/2014/main" id="{A92A49DD-26FE-864C-AA0B-C2B996FC109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98575" y="1557338"/>
          <a:ext cx="6675438" cy="4697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628" name="Equation" r:id="rId3" imgW="57340500" imgH="40373300" progId="Equation.3">
                  <p:embed/>
                </p:oleObj>
              </mc:Choice>
              <mc:Fallback>
                <p:oleObj name="Equation" r:id="rId3" imgW="57340500" imgH="403733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8575" y="1557338"/>
                        <a:ext cx="6675438" cy="4697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1607" name="Object 7">
            <a:extLst>
              <a:ext uri="{FF2B5EF4-FFF2-40B4-BE49-F238E27FC236}">
                <a16:creationId xmlns:a16="http://schemas.microsoft.com/office/drawing/2014/main" id="{5AC8F579-FD63-0749-99ED-2CE7F514D57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14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629" name="Equation" r:id="rId5" imgW="2628900" imgH="4978400" progId="Equation.3">
                  <p:embed/>
                </p:oleObj>
              </mc:Choice>
              <mc:Fallback>
                <p:oleObj name="Equation" r:id="rId5" imgW="2628900" imgH="49784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4850" y="3321050"/>
                        <a:ext cx="114300" cy="215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530" name="Rectangle 2">
            <a:extLst>
              <a:ext uri="{FF2B5EF4-FFF2-40B4-BE49-F238E27FC236}">
                <a16:creationId xmlns:a16="http://schemas.microsoft.com/office/drawing/2014/main" id="{9507E280-3B6B-684F-ADF1-9294964D1C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9388" y="-17463"/>
            <a:ext cx="8686800" cy="1143001"/>
          </a:xfrm>
        </p:spPr>
        <p:txBody>
          <a:bodyPr/>
          <a:lstStyle/>
          <a:p>
            <a:r>
              <a:rPr lang="ru" altLang="ru-RU" sz="3200"/>
              <a:t>Функция ошибки «softmax» или кросс-энтропия для многоклассовой классификации</a:t>
            </a:r>
          </a:p>
        </p:txBody>
      </p:sp>
      <p:graphicFrame>
        <p:nvGraphicFramePr>
          <p:cNvPr id="278531" name="Object 3">
            <a:extLst>
              <a:ext uri="{FF2B5EF4-FFF2-40B4-BE49-F238E27FC236}">
                <a16:creationId xmlns:a16="http://schemas.microsoft.com/office/drawing/2014/main" id="{818009CE-3B81-A945-9D5B-E2A2DD49F30A}"/>
              </a:ext>
            </a:extLst>
          </p:cNvPr>
          <p:cNvGraphicFramePr>
            <a:graphicFrameLocks noGrp="1" noChangeAspect="1"/>
          </p:cNvGraphicFramePr>
          <p:nvPr>
            <p:ph idx="1"/>
          </p:nvPr>
        </p:nvGraphicFramePr>
        <p:xfrm>
          <a:off x="5175250" y="1171575"/>
          <a:ext cx="3725863" cy="5305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8569" name="Equation" r:id="rId3" imgW="36576000" imgH="52082700" progId="Equation.3">
                  <p:embed/>
                </p:oleObj>
              </mc:Choice>
              <mc:Fallback>
                <p:oleObj name="Equation" r:id="rId3" imgW="36576000" imgH="5208270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75250" y="1171575"/>
                        <a:ext cx="3725863" cy="5305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532" name="Text Box 4">
            <a:extLst>
              <a:ext uri="{FF2B5EF4-FFF2-40B4-BE49-F238E27FC236}">
                <a16:creationId xmlns:a16="http://schemas.microsoft.com/office/drawing/2014/main" id="{0150DF28-B79F-814C-A219-55DF9D11A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268413"/>
            <a:ext cx="403225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>
                <a:solidFill>
                  <a:srgbClr val="3333CC"/>
                </a:solidFill>
              </a:rPr>
              <a:t>Выходные блоки используют нелокальную нелинейность:</a:t>
            </a:r>
          </a:p>
        </p:txBody>
      </p:sp>
      <p:sp>
        <p:nvSpPr>
          <p:cNvPr id="278533" name="Text Box 5">
            <a:extLst>
              <a:ext uri="{FF2B5EF4-FFF2-40B4-BE49-F238E27FC236}">
                <a16:creationId xmlns:a16="http://schemas.microsoft.com/office/drawing/2014/main" id="{937BFC41-D25A-DA40-B73C-60497B2BA2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4149725"/>
            <a:ext cx="5040313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>
                <a:solidFill>
                  <a:srgbClr val="3333CC"/>
                </a:solidFill>
              </a:rPr>
              <a:t>Функция естественной стоимости — это отрицательный логарифм вероятности правильного ответа.</a:t>
            </a:r>
          </a:p>
        </p:txBody>
      </p:sp>
      <p:sp>
        <p:nvSpPr>
          <p:cNvPr id="278534" name="Text Box 6">
            <a:extLst>
              <a:ext uri="{FF2B5EF4-FFF2-40B4-BE49-F238E27FC236}">
                <a16:creationId xmlns:a16="http://schemas.microsoft.com/office/drawing/2014/main" id="{99999752-0555-FB43-A13A-026A0347B6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9725" y="5373688"/>
            <a:ext cx="401637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>
                <a:solidFill>
                  <a:srgbClr val="FF0000"/>
                </a:solidFill>
              </a:rPr>
              <a:t>Крутизна E точно уравновешивает пологость softmax.</a:t>
            </a:r>
          </a:p>
        </p:txBody>
      </p:sp>
      <p:sp>
        <p:nvSpPr>
          <p:cNvPr id="278535" name="Oval 7">
            <a:extLst>
              <a:ext uri="{FF2B5EF4-FFF2-40B4-BE49-F238E27FC236}">
                <a16:creationId xmlns:a16="http://schemas.microsoft.com/office/drawing/2014/main" id="{4194CFED-4573-D84C-832B-F0E294453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8525" y="2925763"/>
            <a:ext cx="360363" cy="360362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8536" name="Text Box 8">
            <a:extLst>
              <a:ext uri="{FF2B5EF4-FFF2-40B4-BE49-F238E27FC236}">
                <a16:creationId xmlns:a16="http://schemas.microsoft.com/office/drawing/2014/main" id="{376AFBB6-8443-AB49-9BB6-3C5DFB0C14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2582863"/>
            <a:ext cx="1008063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ru" altLang="ru-RU" sz="2000"/>
              <a:t>выходные единицы</a:t>
            </a:r>
          </a:p>
        </p:txBody>
      </p:sp>
      <p:sp>
        <p:nvSpPr>
          <p:cNvPr id="278537" name="Line 9">
            <a:extLst>
              <a:ext uri="{FF2B5EF4-FFF2-40B4-BE49-F238E27FC236}">
                <a16:creationId xmlns:a16="http://schemas.microsoft.com/office/drawing/2014/main" id="{BBE14AA3-A982-B04F-BF29-88C949A635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2988" y="3286125"/>
            <a:ext cx="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38" name="Line 10">
            <a:extLst>
              <a:ext uri="{FF2B5EF4-FFF2-40B4-BE49-F238E27FC236}">
                <a16:creationId xmlns:a16="http://schemas.microsoft.com/office/drawing/2014/main" id="{E51EE225-F9CC-7F40-A825-E0A9FD249D5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2988" y="2349500"/>
            <a:ext cx="0" cy="576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39" name="Text Box 11">
            <a:extLst>
              <a:ext uri="{FF2B5EF4-FFF2-40B4-BE49-F238E27FC236}">
                <a16:creationId xmlns:a16="http://schemas.microsoft.com/office/drawing/2014/main" id="{61A5FE53-B5D9-E340-8776-77091D3250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3260725"/>
            <a:ext cx="3603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/>
              <a:t>з</a:t>
            </a:r>
          </a:p>
        </p:txBody>
      </p:sp>
      <p:sp>
        <p:nvSpPr>
          <p:cNvPr id="278540" name="Text Box 12">
            <a:extLst>
              <a:ext uri="{FF2B5EF4-FFF2-40B4-BE49-F238E27FC236}">
                <a16:creationId xmlns:a16="http://schemas.microsoft.com/office/drawing/2014/main" id="{682C0E32-CA53-E94D-AFAF-090FCF566C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2349500"/>
            <a:ext cx="43338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/>
              <a:t>у</a:t>
            </a:r>
          </a:p>
        </p:txBody>
      </p:sp>
      <p:sp>
        <p:nvSpPr>
          <p:cNvPr id="278541" name="Oval 13">
            <a:extLst>
              <a:ext uri="{FF2B5EF4-FFF2-40B4-BE49-F238E27FC236}">
                <a16:creationId xmlns:a16="http://schemas.microsoft.com/office/drawing/2014/main" id="{C5F345BF-0BA6-184E-912B-3CD96DCBD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663" y="2925763"/>
            <a:ext cx="360362" cy="360362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8542" name="Line 14">
            <a:extLst>
              <a:ext uri="{FF2B5EF4-FFF2-40B4-BE49-F238E27FC236}">
                <a16:creationId xmlns:a16="http://schemas.microsoft.com/office/drawing/2014/main" id="{293130FC-F38D-054B-8F81-50BC02BFA73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62125" y="3286125"/>
            <a:ext cx="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43" name="Line 15">
            <a:extLst>
              <a:ext uri="{FF2B5EF4-FFF2-40B4-BE49-F238E27FC236}">
                <a16:creationId xmlns:a16="http://schemas.microsoft.com/office/drawing/2014/main" id="{1181D8B6-60E9-1349-B07C-F1A84182328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62125" y="2349500"/>
            <a:ext cx="0" cy="576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44" name="Text Box 16">
            <a:extLst>
              <a:ext uri="{FF2B5EF4-FFF2-40B4-BE49-F238E27FC236}">
                <a16:creationId xmlns:a16="http://schemas.microsoft.com/office/drawing/2014/main" id="{2B4B35A0-D8D0-2143-A2AE-24A45C0DE8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3260725"/>
            <a:ext cx="3603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/>
              <a:t>з</a:t>
            </a:r>
          </a:p>
        </p:txBody>
      </p:sp>
      <p:sp>
        <p:nvSpPr>
          <p:cNvPr id="278545" name="Text Box 17">
            <a:extLst>
              <a:ext uri="{FF2B5EF4-FFF2-40B4-BE49-F238E27FC236}">
                <a16:creationId xmlns:a16="http://schemas.microsoft.com/office/drawing/2014/main" id="{480864CC-D437-344E-AD8D-3C9DDFDC5B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0688" y="2349500"/>
            <a:ext cx="433387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/>
              <a:t>у</a:t>
            </a:r>
          </a:p>
        </p:txBody>
      </p:sp>
      <p:sp>
        <p:nvSpPr>
          <p:cNvPr id="278546" name="Oval 18">
            <a:extLst>
              <a:ext uri="{FF2B5EF4-FFF2-40B4-BE49-F238E27FC236}">
                <a16:creationId xmlns:a16="http://schemas.microsoft.com/office/drawing/2014/main" id="{761C1D6B-C5CA-0441-ABF1-336EE4F3E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6800" y="2925763"/>
            <a:ext cx="360363" cy="360362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8547" name="Line 19">
            <a:extLst>
              <a:ext uri="{FF2B5EF4-FFF2-40B4-BE49-F238E27FC236}">
                <a16:creationId xmlns:a16="http://schemas.microsoft.com/office/drawing/2014/main" id="{310CE88D-90EF-284B-B162-454C5A761C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1263" y="3286125"/>
            <a:ext cx="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48" name="Line 20">
            <a:extLst>
              <a:ext uri="{FF2B5EF4-FFF2-40B4-BE49-F238E27FC236}">
                <a16:creationId xmlns:a16="http://schemas.microsoft.com/office/drawing/2014/main" id="{E081DDFD-E2B6-7C49-842D-B3A629369B8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1263" y="2349500"/>
            <a:ext cx="0" cy="576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49" name="Text Box 21">
            <a:extLst>
              <a:ext uri="{FF2B5EF4-FFF2-40B4-BE49-F238E27FC236}">
                <a16:creationId xmlns:a16="http://schemas.microsoft.com/office/drawing/2014/main" id="{51FAC38C-A2A3-2C4D-A2EA-65B2A2F50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1263" y="3260725"/>
            <a:ext cx="3603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/>
              <a:t>з</a:t>
            </a:r>
          </a:p>
        </p:txBody>
      </p:sp>
      <p:sp>
        <p:nvSpPr>
          <p:cNvPr id="278550" name="Text Box 22">
            <a:extLst>
              <a:ext uri="{FF2B5EF4-FFF2-40B4-BE49-F238E27FC236}">
                <a16:creationId xmlns:a16="http://schemas.microsoft.com/office/drawing/2014/main" id="{6EE99965-63A0-F940-9DC9-53551C201F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09825" y="2349500"/>
            <a:ext cx="43338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/>
              <a:t>у</a:t>
            </a:r>
          </a:p>
        </p:txBody>
      </p:sp>
      <p:sp>
        <p:nvSpPr>
          <p:cNvPr id="278551" name="Text Box 23">
            <a:extLst>
              <a:ext uri="{FF2B5EF4-FFF2-40B4-BE49-F238E27FC236}">
                <a16:creationId xmlns:a16="http://schemas.microsoft.com/office/drawing/2014/main" id="{DF56761E-7419-344F-A9D1-D5D72FE674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2630488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1</a:t>
            </a:r>
          </a:p>
        </p:txBody>
      </p:sp>
      <p:sp>
        <p:nvSpPr>
          <p:cNvPr id="278552" name="Text Box 24">
            <a:extLst>
              <a:ext uri="{FF2B5EF4-FFF2-40B4-BE49-F238E27FC236}">
                <a16:creationId xmlns:a16="http://schemas.microsoft.com/office/drawing/2014/main" id="{83C04502-28B1-634F-BF62-25F2B50CEB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7450" y="3430588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1</a:t>
            </a:r>
          </a:p>
        </p:txBody>
      </p:sp>
      <p:sp>
        <p:nvSpPr>
          <p:cNvPr id="278553" name="Text Box 25">
            <a:extLst>
              <a:ext uri="{FF2B5EF4-FFF2-40B4-BE49-F238E27FC236}">
                <a16:creationId xmlns:a16="http://schemas.microsoft.com/office/drawing/2014/main" id="{50E011ED-407A-B448-A0A3-4B7184E335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8175" y="3422650"/>
            <a:ext cx="5762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2</a:t>
            </a:r>
          </a:p>
        </p:txBody>
      </p:sp>
      <p:sp>
        <p:nvSpPr>
          <p:cNvPr id="278554" name="Text Box 26">
            <a:extLst>
              <a:ext uri="{FF2B5EF4-FFF2-40B4-BE49-F238E27FC236}">
                <a16:creationId xmlns:a16="http://schemas.microsoft.com/office/drawing/2014/main" id="{C85FF8E5-0FE6-6646-A9B2-AA2A1393B3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5150" y="2630488"/>
            <a:ext cx="7921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2</a:t>
            </a:r>
          </a:p>
        </p:txBody>
      </p:sp>
      <p:sp>
        <p:nvSpPr>
          <p:cNvPr id="278555" name="Text Box 27">
            <a:extLst>
              <a:ext uri="{FF2B5EF4-FFF2-40B4-BE49-F238E27FC236}">
                <a16:creationId xmlns:a16="http://schemas.microsoft.com/office/drawing/2014/main" id="{4396FC9E-601F-8D46-9326-340B761BF4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32063" y="2630488"/>
            <a:ext cx="311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1800"/>
              <a:t>3</a:t>
            </a:r>
          </a:p>
        </p:txBody>
      </p:sp>
      <p:sp>
        <p:nvSpPr>
          <p:cNvPr id="278556" name="Text Box 28">
            <a:extLst>
              <a:ext uri="{FF2B5EF4-FFF2-40B4-BE49-F238E27FC236}">
                <a16:creationId xmlns:a16="http://schemas.microsoft.com/office/drawing/2014/main" id="{51093DF4-8346-B348-86CE-B4FBC1C5DC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7313" y="3422650"/>
            <a:ext cx="3603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3</a:t>
            </a:r>
          </a:p>
        </p:txBody>
      </p:sp>
      <p:sp>
        <p:nvSpPr>
          <p:cNvPr id="278557" name="Text Box 29">
            <a:extLst>
              <a:ext uri="{FF2B5EF4-FFF2-40B4-BE49-F238E27FC236}">
                <a16:creationId xmlns:a16="http://schemas.microsoft.com/office/drawing/2014/main" id="{6BD37417-FCFE-7149-893B-FF63DFA2E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8988" y="3789363"/>
            <a:ext cx="22320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>
                <a:solidFill>
                  <a:srgbClr val="009900"/>
                </a:solidFill>
              </a:rPr>
              <a:t>целевое значение</a:t>
            </a:r>
          </a:p>
        </p:txBody>
      </p:sp>
      <p:sp>
        <p:nvSpPr>
          <p:cNvPr id="278558" name="AutoShape 30">
            <a:extLst>
              <a:ext uri="{FF2B5EF4-FFF2-40B4-BE49-F238E27FC236}">
                <a16:creationId xmlns:a16="http://schemas.microsoft.com/office/drawing/2014/main" id="{44881A6A-455F-3E42-80EF-37A268AD64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4156075"/>
            <a:ext cx="73025" cy="215900"/>
          </a:xfrm>
          <a:prstGeom prst="downArrow">
            <a:avLst>
              <a:gd name="adj1" fmla="val 50000"/>
              <a:gd name="adj2" fmla="val 73913"/>
            </a:avLst>
          </a:prstGeom>
          <a:solidFill>
            <a:srgbClr val="00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Rectangle 2">
            <a:extLst>
              <a:ext uri="{FF2B5EF4-FFF2-40B4-BE49-F238E27FC236}">
                <a16:creationId xmlns:a16="http://schemas.microsoft.com/office/drawing/2014/main" id="{4794E142-0A21-3341-B767-03808ABCCC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Частный случай softmax для двух классов</a:t>
            </a:r>
          </a:p>
        </p:txBody>
      </p:sp>
      <p:sp>
        <p:nvSpPr>
          <p:cNvPr id="283653" name="Rectangle 5">
            <a:extLst>
              <a:ext uri="{FF2B5EF4-FFF2-40B4-BE49-F238E27FC236}">
                <a16:creationId xmlns:a16="http://schemas.microsoft.com/office/drawing/2014/main" id="{22BB53E8-5B1D-864A-BEF8-7112666BF6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3328988"/>
            <a:ext cx="8229600" cy="2908300"/>
          </a:xfrm>
        </p:spPr>
        <p:txBody>
          <a:bodyPr/>
          <a:lstStyle/>
          <a:p>
            <a:r>
              <a:rPr lang="ru" altLang="ru-RU"/>
              <a:t>Таким образом, логистика — это просто частный случай, в котором избегается использование избыточных параметров:</a:t>
            </a:r>
          </a:p>
          <a:p>
            <a:pPr lvl="1"/>
            <a:r>
              <a:rPr lang="ru" altLang="ru-RU"/>
              <a:t>Добавление одной и той же константы к z1 и z0 не дает никакого эффекта.</a:t>
            </a:r>
          </a:p>
          <a:p>
            <a:pPr lvl="1"/>
            <a:r>
              <a:rPr lang="ru" altLang="ru-RU"/>
              <a:t>Излишняя параметризация softmax обусловлена тем, что вероятности должны в сумме давать 1.</a:t>
            </a:r>
          </a:p>
        </p:txBody>
      </p:sp>
      <p:graphicFrame>
        <p:nvGraphicFramePr>
          <p:cNvPr id="283652" name="Object 4">
            <a:extLst>
              <a:ext uri="{FF2B5EF4-FFF2-40B4-BE49-F238E27FC236}">
                <a16:creationId xmlns:a16="http://schemas.microsoft.com/office/drawing/2014/main" id="{3907AF7A-D58F-924F-B69D-92798A27A1D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87450" y="1557338"/>
          <a:ext cx="4946650" cy="1300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664" name="Equation" r:id="rId3" imgW="40081200" imgH="10528300" progId="Equation.3">
                  <p:embed/>
                </p:oleObj>
              </mc:Choice>
              <mc:Fallback>
                <p:oleObj name="Equation" r:id="rId3" imgW="40081200" imgH="105283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1557338"/>
                        <a:ext cx="4946650" cy="1300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82" name="Rectangle 2">
            <a:extLst>
              <a:ext uri="{FF2B5EF4-FFF2-40B4-BE49-F238E27FC236}">
                <a16:creationId xmlns:a16="http://schemas.microsoft.com/office/drawing/2014/main" id="{C2D1C5BB-B256-DB46-8D83-ACCE07D13EB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44450"/>
            <a:ext cx="8229600" cy="1143000"/>
          </a:xfrm>
        </p:spPr>
        <p:txBody>
          <a:bodyPr/>
          <a:lstStyle/>
          <a:p>
            <a:r>
              <a:rPr lang="ru" altLang="ru-RU" sz="2800"/>
              <a:t>Вероятностные генеративные модели дискриминации</a:t>
            </a:r>
          </a:p>
        </p:txBody>
      </p:sp>
      <p:sp>
        <p:nvSpPr>
          <p:cNvPr id="276483" name="Rectangle 3">
            <a:extLst>
              <a:ext uri="{FF2B5EF4-FFF2-40B4-BE49-F238E27FC236}">
                <a16:creationId xmlns:a16="http://schemas.microsoft.com/office/drawing/2014/main" id="{3FC4B273-4140-344A-8AD3-9D934B700F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125538"/>
            <a:ext cx="8229600" cy="4525962"/>
          </a:xfrm>
        </p:spPr>
        <p:txBody>
          <a:bodyPr/>
          <a:lstStyle/>
          <a:p>
            <a:r>
              <a:rPr lang="ru" altLang="ru-RU" sz="2400"/>
              <a:t>Используйте отдельную генеративную модель входных векторов для каждого класса и посмотрите, какая модель делает тестовый входной вектор наиболее вероятным.</a:t>
            </a:r>
          </a:p>
          <a:p>
            <a:r>
              <a:rPr lang="ru" altLang="ru-RU" sz="2400"/>
              <a:t>Апостериорная вероятность класса 1 определяется по формуле:</a:t>
            </a:r>
          </a:p>
        </p:txBody>
      </p:sp>
      <p:graphicFrame>
        <p:nvGraphicFramePr>
          <p:cNvPr id="276485" name="Object 5">
            <a:extLst>
              <a:ext uri="{FF2B5EF4-FFF2-40B4-BE49-F238E27FC236}">
                <a16:creationId xmlns:a16="http://schemas.microsoft.com/office/drawing/2014/main" id="{A90DBF42-595A-744B-908C-1325174CD60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7238" y="2852738"/>
          <a:ext cx="7775575" cy="260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499" name="Equation" r:id="rId3" imgW="76949300" imgH="25742900" progId="Equation.3">
                  <p:embed/>
                </p:oleObj>
              </mc:Choice>
              <mc:Fallback>
                <p:oleObj name="Equation" r:id="rId3" imgW="76949300" imgH="257429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7238" y="2852738"/>
                        <a:ext cx="7775575" cy="2603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486" name="Rectangle 6">
            <a:extLst>
              <a:ext uri="{FF2B5EF4-FFF2-40B4-BE49-F238E27FC236}">
                <a16:creationId xmlns:a16="http://schemas.microsoft.com/office/drawing/2014/main" id="{6BAD812D-57F3-CF48-A3F0-A16A1C9CB4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4364038"/>
            <a:ext cx="2376488" cy="1081087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6487" name="Text Box 7">
            <a:extLst>
              <a:ext uri="{FF2B5EF4-FFF2-40B4-BE49-F238E27FC236}">
                <a16:creationId xmlns:a16="http://schemas.microsoft.com/office/drawing/2014/main" id="{F11C5690-DFA3-ED41-B5E5-FFFC1606D4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0063" y="5876925"/>
            <a:ext cx="338455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0000CC"/>
                </a:solidFill>
              </a:rPr>
              <a:t>z называется логарифмом и задается логарифмом шансов</a:t>
            </a:r>
          </a:p>
        </p:txBody>
      </p:sp>
      <p:sp>
        <p:nvSpPr>
          <p:cNvPr id="276488" name="Line 8">
            <a:extLst>
              <a:ext uri="{FF2B5EF4-FFF2-40B4-BE49-F238E27FC236}">
                <a16:creationId xmlns:a16="http://schemas.microsoft.com/office/drawing/2014/main" id="{D34D79EF-A1CB-FA47-B83B-EF9A07EB32F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48488" y="5516563"/>
            <a:ext cx="0" cy="360362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22" name="Rectangle 2">
            <a:extLst>
              <a:ext uri="{FF2B5EF4-FFF2-40B4-BE49-F238E27FC236}">
                <a16:creationId xmlns:a16="http://schemas.microsoft.com/office/drawing/2014/main" id="{D39379B9-6BED-7746-B564-562BEFFA6D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26988"/>
            <a:ext cx="8229600" cy="1143001"/>
          </a:xfrm>
        </p:spPr>
        <p:txBody>
          <a:bodyPr/>
          <a:lstStyle/>
          <a:p>
            <a:r>
              <a:rPr lang="ru" altLang="ru-RU"/>
              <a:t>Простой пример для непрерывных входных данных</a:t>
            </a:r>
          </a:p>
        </p:txBody>
      </p:sp>
      <p:sp>
        <p:nvSpPr>
          <p:cNvPr id="286723" name="Rectangle 3">
            <a:extLst>
              <a:ext uri="{FF2B5EF4-FFF2-40B4-BE49-F238E27FC236}">
                <a16:creationId xmlns:a16="http://schemas.microsoft.com/office/drawing/2014/main" id="{E0FF0E2E-D8B3-B940-8D03-CF734748E3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981075"/>
            <a:ext cx="8229600" cy="5400675"/>
          </a:xfrm>
        </p:spPr>
        <p:txBody>
          <a:bodyPr/>
          <a:lstStyle/>
          <a:p>
            <a:r>
              <a:rPr lang="ru" altLang="ru-RU" sz="2400"/>
              <a:t>Предположим, что входные векторы для каждого класса имеют гауссовское распределение и все классы имеют одинаковую ковариационную матрицу.</a:t>
            </a:r>
          </a:p>
          <a:p>
            <a:endParaRPr lang="en-US" altLang="ru-RU" sz="2400"/>
          </a:p>
          <a:p>
            <a:endParaRPr lang="en-US" altLang="ru-RU" sz="2400"/>
          </a:p>
          <a:p>
            <a:endParaRPr lang="en-US" altLang="ru-RU" sz="2400"/>
          </a:p>
          <a:p>
            <a:r>
              <a:rPr lang="ru" altLang="ru-RU" sz="2400"/>
              <a:t>Для двух классов, C1 и C0, апостериорная функция представляет собой логистику:</a:t>
            </a:r>
          </a:p>
        </p:txBody>
      </p:sp>
      <p:graphicFrame>
        <p:nvGraphicFramePr>
          <p:cNvPr id="286724" name="Object 4">
            <a:extLst>
              <a:ext uri="{FF2B5EF4-FFF2-40B4-BE49-F238E27FC236}">
                <a16:creationId xmlns:a16="http://schemas.microsoft.com/office/drawing/2014/main" id="{5DB3D40B-F2E4-9149-AA37-945E025576B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55713" y="2636838"/>
          <a:ext cx="6704012" cy="788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750" name="Equation" r:id="rId3" imgW="62026800" imgH="7315200" progId="Equation.3">
                  <p:embed/>
                </p:oleObj>
              </mc:Choice>
              <mc:Fallback>
                <p:oleObj name="Equation" r:id="rId3" imgW="62026800" imgH="73152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5713" y="2636838"/>
                        <a:ext cx="6704012" cy="7889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725" name="Object 5">
            <a:extLst>
              <a:ext uri="{FF2B5EF4-FFF2-40B4-BE49-F238E27FC236}">
                <a16:creationId xmlns:a16="http://schemas.microsoft.com/office/drawing/2014/main" id="{A03E6298-4750-F543-8CC6-A7DF1B86D83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00125" y="4071938"/>
          <a:ext cx="6524625" cy="2381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751" name="Equation" r:id="rId5" imgW="61734700" imgH="22529800" progId="Equation.3">
                  <p:embed/>
                </p:oleObj>
              </mc:Choice>
              <mc:Fallback>
                <p:oleObj name="Equation" r:id="rId5" imgW="61734700" imgH="225298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00125" y="4071938"/>
                        <a:ext cx="6524625" cy="2381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726" name="Text Box 6">
            <a:extLst>
              <a:ext uri="{FF2B5EF4-FFF2-40B4-BE49-F238E27FC236}">
                <a16:creationId xmlns:a16="http://schemas.microsoft.com/office/drawing/2014/main" id="{FA42799F-21AA-2E43-8C1D-A3302DC9BF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2725" y="2139950"/>
            <a:ext cx="3024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>
                <a:solidFill>
                  <a:srgbClr val="0000CC"/>
                </a:solidFill>
              </a:rPr>
              <a:t>обратная ковариационная матрица</a:t>
            </a:r>
          </a:p>
        </p:txBody>
      </p:sp>
      <p:sp>
        <p:nvSpPr>
          <p:cNvPr id="286727" name="Line 7">
            <a:extLst>
              <a:ext uri="{FF2B5EF4-FFF2-40B4-BE49-F238E27FC236}">
                <a16:creationId xmlns:a16="http://schemas.microsoft.com/office/drawing/2014/main" id="{7B794A2C-76C5-074C-96B6-13AC4347FE5E}"/>
              </a:ext>
            </a:extLst>
          </p:cNvPr>
          <p:cNvSpPr>
            <a:spLocks noChangeShapeType="1"/>
          </p:cNvSpPr>
          <p:nvPr/>
        </p:nvSpPr>
        <p:spPr bwMode="auto">
          <a:xfrm>
            <a:off x="6227763" y="2492375"/>
            <a:ext cx="1587" cy="288925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86728" name="Text Box 8">
            <a:extLst>
              <a:ext uri="{FF2B5EF4-FFF2-40B4-BE49-F238E27FC236}">
                <a16:creationId xmlns:a16="http://schemas.microsoft.com/office/drawing/2014/main" id="{3CCA191E-720F-9D42-B8AF-A9E238F357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0188" y="2060575"/>
            <a:ext cx="14414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>
                <a:solidFill>
                  <a:srgbClr val="0000CC"/>
                </a:solidFill>
              </a:rPr>
              <a:t>нормализующая константа</a:t>
            </a:r>
          </a:p>
        </p:txBody>
      </p:sp>
      <p:sp>
        <p:nvSpPr>
          <p:cNvPr id="286729" name="Line 9">
            <a:extLst>
              <a:ext uri="{FF2B5EF4-FFF2-40B4-BE49-F238E27FC236}">
                <a16:creationId xmlns:a16="http://schemas.microsoft.com/office/drawing/2014/main" id="{78E474E3-B38B-984F-BB3B-8D752F208A2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32138" y="263683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6" name="Rectangle 6">
            <a:extLst>
              <a:ext uri="{FF2B5EF4-FFF2-40B4-BE49-F238E27FC236}">
                <a16:creationId xmlns:a16="http://schemas.microsoft.com/office/drawing/2014/main" id="{5D67172A-21B3-EF47-AF77-B22909F3D2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Изображение двух гауссовых моделей и полученная апостериорная функция для красного класса</a:t>
            </a:r>
          </a:p>
        </p:txBody>
      </p:sp>
      <p:pic>
        <p:nvPicPr>
          <p:cNvPr id="240644" name="Picture 4">
            <a:extLst>
              <a:ext uri="{FF2B5EF4-FFF2-40B4-BE49-F238E27FC236}">
                <a16:creationId xmlns:a16="http://schemas.microsoft.com/office/drawing/2014/main" id="{9A3A0372-745A-DC43-AA42-B02C883A9F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1700213"/>
            <a:ext cx="3224213" cy="3286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645" name="Picture 5">
            <a:extLst>
              <a:ext uri="{FF2B5EF4-FFF2-40B4-BE49-F238E27FC236}">
                <a16:creationId xmlns:a16="http://schemas.microsoft.com/office/drawing/2014/main" id="{ABFA0C8D-BA0E-A246-8D2B-1EC70B30E3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1647825"/>
            <a:ext cx="3960813" cy="3489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794" name="Rectangle 2">
            <a:extLst>
              <a:ext uri="{FF2B5EF4-FFF2-40B4-BE49-F238E27FC236}">
                <a16:creationId xmlns:a16="http://schemas.microsoft.com/office/drawing/2014/main" id="{90D040D0-86FA-6641-AC72-B2F421CEA7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Способ размышления о роли обратной ковариационной матрицы</a:t>
            </a:r>
          </a:p>
        </p:txBody>
      </p:sp>
      <p:sp>
        <p:nvSpPr>
          <p:cNvPr id="289798" name="Rectangle 6">
            <a:extLst>
              <a:ext uri="{FF2B5EF4-FFF2-40B4-BE49-F238E27FC236}">
                <a16:creationId xmlns:a16="http://schemas.microsoft.com/office/drawing/2014/main" id="{9FFC42BF-BDC6-E748-97D9-D65A38401D0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8600" cy="4997450"/>
          </a:xfrm>
        </p:spPr>
        <p:txBody>
          <a:bodyPr/>
          <a:lstStyle/>
          <a:p>
            <a:r>
              <a:rPr lang="ru" altLang="ru-RU" sz="2000"/>
              <a:t>Если гауссиана сферическая, нам не нужно беспокоиться о ковариационной матрице.</a:t>
            </a:r>
          </a:p>
          <a:p>
            <a:r>
              <a:rPr lang="ru" altLang="ru-RU" sz="2000"/>
              <a:t>Итак, мы могли бы начать с преобразования пространства данных, чтобы сделать гауссово сферическое</a:t>
            </a:r>
          </a:p>
          <a:p>
            <a:pPr lvl="1"/>
            <a:r>
              <a:rPr lang="ru" altLang="ru-RU" sz="2000"/>
              <a:t>Это называется «отбеливанием» данных.</a:t>
            </a:r>
          </a:p>
          <a:p>
            <a:pPr lvl="1"/>
            <a:r>
              <a:rPr lang="ru" altLang="ru-RU" sz="2000"/>
              <a:t>Он предварительно умножается на квадратный корень матрицы обратной ковариации.</a:t>
            </a:r>
          </a:p>
          <a:p>
            <a:r>
              <a:rPr lang="ru" altLang="ru-RU" sz="2000"/>
              <a:t>В преобразованном пространстве вектор веса представляет собой просто разницу между преобразованными средними значениями.</a:t>
            </a:r>
          </a:p>
        </p:txBody>
      </p:sp>
      <p:graphicFrame>
        <p:nvGraphicFramePr>
          <p:cNvPr id="289796" name="Object 4">
            <a:extLst>
              <a:ext uri="{FF2B5EF4-FFF2-40B4-BE49-F238E27FC236}">
                <a16:creationId xmlns:a16="http://schemas.microsoft.com/office/drawing/2014/main" id="{478E2F15-742E-AF48-AD29-9E805904FA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89525" y="1550988"/>
          <a:ext cx="3370263" cy="439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810" name="Equation" r:id="rId3" imgW="31889700" imgH="41541700" progId="Equation.3">
                  <p:embed/>
                </p:oleObj>
              </mc:Choice>
              <mc:Fallback>
                <p:oleObj name="Equation" r:id="rId3" imgW="31889700" imgH="415417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9525" y="1550988"/>
                        <a:ext cx="3370263" cy="439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70" name="Rectangle 6">
            <a:extLst>
              <a:ext uri="{FF2B5EF4-FFF2-40B4-BE49-F238E27FC236}">
                <a16:creationId xmlns:a16="http://schemas.microsoft.com/office/drawing/2014/main" id="{AA42D813-F5C7-DF42-B23E-45F2B2EE02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Апостериорная вероятность, когда матрицы ковариации различны для разных классов.</a:t>
            </a:r>
          </a:p>
        </p:txBody>
      </p:sp>
      <p:pic>
        <p:nvPicPr>
          <p:cNvPr id="241668" name="Picture 4">
            <a:extLst>
              <a:ext uri="{FF2B5EF4-FFF2-40B4-BE49-F238E27FC236}">
                <a16:creationId xmlns:a16="http://schemas.microsoft.com/office/drawing/2014/main" id="{C3D3B130-3E17-9841-9D95-AC641178F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501775"/>
            <a:ext cx="3671888" cy="3611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1669" name="Picture 5">
            <a:extLst>
              <a:ext uri="{FF2B5EF4-FFF2-40B4-BE49-F238E27FC236}">
                <a16:creationId xmlns:a16="http://schemas.microsoft.com/office/drawing/2014/main" id="{678A4A70-0003-574F-A447-3FB2B700C5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1470025"/>
            <a:ext cx="3743325" cy="3687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1671" name="Text Box 7">
            <a:extLst>
              <a:ext uri="{FF2B5EF4-FFF2-40B4-BE49-F238E27FC236}">
                <a16:creationId xmlns:a16="http://schemas.microsoft.com/office/drawing/2014/main" id="{827487B2-C7CB-7644-AC7D-74D0F3539F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2363" y="5286375"/>
            <a:ext cx="3816350" cy="1311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0000CC"/>
                </a:solidFill>
              </a:rPr>
              <a:t>Поверхность принятия решений является плоской, если ковариационные матрицы одинаковы, и квадратной, если они не одинаковы.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2">
            <a:extLst>
              <a:ext uri="{FF2B5EF4-FFF2-40B4-BE49-F238E27FC236}">
                <a16:creationId xmlns:a16="http://schemas.microsoft.com/office/drawing/2014/main" id="{ED4DA21E-BB92-9E4F-A46D-4BCCD747B1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Два способа обучения набора генеративных моделей, специфичных для класса</a:t>
            </a:r>
          </a:p>
        </p:txBody>
      </p:sp>
      <p:sp>
        <p:nvSpPr>
          <p:cNvPr id="243716" name="Rectangle 4">
            <a:extLst>
              <a:ext uri="{FF2B5EF4-FFF2-40B4-BE49-F238E27FC236}">
                <a16:creationId xmlns:a16="http://schemas.microsoft.com/office/drawing/2014/main" id="{2C0D4399-E98E-8340-B1D9-2766B68C09B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8600" cy="4852988"/>
          </a:xfrm>
        </p:spPr>
        <p:txBody>
          <a:bodyPr/>
          <a:lstStyle/>
          <a:p>
            <a:r>
              <a:rPr lang="ru" altLang="ru-RU" sz="2000">
                <a:solidFill>
                  <a:srgbClr val="0000CC"/>
                </a:solidFill>
              </a:rPr>
              <a:t>Генеративный подход </a:t>
            </a:r>
            <a:r>
              <a:rPr lang="ru" altLang="ru-RU" sz="2000"/>
              <a:t>Обучайте каждую модель отдельно, чтобы она соответствовала входным векторам соответствующего класса.</a:t>
            </a:r>
          </a:p>
          <a:p>
            <a:pPr lvl="1"/>
            <a:r>
              <a:rPr lang="ru" altLang="ru-RU" sz="2000"/>
              <a:t>Разные модели можно обучать на разных ядрах.</a:t>
            </a:r>
          </a:p>
          <a:p>
            <a:pPr lvl="1"/>
            <a:r>
              <a:rPr lang="ru" altLang="ru-RU" sz="2000"/>
              <a:t>Легко добавить новый класс без переобучения всех остальных классов.</a:t>
            </a:r>
          </a:p>
          <a:p>
            <a:r>
              <a:rPr lang="ru" altLang="ru-RU" sz="2000"/>
              <a:t>Это существенные преимущества, когда модели сложнее обучать, чем простые линейные модели, рассматриваемые здесь.</a:t>
            </a:r>
          </a:p>
        </p:txBody>
      </p:sp>
      <p:sp>
        <p:nvSpPr>
          <p:cNvPr id="243717" name="Rectangle 5">
            <a:extLst>
              <a:ext uri="{FF2B5EF4-FFF2-40B4-BE49-F238E27FC236}">
                <a16:creationId xmlns:a16="http://schemas.microsoft.com/office/drawing/2014/main" id="{C83BCE75-A1F4-6B44-90A8-FAB9133C1EE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400">
                <a:solidFill>
                  <a:srgbClr val="0000CC"/>
                </a:solidFill>
              </a:rPr>
              <a:t>Дискриминационный подход. </a:t>
            </a:r>
            <a:r>
              <a:rPr lang="ru" altLang="ru-RU" sz="2400"/>
              <a:t>Обучите все параметры обеих моделей, чтобы максимально увеличить вероятность правильного присвоения меток.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0" name="Rectangle 2">
            <a:extLst>
              <a:ext uri="{FF2B5EF4-FFF2-40B4-BE49-F238E27FC236}">
                <a16:creationId xmlns:a16="http://schemas.microsoft.com/office/drawing/2014/main" id="{8AFE865B-1ECA-0946-A4FF-42DBD966FB2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Пример, когда два типа обучения ведут себя совершенно по-разному</a:t>
            </a:r>
          </a:p>
        </p:txBody>
      </p:sp>
      <p:sp>
        <p:nvSpPr>
          <p:cNvPr id="293892" name="Rectangle 4">
            <a:extLst>
              <a:ext uri="{FF2B5EF4-FFF2-40B4-BE49-F238E27FC236}">
                <a16:creationId xmlns:a16="http://schemas.microsoft.com/office/drawing/2014/main" id="{58093C86-25E2-AB45-9D65-837EFF3EE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0688" y="1773238"/>
            <a:ext cx="5689600" cy="1873250"/>
          </a:xfrm>
          <a:prstGeom prst="rect">
            <a:avLst/>
          </a:prstGeom>
          <a:solidFill>
            <a:schemeClr val="accent1">
              <a:alpha val="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93893" name="Line 5">
            <a:extLst>
              <a:ext uri="{FF2B5EF4-FFF2-40B4-BE49-F238E27FC236}">
                <a16:creationId xmlns:a16="http://schemas.microsoft.com/office/drawing/2014/main" id="{B3DD627C-E550-284F-A04A-605598ABFE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9975" y="3430588"/>
            <a:ext cx="1588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4" name="Line 6">
            <a:extLst>
              <a:ext uri="{FF2B5EF4-FFF2-40B4-BE49-F238E27FC236}">
                <a16:creationId xmlns:a16="http://schemas.microsoft.com/office/drawing/2014/main" id="{D87D74AA-A702-5846-B4B7-4FBF8F5F99DD}"/>
              </a:ext>
            </a:extLst>
          </p:cNvPr>
          <p:cNvSpPr>
            <a:spLocks noChangeShapeType="1"/>
          </p:cNvSpPr>
          <p:nvPr/>
        </p:nvSpPr>
        <p:spPr bwMode="auto">
          <a:xfrm>
            <a:off x="2484438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5" name="Line 7">
            <a:extLst>
              <a:ext uri="{FF2B5EF4-FFF2-40B4-BE49-F238E27FC236}">
                <a16:creationId xmlns:a16="http://schemas.microsoft.com/office/drawing/2014/main" id="{8A028454-D475-F346-96A1-A13F4891B0A2}"/>
              </a:ext>
            </a:extLst>
          </p:cNvPr>
          <p:cNvSpPr>
            <a:spLocks noChangeShapeType="1"/>
          </p:cNvSpPr>
          <p:nvPr/>
        </p:nvSpPr>
        <p:spPr bwMode="auto">
          <a:xfrm>
            <a:off x="2700338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6" name="Line 8">
            <a:extLst>
              <a:ext uri="{FF2B5EF4-FFF2-40B4-BE49-F238E27FC236}">
                <a16:creationId xmlns:a16="http://schemas.microsoft.com/office/drawing/2014/main" id="{E23804F7-B306-C64F-852A-58487680FA61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7313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7" name="Line 9">
            <a:extLst>
              <a:ext uri="{FF2B5EF4-FFF2-40B4-BE49-F238E27FC236}">
                <a16:creationId xmlns:a16="http://schemas.microsoft.com/office/drawing/2014/main" id="{C4B95817-5850-6E41-8272-37734FB3A422}"/>
              </a:ext>
            </a:extLst>
          </p:cNvPr>
          <p:cNvSpPr>
            <a:spLocks noChangeShapeType="1"/>
          </p:cNvSpPr>
          <p:nvPr/>
        </p:nvSpPr>
        <p:spPr bwMode="auto">
          <a:xfrm>
            <a:off x="2843213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8" name="Line 10">
            <a:extLst>
              <a:ext uri="{FF2B5EF4-FFF2-40B4-BE49-F238E27FC236}">
                <a16:creationId xmlns:a16="http://schemas.microsoft.com/office/drawing/2014/main" id="{BD725F17-5468-CD46-B0BC-EA48D16F64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59113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9" name="Line 11">
            <a:extLst>
              <a:ext uri="{FF2B5EF4-FFF2-40B4-BE49-F238E27FC236}">
                <a16:creationId xmlns:a16="http://schemas.microsoft.com/office/drawing/2014/main" id="{E21D7B8F-33BD-154B-B6FF-D7D4A1A4DBDD}"/>
              </a:ext>
            </a:extLst>
          </p:cNvPr>
          <p:cNvSpPr>
            <a:spLocks noChangeShapeType="1"/>
          </p:cNvSpPr>
          <p:nvPr/>
        </p:nvSpPr>
        <p:spPr bwMode="auto">
          <a:xfrm>
            <a:off x="4427538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0" name="Line 12">
            <a:extLst>
              <a:ext uri="{FF2B5EF4-FFF2-40B4-BE49-F238E27FC236}">
                <a16:creationId xmlns:a16="http://schemas.microsoft.com/office/drawing/2014/main" id="{25BD06B9-F342-0346-A7AE-5D5E5A409E97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6100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1" name="Line 13">
            <a:extLst>
              <a:ext uri="{FF2B5EF4-FFF2-40B4-BE49-F238E27FC236}">
                <a16:creationId xmlns:a16="http://schemas.microsoft.com/office/drawing/2014/main" id="{D3E2B5F5-07D0-CA44-A8DC-62A9DD9F4D5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16463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2" name="Line 14">
            <a:extLst>
              <a:ext uri="{FF2B5EF4-FFF2-40B4-BE49-F238E27FC236}">
                <a16:creationId xmlns:a16="http://schemas.microsoft.com/office/drawing/2014/main" id="{62707153-4313-E841-8944-0266F223AD6E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3438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3" name="Line 15">
            <a:extLst>
              <a:ext uri="{FF2B5EF4-FFF2-40B4-BE49-F238E27FC236}">
                <a16:creationId xmlns:a16="http://schemas.microsoft.com/office/drawing/2014/main" id="{25DF1401-444D-9B48-8951-3E83095DBD31}"/>
              </a:ext>
            </a:extLst>
          </p:cNvPr>
          <p:cNvSpPr>
            <a:spLocks noChangeShapeType="1"/>
          </p:cNvSpPr>
          <p:nvPr/>
        </p:nvSpPr>
        <p:spPr bwMode="auto">
          <a:xfrm>
            <a:off x="5003800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5" name="Line 17">
            <a:extLst>
              <a:ext uri="{FF2B5EF4-FFF2-40B4-BE49-F238E27FC236}">
                <a16:creationId xmlns:a16="http://schemas.microsoft.com/office/drawing/2014/main" id="{5C88D64C-1FA2-5341-B2FF-8A793FCDAC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8400" y="2781300"/>
            <a:ext cx="0" cy="14398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6" name="Text Box 18">
            <a:extLst>
              <a:ext uri="{FF2B5EF4-FFF2-40B4-BE49-F238E27FC236}">
                <a16:creationId xmlns:a16="http://schemas.microsoft.com/office/drawing/2014/main" id="{2EBD4101-6BBA-4749-9A36-61D9BF58C1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4221163"/>
            <a:ext cx="12954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/>
              <a:t>граница принятия решений</a:t>
            </a:r>
          </a:p>
        </p:txBody>
      </p:sp>
      <p:sp>
        <p:nvSpPr>
          <p:cNvPr id="293907" name="Line 19">
            <a:extLst>
              <a:ext uri="{FF2B5EF4-FFF2-40B4-BE49-F238E27FC236}">
                <a16:creationId xmlns:a16="http://schemas.microsoft.com/office/drawing/2014/main" id="{B9FBB698-2157-5141-BE1E-6CD3DB6A923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72225" y="3644900"/>
            <a:ext cx="0" cy="5048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8" name="Text Box 20">
            <a:extLst>
              <a:ext uri="{FF2B5EF4-FFF2-40B4-BE49-F238E27FC236}">
                <a16:creationId xmlns:a16="http://schemas.microsoft.com/office/drawing/2014/main" id="{E352C7F1-96B7-F449-9389-4D7BA3FCD3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4294188"/>
            <a:ext cx="3240088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/>
              <a:t>Что произойдет с границей принятия решений, если мы добавим сюда новую красную точку?</a:t>
            </a:r>
          </a:p>
        </p:txBody>
      </p:sp>
      <p:sp>
        <p:nvSpPr>
          <p:cNvPr id="293909" name="Freeform 21">
            <a:extLst>
              <a:ext uri="{FF2B5EF4-FFF2-40B4-BE49-F238E27FC236}">
                <a16:creationId xmlns:a16="http://schemas.microsoft.com/office/drawing/2014/main" id="{41199647-8BBD-1249-BE97-6CCE8EDD6F18}"/>
              </a:ext>
            </a:extLst>
          </p:cNvPr>
          <p:cNvSpPr>
            <a:spLocks/>
          </p:cNvSpPr>
          <p:nvPr/>
        </p:nvSpPr>
        <p:spPr bwMode="auto">
          <a:xfrm>
            <a:off x="1979613" y="2051050"/>
            <a:ext cx="720725" cy="1595438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0" name="Freeform 22">
            <a:extLst>
              <a:ext uri="{FF2B5EF4-FFF2-40B4-BE49-F238E27FC236}">
                <a16:creationId xmlns:a16="http://schemas.microsoft.com/office/drawing/2014/main" id="{CF687D71-271A-424C-9330-E64758A39EE6}"/>
              </a:ext>
            </a:extLst>
          </p:cNvPr>
          <p:cNvSpPr>
            <a:spLocks/>
          </p:cNvSpPr>
          <p:nvPr/>
        </p:nvSpPr>
        <p:spPr bwMode="auto">
          <a:xfrm flipH="1">
            <a:off x="2700338" y="2051050"/>
            <a:ext cx="576262" cy="1595438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1" name="Freeform 23">
            <a:extLst>
              <a:ext uri="{FF2B5EF4-FFF2-40B4-BE49-F238E27FC236}">
                <a16:creationId xmlns:a16="http://schemas.microsoft.com/office/drawing/2014/main" id="{35661218-3E84-5A43-B2D2-E3062CA9A23E}"/>
              </a:ext>
            </a:extLst>
          </p:cNvPr>
          <p:cNvSpPr>
            <a:spLocks/>
          </p:cNvSpPr>
          <p:nvPr/>
        </p:nvSpPr>
        <p:spPr bwMode="auto">
          <a:xfrm>
            <a:off x="3995738" y="2062163"/>
            <a:ext cx="720725" cy="1595437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2" name="Freeform 24">
            <a:extLst>
              <a:ext uri="{FF2B5EF4-FFF2-40B4-BE49-F238E27FC236}">
                <a16:creationId xmlns:a16="http://schemas.microsoft.com/office/drawing/2014/main" id="{73FC272D-F23B-9943-BA79-037781983639}"/>
              </a:ext>
            </a:extLst>
          </p:cNvPr>
          <p:cNvSpPr>
            <a:spLocks/>
          </p:cNvSpPr>
          <p:nvPr/>
        </p:nvSpPr>
        <p:spPr bwMode="auto">
          <a:xfrm flipH="1">
            <a:off x="4716463" y="2062163"/>
            <a:ext cx="576262" cy="1595437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3" name="Freeform 25">
            <a:extLst>
              <a:ext uri="{FF2B5EF4-FFF2-40B4-BE49-F238E27FC236}">
                <a16:creationId xmlns:a16="http://schemas.microsoft.com/office/drawing/2014/main" id="{A4218839-5979-4741-A064-52DDF8522270}"/>
              </a:ext>
            </a:extLst>
          </p:cNvPr>
          <p:cNvSpPr>
            <a:spLocks/>
          </p:cNvSpPr>
          <p:nvPr/>
        </p:nvSpPr>
        <p:spPr bwMode="auto">
          <a:xfrm>
            <a:off x="3060700" y="3070225"/>
            <a:ext cx="2070100" cy="576263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4" name="Freeform 26">
            <a:extLst>
              <a:ext uri="{FF2B5EF4-FFF2-40B4-BE49-F238E27FC236}">
                <a16:creationId xmlns:a16="http://schemas.microsoft.com/office/drawing/2014/main" id="{31057786-2A0E-A647-9D7A-38A9F47DD29F}"/>
              </a:ext>
            </a:extLst>
          </p:cNvPr>
          <p:cNvSpPr>
            <a:spLocks/>
          </p:cNvSpPr>
          <p:nvPr/>
        </p:nvSpPr>
        <p:spPr bwMode="auto">
          <a:xfrm flipH="1">
            <a:off x="5076825" y="3070225"/>
            <a:ext cx="1655763" cy="576263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5" name="Text Box 27">
            <a:extLst>
              <a:ext uri="{FF2B5EF4-FFF2-40B4-BE49-F238E27FC236}">
                <a16:creationId xmlns:a16="http://schemas.microsoft.com/office/drawing/2014/main" id="{431C1545-D4EB-AD4C-8475-99F31208BA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2420938"/>
            <a:ext cx="18002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FF0000"/>
                </a:solidFill>
              </a:rPr>
              <a:t>новый гауссовский</a:t>
            </a:r>
          </a:p>
        </p:txBody>
      </p:sp>
      <p:sp>
        <p:nvSpPr>
          <p:cNvPr id="293916" name="Line 28">
            <a:extLst>
              <a:ext uri="{FF2B5EF4-FFF2-40B4-BE49-F238E27FC236}">
                <a16:creationId xmlns:a16="http://schemas.microsoft.com/office/drawing/2014/main" id="{8B3B7A87-083A-234E-BF29-22252CFF59D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95963" y="2925763"/>
            <a:ext cx="144462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7" name="Text Box 29">
            <a:extLst>
              <a:ext uri="{FF2B5EF4-FFF2-40B4-BE49-F238E27FC236}">
                <a16:creationId xmlns:a16="http://schemas.microsoft.com/office/drawing/2014/main" id="{9C7D826E-D64E-8045-A742-D85F175383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5516563"/>
            <a:ext cx="748982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/>
              <a:t>При генеративной подгонке красное среднее смещается вправо, а граница принятия решения — влево! Если вы действительно верите в гауссовские данные, это разумно.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3">
      <a:dk1>
        <a:srgbClr val="000000"/>
      </a:dk1>
      <a:lt1>
        <a:srgbClr val="FFFFFF"/>
      </a:lt1>
      <a:dk2>
        <a:srgbClr val="000000"/>
      </a:dk2>
      <a:lt2>
        <a:srgbClr val="777777"/>
      </a:lt2>
      <a:accent1>
        <a:srgbClr val="FFFFF7"/>
      </a:accent1>
      <a:accent2>
        <a:srgbClr val="33CCCC"/>
      </a:accent2>
      <a:accent3>
        <a:srgbClr val="FFFFFF"/>
      </a:accent3>
      <a:accent4>
        <a:srgbClr val="000000"/>
      </a:accent4>
      <a:accent5>
        <a:srgbClr val="FFFFFA"/>
      </a:accent5>
      <a:accent6>
        <a:srgbClr val="2DB9B9"/>
      </a:accent6>
      <a:hlink>
        <a:srgbClr val="FF5050"/>
      </a:hlink>
      <a:folHlink>
        <a:srgbClr val="FF99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FF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7601</TotalTime>
  <Words>2742</Words>
  <Application>Microsoft Macintosh PowerPoint</Application>
  <PresentationFormat>Экран (4:3)</PresentationFormat>
  <Paragraphs>275</Paragraphs>
  <Slides>42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42</vt:i4>
      </vt:variant>
    </vt:vector>
  </HeadingPairs>
  <TitlesOfParts>
    <vt:vector size="51" baseType="lpstr">
      <vt:lpstr>Aptos</vt:lpstr>
      <vt:lpstr>Arial</vt:lpstr>
      <vt:lpstr>Cambria Math</vt:lpstr>
      <vt:lpstr>Fd2558666-Identity-H</vt:lpstr>
      <vt:lpstr>Fd2560914-Identity-H</vt:lpstr>
      <vt:lpstr>Fd2561963-Identity-H</vt:lpstr>
      <vt:lpstr>Fd629057-Identity-H</vt:lpstr>
      <vt:lpstr>Default Design</vt:lpstr>
      <vt:lpstr>Equation</vt:lpstr>
      <vt:lpstr>  Линейные модели классификации</vt:lpstr>
      <vt:lpstr>Что такое «линейная» классификация?</vt:lpstr>
      <vt:lpstr>Представление целевых значений для классификации</vt:lpstr>
      <vt:lpstr>Три подхода к классификации</vt:lpstr>
      <vt:lpstr>Презентация PowerPoint</vt:lpstr>
      <vt:lpstr>Напоминание: три разных пространства, которые легко спутать</vt:lpstr>
      <vt:lpstr>Дискриминантные функции для N&gt;2 классов</vt:lpstr>
      <vt:lpstr>Проблемы с многоклассовыми дискриминантными функциями</vt:lpstr>
      <vt:lpstr>Простое решение</vt:lpstr>
      <vt:lpstr>Использование метода наименьших квадратов для классификации</vt:lpstr>
      <vt:lpstr>Проблемы с использованием наименьших квадратов для классификации</vt:lpstr>
      <vt:lpstr>Другой пример, когда регрессия наименьших квадратов дает плохие поверхности решений</vt:lpstr>
      <vt:lpstr>Линейный дискриминант Фишера</vt:lpstr>
      <vt:lpstr>Рисунок, демонстрирующий преимущество линейного дискриминанта Фишера</vt:lpstr>
      <vt:lpstr>Математика линейных дискриминантов Фишера</vt:lpstr>
      <vt:lpstr>Больше математики линейных дискриминантов Фишера</vt:lpstr>
      <vt:lpstr>Персептрон</vt:lpstr>
      <vt:lpstr>Персептрон</vt:lpstr>
      <vt:lpstr>Функция ошибки</vt:lpstr>
      <vt:lpstr>Процедура сходимости персептрона</vt:lpstr>
      <vt:lpstr>Естественный способ попытаться доказать сходимость</vt:lpstr>
      <vt:lpstr>Вес и пространство данных</vt:lpstr>
      <vt:lpstr>Лучший способ доказать сходимость (используя выпуклость решений в весовом пространстве)</vt:lpstr>
      <vt:lpstr>Почему процедура обучения работает</vt:lpstr>
      <vt:lpstr>Чему персептроны не могут научиться</vt:lpstr>
      <vt:lpstr>Что умеют персептроны?</vt:lpstr>
      <vt:lpstr>Задача проверки четности N-бит</vt:lpstr>
      <vt:lpstr>Почему связность трудно вычислить</vt:lpstr>
      <vt:lpstr>Различение T и C в любой ориентации и положении</vt:lpstr>
      <vt:lpstr>Логистическая регрессия (перейти к странице 205)</vt:lpstr>
      <vt:lpstr>Логистическая функция</vt:lpstr>
      <vt:lpstr>Естественная функция ошибок для логистической</vt:lpstr>
      <vt:lpstr>Использование цепного правила для получения производных ошибок</vt:lpstr>
      <vt:lpstr>Функция ошибки «softmax» или кросс-энтропия для многоклассовой классификации</vt:lpstr>
      <vt:lpstr>Частный случай softmax для двух классов</vt:lpstr>
      <vt:lpstr>Вероятностные генеративные модели дискриминации</vt:lpstr>
      <vt:lpstr>Простой пример для непрерывных входных данных</vt:lpstr>
      <vt:lpstr>Изображение двух гауссовых моделей и полученная апостериорная функция для красного класса</vt:lpstr>
      <vt:lpstr>Способ размышления о роли обратной ковариационной матрицы</vt:lpstr>
      <vt:lpstr>Апостериорная вероятность, когда матрицы ковариации различны для разных классов.</vt:lpstr>
      <vt:lpstr>Два способа обучения набора генеративных моделей, специфичных для класса</vt:lpstr>
      <vt:lpstr>Пример, когда два типа обучения ведут себя совершенно по-разному</vt:lpstr>
    </vt:vector>
  </TitlesOfParts>
  <Company>university of toronto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</dc:title>
  <dc:creator> hinton</dc:creator>
  <cp:lastModifiedBy>Microsoft Office User</cp:lastModifiedBy>
  <cp:revision>128</cp:revision>
  <dcterms:created xsi:type="dcterms:W3CDTF">2002-09-28T03:36:33Z</dcterms:created>
  <dcterms:modified xsi:type="dcterms:W3CDTF">2025-10-12T12:55:06Z</dcterms:modified>
</cp:coreProperties>
</file>